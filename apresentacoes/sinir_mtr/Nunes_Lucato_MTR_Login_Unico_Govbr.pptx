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flip="none" rotWithShape="1">
            <a:gsLst>
              <a:gs pos="0">
                <a:srgbClr val="090818"/>
              </a:gs>
              <a:gs pos="34000">
                <a:srgbClr val="0E0D28"/>
              </a:gs>
              <a:gs pos="70000">
                <a:srgbClr val="24238E"/>
              </a:gs>
              <a:gs pos="100000">
                <a:srgbClr val="3432C9"/>
              </a:gs>
            </a:gsLst>
            <a:lin ang="0" scaled="0"/>
          </a:gra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 flipV="1">
            <a:off x="-685800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" name="Connector 3"/>
          <p:cNvCxnSpPr/>
          <p:nvPr/>
        </p:nvCxnSpPr>
        <p:spPr>
          <a:xfrm flipV="1">
            <a:off x="-6437376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5" name="Connector 4"/>
          <p:cNvCxnSpPr/>
          <p:nvPr/>
        </p:nvCxnSpPr>
        <p:spPr>
          <a:xfrm flipV="1">
            <a:off x="-6016752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6" name="Connector 5"/>
          <p:cNvCxnSpPr/>
          <p:nvPr/>
        </p:nvCxnSpPr>
        <p:spPr>
          <a:xfrm flipV="1">
            <a:off x="-559612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7" name="Connector 6"/>
          <p:cNvCxnSpPr/>
          <p:nvPr/>
        </p:nvCxnSpPr>
        <p:spPr>
          <a:xfrm flipV="1">
            <a:off x="-5175504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8" name="Connector 7"/>
          <p:cNvCxnSpPr/>
          <p:nvPr/>
        </p:nvCxnSpPr>
        <p:spPr>
          <a:xfrm flipV="1">
            <a:off x="-4754879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9" name="Connector 8"/>
          <p:cNvCxnSpPr/>
          <p:nvPr/>
        </p:nvCxnSpPr>
        <p:spPr>
          <a:xfrm flipV="1">
            <a:off x="-433425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0" name="Connector 9"/>
          <p:cNvCxnSpPr/>
          <p:nvPr/>
        </p:nvCxnSpPr>
        <p:spPr>
          <a:xfrm flipV="1">
            <a:off x="-3913631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1" name="Connector 10"/>
          <p:cNvCxnSpPr/>
          <p:nvPr/>
        </p:nvCxnSpPr>
        <p:spPr>
          <a:xfrm flipV="1">
            <a:off x="-349300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2" name="Connector 11"/>
          <p:cNvCxnSpPr/>
          <p:nvPr/>
        </p:nvCxnSpPr>
        <p:spPr>
          <a:xfrm flipV="1">
            <a:off x="-3072383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3" name="Connector 12"/>
          <p:cNvCxnSpPr/>
          <p:nvPr/>
        </p:nvCxnSpPr>
        <p:spPr>
          <a:xfrm flipV="1">
            <a:off x="-2651759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4" name="Connector 13"/>
          <p:cNvCxnSpPr/>
          <p:nvPr/>
        </p:nvCxnSpPr>
        <p:spPr>
          <a:xfrm flipV="1">
            <a:off x="-2231135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5" name="Connector 14"/>
          <p:cNvCxnSpPr/>
          <p:nvPr/>
        </p:nvCxnSpPr>
        <p:spPr>
          <a:xfrm flipV="1">
            <a:off x="-1810511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6" name="Connector 15"/>
          <p:cNvCxnSpPr/>
          <p:nvPr/>
        </p:nvCxnSpPr>
        <p:spPr>
          <a:xfrm flipV="1">
            <a:off x="-1389887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7" name="Connector 16"/>
          <p:cNvCxnSpPr/>
          <p:nvPr/>
        </p:nvCxnSpPr>
        <p:spPr>
          <a:xfrm flipV="1">
            <a:off x="-969263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8" name="Connector 17"/>
          <p:cNvCxnSpPr/>
          <p:nvPr/>
        </p:nvCxnSpPr>
        <p:spPr>
          <a:xfrm flipV="1">
            <a:off x="-548639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9" name="Connector 18"/>
          <p:cNvCxnSpPr/>
          <p:nvPr/>
        </p:nvCxnSpPr>
        <p:spPr>
          <a:xfrm flipV="1">
            <a:off x="-128015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0" name="Connector 19"/>
          <p:cNvCxnSpPr/>
          <p:nvPr/>
        </p:nvCxnSpPr>
        <p:spPr>
          <a:xfrm flipV="1">
            <a:off x="29260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1" name="Connector 20"/>
          <p:cNvCxnSpPr/>
          <p:nvPr/>
        </p:nvCxnSpPr>
        <p:spPr>
          <a:xfrm flipV="1">
            <a:off x="71323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2" name="Connector 21"/>
          <p:cNvCxnSpPr/>
          <p:nvPr/>
        </p:nvCxnSpPr>
        <p:spPr>
          <a:xfrm flipV="1">
            <a:off x="113385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3" name="Connector 22"/>
          <p:cNvCxnSpPr/>
          <p:nvPr/>
        </p:nvCxnSpPr>
        <p:spPr>
          <a:xfrm flipV="1">
            <a:off x="155448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4" name="Connector 23"/>
          <p:cNvCxnSpPr/>
          <p:nvPr/>
        </p:nvCxnSpPr>
        <p:spPr>
          <a:xfrm flipV="1">
            <a:off x="197510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5" name="Connector 24"/>
          <p:cNvCxnSpPr/>
          <p:nvPr/>
        </p:nvCxnSpPr>
        <p:spPr>
          <a:xfrm flipV="1">
            <a:off x="239572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6" name="Connector 25"/>
          <p:cNvCxnSpPr/>
          <p:nvPr/>
        </p:nvCxnSpPr>
        <p:spPr>
          <a:xfrm flipV="1">
            <a:off x="281635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7" name="Connector 26"/>
          <p:cNvCxnSpPr/>
          <p:nvPr/>
        </p:nvCxnSpPr>
        <p:spPr>
          <a:xfrm flipV="1">
            <a:off x="323697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365760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407822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449884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491947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534009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3" name="Connector 32"/>
          <p:cNvCxnSpPr/>
          <p:nvPr/>
        </p:nvCxnSpPr>
        <p:spPr>
          <a:xfrm flipV="1">
            <a:off x="576072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618134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660196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702259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744321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786384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9" name="Connector 38"/>
          <p:cNvCxnSpPr/>
          <p:nvPr/>
        </p:nvCxnSpPr>
        <p:spPr>
          <a:xfrm flipV="1">
            <a:off x="828446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870508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912571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2" name="Connector 41"/>
          <p:cNvCxnSpPr/>
          <p:nvPr/>
        </p:nvCxnSpPr>
        <p:spPr>
          <a:xfrm flipV="1">
            <a:off x="954633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3" name="Connector 42"/>
          <p:cNvCxnSpPr/>
          <p:nvPr/>
        </p:nvCxnSpPr>
        <p:spPr>
          <a:xfrm flipV="1">
            <a:off x="996696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4" name="Connector 43"/>
          <p:cNvCxnSpPr/>
          <p:nvPr/>
        </p:nvCxnSpPr>
        <p:spPr>
          <a:xfrm flipV="1">
            <a:off x="1038758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5" name="Connector 44"/>
          <p:cNvCxnSpPr/>
          <p:nvPr/>
        </p:nvCxnSpPr>
        <p:spPr>
          <a:xfrm flipV="1">
            <a:off x="1080820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6" name="Connector 45"/>
          <p:cNvCxnSpPr/>
          <p:nvPr/>
        </p:nvCxnSpPr>
        <p:spPr>
          <a:xfrm flipV="1">
            <a:off x="1122883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7" name="Connector 46"/>
          <p:cNvCxnSpPr/>
          <p:nvPr/>
        </p:nvCxnSpPr>
        <p:spPr>
          <a:xfrm flipV="1">
            <a:off x="1164945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8" name="Connector 47"/>
          <p:cNvCxnSpPr/>
          <p:nvPr/>
        </p:nvCxnSpPr>
        <p:spPr>
          <a:xfrm flipV="1">
            <a:off x="1207008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9" name="Connector 48"/>
          <p:cNvCxnSpPr/>
          <p:nvPr/>
        </p:nvCxnSpPr>
        <p:spPr>
          <a:xfrm flipV="1">
            <a:off x="1249070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sp>
        <p:nvSpPr>
          <p:cNvPr id="50" name="Rectangle 49"/>
          <p:cNvSpPr/>
          <p:nvPr/>
        </p:nvSpPr>
        <p:spPr>
          <a:xfrm>
            <a:off x="5120627" y="0"/>
            <a:ext cx="7071342" cy="6858000"/>
          </a:xfrm>
          <a:prstGeom prst="rect">
            <a:avLst/>
          </a:prstGeom>
          <a:gradFill flip="none" rotWithShape="1">
            <a:gsLst>
              <a:gs pos="0">
                <a:srgbClr val="3432C9">
                  <a:alpha val="0"/>
                </a:srgbClr>
              </a:gs>
              <a:gs pos="100000">
                <a:srgbClr val="3432C9">
                  <a:alpha val="32000"/>
                </a:srgbClr>
              </a:gs>
            </a:gsLst>
            <a:lin ang="0" scaled="0"/>
          </a:gra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51" name="Connector 50"/>
          <p:cNvCxnSpPr/>
          <p:nvPr/>
        </p:nvCxnSpPr>
        <p:spPr>
          <a:xfrm>
            <a:off x="7132320" y="0"/>
            <a:ext cx="0" cy="6858000"/>
          </a:xfrm>
          <a:prstGeom prst="line">
            <a:avLst/>
          </a:prstGeom>
          <a:ln w="9525" cap="rnd">
            <a:solidFill>
              <a:srgbClr val="FFFFFF">
                <a:alpha val="18000"/>
              </a:srgbClr>
            </a:solidFill>
            <a:round/>
          </a:ln>
          <a:effectLst/>
        </p:spPr>
      </p:cxnSp>
      <p:sp>
        <p:nvSpPr>
          <p:cNvPr id="52" name="Rounded Rectangle 51"/>
          <p:cNvSpPr/>
          <p:nvPr/>
        </p:nvSpPr>
        <p:spPr>
          <a:xfrm>
            <a:off x="7726680" y="2084831"/>
            <a:ext cx="3246120" cy="2697480"/>
          </a:xfrm>
          <a:prstGeom prst="roundRect">
            <a:avLst>
              <a:gd name="adj" fmla="val 4500"/>
            </a:avLst>
          </a:prstGeom>
          <a:solidFill>
            <a:srgbClr val="FFFFFF">
              <a:alpha val="7000"/>
            </a:srgbClr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7726680" y="2084831"/>
            <a:ext cx="3246120" cy="2697480"/>
          </a:xfrm>
          <a:prstGeom prst="roundRect">
            <a:avLst>
              <a:gd name="adj" fmla="val 4500"/>
            </a:avLst>
          </a:prstGeom>
          <a:noFill/>
          <a:ln w="11430" cap="rnd">
            <a:solidFill>
              <a:srgbClr val="FFFFFF">
                <a:alpha val="30000"/>
              </a:srgbClr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4" name="Freeform 53"/>
          <p:cNvSpPr/>
          <p:nvPr/>
        </p:nvSpPr>
        <p:spPr>
          <a:xfrm>
            <a:off x="8069763" y="2484242"/>
            <a:ext cx="337962" cy="225308"/>
          </a:xfrm>
          <a:custGeom>
            <a:avLst/>
            <a:gdLst/>
            <a:ahLst/>
            <a:cxnLst/>
            <a:rect l="l" t="t" r="r" b="b"/>
            <a:pathLst>
              <a:path w="337962" h="225308">
                <a:moveTo>
                  <a:pt x="0" y="0"/>
                </a:moveTo>
                <a:lnTo>
                  <a:pt x="337962" y="0"/>
                </a:lnTo>
                <a:lnTo>
                  <a:pt x="337962" y="225308"/>
                </a:lnTo>
                <a:lnTo>
                  <a:pt x="0" y="225308"/>
                </a:lnTo>
                <a:close/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118043" y="2524475"/>
            <a:ext cx="80467" cy="80467"/>
          </a:xfrm>
          <a:prstGeom prst="ellipse">
            <a:avLst/>
          </a:prstGeom>
          <a:noFill/>
          <a:ln w="14288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6" name="Freeform 55"/>
          <p:cNvSpPr/>
          <p:nvPr/>
        </p:nvSpPr>
        <p:spPr>
          <a:xfrm>
            <a:off x="8101566" y="2617013"/>
            <a:ext cx="113422" cy="29120"/>
          </a:xfrm>
          <a:custGeom>
            <a:avLst/>
            <a:gdLst/>
            <a:ahLst/>
            <a:cxnLst/>
            <a:rect l="l" t="t" r="r" b="b"/>
            <a:pathLst>
              <a:path w="113422" h="29120">
                <a:moveTo>
                  <a:pt x="0" y="29120"/>
                </a:moveTo>
                <a:lnTo>
                  <a:pt x="3315" y="23631"/>
                </a:lnTo>
                <a:lnTo>
                  <a:pt x="7613" y="18522"/>
                </a:lnTo>
                <a:lnTo>
                  <a:pt x="12814" y="13886"/>
                </a:lnTo>
                <a:lnTo>
                  <a:pt x="18822" y="9809"/>
                </a:lnTo>
                <a:lnTo>
                  <a:pt x="25528" y="6365"/>
                </a:lnTo>
                <a:lnTo>
                  <a:pt x="32807" y="3619"/>
                </a:lnTo>
                <a:lnTo>
                  <a:pt x="40526" y="1621"/>
                </a:lnTo>
                <a:lnTo>
                  <a:pt x="48544" y="407"/>
                </a:lnTo>
                <a:lnTo>
                  <a:pt x="56711" y="0"/>
                </a:lnTo>
                <a:lnTo>
                  <a:pt x="64878" y="407"/>
                </a:lnTo>
                <a:lnTo>
                  <a:pt x="72895" y="1621"/>
                </a:lnTo>
                <a:lnTo>
                  <a:pt x="80614" y="3619"/>
                </a:lnTo>
                <a:lnTo>
                  <a:pt x="87894" y="6365"/>
                </a:lnTo>
                <a:lnTo>
                  <a:pt x="94600" y="9809"/>
                </a:lnTo>
                <a:lnTo>
                  <a:pt x="100608" y="13886"/>
                </a:lnTo>
                <a:lnTo>
                  <a:pt x="105809" y="18522"/>
                </a:lnTo>
                <a:lnTo>
                  <a:pt x="110107" y="23631"/>
                </a:lnTo>
                <a:lnTo>
                  <a:pt x="113422" y="29120"/>
                </a:lnTo>
              </a:path>
            </a:pathLst>
          </a:custGeom>
          <a:noFill/>
          <a:ln w="13494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8246791" y="2548616"/>
            <a:ext cx="120701" cy="0"/>
          </a:xfrm>
          <a:custGeom>
            <a:avLst/>
            <a:gdLst/>
            <a:ahLst/>
            <a:cxnLst/>
            <a:rect l="l" t="t" r="r" b="b"/>
            <a:pathLst>
              <a:path w="120701" h="0">
                <a:moveTo>
                  <a:pt x="0" y="0"/>
                </a:moveTo>
                <a:lnTo>
                  <a:pt x="120701" y="0"/>
                </a:lnTo>
              </a:path>
            </a:pathLst>
          </a:custGeom>
          <a:noFill/>
          <a:ln w="11112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8246791" y="2596896"/>
            <a:ext cx="120701" cy="0"/>
          </a:xfrm>
          <a:custGeom>
            <a:avLst/>
            <a:gdLst/>
            <a:ahLst/>
            <a:cxnLst/>
            <a:rect l="l" t="t" r="r" b="b"/>
            <a:pathLst>
              <a:path w="120701" h="0">
                <a:moveTo>
                  <a:pt x="0" y="0"/>
                </a:moveTo>
                <a:lnTo>
                  <a:pt x="120701" y="0"/>
                </a:lnTo>
              </a:path>
            </a:pathLst>
          </a:custGeom>
          <a:noFill/>
          <a:ln w="11112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8246791" y="2645176"/>
            <a:ext cx="120701" cy="0"/>
          </a:xfrm>
          <a:custGeom>
            <a:avLst/>
            <a:gdLst/>
            <a:ahLst/>
            <a:cxnLst/>
            <a:rect l="l" t="t" r="r" b="b"/>
            <a:pathLst>
              <a:path w="120701" h="0">
                <a:moveTo>
                  <a:pt x="0" y="0"/>
                </a:moveTo>
                <a:lnTo>
                  <a:pt x="120701" y="0"/>
                </a:lnTo>
              </a:path>
            </a:pathLst>
          </a:custGeom>
          <a:noFill/>
          <a:ln w="11112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86216" y="2450591"/>
            <a:ext cx="201168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60" b="0" i="0">
                <a:solidFill>
                  <a:srgbClr val="FFFFFF"/>
                </a:solidFill>
                <a:latin typeface="Montserrat SemiBold"/>
              </a:rPr>
              <a:t>Conta Gov.br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37576" y="2907791"/>
            <a:ext cx="23774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60" b="0" i="0" spc="120" cap="all">
                <a:solidFill>
                  <a:srgbClr val="FFFFFF"/>
                </a:solidFill>
                <a:latin typeface="Montserrat"/>
              </a:rPr>
              <a:t>CPF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8037576" y="3182112"/>
            <a:ext cx="2624328" cy="0"/>
          </a:xfrm>
          <a:prstGeom prst="line">
            <a:avLst/>
          </a:prstGeom>
          <a:ln w="12700" cap="rnd">
            <a:solidFill>
              <a:srgbClr val="FFFFFF">
                <a:alpha val="45000"/>
              </a:srgbClr>
            </a:solidFill>
            <a:round/>
          </a:ln>
          <a:effectLst/>
        </p:spPr>
      </p:cxnSp>
      <p:sp>
        <p:nvSpPr>
          <p:cNvPr id="63" name="TextBox 62"/>
          <p:cNvSpPr txBox="1"/>
          <p:nvPr/>
        </p:nvSpPr>
        <p:spPr>
          <a:xfrm>
            <a:off x="8037576" y="3474720"/>
            <a:ext cx="23774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60" b="0" i="0" spc="120" cap="all">
                <a:solidFill>
                  <a:srgbClr val="FFFFFF"/>
                </a:solidFill>
                <a:latin typeface="Montserrat"/>
              </a:rPr>
              <a:t>Senha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037576" y="3749039"/>
            <a:ext cx="2624328" cy="0"/>
          </a:xfrm>
          <a:prstGeom prst="line">
            <a:avLst/>
          </a:prstGeom>
          <a:ln w="12700" cap="rnd">
            <a:solidFill>
              <a:srgbClr val="FFFFFF">
                <a:alpha val="45000"/>
              </a:srgbClr>
            </a:solidFill>
            <a:round/>
          </a:ln>
          <a:effectLst/>
        </p:spPr>
      </p:cxnSp>
      <p:sp>
        <p:nvSpPr>
          <p:cNvPr id="65" name="Rounded Rectangle 64"/>
          <p:cNvSpPr/>
          <p:nvPr/>
        </p:nvSpPr>
        <p:spPr>
          <a:xfrm>
            <a:off x="8037576" y="4224527"/>
            <a:ext cx="1389888" cy="365760"/>
          </a:xfrm>
          <a:prstGeom prst="roundRect">
            <a:avLst>
              <a:gd name="adj" fmla="val 22000"/>
            </a:avLst>
          </a:prstGeom>
          <a:solidFill>
            <a:srgbClr val="FFFFFF">
              <a:alpha val="92000"/>
            </a:srgbClr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8037576" y="4224527"/>
            <a:ext cx="1389888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940" b="0" i="0" spc="100" cap="all">
                <a:solidFill>
                  <a:srgbClr val="17165D"/>
                </a:solidFill>
                <a:latin typeface="Montserrat SemiBold"/>
              </a:rPr>
              <a:t>Entrar</a:t>
            </a:r>
          </a:p>
        </p:txBody>
      </p:sp>
      <p:sp>
        <p:nvSpPr>
          <p:cNvPr id="67" name="Freeform 66"/>
          <p:cNvSpPr/>
          <p:nvPr/>
        </p:nvSpPr>
        <p:spPr>
          <a:xfrm>
            <a:off x="10386852" y="4394241"/>
            <a:ext cx="184344" cy="144841"/>
          </a:xfrm>
          <a:custGeom>
            <a:avLst/>
            <a:gdLst/>
            <a:ahLst/>
            <a:cxnLst/>
            <a:rect l="l" t="t" r="r" b="b"/>
            <a:pathLst>
              <a:path w="184344" h="144841">
                <a:moveTo>
                  <a:pt x="0" y="0"/>
                </a:moveTo>
                <a:lnTo>
                  <a:pt x="184344" y="0"/>
                </a:lnTo>
                <a:lnTo>
                  <a:pt x="184344" y="144841"/>
                </a:lnTo>
                <a:lnTo>
                  <a:pt x="0" y="144841"/>
                </a:lnTo>
                <a:close/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10423063" y="4338279"/>
            <a:ext cx="111922" cy="55962"/>
          </a:xfrm>
          <a:custGeom>
            <a:avLst/>
            <a:gdLst/>
            <a:ahLst/>
            <a:cxnLst/>
            <a:rect l="l" t="t" r="r" b="b"/>
            <a:pathLst>
              <a:path w="111922" h="55962">
                <a:moveTo>
                  <a:pt x="0" y="55962"/>
                </a:moveTo>
                <a:lnTo>
                  <a:pt x="478" y="48657"/>
                </a:lnTo>
                <a:lnTo>
                  <a:pt x="1907" y="41478"/>
                </a:lnTo>
                <a:lnTo>
                  <a:pt x="4260" y="34546"/>
                </a:lnTo>
                <a:lnTo>
                  <a:pt x="7497" y="27981"/>
                </a:lnTo>
                <a:lnTo>
                  <a:pt x="11564" y="21895"/>
                </a:lnTo>
                <a:lnTo>
                  <a:pt x="16390" y="16391"/>
                </a:lnTo>
                <a:lnTo>
                  <a:pt x="21894" y="11565"/>
                </a:lnTo>
                <a:lnTo>
                  <a:pt x="27980" y="7498"/>
                </a:lnTo>
                <a:lnTo>
                  <a:pt x="34546" y="4260"/>
                </a:lnTo>
                <a:lnTo>
                  <a:pt x="41477" y="1907"/>
                </a:lnTo>
                <a:lnTo>
                  <a:pt x="48657" y="479"/>
                </a:lnTo>
                <a:lnTo>
                  <a:pt x="55961" y="0"/>
                </a:lnTo>
                <a:lnTo>
                  <a:pt x="63265" y="479"/>
                </a:lnTo>
                <a:lnTo>
                  <a:pt x="70445" y="1907"/>
                </a:lnTo>
                <a:lnTo>
                  <a:pt x="77376" y="4260"/>
                </a:lnTo>
                <a:lnTo>
                  <a:pt x="83942" y="7498"/>
                </a:lnTo>
                <a:lnTo>
                  <a:pt x="90028" y="11565"/>
                </a:lnTo>
                <a:lnTo>
                  <a:pt x="95532" y="16391"/>
                </a:lnTo>
                <a:lnTo>
                  <a:pt x="100358" y="21895"/>
                </a:lnTo>
                <a:lnTo>
                  <a:pt x="104425" y="27981"/>
                </a:lnTo>
                <a:lnTo>
                  <a:pt x="107662" y="34546"/>
                </a:lnTo>
                <a:lnTo>
                  <a:pt x="110015" y="41478"/>
                </a:lnTo>
                <a:lnTo>
                  <a:pt x="111444" y="48657"/>
                </a:lnTo>
                <a:lnTo>
                  <a:pt x="111922" y="55962"/>
                </a:lnTo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0455981" y="4430450"/>
            <a:ext cx="46085" cy="46085"/>
          </a:xfrm>
          <a:prstGeom prst="ellipse">
            <a:avLst/>
          </a:pr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70" name="Freeform 69"/>
          <p:cNvSpPr/>
          <p:nvPr/>
        </p:nvSpPr>
        <p:spPr>
          <a:xfrm>
            <a:off x="10479024" y="4473245"/>
            <a:ext cx="0" cy="32918"/>
          </a:xfrm>
          <a:custGeom>
            <a:avLst/>
            <a:gdLst/>
            <a:ahLst/>
            <a:cxnLst/>
            <a:rect l="l" t="t" r="r" b="b"/>
            <a:pathLst>
              <a:path w="0" h="32918">
                <a:moveTo>
                  <a:pt x="0" y="0"/>
                </a:moveTo>
                <a:lnTo>
                  <a:pt x="0" y="32918"/>
                </a:lnTo>
              </a:path>
            </a:pathLst>
          </a:custGeom>
          <a:noFill/>
          <a:ln w="14288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Freeform 70"/>
          <p:cNvSpPr/>
          <p:nvPr/>
        </p:nvSpPr>
        <p:spPr>
          <a:xfrm>
            <a:off x="10826133" y="963990"/>
            <a:ext cx="105366" cy="182499"/>
          </a:xfrm>
          <a:custGeom>
            <a:avLst/>
            <a:gdLst/>
            <a:ahLst/>
            <a:cxnLst/>
            <a:rect l="l" t="t" r="r" b="b"/>
            <a:pathLst>
              <a:path w="105366" h="182499">
                <a:moveTo>
                  <a:pt x="0" y="0"/>
                </a:moveTo>
                <a:lnTo>
                  <a:pt x="105366" y="182499"/>
                </a:lnTo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10883731" y="1090197"/>
            <a:ext cx="47768" cy="56292"/>
          </a:xfrm>
          <a:custGeom>
            <a:avLst/>
            <a:gdLst/>
            <a:ahLst/>
            <a:cxnLst/>
            <a:rect l="l" t="t" r="r" b="b"/>
            <a:pathLst>
              <a:path w="47768" h="56292">
                <a:moveTo>
                  <a:pt x="47768" y="56292"/>
                </a:moveTo>
                <a:lnTo>
                  <a:pt x="0" y="26444"/>
                </a:lnTo>
                <a:lnTo>
                  <a:pt x="45802" y="0"/>
                </a:lnTo>
                <a:close/>
              </a:path>
            </a:pathLst>
          </a:custGeom>
          <a:solidFill>
            <a:srgbClr val="FFFFFF"/>
          </a:solidFill>
          <a:ln w="95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10735401" y="1202253"/>
            <a:ext cx="210732" cy="0"/>
          </a:xfrm>
          <a:custGeom>
            <a:avLst/>
            <a:gdLst/>
            <a:ahLst/>
            <a:cxnLst/>
            <a:rect l="l" t="t" r="r" b="b"/>
            <a:pathLst>
              <a:path w="210732" h="0">
                <a:moveTo>
                  <a:pt x="210732" y="0"/>
                </a:moveTo>
                <a:lnTo>
                  <a:pt x="0" y="0"/>
                </a:lnTo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10735401" y="1175809"/>
            <a:ext cx="49733" cy="52888"/>
          </a:xfrm>
          <a:custGeom>
            <a:avLst/>
            <a:gdLst/>
            <a:ahLst/>
            <a:cxnLst/>
            <a:rect l="l" t="t" r="r" b="b"/>
            <a:pathLst>
              <a:path w="49733" h="52888">
                <a:moveTo>
                  <a:pt x="0" y="26444"/>
                </a:moveTo>
                <a:lnTo>
                  <a:pt x="49733" y="0"/>
                </a:lnTo>
                <a:lnTo>
                  <a:pt x="49733" y="52888"/>
                </a:lnTo>
                <a:close/>
              </a:path>
            </a:pathLst>
          </a:custGeom>
          <a:solidFill>
            <a:srgbClr val="FFFFFF"/>
          </a:solidFill>
          <a:ln w="95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10679791" y="1004545"/>
            <a:ext cx="105366" cy="182500"/>
          </a:xfrm>
          <a:custGeom>
            <a:avLst/>
            <a:gdLst/>
            <a:ahLst/>
            <a:cxnLst/>
            <a:rect l="l" t="t" r="r" b="b"/>
            <a:pathLst>
              <a:path w="105366" h="182500">
                <a:moveTo>
                  <a:pt x="0" y="182500"/>
                </a:moveTo>
                <a:lnTo>
                  <a:pt x="105366" y="0"/>
                </a:lnTo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10737389" y="1004545"/>
            <a:ext cx="47768" cy="56293"/>
          </a:xfrm>
          <a:custGeom>
            <a:avLst/>
            <a:gdLst/>
            <a:ahLst/>
            <a:cxnLst/>
            <a:rect l="l" t="t" r="r" b="b"/>
            <a:pathLst>
              <a:path w="47768" h="56293">
                <a:moveTo>
                  <a:pt x="47768" y="0"/>
                </a:moveTo>
                <a:lnTo>
                  <a:pt x="45802" y="56293"/>
                </a:lnTo>
                <a:lnTo>
                  <a:pt x="0" y="29849"/>
                </a:lnTo>
                <a:close/>
              </a:path>
            </a:pathLst>
          </a:custGeom>
          <a:solidFill>
            <a:srgbClr val="FFFFFF"/>
          </a:solidFill>
          <a:ln w="95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777240" y="1327708"/>
            <a:ext cx="274320" cy="0"/>
          </a:xfrm>
          <a:prstGeom prst="line">
            <a:avLst/>
          </a:prstGeom>
          <a:ln w="20320" cap="rnd">
            <a:solidFill>
              <a:srgbClr val="FFFFFF"/>
            </a:solidFill>
            <a:round/>
          </a:ln>
          <a:effectLst/>
        </p:spPr>
      </p:cxnSp>
      <p:sp>
        <p:nvSpPr>
          <p:cNvPr id="78" name="TextBox 77"/>
          <p:cNvSpPr txBox="1"/>
          <p:nvPr/>
        </p:nvSpPr>
        <p:spPr>
          <a:xfrm>
            <a:off x="1197863" y="1239012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 spc="190" cap="all">
                <a:solidFill>
                  <a:srgbClr val="FFFFFF"/>
                </a:solidFill>
                <a:latin typeface="Montserrat SemiBold"/>
              </a:rPr>
              <a:t>Comunicado aos clientes geradores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7240" y="1609344"/>
            <a:ext cx="658368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200" b="0" i="0">
                <a:solidFill>
                  <a:srgbClr val="FFFFFF"/>
                </a:solidFill>
                <a:latin typeface="Montserrat Light"/>
              </a:rPr>
              <a:t>Nova forma de acesso ao
</a:t>
            </a:r>
            <a:r>
              <a:rPr sz="3200" b="0" i="0">
                <a:solidFill>
                  <a:srgbClr val="FFFFFF"/>
                </a:solidFill>
                <a:latin typeface="Montserrat SemiBold"/>
              </a:rPr>
              <a:t>MTR Nacional</a:t>
            </a:r>
            <a:r>
              <a:rPr sz="3200" b="0" i="0">
                <a:solidFill>
                  <a:srgbClr val="FFFFFF"/>
                </a:solidFill>
                <a:latin typeface="Montserrat Light"/>
              </a:rPr>
              <a:t>:
Login Único Gov.br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777240" y="3877056"/>
            <a:ext cx="960120" cy="0"/>
          </a:xfrm>
          <a:prstGeom prst="line">
            <a:avLst/>
          </a:prstGeom>
          <a:ln w="22860" cap="rnd">
            <a:solidFill>
              <a:srgbClr val="FFFFFF">
                <a:alpha val="75000"/>
              </a:srgbClr>
            </a:solidFill>
            <a:round/>
          </a:ln>
          <a:effectLst/>
        </p:spPr>
      </p:cxnSp>
      <p:sp>
        <p:nvSpPr>
          <p:cNvPr id="81" name="TextBox 80"/>
          <p:cNvSpPr txBox="1"/>
          <p:nvPr/>
        </p:nvSpPr>
        <p:spPr>
          <a:xfrm>
            <a:off x="777240" y="4114800"/>
            <a:ext cx="6035040" cy="914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FFFFFF"/>
                </a:solidFill>
                <a:latin typeface="Montserrat Light"/>
              </a:rPr>
              <a:t>O que mudou desde 1º de agosto de 2026 e como autorizar o nosso</a:t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FFFFFF"/>
                </a:solidFill>
                <a:latin typeface="Montserrat Light"/>
              </a:rPr>
              <a:t>acesso para continuarmos emitindo os seus MTRs sem interrupção.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77240" y="5358384"/>
            <a:ext cx="36576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 i="0" spc="150" cap="all">
                <a:solidFill>
                  <a:srgbClr val="FFFFFF"/>
                </a:solidFill>
                <a:latin typeface="Montserrat"/>
              </a:rPr>
              <a:t>Material preparado por</a:t>
            </a:r>
          </a:p>
        </p:txBody>
      </p:sp>
      <p:pic>
        <p:nvPicPr>
          <p:cNvPr id="83" name="Picture 8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32704"/>
            <a:ext cx="1866990" cy="384048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7757129" y="5742432"/>
            <a:ext cx="365760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860" b="0" i="0" spc="80">
                <a:solidFill>
                  <a:srgbClr val="FFFFFF"/>
                </a:solidFill>
                <a:latin typeface="Montserrat"/>
              </a:rPr>
              <a:t>Setembro de 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O que mudou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O acesso ao MTR Nacional agora é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pelo Gov.br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02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773936"/>
            <a:ext cx="10637489" cy="603504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Freeform 9"/>
          <p:cNvSpPr/>
          <p:nvPr/>
        </p:nvSpPr>
        <p:spPr>
          <a:xfrm>
            <a:off x="1046074" y="1994855"/>
            <a:ext cx="248716" cy="198973"/>
          </a:xfrm>
          <a:custGeom>
            <a:avLst/>
            <a:gdLst/>
            <a:ahLst/>
            <a:cxnLst/>
            <a:rect l="l" t="t" r="r" b="b"/>
            <a:pathLst>
              <a:path w="248716" h="198973">
                <a:moveTo>
                  <a:pt x="0" y="0"/>
                </a:moveTo>
                <a:lnTo>
                  <a:pt x="248716" y="0"/>
                </a:lnTo>
                <a:lnTo>
                  <a:pt x="248716" y="198973"/>
                </a:lnTo>
                <a:lnTo>
                  <a:pt x="0" y="198973"/>
                </a:lnTo>
                <a:close/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046074" y="2050816"/>
            <a:ext cx="248716" cy="0"/>
          </a:xfrm>
          <a:custGeom>
            <a:avLst/>
            <a:gdLst/>
            <a:ahLst/>
            <a:cxnLst/>
            <a:rect l="l" t="t" r="r" b="b"/>
            <a:pathLst>
              <a:path w="248716" h="0">
                <a:moveTo>
                  <a:pt x="0" y="0"/>
                </a:moveTo>
                <a:lnTo>
                  <a:pt x="248716" y="0"/>
                </a:lnTo>
              </a:path>
            </a:pathLst>
          </a:custGeom>
          <a:noFill/>
          <a:ln w="14288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108253" y="1963765"/>
            <a:ext cx="0" cy="55962"/>
          </a:xfrm>
          <a:custGeom>
            <a:avLst/>
            <a:gdLst/>
            <a:ahLst/>
            <a:cxnLst/>
            <a:rect l="l" t="t" r="r" b="b"/>
            <a:pathLst>
              <a:path w="0" h="55962">
                <a:moveTo>
                  <a:pt x="0" y="0"/>
                </a:moveTo>
                <a:lnTo>
                  <a:pt x="0" y="55962"/>
                </a:lnTo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232611" y="1963765"/>
            <a:ext cx="0" cy="55962"/>
          </a:xfrm>
          <a:custGeom>
            <a:avLst/>
            <a:gdLst/>
            <a:ahLst/>
            <a:cxnLst/>
            <a:rect l="l" t="t" r="r" b="b"/>
            <a:pathLst>
              <a:path w="0" h="55962">
                <a:moveTo>
                  <a:pt x="0" y="0"/>
                </a:moveTo>
                <a:lnTo>
                  <a:pt x="0" y="55962"/>
                </a:lnTo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7267" y="2085792"/>
            <a:ext cx="17099" cy="17099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1137010" y="2085792"/>
            <a:ext cx="17099" cy="17099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1186754" y="2085792"/>
            <a:ext cx="17099" cy="17099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236497" y="2085792"/>
            <a:ext cx="17099" cy="17099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1087267" y="2135535"/>
            <a:ext cx="17099" cy="17099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1137010" y="2135535"/>
            <a:ext cx="17099" cy="17099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1186754" y="2135535"/>
            <a:ext cx="17099" cy="17099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236497" y="2135535"/>
            <a:ext cx="17099" cy="17099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472184" y="1773936"/>
            <a:ext cx="9723089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</a:pPr>
            <a:r>
              <a:rPr sz="1140" b="0" i="0">
                <a:solidFill>
                  <a:srgbClr val="FFFFFF"/>
                </a:solidFill>
                <a:latin typeface="Montserrat SemiBold"/>
              </a:rPr>
              <a:t>Desde 1º de agosto de 2026</a:t>
            </a:r>
            <a:r>
              <a:rPr sz="1140" b="0" i="0">
                <a:solidFill>
                  <a:srgbClr val="FFFFFF"/>
                </a:solidFill>
                <a:latin typeface="Montserrat"/>
              </a:rPr>
              <a:t>, o acesso ao MTR Nacional – SINIR é feito exclusivamente por meio do Login Único Gov.br.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615184"/>
            <a:ext cx="2487168" cy="2121408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77240" y="2615184"/>
            <a:ext cx="2487168" cy="50292"/>
          </a:xfrm>
          <a:prstGeom prst="rect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1043147" y="2917667"/>
            <a:ext cx="346008" cy="346008"/>
          </a:xfrm>
          <a:prstGeom prst="ellipse">
            <a:avLst/>
          </a:pr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6" name="Freeform 25"/>
          <p:cNvSpPr/>
          <p:nvPr/>
        </p:nvSpPr>
        <p:spPr>
          <a:xfrm>
            <a:off x="1095451" y="2969971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0" y="241402"/>
                </a:moveTo>
                <a:lnTo>
                  <a:pt x="241402" y="0"/>
                </a:lnTo>
              </a:path>
            </a:pathLst>
          </a:cu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4983" y="3474720"/>
            <a:ext cx="2011680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4142E"/>
                </a:solidFill>
                <a:latin typeface="Montserrat SemiBold"/>
              </a:rPr>
              <a:t>A senha antiga não vale mais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3" y="4023360"/>
            <a:ext cx="2011680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O login com a senha gerada pelo próprio sistema MTR foi descontinuado.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88436" y="2615184"/>
            <a:ext cx="2487168" cy="2121408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3488436" y="2615184"/>
            <a:ext cx="2487168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1" name="Freeform 30"/>
          <p:cNvSpPr/>
          <p:nvPr/>
        </p:nvSpPr>
        <p:spPr>
          <a:xfrm>
            <a:off x="3758367" y="2978018"/>
            <a:ext cx="337962" cy="225308"/>
          </a:xfrm>
          <a:custGeom>
            <a:avLst/>
            <a:gdLst/>
            <a:ahLst/>
            <a:cxnLst/>
            <a:rect l="l" t="t" r="r" b="b"/>
            <a:pathLst>
              <a:path w="337962" h="225308">
                <a:moveTo>
                  <a:pt x="0" y="0"/>
                </a:moveTo>
                <a:lnTo>
                  <a:pt x="337962" y="0"/>
                </a:lnTo>
                <a:lnTo>
                  <a:pt x="337962" y="225308"/>
                </a:lnTo>
                <a:lnTo>
                  <a:pt x="0" y="225308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06647" y="3018251"/>
            <a:ext cx="80467" cy="80467"/>
          </a:xfrm>
          <a:prstGeom prst="ellipse">
            <a:avLst/>
          </a:prstGeom>
          <a:noFill/>
          <a:ln w="14288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3" name="Freeform 32"/>
          <p:cNvSpPr/>
          <p:nvPr/>
        </p:nvSpPr>
        <p:spPr>
          <a:xfrm>
            <a:off x="3790170" y="3110789"/>
            <a:ext cx="113422" cy="29120"/>
          </a:xfrm>
          <a:custGeom>
            <a:avLst/>
            <a:gdLst/>
            <a:ahLst/>
            <a:cxnLst/>
            <a:rect l="l" t="t" r="r" b="b"/>
            <a:pathLst>
              <a:path w="113422" h="29120">
                <a:moveTo>
                  <a:pt x="0" y="29120"/>
                </a:moveTo>
                <a:lnTo>
                  <a:pt x="3315" y="23631"/>
                </a:lnTo>
                <a:lnTo>
                  <a:pt x="7613" y="18522"/>
                </a:lnTo>
                <a:lnTo>
                  <a:pt x="12814" y="13886"/>
                </a:lnTo>
                <a:lnTo>
                  <a:pt x="18822" y="9809"/>
                </a:lnTo>
                <a:lnTo>
                  <a:pt x="25528" y="6365"/>
                </a:lnTo>
                <a:lnTo>
                  <a:pt x="32807" y="3619"/>
                </a:lnTo>
                <a:lnTo>
                  <a:pt x="40526" y="1621"/>
                </a:lnTo>
                <a:lnTo>
                  <a:pt x="48544" y="407"/>
                </a:lnTo>
                <a:lnTo>
                  <a:pt x="56711" y="0"/>
                </a:lnTo>
                <a:lnTo>
                  <a:pt x="64878" y="407"/>
                </a:lnTo>
                <a:lnTo>
                  <a:pt x="72895" y="1621"/>
                </a:lnTo>
                <a:lnTo>
                  <a:pt x="80614" y="3619"/>
                </a:lnTo>
                <a:lnTo>
                  <a:pt x="87894" y="6365"/>
                </a:lnTo>
                <a:lnTo>
                  <a:pt x="94600" y="9809"/>
                </a:lnTo>
                <a:lnTo>
                  <a:pt x="100608" y="13886"/>
                </a:lnTo>
                <a:lnTo>
                  <a:pt x="105809" y="18522"/>
                </a:lnTo>
                <a:lnTo>
                  <a:pt x="110107" y="23631"/>
                </a:lnTo>
                <a:lnTo>
                  <a:pt x="113422" y="29120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3935395" y="3042392"/>
            <a:ext cx="120701" cy="0"/>
          </a:xfrm>
          <a:custGeom>
            <a:avLst/>
            <a:gdLst/>
            <a:ahLst/>
            <a:cxnLst/>
            <a:rect l="l" t="t" r="r" b="b"/>
            <a:pathLst>
              <a:path w="120701" h="0">
                <a:moveTo>
                  <a:pt x="0" y="0"/>
                </a:moveTo>
                <a:lnTo>
                  <a:pt x="120701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3935395" y="3090672"/>
            <a:ext cx="120701" cy="0"/>
          </a:xfrm>
          <a:custGeom>
            <a:avLst/>
            <a:gdLst/>
            <a:ahLst/>
            <a:cxnLst/>
            <a:rect l="l" t="t" r="r" b="b"/>
            <a:pathLst>
              <a:path w="120701" h="0">
                <a:moveTo>
                  <a:pt x="0" y="0"/>
                </a:moveTo>
                <a:lnTo>
                  <a:pt x="120701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3935395" y="3138952"/>
            <a:ext cx="120701" cy="0"/>
          </a:xfrm>
          <a:custGeom>
            <a:avLst/>
            <a:gdLst/>
            <a:ahLst/>
            <a:cxnLst/>
            <a:rect l="l" t="t" r="r" b="b"/>
            <a:pathLst>
              <a:path w="120701" h="0">
                <a:moveTo>
                  <a:pt x="0" y="0"/>
                </a:moveTo>
                <a:lnTo>
                  <a:pt x="120701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26180" y="3474720"/>
            <a:ext cx="2011680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4142E"/>
                </a:solidFill>
                <a:latin typeface="Montserrat SemiBold"/>
              </a:rPr>
              <a:t>O acesso é por CPF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26180" y="4023360"/>
            <a:ext cx="2011680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Cada pessoa entra com a sua própria conta Gov.br e é identificada individualmente.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99632" y="2615184"/>
            <a:ext cx="2487168" cy="2121408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6199632" y="2615184"/>
            <a:ext cx="2487168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6529913" y="2957901"/>
            <a:ext cx="120700" cy="120700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2" name="Freeform 41"/>
          <p:cNvSpPr/>
          <p:nvPr/>
        </p:nvSpPr>
        <p:spPr>
          <a:xfrm>
            <a:off x="6489221" y="3114812"/>
            <a:ext cx="202086" cy="65605"/>
          </a:xfrm>
          <a:custGeom>
            <a:avLst/>
            <a:gdLst/>
            <a:ahLst/>
            <a:cxnLst/>
            <a:rect l="l" t="t" r="r" b="b"/>
            <a:pathLst>
              <a:path w="202086" h="65605">
                <a:moveTo>
                  <a:pt x="0" y="65605"/>
                </a:moveTo>
                <a:lnTo>
                  <a:pt x="3929" y="55617"/>
                </a:lnTo>
                <a:lnTo>
                  <a:pt x="9231" y="46094"/>
                </a:lnTo>
                <a:lnTo>
                  <a:pt x="15832" y="37171"/>
                </a:lnTo>
                <a:lnTo>
                  <a:pt x="23638" y="28974"/>
                </a:lnTo>
                <a:lnTo>
                  <a:pt x="32539" y="21620"/>
                </a:lnTo>
                <a:lnTo>
                  <a:pt x="42409" y="15211"/>
                </a:lnTo>
                <a:lnTo>
                  <a:pt x="53109" y="9840"/>
                </a:lnTo>
                <a:lnTo>
                  <a:pt x="64486" y="5581"/>
                </a:lnTo>
                <a:lnTo>
                  <a:pt x="76381" y="2495"/>
                </a:lnTo>
                <a:lnTo>
                  <a:pt x="88624" y="626"/>
                </a:lnTo>
                <a:lnTo>
                  <a:pt x="101043" y="0"/>
                </a:lnTo>
                <a:lnTo>
                  <a:pt x="113462" y="626"/>
                </a:lnTo>
                <a:lnTo>
                  <a:pt x="125705" y="2495"/>
                </a:lnTo>
                <a:lnTo>
                  <a:pt x="137599" y="5581"/>
                </a:lnTo>
                <a:lnTo>
                  <a:pt x="148977" y="9840"/>
                </a:lnTo>
                <a:lnTo>
                  <a:pt x="159676" y="15211"/>
                </a:lnTo>
                <a:lnTo>
                  <a:pt x="169546" y="21620"/>
                </a:lnTo>
                <a:lnTo>
                  <a:pt x="178447" y="28974"/>
                </a:lnTo>
                <a:lnTo>
                  <a:pt x="186253" y="37171"/>
                </a:lnTo>
                <a:lnTo>
                  <a:pt x="192854" y="46094"/>
                </a:lnTo>
                <a:lnTo>
                  <a:pt x="198157" y="55617"/>
                </a:lnTo>
                <a:lnTo>
                  <a:pt x="202086" y="65605"/>
                </a:lnTo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6751198" y="3106765"/>
            <a:ext cx="0" cy="120701"/>
          </a:xfrm>
          <a:custGeom>
            <a:avLst/>
            <a:gdLst/>
            <a:ahLst/>
            <a:cxnLst/>
            <a:rect l="l" t="t" r="r" b="b"/>
            <a:pathLst>
              <a:path w="0" h="120701">
                <a:moveTo>
                  <a:pt x="0" y="0"/>
                </a:moveTo>
                <a:lnTo>
                  <a:pt x="0" y="120701"/>
                </a:lnTo>
              </a:path>
            </a:pathLst>
          </a:custGeom>
          <a:noFill/>
          <a:ln w="16669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6690848" y="3167116"/>
            <a:ext cx="120700" cy="0"/>
          </a:xfrm>
          <a:custGeom>
            <a:avLst/>
            <a:gdLst/>
            <a:ahLst/>
            <a:cxnLst/>
            <a:rect l="l" t="t" r="r" b="b"/>
            <a:pathLst>
              <a:path w="120700" h="0">
                <a:moveTo>
                  <a:pt x="0" y="0"/>
                </a:moveTo>
                <a:lnTo>
                  <a:pt x="120700" y="0"/>
                </a:lnTo>
              </a:path>
            </a:pathLst>
          </a:custGeom>
          <a:noFill/>
          <a:ln w="16669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37376" y="3474720"/>
            <a:ext cx="2011680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4142E"/>
                </a:solidFill>
                <a:latin typeface="Montserrat SemiBold"/>
              </a:rPr>
              <a:t>É preciso vínculo com a unidade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37376" y="4023360"/>
            <a:ext cx="2011680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O CPF só emite se estiver vinculado e autorizado na unidade da empresa.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10828" y="2615184"/>
            <a:ext cx="2487168" cy="2121408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8910828" y="2615184"/>
            <a:ext cx="2487168" cy="50292"/>
          </a:xfrm>
          <a:prstGeom prst="rect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9" name="Freeform 48"/>
          <p:cNvSpPr/>
          <p:nvPr/>
        </p:nvSpPr>
        <p:spPr>
          <a:xfrm>
            <a:off x="9212946" y="2921691"/>
            <a:ext cx="273588" cy="337962"/>
          </a:xfrm>
          <a:custGeom>
            <a:avLst/>
            <a:gdLst/>
            <a:ahLst/>
            <a:cxnLst/>
            <a:rect l="l" t="t" r="r" b="b"/>
            <a:pathLst>
              <a:path w="273588" h="337962">
                <a:moveTo>
                  <a:pt x="136794" y="0"/>
                </a:moveTo>
                <a:lnTo>
                  <a:pt x="273588" y="56327"/>
                </a:lnTo>
                <a:lnTo>
                  <a:pt x="273588" y="177028"/>
                </a:lnTo>
                <a:lnTo>
                  <a:pt x="136794" y="337962"/>
                </a:lnTo>
                <a:lnTo>
                  <a:pt x="0" y="177028"/>
                </a:lnTo>
                <a:lnTo>
                  <a:pt x="0" y="56327"/>
                </a:lnTo>
                <a:close/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9289390" y="3034345"/>
            <a:ext cx="128747" cy="96561"/>
          </a:xfrm>
          <a:custGeom>
            <a:avLst/>
            <a:gdLst/>
            <a:ahLst/>
            <a:cxnLst/>
            <a:rect l="l" t="t" r="r" b="b"/>
            <a:pathLst>
              <a:path w="128747" h="96561">
                <a:moveTo>
                  <a:pt x="0" y="48280"/>
                </a:moveTo>
                <a:lnTo>
                  <a:pt x="44257" y="96561"/>
                </a:lnTo>
                <a:lnTo>
                  <a:pt x="128747" y="0"/>
                </a:lnTo>
              </a:path>
            </a:pathLst>
          </a:custGeom>
          <a:noFill/>
          <a:ln w="17462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48572" y="3474720"/>
            <a:ext cx="2011680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4142E"/>
                </a:solidFill>
                <a:latin typeface="Montserrat SemiBold"/>
              </a:rPr>
              <a:t>Mais rastreabilidade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8572" y="4023360"/>
            <a:ext cx="2011680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Toda ação no sistema fica registrada no CPF de quem a executou.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77240" y="5029200"/>
            <a:ext cx="10637489" cy="56692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777240" y="5029200"/>
            <a:ext cx="32004" cy="56692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5" name="Freeform 54"/>
          <p:cNvSpPr/>
          <p:nvPr/>
        </p:nvSpPr>
        <p:spPr>
          <a:xfrm>
            <a:off x="1069848" y="5197450"/>
            <a:ext cx="159106" cy="230428"/>
          </a:xfrm>
          <a:custGeom>
            <a:avLst/>
            <a:gdLst/>
            <a:ahLst/>
            <a:cxnLst/>
            <a:rect l="l" t="t" r="r" b="b"/>
            <a:pathLst>
              <a:path w="159106" h="230428">
                <a:moveTo>
                  <a:pt x="0" y="0"/>
                </a:moveTo>
                <a:lnTo>
                  <a:pt x="115214" y="0"/>
                </a:lnTo>
                <a:lnTo>
                  <a:pt x="159106" y="49377"/>
                </a:lnTo>
                <a:lnTo>
                  <a:pt x="159106" y="230428"/>
                </a:lnTo>
                <a:lnTo>
                  <a:pt x="0" y="230428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185062" y="5197450"/>
            <a:ext cx="43892" cy="49377"/>
          </a:xfrm>
          <a:custGeom>
            <a:avLst/>
            <a:gdLst/>
            <a:ahLst/>
            <a:cxnLst/>
            <a:rect l="l" t="t" r="r" b="b"/>
            <a:pathLst>
              <a:path w="43892" h="49377">
                <a:moveTo>
                  <a:pt x="0" y="0"/>
                </a:moveTo>
                <a:lnTo>
                  <a:pt x="0" y="49377"/>
                </a:lnTo>
                <a:lnTo>
                  <a:pt x="43892" y="49377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100023" y="5290718"/>
            <a:ext cx="98755" cy="0"/>
          </a:xfrm>
          <a:custGeom>
            <a:avLst/>
            <a:gdLst/>
            <a:ahLst/>
            <a:cxnLst/>
            <a:rect l="l" t="t" r="r" b="b"/>
            <a:pathLst>
              <a:path w="98755" h="0">
                <a:moveTo>
                  <a:pt x="0" y="0"/>
                </a:moveTo>
                <a:lnTo>
                  <a:pt x="9875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100023" y="5323637"/>
            <a:ext cx="98755" cy="0"/>
          </a:xfrm>
          <a:custGeom>
            <a:avLst/>
            <a:gdLst/>
            <a:ahLst/>
            <a:cxnLst/>
            <a:rect l="l" t="t" r="r" b="b"/>
            <a:pathLst>
              <a:path w="98755" h="0">
                <a:moveTo>
                  <a:pt x="0" y="0"/>
                </a:moveTo>
                <a:lnTo>
                  <a:pt x="9875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105510" y="5345582"/>
            <a:ext cx="90525" cy="54864"/>
          </a:xfrm>
          <a:custGeom>
            <a:avLst/>
            <a:gdLst/>
            <a:ahLst/>
            <a:cxnLst/>
            <a:rect l="l" t="t" r="r" b="b"/>
            <a:pathLst>
              <a:path w="90525" h="54864">
                <a:moveTo>
                  <a:pt x="0" y="27432"/>
                </a:moveTo>
                <a:lnTo>
                  <a:pt x="30175" y="54864"/>
                </a:lnTo>
                <a:lnTo>
                  <a:pt x="90525" y="0"/>
                </a:lnTo>
              </a:path>
            </a:pathLst>
          </a:custGeom>
          <a:noFill/>
          <a:ln w="1746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472184" y="5029200"/>
            <a:ext cx="9668225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Nada muda nas suas obrigações ambientais: o MTR continua obrigatório a cada envio de carga. O que mudou foi apenas a forma de entrar no sistema.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7240" y="5742432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Fonte: portal do SINIR (sinir.gov.br/sistemas/mtr) e comunicado oficial “Login Único (Gov.br) — Sistema MTR Nacional”.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Antes e depois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O que exatamente mudou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no login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3977639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40" b="0" i="0" spc="130" cap="all">
                <a:solidFill>
                  <a:srgbClr val="6E7288"/>
                </a:solidFill>
                <a:latin typeface="Montserrat SemiBold"/>
              </a:rPr>
              <a:t>Até 31 / 07 /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810512"/>
            <a:ext cx="4937759" cy="53035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11112" y="1810512"/>
            <a:ext cx="3977639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20" b="0" i="0" spc="130" cap="all">
                <a:solidFill>
                  <a:srgbClr val="FFFFFF"/>
                </a:solidFill>
                <a:latin typeface="Montserrat SemiBold"/>
              </a:rPr>
              <a:t>A partir de 01 / 08 / 2026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" y="2340864"/>
            <a:ext cx="3977639" cy="0"/>
          </a:xfrm>
          <a:prstGeom prst="line">
            <a:avLst/>
          </a:prstGeom>
          <a:ln w="15240" cap="rnd">
            <a:solidFill>
              <a:srgbClr val="DFE2F0"/>
            </a:solidFill>
            <a:round/>
          </a:ln>
          <a:effectLst/>
        </p:spPr>
      </p:cxnSp>
      <p:sp>
        <p:nvSpPr>
          <p:cNvPr id="13" name="TextBox 12"/>
          <p:cNvSpPr txBox="1"/>
          <p:nvPr/>
        </p:nvSpPr>
        <p:spPr>
          <a:xfrm>
            <a:off x="777240" y="2487168"/>
            <a:ext cx="3703320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6E7288"/>
                </a:solidFill>
                <a:latin typeface="Montserrat"/>
              </a:rPr>
              <a:t>CNPJ + CPF do usuário + senha do sistema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487168"/>
            <a:ext cx="4937759" cy="530352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355080" y="2487168"/>
            <a:ext cx="32004" cy="53035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611112" y="2487168"/>
            <a:ext cx="3977639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14142E"/>
                </a:solidFill>
                <a:latin typeface="Montserrat SemiBold"/>
              </a:rPr>
              <a:t>CPF + senha da conta Gov.br</a:t>
            </a:r>
          </a:p>
        </p:txBody>
      </p:sp>
      <p:sp>
        <p:nvSpPr>
          <p:cNvPr id="17" name="Freeform 16"/>
          <p:cNvSpPr/>
          <p:nvPr/>
        </p:nvSpPr>
        <p:spPr>
          <a:xfrm>
            <a:off x="5010912" y="2752344"/>
            <a:ext cx="1161288" cy="0"/>
          </a:xfrm>
          <a:custGeom>
            <a:avLst/>
            <a:gdLst/>
            <a:ahLst/>
            <a:cxnLst/>
            <a:rect l="l" t="t" r="r" b="b"/>
            <a:pathLst>
              <a:path w="1161288" h="0">
                <a:moveTo>
                  <a:pt x="0" y="0"/>
                </a:moveTo>
                <a:lnTo>
                  <a:pt x="1161288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6115684" y="2722294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77240" y="3044952"/>
            <a:ext cx="3977639" cy="0"/>
          </a:xfrm>
          <a:prstGeom prst="line">
            <a:avLst/>
          </a:prstGeom>
          <a:ln w="12700" cap="rnd">
            <a:solidFill>
              <a:srgbClr val="EDEFF8"/>
            </a:solidFill>
            <a:round/>
          </a:ln>
          <a:effectLst/>
        </p:spPr>
      </p:cxnSp>
      <p:sp>
        <p:nvSpPr>
          <p:cNvPr id="20" name="TextBox 19"/>
          <p:cNvSpPr txBox="1"/>
          <p:nvPr/>
        </p:nvSpPr>
        <p:spPr>
          <a:xfrm>
            <a:off x="777240" y="3072384"/>
            <a:ext cx="3703320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6E7288"/>
                </a:solidFill>
                <a:latin typeface="Montserrat"/>
              </a:rPr>
              <a:t>Senha gerada e enviada pelo próprio MTR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3072384"/>
            <a:ext cx="4937759" cy="530352"/>
          </a:xfrm>
          <a:prstGeom prst="rect">
            <a:avLst/>
          </a:prstGeom>
          <a:solidFill>
            <a:srgbClr val="EEF0F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355080" y="3072384"/>
            <a:ext cx="32004" cy="53035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611112" y="3072384"/>
            <a:ext cx="3977639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14142E"/>
                </a:solidFill>
                <a:latin typeface="Montserrat SemiBold"/>
              </a:rPr>
              <a:t>Senha única da sua conta Gov.br</a:t>
            </a:r>
          </a:p>
        </p:txBody>
      </p:sp>
      <p:sp>
        <p:nvSpPr>
          <p:cNvPr id="24" name="Freeform 23"/>
          <p:cNvSpPr/>
          <p:nvPr/>
        </p:nvSpPr>
        <p:spPr>
          <a:xfrm>
            <a:off x="5010912" y="3337560"/>
            <a:ext cx="1161288" cy="0"/>
          </a:xfrm>
          <a:custGeom>
            <a:avLst/>
            <a:gdLst/>
            <a:ahLst/>
            <a:cxnLst/>
            <a:rect l="l" t="t" r="r" b="b"/>
            <a:pathLst>
              <a:path w="1161288" h="0">
                <a:moveTo>
                  <a:pt x="0" y="0"/>
                </a:moveTo>
                <a:lnTo>
                  <a:pt x="1161288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6115684" y="3307510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777240" y="3630168"/>
            <a:ext cx="3977639" cy="0"/>
          </a:xfrm>
          <a:prstGeom prst="line">
            <a:avLst/>
          </a:prstGeom>
          <a:ln w="12700" cap="rnd">
            <a:solidFill>
              <a:srgbClr val="EDEFF8"/>
            </a:solidFill>
            <a:round/>
          </a:ln>
          <a:effectLst/>
        </p:spPr>
      </p:cxnSp>
      <p:sp>
        <p:nvSpPr>
          <p:cNvPr id="27" name="TextBox 26"/>
          <p:cNvSpPr txBox="1"/>
          <p:nvPr/>
        </p:nvSpPr>
        <p:spPr>
          <a:xfrm>
            <a:off x="777240" y="3657600"/>
            <a:ext cx="3703320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6E7288"/>
                </a:solidFill>
                <a:latin typeface="Montserrat"/>
              </a:rPr>
              <a:t>Uma senha usada por várias pessoas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3657600"/>
            <a:ext cx="4937759" cy="530352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355080" y="3657600"/>
            <a:ext cx="32004" cy="53035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611112" y="3657600"/>
            <a:ext cx="3977639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14142E"/>
                </a:solidFill>
                <a:latin typeface="Montserrat SemiBold"/>
              </a:rPr>
              <a:t>Um acesso individual por pessoa</a:t>
            </a:r>
          </a:p>
        </p:txBody>
      </p:sp>
      <p:sp>
        <p:nvSpPr>
          <p:cNvPr id="31" name="Freeform 30"/>
          <p:cNvSpPr/>
          <p:nvPr/>
        </p:nvSpPr>
        <p:spPr>
          <a:xfrm>
            <a:off x="5010912" y="3922776"/>
            <a:ext cx="1161288" cy="0"/>
          </a:xfrm>
          <a:custGeom>
            <a:avLst/>
            <a:gdLst/>
            <a:ahLst/>
            <a:cxnLst/>
            <a:rect l="l" t="t" r="r" b="b"/>
            <a:pathLst>
              <a:path w="1161288" h="0">
                <a:moveTo>
                  <a:pt x="0" y="0"/>
                </a:moveTo>
                <a:lnTo>
                  <a:pt x="1161288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6115684" y="3892726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777240" y="4215383"/>
            <a:ext cx="3977639" cy="0"/>
          </a:xfrm>
          <a:prstGeom prst="line">
            <a:avLst/>
          </a:prstGeom>
          <a:ln w="12700" cap="rnd">
            <a:solidFill>
              <a:srgbClr val="EDEFF8"/>
            </a:solidFill>
            <a:round/>
          </a:ln>
          <a:effectLst/>
        </p:spPr>
      </p:cxnSp>
      <p:sp>
        <p:nvSpPr>
          <p:cNvPr id="34" name="TextBox 33"/>
          <p:cNvSpPr txBox="1"/>
          <p:nvPr/>
        </p:nvSpPr>
        <p:spPr>
          <a:xfrm>
            <a:off x="777240" y="4242816"/>
            <a:ext cx="3703320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6E7288"/>
                </a:solidFill>
                <a:latin typeface="Montserrat"/>
              </a:rPr>
              <a:t>Terceiros entravam com a senha do cliente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4242816"/>
            <a:ext cx="4937759" cy="530352"/>
          </a:xfrm>
          <a:prstGeom prst="rect">
            <a:avLst/>
          </a:prstGeom>
          <a:solidFill>
            <a:srgbClr val="EEF0F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355080" y="4242816"/>
            <a:ext cx="32004" cy="53035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611112" y="4242816"/>
            <a:ext cx="3977639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14142E"/>
                </a:solidFill>
                <a:latin typeface="Montserrat SemiBold"/>
              </a:rPr>
              <a:t>Terceiros precisam de vínculo autorizado</a:t>
            </a:r>
          </a:p>
        </p:txBody>
      </p:sp>
      <p:sp>
        <p:nvSpPr>
          <p:cNvPr id="38" name="Freeform 37"/>
          <p:cNvSpPr/>
          <p:nvPr/>
        </p:nvSpPr>
        <p:spPr>
          <a:xfrm>
            <a:off x="5010912" y="4507992"/>
            <a:ext cx="1161288" cy="0"/>
          </a:xfrm>
          <a:custGeom>
            <a:avLst/>
            <a:gdLst/>
            <a:ahLst/>
            <a:cxnLst/>
            <a:rect l="l" t="t" r="r" b="b"/>
            <a:pathLst>
              <a:path w="1161288" h="0">
                <a:moveTo>
                  <a:pt x="0" y="0"/>
                </a:moveTo>
                <a:lnTo>
                  <a:pt x="1161288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115684" y="4477942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777240" y="4800600"/>
            <a:ext cx="3977639" cy="0"/>
          </a:xfrm>
          <a:prstGeom prst="line">
            <a:avLst/>
          </a:prstGeom>
          <a:ln w="12700" cap="rnd">
            <a:solidFill>
              <a:srgbClr val="EDEFF8"/>
            </a:solidFill>
            <a:round/>
          </a:ln>
          <a:effectLst/>
        </p:spPr>
      </p:cxnSp>
      <p:sp>
        <p:nvSpPr>
          <p:cNvPr id="41" name="TextBox 40"/>
          <p:cNvSpPr txBox="1"/>
          <p:nvPr/>
        </p:nvSpPr>
        <p:spPr>
          <a:xfrm>
            <a:off x="777240" y="4828032"/>
            <a:ext cx="3703320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6E7288"/>
                </a:solidFill>
                <a:latin typeface="Montserrat"/>
              </a:rPr>
              <a:t>Recuperação de senha pelo sistema MTR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55080" y="4828032"/>
            <a:ext cx="4937759" cy="530352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6355080" y="4828032"/>
            <a:ext cx="32004" cy="53035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611112" y="4828032"/>
            <a:ext cx="3977639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14142E"/>
                </a:solidFill>
                <a:latin typeface="Montserrat SemiBold"/>
              </a:rPr>
              <a:t>Recuperação pelo próprio Gov.br</a:t>
            </a:r>
          </a:p>
        </p:txBody>
      </p:sp>
      <p:sp>
        <p:nvSpPr>
          <p:cNvPr id="45" name="Freeform 44"/>
          <p:cNvSpPr/>
          <p:nvPr/>
        </p:nvSpPr>
        <p:spPr>
          <a:xfrm>
            <a:off x="5010912" y="5093208"/>
            <a:ext cx="1161288" cy="0"/>
          </a:xfrm>
          <a:custGeom>
            <a:avLst/>
            <a:gdLst/>
            <a:ahLst/>
            <a:cxnLst/>
            <a:rect l="l" t="t" r="r" b="b"/>
            <a:pathLst>
              <a:path w="1161288" h="0">
                <a:moveTo>
                  <a:pt x="0" y="0"/>
                </a:moveTo>
                <a:lnTo>
                  <a:pt x="1161288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6115684" y="5063158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5486400"/>
            <a:ext cx="10637489" cy="530352"/>
          </a:xfrm>
          <a:prstGeom prst="rect">
            <a:avLst/>
          </a:prstGeom>
          <a:solidFill>
            <a:srgbClr val="E7F6F1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777240" y="5486400"/>
            <a:ext cx="32004" cy="530352"/>
          </a:xfrm>
          <a:prstGeom prst="rect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9" name="Freeform 48"/>
          <p:cNvSpPr/>
          <p:nvPr/>
        </p:nvSpPr>
        <p:spPr>
          <a:xfrm>
            <a:off x="1058875" y="5636362"/>
            <a:ext cx="186538" cy="230428"/>
          </a:xfrm>
          <a:custGeom>
            <a:avLst/>
            <a:gdLst/>
            <a:ahLst/>
            <a:cxnLst/>
            <a:rect l="l" t="t" r="r" b="b"/>
            <a:pathLst>
              <a:path w="186538" h="230428">
                <a:moveTo>
                  <a:pt x="93269" y="0"/>
                </a:moveTo>
                <a:lnTo>
                  <a:pt x="186538" y="38404"/>
                </a:lnTo>
                <a:lnTo>
                  <a:pt x="186538" y="120700"/>
                </a:lnTo>
                <a:lnTo>
                  <a:pt x="93269" y="230428"/>
                </a:lnTo>
                <a:lnTo>
                  <a:pt x="0" y="120700"/>
                </a:lnTo>
                <a:lnTo>
                  <a:pt x="0" y="38404"/>
                </a:lnTo>
                <a:close/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1110996" y="5713171"/>
            <a:ext cx="87782" cy="65837"/>
          </a:xfrm>
          <a:custGeom>
            <a:avLst/>
            <a:gdLst/>
            <a:ahLst/>
            <a:cxnLst/>
            <a:rect l="l" t="t" r="r" b="b"/>
            <a:pathLst>
              <a:path w="87782" h="65837">
                <a:moveTo>
                  <a:pt x="0" y="32919"/>
                </a:moveTo>
                <a:lnTo>
                  <a:pt x="30175" y="65837"/>
                </a:lnTo>
                <a:lnTo>
                  <a:pt x="87782" y="0"/>
                </a:lnTo>
              </a:path>
            </a:pathLst>
          </a:custGeom>
          <a:noFill/>
          <a:ln w="17462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472184" y="5486400"/>
            <a:ext cx="9668225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O cadastro da sua empresa e o histórico de MTRs continuam os mesmos. A mudança é na autenticação, não nos dados.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Por que isso afeta você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O acesso é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da pessoa</a:t>
            </a:r>
            <a:r>
              <a:rPr sz="2550" b="0" i="0">
                <a:solidFill>
                  <a:srgbClr val="14142E"/>
                </a:solidFill>
                <a:latin typeface="Montserrat Light"/>
              </a:rPr>
              <a:t>, não da empresa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10512"/>
            <a:ext cx="4983480" cy="7863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60" b="0" i="0">
                <a:solidFill>
                  <a:srgbClr val="6E7288"/>
                </a:solidFill>
                <a:latin typeface="Montserrat"/>
              </a:rPr>
              <a:t>Antes, quem tinha a senha da empresa entrava no sistema. Agora o sistema identifica a pessoa física pelo CPF e só libera as unidades às quais aquele CPF está vinculado.</a:t>
            </a:r>
          </a:p>
        </p:txBody>
      </p:sp>
      <p:sp>
        <p:nvSpPr>
          <p:cNvPr id="10" name="Oval 9"/>
          <p:cNvSpPr/>
          <p:nvPr/>
        </p:nvSpPr>
        <p:spPr>
          <a:xfrm>
            <a:off x="777239" y="2798064"/>
            <a:ext cx="530352" cy="530352"/>
          </a:xfrm>
          <a:prstGeom prst="ellipse">
            <a:avLst/>
          </a:prstGeom>
          <a:solidFill>
            <a:srgbClr val="FFFFFF"/>
          </a:solidFill>
          <a:ln w="1524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Freeform 10"/>
          <p:cNvSpPr/>
          <p:nvPr/>
        </p:nvSpPr>
        <p:spPr>
          <a:xfrm>
            <a:off x="919521" y="2981310"/>
            <a:ext cx="245790" cy="163860"/>
          </a:xfrm>
          <a:custGeom>
            <a:avLst/>
            <a:gdLst/>
            <a:ahLst/>
            <a:cxnLst/>
            <a:rect l="l" t="t" r="r" b="b"/>
            <a:pathLst>
              <a:path w="245790" h="163860">
                <a:moveTo>
                  <a:pt x="0" y="0"/>
                </a:moveTo>
                <a:lnTo>
                  <a:pt x="245790" y="0"/>
                </a:lnTo>
                <a:lnTo>
                  <a:pt x="245790" y="163860"/>
                </a:lnTo>
                <a:lnTo>
                  <a:pt x="0" y="163860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4633" y="3010570"/>
            <a:ext cx="58521" cy="58521"/>
          </a:xfrm>
          <a:prstGeom prst="ellipse">
            <a:avLst/>
          </a:prstGeom>
          <a:noFill/>
          <a:ln w="14288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3" name="Freeform 12"/>
          <p:cNvSpPr/>
          <p:nvPr/>
        </p:nvSpPr>
        <p:spPr>
          <a:xfrm>
            <a:off x="942650" y="3077870"/>
            <a:ext cx="82489" cy="21179"/>
          </a:xfrm>
          <a:custGeom>
            <a:avLst/>
            <a:gdLst/>
            <a:ahLst/>
            <a:cxnLst/>
            <a:rect l="l" t="t" r="r" b="b"/>
            <a:pathLst>
              <a:path w="82489" h="21179">
                <a:moveTo>
                  <a:pt x="0" y="21179"/>
                </a:moveTo>
                <a:lnTo>
                  <a:pt x="2411" y="17187"/>
                </a:lnTo>
                <a:lnTo>
                  <a:pt x="5537" y="13471"/>
                </a:lnTo>
                <a:lnTo>
                  <a:pt x="9319" y="10099"/>
                </a:lnTo>
                <a:lnTo>
                  <a:pt x="13689" y="7134"/>
                </a:lnTo>
                <a:lnTo>
                  <a:pt x="18566" y="4630"/>
                </a:lnTo>
                <a:lnTo>
                  <a:pt x="23860" y="2633"/>
                </a:lnTo>
                <a:lnTo>
                  <a:pt x="29474" y="1179"/>
                </a:lnTo>
                <a:lnTo>
                  <a:pt x="35305" y="297"/>
                </a:lnTo>
                <a:lnTo>
                  <a:pt x="41244" y="0"/>
                </a:lnTo>
                <a:lnTo>
                  <a:pt x="47184" y="297"/>
                </a:lnTo>
                <a:lnTo>
                  <a:pt x="53015" y="1179"/>
                </a:lnTo>
                <a:lnTo>
                  <a:pt x="58629" y="2633"/>
                </a:lnTo>
                <a:lnTo>
                  <a:pt x="63923" y="4630"/>
                </a:lnTo>
                <a:lnTo>
                  <a:pt x="68800" y="7134"/>
                </a:lnTo>
                <a:lnTo>
                  <a:pt x="73170" y="10099"/>
                </a:lnTo>
                <a:lnTo>
                  <a:pt x="76952" y="13471"/>
                </a:lnTo>
                <a:lnTo>
                  <a:pt x="80078" y="17187"/>
                </a:lnTo>
                <a:lnTo>
                  <a:pt x="82489" y="21179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048268" y="3028127"/>
            <a:ext cx="87783" cy="0"/>
          </a:xfrm>
          <a:custGeom>
            <a:avLst/>
            <a:gdLst/>
            <a:ahLst/>
            <a:cxnLst/>
            <a:rect l="l" t="t" r="r" b="b"/>
            <a:pathLst>
              <a:path w="87783" h="0">
                <a:moveTo>
                  <a:pt x="0" y="0"/>
                </a:moveTo>
                <a:lnTo>
                  <a:pt x="87783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048268" y="3063240"/>
            <a:ext cx="87783" cy="0"/>
          </a:xfrm>
          <a:custGeom>
            <a:avLst/>
            <a:gdLst/>
            <a:ahLst/>
            <a:cxnLst/>
            <a:rect l="l" t="t" r="r" b="b"/>
            <a:pathLst>
              <a:path w="87783" h="0">
                <a:moveTo>
                  <a:pt x="0" y="0"/>
                </a:moveTo>
                <a:lnTo>
                  <a:pt x="87783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1048268" y="3098353"/>
            <a:ext cx="87783" cy="0"/>
          </a:xfrm>
          <a:custGeom>
            <a:avLst/>
            <a:gdLst/>
            <a:ahLst/>
            <a:cxnLst/>
            <a:rect l="l" t="t" r="r" b="b"/>
            <a:pathLst>
              <a:path w="87783" h="0">
                <a:moveTo>
                  <a:pt x="0" y="0"/>
                </a:moveTo>
                <a:lnTo>
                  <a:pt x="87783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90472" y="2834640"/>
            <a:ext cx="42062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4142E"/>
                </a:solidFill>
                <a:latin typeface="Montserrat SemiBold"/>
              </a:rPr>
              <a:t>O CPF da pessoa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0472" y="3108960"/>
            <a:ext cx="420624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Conta Gov.br individual e pessoal</a:t>
            </a:r>
          </a:p>
        </p:txBody>
      </p:sp>
      <p:sp>
        <p:nvSpPr>
          <p:cNvPr id="19" name="Freeform 18"/>
          <p:cNvSpPr/>
          <p:nvPr/>
        </p:nvSpPr>
        <p:spPr>
          <a:xfrm>
            <a:off x="1042416" y="3401568"/>
            <a:ext cx="0" cy="256032"/>
          </a:xfrm>
          <a:custGeom>
            <a:avLst/>
            <a:gdLst/>
            <a:ahLst/>
            <a:cxnLst/>
            <a:rect l="l" t="t" r="r" b="b"/>
            <a:pathLst>
              <a:path w="0" h="256032">
                <a:moveTo>
                  <a:pt x="0" y="0"/>
                </a:moveTo>
                <a:lnTo>
                  <a:pt x="0" y="256032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1012366" y="3601084"/>
            <a:ext cx="60100" cy="56516"/>
          </a:xfrm>
          <a:custGeom>
            <a:avLst/>
            <a:gdLst/>
            <a:ahLst/>
            <a:cxnLst/>
            <a:rect l="l" t="t" r="r" b="b"/>
            <a:pathLst>
              <a:path w="60100" h="56516">
                <a:moveTo>
                  <a:pt x="30050" y="56516"/>
                </a:moveTo>
                <a:lnTo>
                  <a:pt x="0" y="0"/>
                </a:lnTo>
                <a:lnTo>
                  <a:pt x="6010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7239" y="3730752"/>
            <a:ext cx="530352" cy="530352"/>
          </a:xfrm>
          <a:prstGeom prst="ellipse">
            <a:avLst/>
          </a:prstGeom>
          <a:solidFill>
            <a:srgbClr val="FFFFFF"/>
          </a:solidFill>
          <a:ln w="1524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63411" y="3899367"/>
            <a:ext cx="87782" cy="87782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3" name="Freeform 22"/>
          <p:cNvSpPr/>
          <p:nvPr/>
        </p:nvSpPr>
        <p:spPr>
          <a:xfrm>
            <a:off x="933817" y="4013484"/>
            <a:ext cx="146972" cy="47713"/>
          </a:xfrm>
          <a:custGeom>
            <a:avLst/>
            <a:gdLst/>
            <a:ahLst/>
            <a:cxnLst/>
            <a:rect l="l" t="t" r="r" b="b"/>
            <a:pathLst>
              <a:path w="146972" h="47713">
                <a:moveTo>
                  <a:pt x="0" y="47713"/>
                </a:moveTo>
                <a:lnTo>
                  <a:pt x="2858" y="40449"/>
                </a:lnTo>
                <a:lnTo>
                  <a:pt x="6714" y="33523"/>
                </a:lnTo>
                <a:lnTo>
                  <a:pt x="11515" y="27034"/>
                </a:lnTo>
                <a:lnTo>
                  <a:pt x="17192" y="21073"/>
                </a:lnTo>
                <a:lnTo>
                  <a:pt x="23665" y="15724"/>
                </a:lnTo>
                <a:lnTo>
                  <a:pt x="30844" y="11063"/>
                </a:lnTo>
                <a:lnTo>
                  <a:pt x="38625" y="7157"/>
                </a:lnTo>
                <a:lnTo>
                  <a:pt x="46899" y="4059"/>
                </a:lnTo>
                <a:lnTo>
                  <a:pt x="55550" y="1815"/>
                </a:lnTo>
                <a:lnTo>
                  <a:pt x="64454" y="456"/>
                </a:lnTo>
                <a:lnTo>
                  <a:pt x="73486" y="0"/>
                </a:lnTo>
                <a:lnTo>
                  <a:pt x="82518" y="456"/>
                </a:lnTo>
                <a:lnTo>
                  <a:pt x="91422" y="1815"/>
                </a:lnTo>
                <a:lnTo>
                  <a:pt x="100073" y="4059"/>
                </a:lnTo>
                <a:lnTo>
                  <a:pt x="108347" y="7157"/>
                </a:lnTo>
                <a:lnTo>
                  <a:pt x="116128" y="11063"/>
                </a:lnTo>
                <a:lnTo>
                  <a:pt x="123307" y="15724"/>
                </a:lnTo>
                <a:lnTo>
                  <a:pt x="129780" y="21073"/>
                </a:lnTo>
                <a:lnTo>
                  <a:pt x="135457" y="27034"/>
                </a:lnTo>
                <a:lnTo>
                  <a:pt x="140258" y="33523"/>
                </a:lnTo>
                <a:lnTo>
                  <a:pt x="144114" y="40449"/>
                </a:lnTo>
                <a:lnTo>
                  <a:pt x="146972" y="47713"/>
                </a:lnTo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124346" y="4007632"/>
            <a:ext cx="0" cy="87783"/>
          </a:xfrm>
          <a:custGeom>
            <a:avLst/>
            <a:gdLst/>
            <a:ahLst/>
            <a:cxnLst/>
            <a:rect l="l" t="t" r="r" b="b"/>
            <a:pathLst>
              <a:path w="0" h="87783">
                <a:moveTo>
                  <a:pt x="0" y="0"/>
                </a:moveTo>
                <a:lnTo>
                  <a:pt x="0" y="87783"/>
                </a:lnTo>
              </a:path>
            </a:pathLst>
          </a:custGeom>
          <a:noFill/>
          <a:ln w="16669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080455" y="4051524"/>
            <a:ext cx="87782" cy="0"/>
          </a:xfrm>
          <a:custGeom>
            <a:avLst/>
            <a:gdLst/>
            <a:ahLst/>
            <a:cxnLst/>
            <a:rect l="l" t="t" r="r" b="b"/>
            <a:pathLst>
              <a:path w="87782" h="0">
                <a:moveTo>
                  <a:pt x="0" y="0"/>
                </a:moveTo>
                <a:lnTo>
                  <a:pt x="87782" y="0"/>
                </a:lnTo>
              </a:path>
            </a:pathLst>
          </a:custGeom>
          <a:noFill/>
          <a:ln w="16669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90472" y="3767328"/>
            <a:ext cx="42062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4142E"/>
                </a:solidFill>
                <a:latin typeface="Montserrat SemiBold"/>
              </a:rPr>
              <a:t>O vínculo com a unidade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90472" y="4041648"/>
            <a:ext cx="420624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Autorizado pelo Administrador da empresa</a:t>
            </a:r>
          </a:p>
        </p:txBody>
      </p:sp>
      <p:sp>
        <p:nvSpPr>
          <p:cNvPr id="28" name="Freeform 27"/>
          <p:cNvSpPr/>
          <p:nvPr/>
        </p:nvSpPr>
        <p:spPr>
          <a:xfrm>
            <a:off x="1042416" y="4334256"/>
            <a:ext cx="0" cy="256032"/>
          </a:xfrm>
          <a:custGeom>
            <a:avLst/>
            <a:gdLst/>
            <a:ahLst/>
            <a:cxnLst/>
            <a:rect l="l" t="t" r="r" b="b"/>
            <a:pathLst>
              <a:path w="0" h="256032">
                <a:moveTo>
                  <a:pt x="0" y="0"/>
                </a:moveTo>
                <a:lnTo>
                  <a:pt x="0" y="256032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012366" y="4533772"/>
            <a:ext cx="60100" cy="56516"/>
          </a:xfrm>
          <a:custGeom>
            <a:avLst/>
            <a:gdLst/>
            <a:ahLst/>
            <a:cxnLst/>
            <a:rect l="l" t="t" r="r" b="b"/>
            <a:pathLst>
              <a:path w="60100" h="56516">
                <a:moveTo>
                  <a:pt x="30050" y="56516"/>
                </a:moveTo>
                <a:lnTo>
                  <a:pt x="0" y="0"/>
                </a:lnTo>
                <a:lnTo>
                  <a:pt x="6010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7239" y="4663440"/>
            <a:ext cx="530352" cy="530352"/>
          </a:xfrm>
          <a:prstGeom prst="ellipse">
            <a:avLst/>
          </a:prstGeom>
          <a:solidFill>
            <a:srgbClr val="FFFFFF"/>
          </a:solidFill>
          <a:ln w="15240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1" name="Freeform 30"/>
          <p:cNvSpPr/>
          <p:nvPr/>
        </p:nvSpPr>
        <p:spPr>
          <a:xfrm>
            <a:off x="954634" y="4805721"/>
            <a:ext cx="169712" cy="245790"/>
          </a:xfrm>
          <a:custGeom>
            <a:avLst/>
            <a:gdLst/>
            <a:ahLst/>
            <a:cxnLst/>
            <a:rect l="l" t="t" r="r" b="b"/>
            <a:pathLst>
              <a:path w="169712" h="245790">
                <a:moveTo>
                  <a:pt x="0" y="0"/>
                </a:moveTo>
                <a:lnTo>
                  <a:pt x="122895" y="0"/>
                </a:lnTo>
                <a:lnTo>
                  <a:pt x="169712" y="52669"/>
                </a:lnTo>
                <a:lnTo>
                  <a:pt x="169712" y="245790"/>
                </a:lnTo>
                <a:lnTo>
                  <a:pt x="0" y="245790"/>
                </a:lnTo>
                <a:close/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077529" y="4805721"/>
            <a:ext cx="46817" cy="52669"/>
          </a:xfrm>
          <a:custGeom>
            <a:avLst/>
            <a:gdLst/>
            <a:ahLst/>
            <a:cxnLst/>
            <a:rect l="l" t="t" r="r" b="b"/>
            <a:pathLst>
              <a:path w="46817" h="52669">
                <a:moveTo>
                  <a:pt x="0" y="0"/>
                </a:moveTo>
                <a:lnTo>
                  <a:pt x="0" y="52669"/>
                </a:lnTo>
                <a:lnTo>
                  <a:pt x="46817" y="52669"/>
                </a:lnTo>
              </a:path>
            </a:pathLst>
          </a:custGeom>
          <a:noFill/>
          <a:ln w="12700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986820" y="4905207"/>
            <a:ext cx="105339" cy="0"/>
          </a:xfrm>
          <a:custGeom>
            <a:avLst/>
            <a:gdLst/>
            <a:ahLst/>
            <a:cxnLst/>
            <a:rect l="l" t="t" r="r" b="b"/>
            <a:pathLst>
              <a:path w="105339" h="0">
                <a:moveTo>
                  <a:pt x="0" y="0"/>
                </a:moveTo>
                <a:lnTo>
                  <a:pt x="105339" y="0"/>
                </a:lnTo>
              </a:path>
            </a:pathLst>
          </a:custGeom>
          <a:noFill/>
          <a:ln w="11112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986820" y="4940320"/>
            <a:ext cx="105339" cy="0"/>
          </a:xfrm>
          <a:custGeom>
            <a:avLst/>
            <a:gdLst/>
            <a:ahLst/>
            <a:cxnLst/>
            <a:rect l="l" t="t" r="r" b="b"/>
            <a:pathLst>
              <a:path w="105339" h="0">
                <a:moveTo>
                  <a:pt x="0" y="0"/>
                </a:moveTo>
                <a:lnTo>
                  <a:pt x="105339" y="0"/>
                </a:lnTo>
              </a:path>
            </a:pathLst>
          </a:custGeom>
          <a:noFill/>
          <a:ln w="11112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992673" y="4963729"/>
            <a:ext cx="96560" cy="58522"/>
          </a:xfrm>
          <a:custGeom>
            <a:avLst/>
            <a:gdLst/>
            <a:ahLst/>
            <a:cxnLst/>
            <a:rect l="l" t="t" r="r" b="b"/>
            <a:pathLst>
              <a:path w="96560" h="58522">
                <a:moveTo>
                  <a:pt x="0" y="29261"/>
                </a:moveTo>
                <a:lnTo>
                  <a:pt x="32187" y="58522"/>
                </a:lnTo>
                <a:lnTo>
                  <a:pt x="96560" y="0"/>
                </a:lnTo>
              </a:path>
            </a:pathLst>
          </a:custGeom>
          <a:noFill/>
          <a:ln w="17462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90472" y="4700016"/>
            <a:ext cx="42062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4142E"/>
                </a:solidFill>
                <a:latin typeface="Montserrat SemiBold"/>
              </a:rPr>
              <a:t>A emissão do MTR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90472" y="4974336"/>
            <a:ext cx="420624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Somente com vínculo ativo na unidade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55080" y="1847088"/>
            <a:ext cx="5056632" cy="1737360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355080" y="1847088"/>
            <a:ext cx="5056632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0" name="Freeform 39"/>
          <p:cNvSpPr/>
          <p:nvPr/>
        </p:nvSpPr>
        <p:spPr>
          <a:xfrm>
            <a:off x="6669634" y="2150669"/>
            <a:ext cx="248716" cy="307238"/>
          </a:xfrm>
          <a:custGeom>
            <a:avLst/>
            <a:gdLst/>
            <a:ahLst/>
            <a:cxnLst/>
            <a:rect l="l" t="t" r="r" b="b"/>
            <a:pathLst>
              <a:path w="248716" h="307238">
                <a:moveTo>
                  <a:pt x="124358" y="0"/>
                </a:moveTo>
                <a:lnTo>
                  <a:pt x="248716" y="51206"/>
                </a:lnTo>
                <a:lnTo>
                  <a:pt x="248716" y="160934"/>
                </a:lnTo>
                <a:lnTo>
                  <a:pt x="124358" y="307238"/>
                </a:lnTo>
                <a:lnTo>
                  <a:pt x="0" y="160934"/>
                </a:lnTo>
                <a:lnTo>
                  <a:pt x="0" y="51206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739128" y="2253082"/>
            <a:ext cx="117043" cy="87782"/>
          </a:xfrm>
          <a:custGeom>
            <a:avLst/>
            <a:gdLst/>
            <a:ahLst/>
            <a:cxnLst/>
            <a:rect l="l" t="t" r="r" b="b"/>
            <a:pathLst>
              <a:path w="117043" h="87782">
                <a:moveTo>
                  <a:pt x="0" y="43891"/>
                </a:moveTo>
                <a:lnTo>
                  <a:pt x="40234" y="87782"/>
                </a:lnTo>
                <a:lnTo>
                  <a:pt x="117043" y="0"/>
                </a:lnTo>
              </a:path>
            </a:pathLst>
          </a:custGeom>
          <a:noFill/>
          <a:ln w="1746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04888" y="2176272"/>
            <a:ext cx="4050791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40" b="0" i="0">
                <a:solidFill>
                  <a:srgbClr val="14142E"/>
                </a:solidFill>
                <a:latin typeface="Montserrat SemiBold"/>
              </a:rPr>
              <a:t>Usuário Administrador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11112" y="2633472"/>
            <a:ext cx="4544568" cy="84124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19" b="0" i="0">
                <a:solidFill>
                  <a:srgbClr val="6E7288"/>
                </a:solidFill>
                <a:latin typeface="Montserrat"/>
              </a:rPr>
              <a:t>Responsável pelo cadastro da empresa. Edita dados cadastrais, gerencia usuários, concede permissões e pode desativar acessos da unidade. Pode criar usuários Padrão e outros Administradores.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55080" y="3730752"/>
            <a:ext cx="5056632" cy="1737360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6355080" y="3730752"/>
            <a:ext cx="5056632" cy="50292"/>
          </a:xfrm>
          <a:prstGeom prst="rect">
            <a:avLst/>
          </a:prstGeom>
          <a:solidFill>
            <a:srgbClr val="6E7288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6750100" y="4070908"/>
            <a:ext cx="87782" cy="87782"/>
          </a:xfrm>
          <a:prstGeom prst="ellipse">
            <a:avLst/>
          </a:prstGeom>
          <a:noFill/>
          <a:ln w="15875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7" name="Freeform 46"/>
          <p:cNvSpPr/>
          <p:nvPr/>
        </p:nvSpPr>
        <p:spPr>
          <a:xfrm>
            <a:off x="6696737" y="4231843"/>
            <a:ext cx="194510" cy="78584"/>
          </a:xfrm>
          <a:custGeom>
            <a:avLst/>
            <a:gdLst/>
            <a:ahLst/>
            <a:cxnLst/>
            <a:rect l="l" t="t" r="r" b="b"/>
            <a:pathLst>
              <a:path w="194510" h="78584">
                <a:moveTo>
                  <a:pt x="0" y="78584"/>
                </a:moveTo>
                <a:lnTo>
                  <a:pt x="2953" y="66861"/>
                </a:lnTo>
                <a:lnTo>
                  <a:pt x="7424" y="55593"/>
                </a:lnTo>
                <a:lnTo>
                  <a:pt x="13340" y="44960"/>
                </a:lnTo>
                <a:lnTo>
                  <a:pt x="20607" y="35134"/>
                </a:lnTo>
                <a:lnTo>
                  <a:pt x="29106" y="26272"/>
                </a:lnTo>
                <a:lnTo>
                  <a:pt x="38702" y="18519"/>
                </a:lnTo>
                <a:lnTo>
                  <a:pt x="49241" y="11997"/>
                </a:lnTo>
                <a:lnTo>
                  <a:pt x="60551" y="6812"/>
                </a:lnTo>
                <a:lnTo>
                  <a:pt x="72453" y="3048"/>
                </a:lnTo>
                <a:lnTo>
                  <a:pt x="84753" y="765"/>
                </a:lnTo>
                <a:lnTo>
                  <a:pt x="97255" y="0"/>
                </a:lnTo>
                <a:lnTo>
                  <a:pt x="109757" y="765"/>
                </a:lnTo>
                <a:lnTo>
                  <a:pt x="122057" y="3048"/>
                </a:lnTo>
                <a:lnTo>
                  <a:pt x="133959" y="6812"/>
                </a:lnTo>
                <a:lnTo>
                  <a:pt x="145269" y="11997"/>
                </a:lnTo>
                <a:lnTo>
                  <a:pt x="155808" y="18519"/>
                </a:lnTo>
                <a:lnTo>
                  <a:pt x="165404" y="26272"/>
                </a:lnTo>
                <a:lnTo>
                  <a:pt x="173903" y="35134"/>
                </a:lnTo>
                <a:lnTo>
                  <a:pt x="181170" y="44960"/>
                </a:lnTo>
                <a:lnTo>
                  <a:pt x="187086" y="55593"/>
                </a:lnTo>
                <a:lnTo>
                  <a:pt x="191557" y="66861"/>
                </a:lnTo>
                <a:lnTo>
                  <a:pt x="194510" y="78584"/>
                </a:lnTo>
              </a:path>
            </a:pathLst>
          </a:custGeom>
          <a:noFill/>
          <a:ln w="15875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636715" y="4118457"/>
            <a:ext cx="65836" cy="65836"/>
          </a:xfrm>
          <a:prstGeom prst="ellipse">
            <a:avLst/>
          </a:prstGeom>
          <a:noFill/>
          <a:ln w="13494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9" name="Freeform 48"/>
          <p:cNvSpPr/>
          <p:nvPr/>
        </p:nvSpPr>
        <p:spPr>
          <a:xfrm>
            <a:off x="6609573" y="4275734"/>
            <a:ext cx="120121" cy="48797"/>
          </a:xfrm>
          <a:custGeom>
            <a:avLst/>
            <a:gdLst/>
            <a:ahLst/>
            <a:cxnLst/>
            <a:rect l="l" t="t" r="r" b="b"/>
            <a:pathLst>
              <a:path w="120121" h="48797">
                <a:moveTo>
                  <a:pt x="0" y="48797"/>
                </a:moveTo>
                <a:lnTo>
                  <a:pt x="2967" y="39761"/>
                </a:lnTo>
                <a:lnTo>
                  <a:pt x="7139" y="31274"/>
                </a:lnTo>
                <a:lnTo>
                  <a:pt x="12429" y="23518"/>
                </a:lnTo>
                <a:lnTo>
                  <a:pt x="18724" y="16655"/>
                </a:lnTo>
                <a:lnTo>
                  <a:pt x="25893" y="10831"/>
                </a:lnTo>
                <a:lnTo>
                  <a:pt x="33783" y="6169"/>
                </a:lnTo>
                <a:lnTo>
                  <a:pt x="42227" y="2766"/>
                </a:lnTo>
                <a:lnTo>
                  <a:pt x="51049" y="696"/>
                </a:lnTo>
                <a:lnTo>
                  <a:pt x="60061" y="0"/>
                </a:lnTo>
                <a:lnTo>
                  <a:pt x="69072" y="696"/>
                </a:lnTo>
                <a:lnTo>
                  <a:pt x="77894" y="2766"/>
                </a:lnTo>
                <a:lnTo>
                  <a:pt x="86339" y="6169"/>
                </a:lnTo>
                <a:lnTo>
                  <a:pt x="94229" y="10831"/>
                </a:lnTo>
                <a:lnTo>
                  <a:pt x="101397" y="16655"/>
                </a:lnTo>
                <a:lnTo>
                  <a:pt x="107693" y="23518"/>
                </a:lnTo>
                <a:lnTo>
                  <a:pt x="112982" y="31274"/>
                </a:lnTo>
                <a:lnTo>
                  <a:pt x="117155" y="39761"/>
                </a:lnTo>
                <a:lnTo>
                  <a:pt x="120121" y="48797"/>
                </a:lnTo>
              </a:path>
            </a:pathLst>
          </a:custGeom>
          <a:noFill/>
          <a:ln w="13494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885432" y="4118457"/>
            <a:ext cx="65836" cy="65836"/>
          </a:xfrm>
          <a:prstGeom prst="ellipse">
            <a:avLst/>
          </a:prstGeom>
          <a:noFill/>
          <a:ln w="13494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1" name="Freeform 50"/>
          <p:cNvSpPr/>
          <p:nvPr/>
        </p:nvSpPr>
        <p:spPr>
          <a:xfrm>
            <a:off x="6858290" y="4275734"/>
            <a:ext cx="120121" cy="48797"/>
          </a:xfrm>
          <a:custGeom>
            <a:avLst/>
            <a:gdLst/>
            <a:ahLst/>
            <a:cxnLst/>
            <a:rect l="l" t="t" r="r" b="b"/>
            <a:pathLst>
              <a:path w="120121" h="48797">
                <a:moveTo>
                  <a:pt x="0" y="48797"/>
                </a:moveTo>
                <a:lnTo>
                  <a:pt x="2966" y="39761"/>
                </a:lnTo>
                <a:lnTo>
                  <a:pt x="7139" y="31274"/>
                </a:lnTo>
                <a:lnTo>
                  <a:pt x="12428" y="23518"/>
                </a:lnTo>
                <a:lnTo>
                  <a:pt x="18724" y="16655"/>
                </a:lnTo>
                <a:lnTo>
                  <a:pt x="25892" y="10831"/>
                </a:lnTo>
                <a:lnTo>
                  <a:pt x="33782" y="6169"/>
                </a:lnTo>
                <a:lnTo>
                  <a:pt x="42227" y="2766"/>
                </a:lnTo>
                <a:lnTo>
                  <a:pt x="51049" y="696"/>
                </a:lnTo>
                <a:lnTo>
                  <a:pt x="60060" y="0"/>
                </a:lnTo>
                <a:lnTo>
                  <a:pt x="69072" y="696"/>
                </a:lnTo>
                <a:lnTo>
                  <a:pt x="77894" y="2766"/>
                </a:lnTo>
                <a:lnTo>
                  <a:pt x="86338" y="6169"/>
                </a:lnTo>
                <a:lnTo>
                  <a:pt x="94228" y="10831"/>
                </a:lnTo>
                <a:lnTo>
                  <a:pt x="101397" y="16655"/>
                </a:lnTo>
                <a:lnTo>
                  <a:pt x="107692" y="23518"/>
                </a:lnTo>
                <a:lnTo>
                  <a:pt x="112982" y="31274"/>
                </a:lnTo>
                <a:lnTo>
                  <a:pt x="117154" y="39761"/>
                </a:lnTo>
                <a:lnTo>
                  <a:pt x="120121" y="48797"/>
                </a:lnTo>
              </a:path>
            </a:pathLst>
          </a:custGeom>
          <a:noFill/>
          <a:ln w="13494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04888" y="4059936"/>
            <a:ext cx="4050791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40" b="0" i="0">
                <a:solidFill>
                  <a:srgbClr val="14142E"/>
                </a:solidFill>
                <a:latin typeface="Montserrat SemiBold"/>
              </a:rPr>
              <a:t>Usuário Padrão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11112" y="4517136"/>
            <a:ext cx="4544568" cy="84124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19" b="0" i="0">
                <a:solidFill>
                  <a:srgbClr val="6E7288"/>
                </a:solidFill>
                <a:latin typeface="Montserrat"/>
              </a:rPr>
              <a:t>Acessa o sistema pela unidade à qual está vinculado, mas não acessa os menus de edição dos dados da empresa nem dos usuários da unidade.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724144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Fonte: comunicado oficial do SINIR sobre os tipos de usuário do Sistema MTR (Usuário Administrador e Usuário Padrão).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Impacto na nossa operação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Por que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não conseguimos mais emitir</a:t>
            </a:r>
            <a:r>
              <a:rPr sz="2550" b="0" i="0">
                <a:solidFill>
                  <a:srgbClr val="14142E"/>
                </a:solidFill>
                <a:latin typeface="Montserrat Light"/>
              </a:rPr>
              <a:t> no seu lugar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10512"/>
            <a:ext cx="4983480" cy="11887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60" b="0" i="0">
                <a:solidFill>
                  <a:srgbClr val="6E7288"/>
                </a:solidFill>
                <a:latin typeface="Montserrat"/>
              </a:rPr>
              <a:t>Até 31/07/2026 nós emitíamos o MTR usando o acesso da sua empresa. Com o Login Único, o nosso acesso passou a ser o CPF do nosso responsável — e ele identifica a Nunes &amp; Lucato como transportadora, na nossa própria unidade.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148309"/>
            <a:ext cx="69494" cy="6949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5606" y="3108960"/>
            <a:ext cx="4663440" cy="50520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3A3C55"/>
                </a:solidFill>
                <a:latin typeface="Montserrat"/>
              </a:rPr>
              <a:t>O nosso login não alcança a unidade do gerador.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431011"/>
            <a:ext cx="69494" cy="6949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5606" y="3391662"/>
            <a:ext cx="4663440" cy="50520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3A3C55"/>
                </a:solidFill>
                <a:latin typeface="Montserrat"/>
              </a:rPr>
              <a:t>Sem vínculo autorizado, o sistema não exibe a sua empresa.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713713"/>
            <a:ext cx="69494" cy="6949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5606" y="3674364"/>
            <a:ext cx="4663440" cy="50520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3A3C55"/>
                </a:solidFill>
                <a:latin typeface="Montserrat"/>
              </a:rPr>
              <a:t>Não há como emitir MTR em nome de quem não nos autorizou.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626864"/>
            <a:ext cx="4846320" cy="566928"/>
          </a:xfrm>
          <a:prstGeom prst="rect">
            <a:avLst/>
          </a:prstGeom>
          <a:solidFill>
            <a:srgbClr val="FCEDE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77240" y="4626864"/>
            <a:ext cx="32004" cy="566928"/>
          </a:xfrm>
          <a:prstGeom prst="rect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8" name="Freeform 17"/>
          <p:cNvSpPr/>
          <p:nvPr/>
        </p:nvSpPr>
        <p:spPr>
          <a:xfrm>
            <a:off x="1034186" y="4800600"/>
            <a:ext cx="235916" cy="208483"/>
          </a:xfrm>
          <a:custGeom>
            <a:avLst/>
            <a:gdLst/>
            <a:ahLst/>
            <a:cxnLst/>
            <a:rect l="l" t="t" r="r" b="b"/>
            <a:pathLst>
              <a:path w="235916" h="208483">
                <a:moveTo>
                  <a:pt x="117958" y="0"/>
                </a:moveTo>
                <a:lnTo>
                  <a:pt x="235916" y="208483"/>
                </a:lnTo>
                <a:lnTo>
                  <a:pt x="0" y="208483"/>
                </a:lnTo>
                <a:close/>
              </a:path>
            </a:pathLst>
          </a:cu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1152144" y="4877410"/>
            <a:ext cx="0" cy="65836"/>
          </a:xfrm>
          <a:custGeom>
            <a:avLst/>
            <a:gdLst/>
            <a:ahLst/>
            <a:cxnLst/>
            <a:rect l="l" t="t" r="r" b="b"/>
            <a:pathLst>
              <a:path w="0" h="65836">
                <a:moveTo>
                  <a:pt x="0" y="0"/>
                </a:moveTo>
                <a:lnTo>
                  <a:pt x="0" y="65836"/>
                </a:lnTo>
              </a:path>
            </a:pathLst>
          </a:custGeom>
          <a:noFill/>
          <a:ln w="18256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41856" y="4964506"/>
            <a:ext cx="20574" cy="2057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472184" y="4626864"/>
            <a:ext cx="3877056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Isso não é uma restrição da Nunes &amp; Lucato: é uma regra do próprio sistema MTR Nacional.</a:t>
            </a:r>
          </a:p>
        </p:txBody>
      </p:sp>
      <p:pic>
        <p:nvPicPr>
          <p:cNvPr id="22" name="Picture 21" descr="mtr_perf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920240"/>
            <a:ext cx="5056632" cy="751271"/>
          </a:xfrm>
          <a:prstGeom prst="rect">
            <a:avLst/>
          </a:prstGeom>
          <a:effectLst/>
        </p:spPr>
      </p:pic>
      <p:sp>
        <p:nvSpPr>
          <p:cNvPr id="23" name="Rectangle 22"/>
          <p:cNvSpPr/>
          <p:nvPr/>
        </p:nvSpPr>
        <p:spPr>
          <a:xfrm>
            <a:off x="6355080" y="1920240"/>
            <a:ext cx="5056632" cy="751271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55080" y="2744663"/>
            <a:ext cx="5056632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Cabeçalho da nossa conta no MTR Nacional. O CPF do usuário administrador foi tarjado.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5646" y="2401053"/>
            <a:ext cx="2831713" cy="240406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355080" y="3127248"/>
            <a:ext cx="5056632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O nosso perfil no sistema é de Transportador. Ele nos permite emitir MTR nas unidades em que estamos autorizados — e só nelas.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5080" y="3877056"/>
            <a:ext cx="5056632" cy="1700784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355080" y="3877056"/>
            <a:ext cx="5056632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9" name="Freeform 28"/>
          <p:cNvSpPr/>
          <p:nvPr/>
        </p:nvSpPr>
        <p:spPr>
          <a:xfrm>
            <a:off x="6617696" y="4208069"/>
            <a:ext cx="136794" cy="105704"/>
          </a:xfrm>
          <a:custGeom>
            <a:avLst/>
            <a:gdLst/>
            <a:ahLst/>
            <a:cxnLst/>
            <a:rect l="l" t="t" r="r" b="b"/>
            <a:pathLst>
              <a:path w="136794" h="105704">
                <a:moveTo>
                  <a:pt x="0" y="0"/>
                </a:moveTo>
                <a:lnTo>
                  <a:pt x="136794" y="0"/>
                </a:lnTo>
                <a:lnTo>
                  <a:pt x="136794" y="105704"/>
                </a:lnTo>
                <a:lnTo>
                  <a:pt x="0" y="105704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6754490" y="4245376"/>
            <a:ext cx="105705" cy="68397"/>
          </a:xfrm>
          <a:custGeom>
            <a:avLst/>
            <a:gdLst/>
            <a:ahLst/>
            <a:cxnLst/>
            <a:rect l="l" t="t" r="r" b="b"/>
            <a:pathLst>
              <a:path w="105705" h="68397">
                <a:moveTo>
                  <a:pt x="0" y="0"/>
                </a:moveTo>
                <a:lnTo>
                  <a:pt x="62179" y="0"/>
                </a:lnTo>
                <a:lnTo>
                  <a:pt x="105705" y="40417"/>
                </a:lnTo>
                <a:lnTo>
                  <a:pt x="105705" y="68397"/>
                </a:lnTo>
                <a:lnTo>
                  <a:pt x="0" y="68397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6617696" y="4313773"/>
            <a:ext cx="242499" cy="0"/>
          </a:xfrm>
          <a:custGeom>
            <a:avLst/>
            <a:gdLst/>
            <a:ahLst/>
            <a:cxnLst/>
            <a:rect l="l" t="t" r="r" b="b"/>
            <a:pathLst>
              <a:path w="242499" h="0">
                <a:moveTo>
                  <a:pt x="0" y="0"/>
                </a:moveTo>
                <a:lnTo>
                  <a:pt x="242499" y="0"/>
                </a:lnTo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650339" y="4313773"/>
            <a:ext cx="46634" cy="46634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6793351" y="4313773"/>
            <a:ext cx="46634" cy="46634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050024" y="4133088"/>
            <a:ext cx="412394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40" b="0" i="0">
                <a:solidFill>
                  <a:srgbClr val="14142E"/>
                </a:solidFill>
                <a:latin typeface="Montserrat SemiBold"/>
              </a:rPr>
              <a:t>O que isso significa na prática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92824" y="4572000"/>
            <a:ext cx="2022652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Coleta sem MTR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15476" y="4572000"/>
            <a:ext cx="2558491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não pode circular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864608"/>
            <a:ext cx="2022652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MTR emitido por nós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15476" y="4864608"/>
            <a:ext cx="2558491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só com autorização sua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92824" y="5157216"/>
            <a:ext cx="2022652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Autorização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15476" y="5157216"/>
            <a:ext cx="2558491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leva minutos, uma única vez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A solução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Você autoriza o nosso CPF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na sua unidade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06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65376"/>
            <a:ext cx="3392424" cy="2048256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1865376"/>
            <a:ext cx="3392424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33271" y="2121408"/>
            <a:ext cx="109728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3432C9"/>
                </a:solidFill>
                <a:latin typeface="Montserrat Light"/>
              </a:rPr>
              <a:t>01</a:t>
            </a:r>
          </a:p>
        </p:txBody>
      </p:sp>
      <p:sp>
        <p:nvSpPr>
          <p:cNvPr id="12" name="Freeform 11"/>
          <p:cNvSpPr/>
          <p:nvPr/>
        </p:nvSpPr>
        <p:spPr>
          <a:xfrm>
            <a:off x="3453506" y="2250521"/>
            <a:ext cx="353324" cy="235550"/>
          </a:xfrm>
          <a:custGeom>
            <a:avLst/>
            <a:gdLst/>
            <a:ahLst/>
            <a:cxnLst/>
            <a:rect l="l" t="t" r="r" b="b"/>
            <a:pathLst>
              <a:path w="353324" h="235550">
                <a:moveTo>
                  <a:pt x="0" y="0"/>
                </a:moveTo>
                <a:lnTo>
                  <a:pt x="353324" y="0"/>
                </a:lnTo>
                <a:lnTo>
                  <a:pt x="353324" y="235550"/>
                </a:lnTo>
                <a:lnTo>
                  <a:pt x="0" y="235550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03980" y="2292583"/>
            <a:ext cx="84124" cy="84124"/>
          </a:xfrm>
          <a:prstGeom prst="ellipse">
            <a:avLst/>
          </a:prstGeom>
          <a:noFill/>
          <a:ln w="14288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4" name="Freeform 13"/>
          <p:cNvSpPr/>
          <p:nvPr/>
        </p:nvSpPr>
        <p:spPr>
          <a:xfrm>
            <a:off x="3486755" y="2389327"/>
            <a:ext cx="118577" cy="30444"/>
          </a:xfrm>
          <a:custGeom>
            <a:avLst/>
            <a:gdLst/>
            <a:ahLst/>
            <a:cxnLst/>
            <a:rect l="l" t="t" r="r" b="b"/>
            <a:pathLst>
              <a:path w="118577" h="30444">
                <a:moveTo>
                  <a:pt x="0" y="30444"/>
                </a:moveTo>
                <a:lnTo>
                  <a:pt x="3465" y="24706"/>
                </a:lnTo>
                <a:lnTo>
                  <a:pt x="7958" y="19364"/>
                </a:lnTo>
                <a:lnTo>
                  <a:pt x="13396" y="14517"/>
                </a:lnTo>
                <a:lnTo>
                  <a:pt x="19677" y="10255"/>
                </a:lnTo>
                <a:lnTo>
                  <a:pt x="26688" y="6655"/>
                </a:lnTo>
                <a:lnTo>
                  <a:pt x="34298" y="3784"/>
                </a:lnTo>
                <a:lnTo>
                  <a:pt x="42368" y="1695"/>
                </a:lnTo>
                <a:lnTo>
                  <a:pt x="50750" y="426"/>
                </a:lnTo>
                <a:lnTo>
                  <a:pt x="59288" y="0"/>
                </a:lnTo>
                <a:lnTo>
                  <a:pt x="67827" y="426"/>
                </a:lnTo>
                <a:lnTo>
                  <a:pt x="76208" y="1695"/>
                </a:lnTo>
                <a:lnTo>
                  <a:pt x="84278" y="3784"/>
                </a:lnTo>
                <a:lnTo>
                  <a:pt x="91889" y="6655"/>
                </a:lnTo>
                <a:lnTo>
                  <a:pt x="98899" y="10255"/>
                </a:lnTo>
                <a:lnTo>
                  <a:pt x="105181" y="14517"/>
                </a:lnTo>
                <a:lnTo>
                  <a:pt x="110618" y="19364"/>
                </a:lnTo>
                <a:lnTo>
                  <a:pt x="115111" y="24706"/>
                </a:lnTo>
                <a:lnTo>
                  <a:pt x="118577" y="30444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3638580" y="2317821"/>
            <a:ext cx="126188" cy="0"/>
          </a:xfrm>
          <a:custGeom>
            <a:avLst/>
            <a:gdLst/>
            <a:ahLst/>
            <a:cxnLst/>
            <a:rect l="l" t="t" r="r" b="b"/>
            <a:pathLst>
              <a:path w="126188" h="0">
                <a:moveTo>
                  <a:pt x="0" y="0"/>
                </a:moveTo>
                <a:lnTo>
                  <a:pt x="126188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3638580" y="2368296"/>
            <a:ext cx="126188" cy="0"/>
          </a:xfrm>
          <a:custGeom>
            <a:avLst/>
            <a:gdLst/>
            <a:ahLst/>
            <a:cxnLst/>
            <a:rect l="l" t="t" r="r" b="b"/>
            <a:pathLst>
              <a:path w="126188" h="0">
                <a:moveTo>
                  <a:pt x="0" y="0"/>
                </a:moveTo>
                <a:lnTo>
                  <a:pt x="126188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3638580" y="2418771"/>
            <a:ext cx="126188" cy="0"/>
          </a:xfrm>
          <a:custGeom>
            <a:avLst/>
            <a:gdLst/>
            <a:ahLst/>
            <a:cxnLst/>
            <a:rect l="l" t="t" r="r" b="b"/>
            <a:pathLst>
              <a:path w="126188" h="0">
                <a:moveTo>
                  <a:pt x="0" y="0"/>
                </a:moveTo>
                <a:lnTo>
                  <a:pt x="126188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1" y="2834640"/>
            <a:ext cx="288036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40" b="0" i="0">
                <a:solidFill>
                  <a:srgbClr val="14142E"/>
                </a:solidFill>
                <a:latin typeface="Montserrat SemiBold"/>
              </a:rPr>
              <a:t>Você recebe os nossos dados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1" y="3328416"/>
            <a:ext cx="288036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Nome, CPF e e-mail da nossa responsável estão no card abaixo.</a:t>
            </a:r>
          </a:p>
        </p:txBody>
      </p:sp>
      <p:sp>
        <p:nvSpPr>
          <p:cNvPr id="20" name="Freeform 19"/>
          <p:cNvSpPr/>
          <p:nvPr/>
        </p:nvSpPr>
        <p:spPr>
          <a:xfrm>
            <a:off x="4206240" y="2889504"/>
            <a:ext cx="164592" cy="0"/>
          </a:xfrm>
          <a:custGeom>
            <a:avLst/>
            <a:gdLst/>
            <a:ahLst/>
            <a:cxnLst/>
            <a:rect l="l" t="t" r="r" b="b"/>
            <a:pathLst>
              <a:path w="164592" h="0">
                <a:moveTo>
                  <a:pt x="0" y="0"/>
                </a:moveTo>
                <a:lnTo>
                  <a:pt x="164592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4314316" y="2859454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07407" y="1865376"/>
            <a:ext cx="3392424" cy="2048256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407407" y="1865376"/>
            <a:ext cx="3392424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663440" y="2121408"/>
            <a:ext cx="109728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3432C9"/>
                </a:solidFill>
                <a:latin typeface="Montserrat Light"/>
              </a:rPr>
              <a:t>02</a:t>
            </a:r>
          </a:p>
        </p:txBody>
      </p:sp>
      <p:sp>
        <p:nvSpPr>
          <p:cNvPr id="25" name="Oval 24"/>
          <p:cNvSpPr/>
          <p:nvPr/>
        </p:nvSpPr>
        <p:spPr>
          <a:xfrm>
            <a:off x="7146767" y="2229490"/>
            <a:ext cx="126187" cy="126187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6" name="Freeform 25"/>
          <p:cNvSpPr/>
          <p:nvPr/>
        </p:nvSpPr>
        <p:spPr>
          <a:xfrm>
            <a:off x="7104225" y="2393533"/>
            <a:ext cx="211272" cy="68587"/>
          </a:xfrm>
          <a:custGeom>
            <a:avLst/>
            <a:gdLst/>
            <a:ahLst/>
            <a:cxnLst/>
            <a:rect l="l" t="t" r="r" b="b"/>
            <a:pathLst>
              <a:path w="211272" h="68587">
                <a:moveTo>
                  <a:pt x="0" y="68587"/>
                </a:moveTo>
                <a:lnTo>
                  <a:pt x="4108" y="58145"/>
                </a:lnTo>
                <a:lnTo>
                  <a:pt x="9651" y="48189"/>
                </a:lnTo>
                <a:lnTo>
                  <a:pt x="16552" y="38861"/>
                </a:lnTo>
                <a:lnTo>
                  <a:pt x="24713" y="30292"/>
                </a:lnTo>
                <a:lnTo>
                  <a:pt x="34019" y="22603"/>
                </a:lnTo>
                <a:lnTo>
                  <a:pt x="44338" y="15903"/>
                </a:lnTo>
                <a:lnTo>
                  <a:pt x="55523" y="10287"/>
                </a:lnTo>
                <a:lnTo>
                  <a:pt x="67418" y="5835"/>
                </a:lnTo>
                <a:lnTo>
                  <a:pt x="79853" y="2609"/>
                </a:lnTo>
                <a:lnTo>
                  <a:pt x="92653" y="655"/>
                </a:lnTo>
                <a:lnTo>
                  <a:pt x="105636" y="0"/>
                </a:lnTo>
                <a:lnTo>
                  <a:pt x="118620" y="655"/>
                </a:lnTo>
                <a:lnTo>
                  <a:pt x="131419" y="2609"/>
                </a:lnTo>
                <a:lnTo>
                  <a:pt x="143854" y="5835"/>
                </a:lnTo>
                <a:lnTo>
                  <a:pt x="155749" y="10287"/>
                </a:lnTo>
                <a:lnTo>
                  <a:pt x="166934" y="15903"/>
                </a:lnTo>
                <a:lnTo>
                  <a:pt x="177253" y="22603"/>
                </a:lnTo>
                <a:lnTo>
                  <a:pt x="186559" y="30292"/>
                </a:lnTo>
                <a:lnTo>
                  <a:pt x="194720" y="38861"/>
                </a:lnTo>
                <a:lnTo>
                  <a:pt x="201621" y="48189"/>
                </a:lnTo>
                <a:lnTo>
                  <a:pt x="207165" y="58145"/>
                </a:lnTo>
                <a:lnTo>
                  <a:pt x="211272" y="68587"/>
                </a:lnTo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378111" y="2385121"/>
            <a:ext cx="0" cy="126187"/>
          </a:xfrm>
          <a:custGeom>
            <a:avLst/>
            <a:gdLst/>
            <a:ahLst/>
            <a:cxnLst/>
            <a:rect l="l" t="t" r="r" b="b"/>
            <a:pathLst>
              <a:path w="0" h="126187">
                <a:moveTo>
                  <a:pt x="0" y="0"/>
                </a:moveTo>
                <a:lnTo>
                  <a:pt x="0" y="126187"/>
                </a:lnTo>
              </a:path>
            </a:pathLst>
          </a:custGeom>
          <a:noFill/>
          <a:ln w="16669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7315017" y="2448215"/>
            <a:ext cx="126187" cy="0"/>
          </a:xfrm>
          <a:custGeom>
            <a:avLst/>
            <a:gdLst/>
            <a:ahLst/>
            <a:cxnLst/>
            <a:rect l="l" t="t" r="r" b="b"/>
            <a:pathLst>
              <a:path w="126187" h="0">
                <a:moveTo>
                  <a:pt x="0" y="0"/>
                </a:moveTo>
                <a:lnTo>
                  <a:pt x="126187" y="0"/>
                </a:lnTo>
              </a:path>
            </a:pathLst>
          </a:custGeom>
          <a:noFill/>
          <a:ln w="16669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2834640"/>
            <a:ext cx="288036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40" b="0" i="0">
                <a:solidFill>
                  <a:srgbClr val="14142E"/>
                </a:solidFill>
                <a:latin typeface="Montserrat SemiBold"/>
              </a:rPr>
              <a:t>Seu Administrador autoriza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3328416"/>
            <a:ext cx="288036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Cadastro direto no sistema ou aprovação da nossa solicitação.</a:t>
            </a:r>
          </a:p>
        </p:txBody>
      </p:sp>
      <p:sp>
        <p:nvSpPr>
          <p:cNvPr id="31" name="Freeform 30"/>
          <p:cNvSpPr/>
          <p:nvPr/>
        </p:nvSpPr>
        <p:spPr>
          <a:xfrm>
            <a:off x="7836408" y="2889504"/>
            <a:ext cx="164592" cy="0"/>
          </a:xfrm>
          <a:custGeom>
            <a:avLst/>
            <a:gdLst/>
            <a:ahLst/>
            <a:cxnLst/>
            <a:rect l="l" t="t" r="r" b="b"/>
            <a:pathLst>
              <a:path w="164592" h="0">
                <a:moveTo>
                  <a:pt x="0" y="0"/>
                </a:moveTo>
                <a:lnTo>
                  <a:pt x="164592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7944484" y="2859454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37575" y="1865376"/>
            <a:ext cx="3392424" cy="2048256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8037575" y="1865376"/>
            <a:ext cx="3392424" cy="50292"/>
          </a:xfrm>
          <a:prstGeom prst="rect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293607" y="2121408"/>
            <a:ext cx="109728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12A87B"/>
                </a:solidFill>
                <a:latin typeface="Montserrat Light"/>
              </a:rPr>
              <a:t>03</a:t>
            </a:r>
          </a:p>
        </p:txBody>
      </p:sp>
      <p:sp>
        <p:nvSpPr>
          <p:cNvPr id="36" name="Oval 35"/>
          <p:cNvSpPr/>
          <p:nvPr/>
        </p:nvSpPr>
        <p:spPr>
          <a:xfrm>
            <a:off x="10776935" y="2229490"/>
            <a:ext cx="126187" cy="126187"/>
          </a:xfrm>
          <a:prstGeom prst="ellipse">
            <a:avLst/>
          </a:pr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7" name="Freeform 36"/>
          <p:cNvSpPr/>
          <p:nvPr/>
        </p:nvSpPr>
        <p:spPr>
          <a:xfrm>
            <a:off x="10734393" y="2393533"/>
            <a:ext cx="211272" cy="68587"/>
          </a:xfrm>
          <a:custGeom>
            <a:avLst/>
            <a:gdLst/>
            <a:ahLst/>
            <a:cxnLst/>
            <a:rect l="l" t="t" r="r" b="b"/>
            <a:pathLst>
              <a:path w="211272" h="68587">
                <a:moveTo>
                  <a:pt x="0" y="68587"/>
                </a:moveTo>
                <a:lnTo>
                  <a:pt x="4108" y="58145"/>
                </a:lnTo>
                <a:lnTo>
                  <a:pt x="9651" y="48189"/>
                </a:lnTo>
                <a:lnTo>
                  <a:pt x="16552" y="38861"/>
                </a:lnTo>
                <a:lnTo>
                  <a:pt x="24713" y="30292"/>
                </a:lnTo>
                <a:lnTo>
                  <a:pt x="34019" y="22603"/>
                </a:lnTo>
                <a:lnTo>
                  <a:pt x="44338" y="15903"/>
                </a:lnTo>
                <a:lnTo>
                  <a:pt x="55523" y="10287"/>
                </a:lnTo>
                <a:lnTo>
                  <a:pt x="67418" y="5835"/>
                </a:lnTo>
                <a:lnTo>
                  <a:pt x="79853" y="2609"/>
                </a:lnTo>
                <a:lnTo>
                  <a:pt x="92653" y="655"/>
                </a:lnTo>
                <a:lnTo>
                  <a:pt x="105636" y="0"/>
                </a:lnTo>
                <a:lnTo>
                  <a:pt x="118620" y="655"/>
                </a:lnTo>
                <a:lnTo>
                  <a:pt x="131419" y="2609"/>
                </a:lnTo>
                <a:lnTo>
                  <a:pt x="143854" y="5835"/>
                </a:lnTo>
                <a:lnTo>
                  <a:pt x="155749" y="10287"/>
                </a:lnTo>
                <a:lnTo>
                  <a:pt x="166934" y="15903"/>
                </a:lnTo>
                <a:lnTo>
                  <a:pt x="177253" y="22603"/>
                </a:lnTo>
                <a:lnTo>
                  <a:pt x="186559" y="30292"/>
                </a:lnTo>
                <a:lnTo>
                  <a:pt x="194720" y="38861"/>
                </a:lnTo>
                <a:lnTo>
                  <a:pt x="201621" y="48189"/>
                </a:lnTo>
                <a:lnTo>
                  <a:pt x="207165" y="58145"/>
                </a:lnTo>
                <a:lnTo>
                  <a:pt x="211272" y="68587"/>
                </a:lnTo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10949391" y="2393533"/>
            <a:ext cx="126188" cy="92538"/>
          </a:xfrm>
          <a:custGeom>
            <a:avLst/>
            <a:gdLst/>
            <a:ahLst/>
            <a:cxnLst/>
            <a:rect l="l" t="t" r="r" b="b"/>
            <a:pathLst>
              <a:path w="126188" h="92538">
                <a:moveTo>
                  <a:pt x="0" y="50475"/>
                </a:moveTo>
                <a:lnTo>
                  <a:pt x="42063" y="92538"/>
                </a:lnTo>
                <a:lnTo>
                  <a:pt x="126188" y="0"/>
                </a:lnTo>
              </a:path>
            </a:pathLst>
          </a:custGeom>
          <a:noFill/>
          <a:ln w="18256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93607" y="2834640"/>
            <a:ext cx="288036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40" b="0" i="0">
                <a:solidFill>
                  <a:srgbClr val="14142E"/>
                </a:solidFill>
                <a:latin typeface="Montserrat SemiBold"/>
              </a:rPr>
              <a:t>Voltamos a emitir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93607" y="3328416"/>
            <a:ext cx="288036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A emissão volta ao normal, sem mudança na sua rotina.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187952"/>
            <a:ext cx="5175504" cy="1737360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777240" y="4187952"/>
            <a:ext cx="5175504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1133124" y="4481657"/>
            <a:ext cx="74615" cy="74615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4" name="Freeform 43"/>
          <p:cNvSpPr/>
          <p:nvPr/>
        </p:nvSpPr>
        <p:spPr>
          <a:xfrm>
            <a:off x="1087765" y="4618452"/>
            <a:ext cx="165334" cy="66796"/>
          </a:xfrm>
          <a:custGeom>
            <a:avLst/>
            <a:gdLst/>
            <a:ahLst/>
            <a:cxnLst/>
            <a:rect l="l" t="t" r="r" b="b"/>
            <a:pathLst>
              <a:path w="165334" h="66796">
                <a:moveTo>
                  <a:pt x="0" y="66796"/>
                </a:moveTo>
                <a:lnTo>
                  <a:pt x="2511" y="56832"/>
                </a:lnTo>
                <a:lnTo>
                  <a:pt x="6311" y="47253"/>
                </a:lnTo>
                <a:lnTo>
                  <a:pt x="11339" y="38215"/>
                </a:lnTo>
                <a:lnTo>
                  <a:pt x="17516" y="29863"/>
                </a:lnTo>
                <a:lnTo>
                  <a:pt x="24740" y="22331"/>
                </a:lnTo>
                <a:lnTo>
                  <a:pt x="32897" y="15740"/>
                </a:lnTo>
                <a:lnTo>
                  <a:pt x="41855" y="10197"/>
                </a:lnTo>
                <a:lnTo>
                  <a:pt x="51469" y="5790"/>
                </a:lnTo>
                <a:lnTo>
                  <a:pt x="61585" y="2590"/>
                </a:lnTo>
                <a:lnTo>
                  <a:pt x="72041" y="650"/>
                </a:lnTo>
                <a:lnTo>
                  <a:pt x="82667" y="0"/>
                </a:lnTo>
                <a:lnTo>
                  <a:pt x="93293" y="650"/>
                </a:lnTo>
                <a:lnTo>
                  <a:pt x="103749" y="2590"/>
                </a:lnTo>
                <a:lnTo>
                  <a:pt x="113865" y="5790"/>
                </a:lnTo>
                <a:lnTo>
                  <a:pt x="123479" y="10197"/>
                </a:lnTo>
                <a:lnTo>
                  <a:pt x="132437" y="15740"/>
                </a:lnTo>
                <a:lnTo>
                  <a:pt x="140594" y="22331"/>
                </a:lnTo>
                <a:lnTo>
                  <a:pt x="147818" y="29863"/>
                </a:lnTo>
                <a:lnTo>
                  <a:pt x="153995" y="38215"/>
                </a:lnTo>
                <a:lnTo>
                  <a:pt x="159023" y="47253"/>
                </a:lnTo>
                <a:lnTo>
                  <a:pt x="162823" y="56832"/>
                </a:lnTo>
                <a:lnTo>
                  <a:pt x="165334" y="66796"/>
                </a:lnTo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36746" y="4522073"/>
            <a:ext cx="55961" cy="55961"/>
          </a:xfrm>
          <a:prstGeom prst="ellipse">
            <a:avLst/>
          </a:pr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6" name="Freeform 45"/>
          <p:cNvSpPr/>
          <p:nvPr/>
        </p:nvSpPr>
        <p:spPr>
          <a:xfrm>
            <a:off x="1013676" y="4655759"/>
            <a:ext cx="102103" cy="41477"/>
          </a:xfrm>
          <a:custGeom>
            <a:avLst/>
            <a:gdLst/>
            <a:ahLst/>
            <a:cxnLst/>
            <a:rect l="l" t="t" r="r" b="b"/>
            <a:pathLst>
              <a:path w="102103" h="41477">
                <a:moveTo>
                  <a:pt x="0" y="41477"/>
                </a:moveTo>
                <a:lnTo>
                  <a:pt x="2522" y="33796"/>
                </a:lnTo>
                <a:lnTo>
                  <a:pt x="6068" y="26583"/>
                </a:lnTo>
                <a:lnTo>
                  <a:pt x="10564" y="19990"/>
                </a:lnTo>
                <a:lnTo>
                  <a:pt x="15915" y="14157"/>
                </a:lnTo>
                <a:lnTo>
                  <a:pt x="22009" y="9206"/>
                </a:lnTo>
                <a:lnTo>
                  <a:pt x="28715" y="5243"/>
                </a:lnTo>
                <a:lnTo>
                  <a:pt x="35893" y="2351"/>
                </a:lnTo>
                <a:lnTo>
                  <a:pt x="43391" y="591"/>
                </a:lnTo>
                <a:lnTo>
                  <a:pt x="51051" y="0"/>
                </a:lnTo>
                <a:lnTo>
                  <a:pt x="58711" y="591"/>
                </a:lnTo>
                <a:lnTo>
                  <a:pt x="66210" y="2351"/>
                </a:lnTo>
                <a:lnTo>
                  <a:pt x="73388" y="5243"/>
                </a:lnTo>
                <a:lnTo>
                  <a:pt x="80094" y="9206"/>
                </a:lnTo>
                <a:lnTo>
                  <a:pt x="86187" y="14157"/>
                </a:lnTo>
                <a:lnTo>
                  <a:pt x="91539" y="19990"/>
                </a:lnTo>
                <a:lnTo>
                  <a:pt x="96035" y="26583"/>
                </a:lnTo>
                <a:lnTo>
                  <a:pt x="99581" y="33796"/>
                </a:lnTo>
                <a:lnTo>
                  <a:pt x="102103" y="41477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248156" y="4522073"/>
            <a:ext cx="55961" cy="55961"/>
          </a:xfrm>
          <a:prstGeom prst="ellipse">
            <a:avLst/>
          </a:pr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8" name="Freeform 47"/>
          <p:cNvSpPr/>
          <p:nvPr/>
        </p:nvSpPr>
        <p:spPr>
          <a:xfrm>
            <a:off x="1225085" y="4655759"/>
            <a:ext cx="102103" cy="41477"/>
          </a:xfrm>
          <a:custGeom>
            <a:avLst/>
            <a:gdLst/>
            <a:ahLst/>
            <a:cxnLst/>
            <a:rect l="l" t="t" r="r" b="b"/>
            <a:pathLst>
              <a:path w="102103" h="41477">
                <a:moveTo>
                  <a:pt x="0" y="41477"/>
                </a:moveTo>
                <a:lnTo>
                  <a:pt x="2522" y="33796"/>
                </a:lnTo>
                <a:lnTo>
                  <a:pt x="6068" y="26583"/>
                </a:lnTo>
                <a:lnTo>
                  <a:pt x="10564" y="19990"/>
                </a:lnTo>
                <a:lnTo>
                  <a:pt x="15916" y="14157"/>
                </a:lnTo>
                <a:lnTo>
                  <a:pt x="22009" y="9206"/>
                </a:lnTo>
                <a:lnTo>
                  <a:pt x="28715" y="5243"/>
                </a:lnTo>
                <a:lnTo>
                  <a:pt x="35893" y="2351"/>
                </a:lnTo>
                <a:lnTo>
                  <a:pt x="43392" y="591"/>
                </a:lnTo>
                <a:lnTo>
                  <a:pt x="51052" y="0"/>
                </a:lnTo>
                <a:lnTo>
                  <a:pt x="58712" y="591"/>
                </a:lnTo>
                <a:lnTo>
                  <a:pt x="66210" y="2351"/>
                </a:lnTo>
                <a:lnTo>
                  <a:pt x="73388" y="5243"/>
                </a:lnTo>
                <a:lnTo>
                  <a:pt x="80094" y="9206"/>
                </a:lnTo>
                <a:lnTo>
                  <a:pt x="86188" y="14157"/>
                </a:lnTo>
                <a:lnTo>
                  <a:pt x="91539" y="19990"/>
                </a:lnTo>
                <a:lnTo>
                  <a:pt x="96035" y="26583"/>
                </a:lnTo>
                <a:lnTo>
                  <a:pt x="99581" y="33796"/>
                </a:lnTo>
                <a:lnTo>
                  <a:pt x="102103" y="41477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472184" y="4443984"/>
            <a:ext cx="424281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40" b="0" i="0">
                <a:solidFill>
                  <a:srgbClr val="14142E"/>
                </a:solidFill>
                <a:latin typeface="Montserrat SemiBold"/>
              </a:rPr>
              <a:t>Dados da nossa responsável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4983" y="4882896"/>
            <a:ext cx="2070201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Nome completo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85185" y="4882896"/>
            <a:ext cx="2629814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Ana Nunes Lucato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4983" y="5175504"/>
            <a:ext cx="2070201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CPF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85185" y="5175504"/>
            <a:ext cx="2629814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142.803.138-30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4983" y="5468112"/>
            <a:ext cx="2070201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E-mail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85185" y="5468112"/>
            <a:ext cx="2629814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anapnuneslucato@gmail.com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36208" y="4187952"/>
            <a:ext cx="5175504" cy="1737360"/>
          </a:xfrm>
          <a:prstGeom prst="rect">
            <a:avLst/>
          </a:prstGeom>
          <a:solidFill>
            <a:srgbClr val="E7F6F1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6236208" y="4187952"/>
            <a:ext cx="32004" cy="1737360"/>
          </a:xfrm>
          <a:prstGeom prst="rect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8" name="Freeform 57"/>
          <p:cNvSpPr/>
          <p:nvPr/>
        </p:nvSpPr>
        <p:spPr>
          <a:xfrm>
            <a:off x="6517843" y="4941418"/>
            <a:ext cx="186538" cy="230428"/>
          </a:xfrm>
          <a:custGeom>
            <a:avLst/>
            <a:gdLst/>
            <a:ahLst/>
            <a:cxnLst/>
            <a:rect l="l" t="t" r="r" b="b"/>
            <a:pathLst>
              <a:path w="186538" h="230428">
                <a:moveTo>
                  <a:pt x="93269" y="0"/>
                </a:moveTo>
                <a:lnTo>
                  <a:pt x="186538" y="38404"/>
                </a:lnTo>
                <a:lnTo>
                  <a:pt x="186538" y="120700"/>
                </a:lnTo>
                <a:lnTo>
                  <a:pt x="93269" y="230428"/>
                </a:lnTo>
                <a:lnTo>
                  <a:pt x="0" y="120700"/>
                </a:lnTo>
                <a:lnTo>
                  <a:pt x="0" y="38404"/>
                </a:lnTo>
                <a:close/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6569964" y="5018227"/>
            <a:ext cx="87782" cy="65837"/>
          </a:xfrm>
          <a:custGeom>
            <a:avLst/>
            <a:gdLst/>
            <a:ahLst/>
            <a:cxnLst/>
            <a:rect l="l" t="t" r="r" b="b"/>
            <a:pathLst>
              <a:path w="87782" h="65837">
                <a:moveTo>
                  <a:pt x="0" y="32919"/>
                </a:moveTo>
                <a:lnTo>
                  <a:pt x="30175" y="65837"/>
                </a:lnTo>
                <a:lnTo>
                  <a:pt x="87782" y="0"/>
                </a:lnTo>
              </a:path>
            </a:pathLst>
          </a:custGeom>
          <a:noFill/>
          <a:ln w="17462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31152" y="4187952"/>
            <a:ext cx="4206240" cy="17373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019" b="0" i="0">
                <a:solidFill>
                  <a:srgbClr val="3A3C55"/>
                </a:solidFill>
                <a:latin typeface="Montserrat"/>
              </a:rPr>
              <a:t>Nenhuma senha pessoal é compartilhada neste caminho. Cada MTR emitido fica registrado no CPF de quem o emitiu, o que aumenta a sua rastreabilidade e a nossa.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As duas rotas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Escolha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como prefere autorizar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07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5172440" cy="3310128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5172440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106241" y="2212665"/>
            <a:ext cx="143012" cy="143012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150406" y="2256830"/>
            <a:ext cx="54681" cy="54681"/>
          </a:xfrm>
          <a:prstGeom prst="ellipse">
            <a:avLst/>
          </a:pr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3" name="Freeform 12"/>
          <p:cNvSpPr/>
          <p:nvPr/>
        </p:nvSpPr>
        <p:spPr>
          <a:xfrm>
            <a:off x="1257666" y="2284171"/>
            <a:ext cx="29443" cy="0"/>
          </a:xfrm>
          <a:custGeom>
            <a:avLst/>
            <a:gdLst/>
            <a:ahLst/>
            <a:cxnLst/>
            <a:rect l="l" t="t" r="r" b="b"/>
            <a:pathLst>
              <a:path w="29443" h="0">
                <a:moveTo>
                  <a:pt x="0" y="0"/>
                </a:moveTo>
                <a:lnTo>
                  <a:pt x="29443" y="0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217706" y="2353383"/>
            <a:ext cx="14722" cy="25499"/>
          </a:xfrm>
          <a:custGeom>
            <a:avLst/>
            <a:gdLst/>
            <a:ahLst/>
            <a:cxnLst/>
            <a:rect l="l" t="t" r="r" b="b"/>
            <a:pathLst>
              <a:path w="14722" h="25499">
                <a:moveTo>
                  <a:pt x="0" y="0"/>
                </a:moveTo>
                <a:lnTo>
                  <a:pt x="14722" y="25499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123066" y="2353383"/>
            <a:ext cx="14722" cy="25499"/>
          </a:xfrm>
          <a:custGeom>
            <a:avLst/>
            <a:gdLst/>
            <a:ahLst/>
            <a:cxnLst/>
            <a:rect l="l" t="t" r="r" b="b"/>
            <a:pathLst>
              <a:path w="14722" h="25499">
                <a:moveTo>
                  <a:pt x="14722" y="0"/>
                </a:moveTo>
                <a:lnTo>
                  <a:pt x="0" y="25499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1068385" y="2284171"/>
            <a:ext cx="29444" cy="0"/>
          </a:xfrm>
          <a:custGeom>
            <a:avLst/>
            <a:gdLst/>
            <a:ahLst/>
            <a:cxnLst/>
            <a:rect l="l" t="t" r="r" b="b"/>
            <a:pathLst>
              <a:path w="29444" h="0">
                <a:moveTo>
                  <a:pt x="29444" y="0"/>
                </a:moveTo>
                <a:lnTo>
                  <a:pt x="0" y="0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1123066" y="2189461"/>
            <a:ext cx="14722" cy="25499"/>
          </a:xfrm>
          <a:custGeom>
            <a:avLst/>
            <a:gdLst/>
            <a:ahLst/>
            <a:cxnLst/>
            <a:rect l="l" t="t" r="r" b="b"/>
            <a:pathLst>
              <a:path w="14722" h="25499">
                <a:moveTo>
                  <a:pt x="14722" y="25499"/>
                </a:moveTo>
                <a:lnTo>
                  <a:pt x="0" y="0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217706" y="2189461"/>
            <a:ext cx="14722" cy="25499"/>
          </a:xfrm>
          <a:custGeom>
            <a:avLst/>
            <a:gdLst/>
            <a:ahLst/>
            <a:cxnLst/>
            <a:rect l="l" t="t" r="r" b="b"/>
            <a:pathLst>
              <a:path w="14722" h="25499">
                <a:moveTo>
                  <a:pt x="0" y="25499"/>
                </a:moveTo>
                <a:lnTo>
                  <a:pt x="14722" y="0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1245047" y="2418771"/>
            <a:ext cx="201900" cy="0"/>
          </a:xfrm>
          <a:custGeom>
            <a:avLst/>
            <a:gdLst/>
            <a:ahLst/>
            <a:cxnLst/>
            <a:rect l="l" t="t" r="r" b="b"/>
            <a:pathLst>
              <a:path w="201900" h="0">
                <a:moveTo>
                  <a:pt x="0" y="0"/>
                </a:moveTo>
                <a:lnTo>
                  <a:pt x="201900" y="0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1245047" y="2477658"/>
            <a:ext cx="143012" cy="0"/>
          </a:xfrm>
          <a:custGeom>
            <a:avLst/>
            <a:gdLst/>
            <a:ahLst/>
            <a:cxnLst/>
            <a:rect l="l" t="t" r="r" b="b"/>
            <a:pathLst>
              <a:path w="143012" h="0">
                <a:moveTo>
                  <a:pt x="0" y="0"/>
                </a:moveTo>
                <a:lnTo>
                  <a:pt x="143012" y="0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1245047" y="2536546"/>
            <a:ext cx="84125" cy="0"/>
          </a:xfrm>
          <a:custGeom>
            <a:avLst/>
            <a:gdLst/>
            <a:ahLst/>
            <a:cxnLst/>
            <a:rect l="l" t="t" r="r" b="b"/>
            <a:pathLst>
              <a:path w="84125" h="0">
                <a:moveTo>
                  <a:pt x="0" y="0"/>
                </a:moveTo>
                <a:lnTo>
                  <a:pt x="84125" y="0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18488" y="2176272"/>
            <a:ext cx="201168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60" b="0" i="0" spc="150" cap="all">
                <a:solidFill>
                  <a:srgbClr val="3432C9"/>
                </a:solidFill>
                <a:latin typeface="Montserrat SemiBold"/>
              </a:rPr>
              <a:t>Rota 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76912" y="2139696"/>
            <a:ext cx="1298448" cy="256032"/>
          </a:xfrm>
          <a:prstGeom prst="roundRect">
            <a:avLst>
              <a:gd name="adj" fmla="val 50000"/>
            </a:avLst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376912" y="2199132"/>
            <a:ext cx="1298448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720" b="0" i="0" spc="120" cap="all">
                <a:solidFill>
                  <a:srgbClr val="FFFFFF"/>
                </a:solidFill>
                <a:latin typeface="Montserrat SemiBold"/>
              </a:rPr>
              <a:t>Mais rápida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2724912"/>
            <a:ext cx="4623800" cy="640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0" i="0">
                <a:solidFill>
                  <a:srgbClr val="14142E"/>
                </a:solidFill>
                <a:latin typeface="Montserrat Light"/>
              </a:rPr>
              <a:t>Você cadastra o nosso CPF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51560" y="3419856"/>
            <a:ext cx="4623800" cy="0"/>
          </a:xfrm>
          <a:prstGeom prst="line">
            <a:avLst/>
          </a:prstGeom>
          <a:ln w="12700" cap="rnd">
            <a:solidFill>
              <a:srgbClr val="DFE2F0"/>
            </a:solidFill>
            <a:round/>
          </a:ln>
          <a:effectLst/>
        </p:spPr>
      </p:cxnSp>
      <p:sp>
        <p:nvSpPr>
          <p:cNvPr id="27" name="TextBox 26"/>
          <p:cNvSpPr txBox="1"/>
          <p:nvPr/>
        </p:nvSpPr>
        <p:spPr>
          <a:xfrm>
            <a:off x="1051560" y="3602736"/>
            <a:ext cx="17373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88"/>
                </a:solidFill>
                <a:latin typeface="Montserrat Medium"/>
              </a:rPr>
              <a:t>Quem executa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25496" y="3602736"/>
            <a:ext cx="284986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o Administrador da sua unidade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3950208"/>
            <a:ext cx="17373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88"/>
                </a:solidFill>
                <a:latin typeface="Montserrat Medium"/>
              </a:rPr>
              <a:t>Quanto tempo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25496" y="3950208"/>
            <a:ext cx="284986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poucos minutos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4297680"/>
            <a:ext cx="17373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88"/>
                </a:solidFill>
                <a:latin typeface="Montserrat Medium"/>
              </a:rPr>
              <a:t>O que precisa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25496" y="4297680"/>
            <a:ext cx="284986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nome, CPF e e-mail (slide 6)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4645152"/>
            <a:ext cx="17373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88"/>
                </a:solidFill>
                <a:latin typeface="Montserrat Medium"/>
              </a:rPr>
              <a:t>Detalhada nos slides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25496" y="4645152"/>
            <a:ext cx="284986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8 a 12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42288" y="1847088"/>
            <a:ext cx="5172440" cy="3310128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242288" y="1847088"/>
            <a:ext cx="5172440" cy="50292"/>
          </a:xfrm>
          <a:prstGeom prst="rect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6613352" y="2229490"/>
            <a:ext cx="126187" cy="126187"/>
          </a:xfrm>
          <a:prstGeom prst="ellipse">
            <a:avLst/>
          </a:pr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8" name="Freeform 37"/>
          <p:cNvSpPr/>
          <p:nvPr/>
        </p:nvSpPr>
        <p:spPr>
          <a:xfrm>
            <a:off x="6570810" y="2393533"/>
            <a:ext cx="211272" cy="68587"/>
          </a:xfrm>
          <a:custGeom>
            <a:avLst/>
            <a:gdLst/>
            <a:ahLst/>
            <a:cxnLst/>
            <a:rect l="l" t="t" r="r" b="b"/>
            <a:pathLst>
              <a:path w="211272" h="68587">
                <a:moveTo>
                  <a:pt x="0" y="68587"/>
                </a:moveTo>
                <a:lnTo>
                  <a:pt x="4107" y="58145"/>
                </a:lnTo>
                <a:lnTo>
                  <a:pt x="9651" y="48189"/>
                </a:lnTo>
                <a:lnTo>
                  <a:pt x="16552" y="38861"/>
                </a:lnTo>
                <a:lnTo>
                  <a:pt x="24713" y="30292"/>
                </a:lnTo>
                <a:lnTo>
                  <a:pt x="34019" y="22603"/>
                </a:lnTo>
                <a:lnTo>
                  <a:pt x="44338" y="15903"/>
                </a:lnTo>
                <a:lnTo>
                  <a:pt x="55523" y="10287"/>
                </a:lnTo>
                <a:lnTo>
                  <a:pt x="67418" y="5835"/>
                </a:lnTo>
                <a:lnTo>
                  <a:pt x="79853" y="2609"/>
                </a:lnTo>
                <a:lnTo>
                  <a:pt x="92652" y="655"/>
                </a:lnTo>
                <a:lnTo>
                  <a:pt x="105636" y="0"/>
                </a:lnTo>
                <a:lnTo>
                  <a:pt x="118619" y="655"/>
                </a:lnTo>
                <a:lnTo>
                  <a:pt x="131419" y="2609"/>
                </a:lnTo>
                <a:lnTo>
                  <a:pt x="143854" y="5835"/>
                </a:lnTo>
                <a:lnTo>
                  <a:pt x="155749" y="10287"/>
                </a:lnTo>
                <a:lnTo>
                  <a:pt x="166934" y="15903"/>
                </a:lnTo>
                <a:lnTo>
                  <a:pt x="177253" y="22603"/>
                </a:lnTo>
                <a:lnTo>
                  <a:pt x="186559" y="30292"/>
                </a:lnTo>
                <a:lnTo>
                  <a:pt x="194720" y="38861"/>
                </a:lnTo>
                <a:lnTo>
                  <a:pt x="201621" y="48189"/>
                </a:lnTo>
                <a:lnTo>
                  <a:pt x="207164" y="58145"/>
                </a:lnTo>
                <a:lnTo>
                  <a:pt x="211272" y="68587"/>
                </a:lnTo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785808" y="2393533"/>
            <a:ext cx="126187" cy="92538"/>
          </a:xfrm>
          <a:custGeom>
            <a:avLst/>
            <a:gdLst/>
            <a:ahLst/>
            <a:cxnLst/>
            <a:rect l="l" t="t" r="r" b="b"/>
            <a:pathLst>
              <a:path w="126187" h="92538">
                <a:moveTo>
                  <a:pt x="0" y="50475"/>
                </a:moveTo>
                <a:lnTo>
                  <a:pt x="42063" y="92538"/>
                </a:lnTo>
                <a:lnTo>
                  <a:pt x="126187" y="0"/>
                </a:lnTo>
              </a:path>
            </a:pathLst>
          </a:custGeom>
          <a:noFill/>
          <a:ln w="18256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83536" y="2176272"/>
            <a:ext cx="201168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60" b="0" i="0" spc="150" cap="all">
                <a:solidFill>
                  <a:srgbClr val="12A87B"/>
                </a:solidFill>
                <a:latin typeface="Montserrat SemiBold"/>
              </a:rPr>
              <a:t>Rota B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841961" y="2139696"/>
            <a:ext cx="1298448" cy="256032"/>
          </a:xfrm>
          <a:prstGeom prst="roundRect">
            <a:avLst>
              <a:gd name="adj" fmla="val 50000"/>
            </a:avLst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841961" y="2199132"/>
            <a:ext cx="1298448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720" b="0" i="0" spc="120" cap="all">
                <a:solidFill>
                  <a:srgbClr val="FFFFFF"/>
                </a:solidFill>
                <a:latin typeface="Montserrat SemiBold"/>
              </a:rPr>
              <a:t>Menos trabalho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16608" y="2724912"/>
            <a:ext cx="4623800" cy="640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0" i="0">
                <a:solidFill>
                  <a:srgbClr val="14142E"/>
                </a:solidFill>
                <a:latin typeface="Montserrat Light"/>
              </a:rPr>
              <a:t>Nós solicitamos, você aprova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516608" y="3419856"/>
            <a:ext cx="4623801" cy="0"/>
          </a:xfrm>
          <a:prstGeom prst="line">
            <a:avLst/>
          </a:prstGeom>
          <a:ln w="12700" cap="rnd">
            <a:solidFill>
              <a:srgbClr val="DFE2F0"/>
            </a:solidFill>
            <a:round/>
          </a:ln>
          <a:effectLst/>
        </p:spPr>
      </p:cxnSp>
      <p:sp>
        <p:nvSpPr>
          <p:cNvPr id="45" name="TextBox 44"/>
          <p:cNvSpPr txBox="1"/>
          <p:nvPr/>
        </p:nvSpPr>
        <p:spPr>
          <a:xfrm>
            <a:off x="6516608" y="3602736"/>
            <a:ext cx="17373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88"/>
                </a:solidFill>
                <a:latin typeface="Montserrat Medium"/>
              </a:rPr>
              <a:t>Quem executa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0544" y="3602736"/>
            <a:ext cx="284986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nossa equipe faz o pedido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6608" y="3950208"/>
            <a:ext cx="17373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88"/>
                </a:solidFill>
                <a:latin typeface="Montserrat Medium"/>
              </a:rPr>
              <a:t>Seu papel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90544" y="3950208"/>
            <a:ext cx="284986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apenas aprovar a solicitação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16608" y="4297680"/>
            <a:ext cx="17373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88"/>
                </a:solidFill>
                <a:latin typeface="Montserrat Medium"/>
              </a:rPr>
              <a:t>O que precisa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0544" y="4297680"/>
            <a:ext cx="284986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nada de antemão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16608" y="4645152"/>
            <a:ext cx="17373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88"/>
                </a:solidFill>
                <a:latin typeface="Montserrat Medium"/>
              </a:rPr>
              <a:t>Detalhada nos slides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90544" y="4645152"/>
            <a:ext cx="284986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13 a 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77240" y="5376672"/>
            <a:ext cx="10637489" cy="640080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777240" y="5376672"/>
            <a:ext cx="32004" cy="640080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5" name="Freeform 54"/>
          <p:cNvSpPr/>
          <p:nvPr/>
        </p:nvSpPr>
        <p:spPr>
          <a:xfrm>
            <a:off x="1085122" y="5597957"/>
            <a:ext cx="134044" cy="159105"/>
          </a:xfrm>
          <a:custGeom>
            <a:avLst/>
            <a:gdLst/>
            <a:ahLst/>
            <a:cxnLst/>
            <a:rect l="l" t="t" r="r" b="b"/>
            <a:pathLst>
              <a:path w="134044" h="159105">
                <a:moveTo>
                  <a:pt x="0" y="46929"/>
                </a:moveTo>
                <a:lnTo>
                  <a:pt x="2381" y="41181"/>
                </a:lnTo>
                <a:lnTo>
                  <a:pt x="5254" y="35661"/>
                </a:lnTo>
                <a:lnTo>
                  <a:pt x="8597" y="30414"/>
                </a:lnTo>
                <a:lnTo>
                  <a:pt x="12385" y="25477"/>
                </a:lnTo>
                <a:lnTo>
                  <a:pt x="16589" y="20890"/>
                </a:lnTo>
                <a:lnTo>
                  <a:pt x="21176" y="16686"/>
                </a:lnTo>
                <a:lnTo>
                  <a:pt x="26113" y="12898"/>
                </a:lnTo>
                <a:lnTo>
                  <a:pt x="31360" y="9555"/>
                </a:lnTo>
                <a:lnTo>
                  <a:pt x="36880" y="6682"/>
                </a:lnTo>
                <a:lnTo>
                  <a:pt x="42628" y="4301"/>
                </a:lnTo>
                <a:lnTo>
                  <a:pt x="48562" y="2430"/>
                </a:lnTo>
                <a:lnTo>
                  <a:pt x="54637" y="1083"/>
                </a:lnTo>
                <a:lnTo>
                  <a:pt x="60806" y="271"/>
                </a:lnTo>
                <a:lnTo>
                  <a:pt x="67022" y="0"/>
                </a:lnTo>
                <a:lnTo>
                  <a:pt x="73238" y="271"/>
                </a:lnTo>
                <a:lnTo>
                  <a:pt x="79407" y="1083"/>
                </a:lnTo>
                <a:lnTo>
                  <a:pt x="85482" y="2430"/>
                </a:lnTo>
                <a:lnTo>
                  <a:pt x="91416" y="4301"/>
                </a:lnTo>
                <a:lnTo>
                  <a:pt x="97164" y="6682"/>
                </a:lnTo>
                <a:lnTo>
                  <a:pt x="102684" y="9555"/>
                </a:lnTo>
                <a:lnTo>
                  <a:pt x="107931" y="12898"/>
                </a:lnTo>
                <a:lnTo>
                  <a:pt x="112868" y="16686"/>
                </a:lnTo>
                <a:lnTo>
                  <a:pt x="117455" y="20890"/>
                </a:lnTo>
                <a:lnTo>
                  <a:pt x="121659" y="25477"/>
                </a:lnTo>
                <a:lnTo>
                  <a:pt x="125447" y="30414"/>
                </a:lnTo>
                <a:lnTo>
                  <a:pt x="128790" y="35661"/>
                </a:lnTo>
                <a:lnTo>
                  <a:pt x="131663" y="41181"/>
                </a:lnTo>
                <a:lnTo>
                  <a:pt x="134044" y="46929"/>
                </a:lnTo>
                <a:lnTo>
                  <a:pt x="94454" y="131673"/>
                </a:lnTo>
                <a:lnTo>
                  <a:pt x="94454" y="159105"/>
                </a:lnTo>
                <a:lnTo>
                  <a:pt x="39590" y="159105"/>
                </a:lnTo>
                <a:lnTo>
                  <a:pt x="39590" y="131673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127455" y="5773522"/>
            <a:ext cx="49378" cy="0"/>
          </a:xfrm>
          <a:custGeom>
            <a:avLst/>
            <a:gdLst/>
            <a:ahLst/>
            <a:cxnLst/>
            <a:rect l="l" t="t" r="r" b="b"/>
            <a:pathLst>
              <a:path w="49378" h="0">
                <a:moveTo>
                  <a:pt x="0" y="0"/>
                </a:moveTo>
                <a:lnTo>
                  <a:pt x="4937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135685" y="5795467"/>
            <a:ext cx="32918" cy="0"/>
          </a:xfrm>
          <a:custGeom>
            <a:avLst/>
            <a:gdLst/>
            <a:ahLst/>
            <a:cxnLst/>
            <a:rect l="l" t="t" r="r" b="b"/>
            <a:pathLst>
              <a:path w="32918" h="0">
                <a:moveTo>
                  <a:pt x="0" y="0"/>
                </a:moveTo>
                <a:lnTo>
                  <a:pt x="3291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152144" y="5652821"/>
            <a:ext cx="0" cy="65837"/>
          </a:xfrm>
          <a:custGeom>
            <a:avLst/>
            <a:gdLst/>
            <a:ahLst/>
            <a:cxnLst/>
            <a:rect l="l" t="t" r="r" b="b"/>
            <a:pathLst>
              <a:path w="0" h="65837">
                <a:moveTo>
                  <a:pt x="0" y="65837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152144" y="5650078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0" y="30175"/>
                </a:moveTo>
                <a:lnTo>
                  <a:pt x="3017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121969" y="5650078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30175" y="30175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472184" y="5376672"/>
            <a:ext cx="9668225" cy="6400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As duas rotas levam ao mesmo resultado. Escolha a que for mais prática para a sua equipe — e, se preferir, comece pela Rota B: nós damos o primeiro passo.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Rota A  ·  Passo 1 de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Entre no MTR Nacional pelo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Gov.br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08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1828800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1" y="1847088"/>
            <a:ext cx="294436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Abra mtr.sinir.gov.br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151" y="2103120"/>
            <a:ext cx="294436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Ignore os campos CNPJ, CPF e Senha: são do login antigo.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2615184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2615184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1" y="2633472"/>
            <a:ext cx="294436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Clique em “Entrar com GOV.BR”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6151" y="2889504"/>
            <a:ext cx="294436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É o único caminho de acesso desde 01/08/2026.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401568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7240" y="3401568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1" y="3419856"/>
            <a:ext cx="294436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Informe o CPF e a senha Gov.br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6151" y="3675888"/>
            <a:ext cx="294436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Do responsável pela empresa, não a senha antiga do MTR.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4187951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4187951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1" y="4206240"/>
            <a:ext cx="294436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Selecione a sua unidade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16151" y="4462272"/>
            <a:ext cx="294436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Clique no ícone da coluna “Selecionar”.</a:t>
            </a:r>
          </a:p>
        </p:txBody>
      </p:sp>
      <p:pic>
        <p:nvPicPr>
          <p:cNvPr id="25" name="Picture 24" descr="guia_fig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6192" y="1847088"/>
            <a:ext cx="6606912" cy="3246120"/>
          </a:xfrm>
          <a:prstGeom prst="rect">
            <a:avLst/>
          </a:prstGeom>
          <a:effectLst/>
        </p:spPr>
      </p:pic>
      <p:sp>
        <p:nvSpPr>
          <p:cNvPr id="26" name="Rectangle 25"/>
          <p:cNvSpPr/>
          <p:nvPr/>
        </p:nvSpPr>
        <p:spPr>
          <a:xfrm>
            <a:off x="4676192" y="1847088"/>
            <a:ext cx="6606912" cy="3246120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676192" y="5166360"/>
            <a:ext cx="6606912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Figura 1 — tela inicial do MTR Nacional. O destaque marca o botão “Entrar com GOV.BR”.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25666" y="4281677"/>
            <a:ext cx="766401" cy="168798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9306941" y="4062953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306941" y="4062953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486400"/>
            <a:ext cx="10637489" cy="457200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777240" y="5486400"/>
            <a:ext cx="32004" cy="457200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3" name="Freeform 32"/>
          <p:cNvSpPr/>
          <p:nvPr/>
        </p:nvSpPr>
        <p:spPr>
          <a:xfrm>
            <a:off x="1085122" y="5616245"/>
            <a:ext cx="134044" cy="159105"/>
          </a:xfrm>
          <a:custGeom>
            <a:avLst/>
            <a:gdLst/>
            <a:ahLst/>
            <a:cxnLst/>
            <a:rect l="l" t="t" r="r" b="b"/>
            <a:pathLst>
              <a:path w="134044" h="159105">
                <a:moveTo>
                  <a:pt x="0" y="46929"/>
                </a:moveTo>
                <a:lnTo>
                  <a:pt x="2381" y="41181"/>
                </a:lnTo>
                <a:lnTo>
                  <a:pt x="5254" y="35661"/>
                </a:lnTo>
                <a:lnTo>
                  <a:pt x="8597" y="30414"/>
                </a:lnTo>
                <a:lnTo>
                  <a:pt x="12385" y="25477"/>
                </a:lnTo>
                <a:lnTo>
                  <a:pt x="16589" y="20890"/>
                </a:lnTo>
                <a:lnTo>
                  <a:pt x="21176" y="16686"/>
                </a:lnTo>
                <a:lnTo>
                  <a:pt x="26113" y="12898"/>
                </a:lnTo>
                <a:lnTo>
                  <a:pt x="31360" y="9555"/>
                </a:lnTo>
                <a:lnTo>
                  <a:pt x="36880" y="6682"/>
                </a:lnTo>
                <a:lnTo>
                  <a:pt x="42628" y="4301"/>
                </a:lnTo>
                <a:lnTo>
                  <a:pt x="48562" y="2430"/>
                </a:lnTo>
                <a:lnTo>
                  <a:pt x="54637" y="1083"/>
                </a:lnTo>
                <a:lnTo>
                  <a:pt x="60806" y="271"/>
                </a:lnTo>
                <a:lnTo>
                  <a:pt x="67022" y="0"/>
                </a:lnTo>
                <a:lnTo>
                  <a:pt x="73238" y="271"/>
                </a:lnTo>
                <a:lnTo>
                  <a:pt x="79407" y="1083"/>
                </a:lnTo>
                <a:lnTo>
                  <a:pt x="85482" y="2430"/>
                </a:lnTo>
                <a:lnTo>
                  <a:pt x="91416" y="4301"/>
                </a:lnTo>
                <a:lnTo>
                  <a:pt x="97164" y="6682"/>
                </a:lnTo>
                <a:lnTo>
                  <a:pt x="102684" y="9555"/>
                </a:lnTo>
                <a:lnTo>
                  <a:pt x="107931" y="12898"/>
                </a:lnTo>
                <a:lnTo>
                  <a:pt x="112868" y="16686"/>
                </a:lnTo>
                <a:lnTo>
                  <a:pt x="117455" y="20890"/>
                </a:lnTo>
                <a:lnTo>
                  <a:pt x="121659" y="25477"/>
                </a:lnTo>
                <a:lnTo>
                  <a:pt x="125447" y="30414"/>
                </a:lnTo>
                <a:lnTo>
                  <a:pt x="128790" y="35661"/>
                </a:lnTo>
                <a:lnTo>
                  <a:pt x="131663" y="41181"/>
                </a:lnTo>
                <a:lnTo>
                  <a:pt x="134044" y="46929"/>
                </a:lnTo>
                <a:lnTo>
                  <a:pt x="94454" y="131673"/>
                </a:lnTo>
                <a:lnTo>
                  <a:pt x="94454" y="159105"/>
                </a:lnTo>
                <a:lnTo>
                  <a:pt x="39590" y="159105"/>
                </a:lnTo>
                <a:lnTo>
                  <a:pt x="39590" y="131673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127455" y="5791810"/>
            <a:ext cx="49378" cy="0"/>
          </a:xfrm>
          <a:custGeom>
            <a:avLst/>
            <a:gdLst/>
            <a:ahLst/>
            <a:cxnLst/>
            <a:rect l="l" t="t" r="r" b="b"/>
            <a:pathLst>
              <a:path w="49378" h="0">
                <a:moveTo>
                  <a:pt x="0" y="0"/>
                </a:moveTo>
                <a:lnTo>
                  <a:pt x="4937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1135685" y="5813755"/>
            <a:ext cx="32918" cy="0"/>
          </a:xfrm>
          <a:custGeom>
            <a:avLst/>
            <a:gdLst/>
            <a:ahLst/>
            <a:cxnLst/>
            <a:rect l="l" t="t" r="r" b="b"/>
            <a:pathLst>
              <a:path w="32918" h="0">
                <a:moveTo>
                  <a:pt x="0" y="0"/>
                </a:moveTo>
                <a:lnTo>
                  <a:pt x="3291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1152144" y="5671109"/>
            <a:ext cx="0" cy="65837"/>
          </a:xfrm>
          <a:custGeom>
            <a:avLst/>
            <a:gdLst/>
            <a:ahLst/>
            <a:cxnLst/>
            <a:rect l="l" t="t" r="r" b="b"/>
            <a:pathLst>
              <a:path w="0" h="65837">
                <a:moveTo>
                  <a:pt x="0" y="65837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152144" y="5668366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0" y="30175"/>
                </a:moveTo>
                <a:lnTo>
                  <a:pt x="3017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1121969" y="5668366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30175" y="30175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2184" y="5486400"/>
            <a:ext cx="9668225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Sem conta Gov.br ainda? Crie em gov.br antes. Atenção: e-mails Outlook, Hotmail e Live não são aceitos no cadastro no momento.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43600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Figura do Guia Rápido “Login Único GOV.BR — MTR Nacional/Sinir”, MMA/SINIR, v. 1.0, 05/01/2026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Rota A  ·  Passo 2 de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Abra o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Gerenciador de Usuários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09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1828800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1" y="1847088"/>
            <a:ext cx="449884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Confirme que você é Administrador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151" y="2103120"/>
            <a:ext cx="449884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Só o Usuário Administrador vê o menu de usuários.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2688336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2688336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1" y="2706624"/>
            <a:ext cx="449884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Abra o menu Configurações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6151" y="2962656"/>
            <a:ext cx="449884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Fica no menu principal do sistema, já dentro da unidade.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547872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7240" y="3547872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1" y="3566160"/>
            <a:ext cx="449884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Entre em Meus Usuários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6151" y="3822191"/>
            <a:ext cx="449884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Depois, em Gerenciador de Usuários.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4407407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4407407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1" y="4425696"/>
            <a:ext cx="449884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Clique em Adicionar Usuário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16151" y="4681728"/>
            <a:ext cx="449884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Abre a janela de cadastro do novo acesso.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1810512"/>
            <a:ext cx="5056632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 i="0" spc="150" cap="all">
                <a:solidFill>
                  <a:srgbClr val="3432C9"/>
                </a:solidFill>
                <a:latin typeface="Montserrat SemiBold"/>
              </a:rPr>
              <a:t>Caminho no menu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80" y="2139696"/>
            <a:ext cx="5056632" cy="457200"/>
          </a:xfrm>
          <a:prstGeom prst="rect">
            <a:avLst/>
          </a:prstGeom>
          <a:solidFill>
            <a:srgbClr val="F4F5FC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574536" y="2139696"/>
            <a:ext cx="461772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19" b="0" i="0">
                <a:solidFill>
                  <a:srgbClr val="14142E"/>
                </a:solidFill>
                <a:latin typeface="Montserrat SemiBold"/>
              </a:rPr>
              <a:t>Configurações</a:t>
            </a:r>
          </a:p>
        </p:txBody>
      </p:sp>
      <p:sp>
        <p:nvSpPr>
          <p:cNvPr id="28" name="Freeform 27"/>
          <p:cNvSpPr/>
          <p:nvPr/>
        </p:nvSpPr>
        <p:spPr>
          <a:xfrm>
            <a:off x="6684264" y="2601468"/>
            <a:ext cx="0" cy="100584"/>
          </a:xfrm>
          <a:custGeom>
            <a:avLst/>
            <a:gdLst/>
            <a:ahLst/>
            <a:cxnLst/>
            <a:rect l="l" t="t" r="r" b="b"/>
            <a:pathLst>
              <a:path w="0" h="100584">
                <a:moveTo>
                  <a:pt x="0" y="0"/>
                </a:moveTo>
                <a:lnTo>
                  <a:pt x="0" y="100584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6662800" y="2661684"/>
            <a:ext cx="42928" cy="40368"/>
          </a:xfrm>
          <a:custGeom>
            <a:avLst/>
            <a:gdLst/>
            <a:ahLst/>
            <a:cxnLst/>
            <a:rect l="l" t="t" r="r" b="b"/>
            <a:pathLst>
              <a:path w="42928" h="40368">
                <a:moveTo>
                  <a:pt x="21464" y="40368"/>
                </a:moveTo>
                <a:lnTo>
                  <a:pt x="0" y="0"/>
                </a:lnTo>
                <a:lnTo>
                  <a:pt x="42928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80" y="2706624"/>
            <a:ext cx="5056632" cy="457200"/>
          </a:xfrm>
          <a:prstGeom prst="rect">
            <a:avLst/>
          </a:prstGeom>
          <a:solidFill>
            <a:srgbClr val="F4F5FC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74536" y="2706624"/>
            <a:ext cx="461772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19" b="0" i="0">
                <a:solidFill>
                  <a:srgbClr val="14142E"/>
                </a:solidFill>
                <a:latin typeface="Montserrat SemiBold"/>
              </a:rPr>
              <a:t>Meus Usuários</a:t>
            </a:r>
          </a:p>
        </p:txBody>
      </p:sp>
      <p:sp>
        <p:nvSpPr>
          <p:cNvPr id="32" name="Freeform 31"/>
          <p:cNvSpPr/>
          <p:nvPr/>
        </p:nvSpPr>
        <p:spPr>
          <a:xfrm>
            <a:off x="6684264" y="3168396"/>
            <a:ext cx="0" cy="100584"/>
          </a:xfrm>
          <a:custGeom>
            <a:avLst/>
            <a:gdLst/>
            <a:ahLst/>
            <a:cxnLst/>
            <a:rect l="l" t="t" r="r" b="b"/>
            <a:pathLst>
              <a:path w="0" h="100584">
                <a:moveTo>
                  <a:pt x="0" y="0"/>
                </a:moveTo>
                <a:lnTo>
                  <a:pt x="0" y="100584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6662800" y="3228612"/>
            <a:ext cx="42928" cy="40368"/>
          </a:xfrm>
          <a:custGeom>
            <a:avLst/>
            <a:gdLst/>
            <a:ahLst/>
            <a:cxnLst/>
            <a:rect l="l" t="t" r="r" b="b"/>
            <a:pathLst>
              <a:path w="42928" h="40368">
                <a:moveTo>
                  <a:pt x="21464" y="40368"/>
                </a:moveTo>
                <a:lnTo>
                  <a:pt x="0" y="0"/>
                </a:lnTo>
                <a:lnTo>
                  <a:pt x="42928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55080" y="3273552"/>
            <a:ext cx="5056632" cy="457200"/>
          </a:xfrm>
          <a:prstGeom prst="rect">
            <a:avLst/>
          </a:prstGeom>
          <a:solidFill>
            <a:srgbClr val="F4F5FC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574536" y="3273552"/>
            <a:ext cx="461772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19" b="0" i="0">
                <a:solidFill>
                  <a:srgbClr val="14142E"/>
                </a:solidFill>
                <a:latin typeface="Montserrat SemiBold"/>
              </a:rPr>
              <a:t>Gerenciador de Usuários</a:t>
            </a:r>
          </a:p>
        </p:txBody>
      </p:sp>
      <p:sp>
        <p:nvSpPr>
          <p:cNvPr id="36" name="Freeform 35"/>
          <p:cNvSpPr/>
          <p:nvPr/>
        </p:nvSpPr>
        <p:spPr>
          <a:xfrm>
            <a:off x="6684264" y="3735324"/>
            <a:ext cx="0" cy="100584"/>
          </a:xfrm>
          <a:custGeom>
            <a:avLst/>
            <a:gdLst/>
            <a:ahLst/>
            <a:cxnLst/>
            <a:rect l="l" t="t" r="r" b="b"/>
            <a:pathLst>
              <a:path w="0" h="100584">
                <a:moveTo>
                  <a:pt x="0" y="0"/>
                </a:moveTo>
                <a:lnTo>
                  <a:pt x="0" y="100584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662800" y="3795540"/>
            <a:ext cx="42928" cy="40368"/>
          </a:xfrm>
          <a:custGeom>
            <a:avLst/>
            <a:gdLst/>
            <a:ahLst/>
            <a:cxnLst/>
            <a:rect l="l" t="t" r="r" b="b"/>
            <a:pathLst>
              <a:path w="42928" h="40368">
                <a:moveTo>
                  <a:pt x="21464" y="40368"/>
                </a:moveTo>
                <a:lnTo>
                  <a:pt x="0" y="0"/>
                </a:lnTo>
                <a:lnTo>
                  <a:pt x="42928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55080" y="3840479"/>
            <a:ext cx="5056632" cy="457200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574536" y="3840479"/>
            <a:ext cx="461772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19" b="0" i="0">
                <a:solidFill>
                  <a:srgbClr val="FFFFFF"/>
                </a:solidFill>
                <a:latin typeface="Montserrat SemiBold"/>
              </a:rPr>
              <a:t>Adicionar Usuário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55080" y="4462272"/>
            <a:ext cx="5056632" cy="640080"/>
          </a:xfrm>
          <a:prstGeom prst="rect">
            <a:avLst/>
          </a:prstGeom>
          <a:solidFill>
            <a:srgbClr val="FDF4E3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6355080" y="4462272"/>
            <a:ext cx="32004" cy="640080"/>
          </a:xfrm>
          <a:prstGeom prst="rect">
            <a:avLst/>
          </a:prstGeom>
          <a:solidFill>
            <a:srgbClr val="B08535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2" name="Freeform 41"/>
          <p:cNvSpPr/>
          <p:nvPr/>
        </p:nvSpPr>
        <p:spPr>
          <a:xfrm>
            <a:off x="6612026" y="4672584"/>
            <a:ext cx="235916" cy="208483"/>
          </a:xfrm>
          <a:custGeom>
            <a:avLst/>
            <a:gdLst/>
            <a:ahLst/>
            <a:cxnLst/>
            <a:rect l="l" t="t" r="r" b="b"/>
            <a:pathLst>
              <a:path w="235916" h="208483">
                <a:moveTo>
                  <a:pt x="117958" y="0"/>
                </a:moveTo>
                <a:lnTo>
                  <a:pt x="235916" y="208483"/>
                </a:lnTo>
                <a:lnTo>
                  <a:pt x="0" y="208483"/>
                </a:lnTo>
                <a:close/>
              </a:path>
            </a:pathLst>
          </a:custGeom>
          <a:noFill/>
          <a:ln w="15875" cap="rnd">
            <a:solidFill>
              <a:srgbClr val="B08535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6729984" y="4749394"/>
            <a:ext cx="0" cy="65836"/>
          </a:xfrm>
          <a:custGeom>
            <a:avLst/>
            <a:gdLst/>
            <a:ahLst/>
            <a:cxnLst/>
            <a:rect l="l" t="t" r="r" b="b"/>
            <a:pathLst>
              <a:path w="0" h="65836">
                <a:moveTo>
                  <a:pt x="0" y="0"/>
                </a:moveTo>
                <a:lnTo>
                  <a:pt x="0" y="65836"/>
                </a:lnTo>
              </a:path>
            </a:pathLst>
          </a:custGeom>
          <a:noFill/>
          <a:ln w="18256" cap="rnd">
            <a:solidFill>
              <a:srgbClr val="B08535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719697" y="4836490"/>
            <a:ext cx="20574" cy="20574"/>
          </a:xfrm>
          <a:prstGeom prst="ellipse">
            <a:avLst/>
          </a:prstGeom>
          <a:solidFill>
            <a:srgbClr val="B08535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050024" y="4462272"/>
            <a:ext cx="4087368" cy="6400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3A3C55"/>
                </a:solidFill>
                <a:latin typeface="Montserrat"/>
              </a:rPr>
              <a:t>Não encontrou o menu Configurações? Então esse login não é Administrador da unidade. Peça a quem cadastrou a empresa no MTR, ou fale com a gente.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5394960"/>
            <a:ext cx="10637489" cy="512064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777240" y="5394960"/>
            <a:ext cx="32004" cy="512064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8" name="Freeform 47"/>
          <p:cNvSpPr/>
          <p:nvPr/>
        </p:nvSpPr>
        <p:spPr>
          <a:xfrm>
            <a:off x="1058875" y="5535778"/>
            <a:ext cx="186538" cy="230428"/>
          </a:xfrm>
          <a:custGeom>
            <a:avLst/>
            <a:gdLst/>
            <a:ahLst/>
            <a:cxnLst/>
            <a:rect l="l" t="t" r="r" b="b"/>
            <a:pathLst>
              <a:path w="186538" h="230428">
                <a:moveTo>
                  <a:pt x="93269" y="0"/>
                </a:moveTo>
                <a:lnTo>
                  <a:pt x="186538" y="38404"/>
                </a:lnTo>
                <a:lnTo>
                  <a:pt x="186538" y="120700"/>
                </a:lnTo>
                <a:lnTo>
                  <a:pt x="93269" y="230428"/>
                </a:lnTo>
                <a:lnTo>
                  <a:pt x="0" y="120700"/>
                </a:lnTo>
                <a:lnTo>
                  <a:pt x="0" y="38404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1110996" y="5612587"/>
            <a:ext cx="87782" cy="65837"/>
          </a:xfrm>
          <a:custGeom>
            <a:avLst/>
            <a:gdLst/>
            <a:ahLst/>
            <a:cxnLst/>
            <a:rect l="l" t="t" r="r" b="b"/>
            <a:pathLst>
              <a:path w="87782" h="65837">
                <a:moveTo>
                  <a:pt x="0" y="32919"/>
                </a:moveTo>
                <a:lnTo>
                  <a:pt x="30175" y="65837"/>
                </a:lnTo>
                <a:lnTo>
                  <a:pt x="87782" y="0"/>
                </a:lnTo>
              </a:path>
            </a:pathLst>
          </a:custGeom>
          <a:noFill/>
          <a:ln w="1746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472184" y="5394960"/>
            <a:ext cx="9668225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O Administrador é quem cadastrou a empresa no MTR. Ele edita dados cadastrais, gerencia usuários e concede permissões de acesso.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5943600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Fonte: comunicado oficial do SINIR.  [PRINT PENDENTE — tela do Gerenciador de Usuários]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Rota A  ·  Passo 3 de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Preencha os dados do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novo usuário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5175504" cy="1700784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5175504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Freeform 10"/>
          <p:cNvSpPr/>
          <p:nvPr/>
        </p:nvSpPr>
        <p:spPr>
          <a:xfrm>
            <a:off x="1039856" y="2153229"/>
            <a:ext cx="261152" cy="174102"/>
          </a:xfrm>
          <a:custGeom>
            <a:avLst/>
            <a:gdLst/>
            <a:ahLst/>
            <a:cxnLst/>
            <a:rect l="l" t="t" r="r" b="b"/>
            <a:pathLst>
              <a:path w="261152" h="174102">
                <a:moveTo>
                  <a:pt x="0" y="0"/>
                </a:moveTo>
                <a:lnTo>
                  <a:pt x="261152" y="0"/>
                </a:lnTo>
                <a:lnTo>
                  <a:pt x="261152" y="174102"/>
                </a:lnTo>
                <a:lnTo>
                  <a:pt x="0" y="174102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77163" y="2184318"/>
            <a:ext cx="62179" cy="62179"/>
          </a:xfrm>
          <a:prstGeom prst="ellipse">
            <a:avLst/>
          </a:prstGeom>
          <a:noFill/>
          <a:ln w="14288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3" name="Freeform 12"/>
          <p:cNvSpPr/>
          <p:nvPr/>
        </p:nvSpPr>
        <p:spPr>
          <a:xfrm>
            <a:off x="1064431" y="2255825"/>
            <a:ext cx="87644" cy="22502"/>
          </a:xfrm>
          <a:custGeom>
            <a:avLst/>
            <a:gdLst/>
            <a:ahLst/>
            <a:cxnLst/>
            <a:rect l="l" t="t" r="r" b="b"/>
            <a:pathLst>
              <a:path w="87644" h="22502">
                <a:moveTo>
                  <a:pt x="0" y="22502"/>
                </a:moveTo>
                <a:lnTo>
                  <a:pt x="2561" y="18260"/>
                </a:lnTo>
                <a:lnTo>
                  <a:pt x="5882" y="14312"/>
                </a:lnTo>
                <a:lnTo>
                  <a:pt x="9901" y="10730"/>
                </a:lnTo>
                <a:lnTo>
                  <a:pt x="14544" y="7579"/>
                </a:lnTo>
                <a:lnTo>
                  <a:pt x="19726" y="4919"/>
                </a:lnTo>
                <a:lnTo>
                  <a:pt x="25351" y="2797"/>
                </a:lnTo>
                <a:lnTo>
                  <a:pt x="31316" y="1252"/>
                </a:lnTo>
                <a:lnTo>
                  <a:pt x="37511" y="314"/>
                </a:lnTo>
                <a:lnTo>
                  <a:pt x="43822" y="0"/>
                </a:lnTo>
                <a:lnTo>
                  <a:pt x="50133" y="314"/>
                </a:lnTo>
                <a:lnTo>
                  <a:pt x="56328" y="1252"/>
                </a:lnTo>
                <a:lnTo>
                  <a:pt x="62293" y="2797"/>
                </a:lnTo>
                <a:lnTo>
                  <a:pt x="67918" y="4919"/>
                </a:lnTo>
                <a:lnTo>
                  <a:pt x="73099" y="7579"/>
                </a:lnTo>
                <a:lnTo>
                  <a:pt x="77742" y="10730"/>
                </a:lnTo>
                <a:lnTo>
                  <a:pt x="81761" y="14312"/>
                </a:lnTo>
                <a:lnTo>
                  <a:pt x="85082" y="18260"/>
                </a:lnTo>
                <a:lnTo>
                  <a:pt x="87644" y="22502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176650" y="2202972"/>
            <a:ext cx="93269" cy="0"/>
          </a:xfrm>
          <a:custGeom>
            <a:avLst/>
            <a:gdLst/>
            <a:ahLst/>
            <a:cxnLst/>
            <a:rect l="l" t="t" r="r" b="b"/>
            <a:pathLst>
              <a:path w="93269" h="0">
                <a:moveTo>
                  <a:pt x="0" y="0"/>
                </a:moveTo>
                <a:lnTo>
                  <a:pt x="93269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176650" y="2240280"/>
            <a:ext cx="93269" cy="0"/>
          </a:xfrm>
          <a:custGeom>
            <a:avLst/>
            <a:gdLst/>
            <a:ahLst/>
            <a:cxnLst/>
            <a:rect l="l" t="t" r="r" b="b"/>
            <a:pathLst>
              <a:path w="93269" h="0">
                <a:moveTo>
                  <a:pt x="0" y="0"/>
                </a:moveTo>
                <a:lnTo>
                  <a:pt x="93269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1176650" y="2277588"/>
            <a:ext cx="93269" cy="0"/>
          </a:xfrm>
          <a:custGeom>
            <a:avLst/>
            <a:gdLst/>
            <a:ahLst/>
            <a:cxnLst/>
            <a:rect l="l" t="t" r="r" b="b"/>
            <a:pathLst>
              <a:path w="93269" h="0">
                <a:moveTo>
                  <a:pt x="0" y="0"/>
                </a:moveTo>
                <a:lnTo>
                  <a:pt x="93269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72184" y="2103120"/>
            <a:ext cx="424281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40" b="0" i="0">
                <a:solidFill>
                  <a:srgbClr val="14142E"/>
                </a:solidFill>
                <a:latin typeface="Montserrat SemiBold"/>
              </a:rPr>
              <a:t>Copie exatamente estes dados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2542032"/>
            <a:ext cx="2070201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Nome completo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5185" y="2542032"/>
            <a:ext cx="2629814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Ana Nunes Lucato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2834640"/>
            <a:ext cx="2070201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CPF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85185" y="2834640"/>
            <a:ext cx="2629814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142.803.138-30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3" y="3127248"/>
            <a:ext cx="2070201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E-mail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85185" y="3127248"/>
            <a:ext cx="2629814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anapnuneslucato@gmail.com</a:t>
            </a:r>
          </a:p>
        </p:txBody>
      </p:sp>
      <p:sp>
        <p:nvSpPr>
          <p:cNvPr id="24" name="Oval 23"/>
          <p:cNvSpPr/>
          <p:nvPr/>
        </p:nvSpPr>
        <p:spPr>
          <a:xfrm>
            <a:off x="777240" y="3785483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5606" y="3749039"/>
            <a:ext cx="4754880" cy="48539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80" b="0" i="0">
                <a:solidFill>
                  <a:srgbClr val="3A3C55"/>
                </a:solidFill>
                <a:latin typeface="Montserrat"/>
              </a:rPr>
              <a:t>O CPF precisa ser digitado sem erro: é ele que liga a conta Gov.br à sua unidade.</a:t>
            </a:r>
          </a:p>
        </p:txBody>
      </p:sp>
      <p:sp>
        <p:nvSpPr>
          <p:cNvPr id="26" name="Oval 25"/>
          <p:cNvSpPr/>
          <p:nvPr/>
        </p:nvSpPr>
        <p:spPr>
          <a:xfrm>
            <a:off x="777240" y="4223379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5606" y="4186936"/>
            <a:ext cx="4754880" cy="48539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80" b="0" i="0">
                <a:solidFill>
                  <a:srgbClr val="3A3C55"/>
                </a:solidFill>
                <a:latin typeface="Montserrat"/>
              </a:rPr>
              <a:t>O e-mail é o canal pelo qual o sistema comunica o acesso.</a:t>
            </a:r>
          </a:p>
        </p:txBody>
      </p:sp>
      <p:sp>
        <p:nvSpPr>
          <p:cNvPr id="28" name="Oval 27"/>
          <p:cNvSpPr/>
          <p:nvPr/>
        </p:nvSpPr>
        <p:spPr>
          <a:xfrm>
            <a:off x="777240" y="4499477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65606" y="4463034"/>
            <a:ext cx="4754880" cy="48539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80" b="0" i="0">
                <a:solidFill>
                  <a:srgbClr val="3A3C55"/>
                </a:solidFill>
                <a:latin typeface="Montserrat"/>
              </a:rPr>
              <a:t>Marque a opção de Administrador conforme o slide 11.</a:t>
            </a:r>
          </a:p>
        </p:txBody>
      </p:sp>
      <p:sp>
        <p:nvSpPr>
          <p:cNvPr id="30" name="Oval 29"/>
          <p:cNvSpPr/>
          <p:nvPr/>
        </p:nvSpPr>
        <p:spPr>
          <a:xfrm>
            <a:off x="777240" y="4775575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5606" y="4739132"/>
            <a:ext cx="4754880" cy="48539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80" b="0" i="0">
                <a:solidFill>
                  <a:srgbClr val="3A3C55"/>
                </a:solidFill>
                <a:latin typeface="Montserrat"/>
              </a:rPr>
              <a:t>Salve a janela para concluir o cadastro.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1847088"/>
            <a:ext cx="5056632" cy="3291840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6355080" y="1847088"/>
            <a:ext cx="5056632" cy="38404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574536" y="1847088"/>
            <a:ext cx="4233672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980" b="0" i="0">
                <a:solidFill>
                  <a:srgbClr val="FFFFFF"/>
                </a:solidFill>
                <a:latin typeface="Montserrat SemiBold"/>
              </a:rPr>
              <a:t>Adicionar Usuário</a:t>
            </a:r>
          </a:p>
        </p:txBody>
      </p:sp>
      <p:sp>
        <p:nvSpPr>
          <p:cNvPr id="35" name="Freeform 34"/>
          <p:cNvSpPr/>
          <p:nvPr/>
        </p:nvSpPr>
        <p:spPr>
          <a:xfrm>
            <a:off x="11009376" y="1975104"/>
            <a:ext cx="128016" cy="128016"/>
          </a:xfrm>
          <a:custGeom>
            <a:avLst/>
            <a:gdLst/>
            <a:ahLst/>
            <a:cxnLst/>
            <a:rect l="l" t="t" r="r" b="b"/>
            <a:pathLst>
              <a:path w="128016" h="128016">
                <a:moveTo>
                  <a:pt x="0" y="0"/>
                </a:moveTo>
                <a:lnTo>
                  <a:pt x="128016" y="128016"/>
                </a:lnTo>
              </a:path>
            </a:pathLst>
          </a:custGeom>
          <a:noFill/>
          <a:ln w="13970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11009376" y="1975104"/>
            <a:ext cx="128016" cy="128016"/>
          </a:xfrm>
          <a:custGeom>
            <a:avLst/>
            <a:gdLst/>
            <a:ahLst/>
            <a:cxnLst/>
            <a:rect l="l" t="t" r="r" b="b"/>
            <a:pathLst>
              <a:path w="128016" h="128016">
                <a:moveTo>
                  <a:pt x="128016" y="0"/>
                </a:moveTo>
                <a:lnTo>
                  <a:pt x="0" y="128016"/>
                </a:lnTo>
              </a:path>
            </a:pathLst>
          </a:custGeom>
          <a:noFill/>
          <a:ln w="13970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92824" y="2450592"/>
            <a:ext cx="45811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60" b="0" i="0" spc="110" cap="all">
                <a:solidFill>
                  <a:srgbClr val="6E7288"/>
                </a:solidFill>
                <a:latin typeface="Montserrat"/>
              </a:rPr>
              <a:t>Nome completo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92824" y="2651760"/>
            <a:ext cx="4581144" cy="310896"/>
          </a:xfrm>
          <a:prstGeom prst="rect">
            <a:avLst/>
          </a:prstGeom>
          <a:solidFill>
            <a:srgbClr val="F4F5FC"/>
          </a:solidFill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702552" y="2651760"/>
            <a:ext cx="4361688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 i="0">
                <a:solidFill>
                  <a:srgbClr val="14142E"/>
                </a:solidFill>
                <a:latin typeface="Montserrat SemiBold"/>
              </a:rPr>
              <a:t>Ana Nunes Lucato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92824" y="3072384"/>
            <a:ext cx="45811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60" b="0" i="0" spc="110" cap="all">
                <a:solidFill>
                  <a:srgbClr val="6E7288"/>
                </a:solidFill>
                <a:latin typeface="Montserrat"/>
              </a:rPr>
              <a:t>CPF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92824" y="3273552"/>
            <a:ext cx="4581144" cy="310896"/>
          </a:xfrm>
          <a:prstGeom prst="rect">
            <a:avLst/>
          </a:prstGeom>
          <a:solidFill>
            <a:srgbClr val="F4F5FC"/>
          </a:solidFill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702552" y="3273552"/>
            <a:ext cx="4361688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 i="0">
                <a:solidFill>
                  <a:srgbClr val="14142E"/>
                </a:solidFill>
                <a:latin typeface="Montserrat SemiBold"/>
              </a:rPr>
              <a:t>142.803.138-30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92824" y="3694176"/>
            <a:ext cx="45811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60" b="0" i="0" spc="110" cap="all">
                <a:solidFill>
                  <a:srgbClr val="6E7288"/>
                </a:solidFill>
                <a:latin typeface="Montserrat"/>
              </a:rPr>
              <a:t>E-mail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92824" y="3895344"/>
            <a:ext cx="4581144" cy="310896"/>
          </a:xfrm>
          <a:prstGeom prst="rect">
            <a:avLst/>
          </a:prstGeom>
          <a:solidFill>
            <a:srgbClr val="F4F5FC"/>
          </a:solidFill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702552" y="3895344"/>
            <a:ext cx="4361688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 i="0">
                <a:solidFill>
                  <a:srgbClr val="14142E"/>
                </a:solidFill>
                <a:latin typeface="Montserrat SemiBold"/>
              </a:rPr>
              <a:t>anapnuneslucato@gmail.com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92824" y="4279392"/>
            <a:ext cx="4581144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40" b="0" i="0">
                <a:solidFill>
                  <a:srgbClr val="6E7288"/>
                </a:solidFill>
                <a:latin typeface="Montserrat"/>
              </a:rPr>
              <a:t>Esquema ilustrativo da janela de cadastro, montado a partir do procedimento descrito no comunicado do SINIR. Não é uma captura de tela: os rótulos e a ordem dos campos podem variar no sistema.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" y="5468112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Fonte: comunicado oficial do SINIR — “Menu Configurações &gt; Meus Usuários &gt; Gerenciador de Usuários &gt; Adicionar Usuário. Preencha os dados solicitados na janela”.  [CONFIRMAR — rótulos exatos dos campos]  [PRINT PENDENTE — janela Adicionar Usuário]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Rota A  ·  Passo 4 de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Marque o tipo: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Administrador ou Padrão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5172440" cy="2926080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5172440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Freeform 10"/>
          <p:cNvSpPr/>
          <p:nvPr/>
        </p:nvSpPr>
        <p:spPr>
          <a:xfrm>
            <a:off x="1115934" y="2171883"/>
            <a:ext cx="273588" cy="337962"/>
          </a:xfrm>
          <a:custGeom>
            <a:avLst/>
            <a:gdLst/>
            <a:ahLst/>
            <a:cxnLst/>
            <a:rect l="l" t="t" r="r" b="b"/>
            <a:pathLst>
              <a:path w="273588" h="337962">
                <a:moveTo>
                  <a:pt x="136794" y="0"/>
                </a:moveTo>
                <a:lnTo>
                  <a:pt x="273588" y="56327"/>
                </a:lnTo>
                <a:lnTo>
                  <a:pt x="273588" y="177028"/>
                </a:lnTo>
                <a:lnTo>
                  <a:pt x="136794" y="337962"/>
                </a:lnTo>
                <a:lnTo>
                  <a:pt x="0" y="177028"/>
                </a:lnTo>
                <a:lnTo>
                  <a:pt x="0" y="56327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192378" y="2284537"/>
            <a:ext cx="128747" cy="96561"/>
          </a:xfrm>
          <a:custGeom>
            <a:avLst/>
            <a:gdLst/>
            <a:ahLst/>
            <a:cxnLst/>
            <a:rect l="l" t="t" r="r" b="b"/>
            <a:pathLst>
              <a:path w="128747" h="96561">
                <a:moveTo>
                  <a:pt x="0" y="48280"/>
                </a:moveTo>
                <a:lnTo>
                  <a:pt x="44257" y="96561"/>
                </a:lnTo>
                <a:lnTo>
                  <a:pt x="128747" y="0"/>
                </a:lnTo>
              </a:path>
            </a:pathLst>
          </a:custGeom>
          <a:noFill/>
          <a:ln w="1746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68352" y="2139696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468352" y="2199132"/>
            <a:ext cx="1207008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720" b="0" i="0" spc="120" cap="all">
                <a:solidFill>
                  <a:srgbClr val="FFFFFF"/>
                </a:solidFill>
                <a:latin typeface="Montserrat SemiBold"/>
              </a:rPr>
              <a:t>Mais autonomia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688336"/>
            <a:ext cx="462380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0" i="0">
                <a:solidFill>
                  <a:srgbClr val="14142E"/>
                </a:solidFill>
                <a:latin typeface="Montserrat Light"/>
              </a:rPr>
              <a:t>Marque “Administrador”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51560" y="3310128"/>
            <a:ext cx="4623800" cy="0"/>
          </a:xfrm>
          <a:prstGeom prst="line">
            <a:avLst/>
          </a:prstGeom>
          <a:ln w="12700" cap="rnd">
            <a:solidFill>
              <a:srgbClr val="DFE2F0"/>
            </a:solidFill>
            <a:round/>
          </a:ln>
          <a:effectLst/>
        </p:spPr>
      </p:cxnSp>
      <p:sp>
        <p:nvSpPr>
          <p:cNvPr id="17" name="Oval 16"/>
          <p:cNvSpPr/>
          <p:nvPr/>
        </p:nvSpPr>
        <p:spPr>
          <a:xfrm>
            <a:off x="1051560" y="3508638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239926" y="3474720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Cuidamos também da gestão de acessos da sua unidade.</a:t>
            </a:r>
          </a:p>
        </p:txBody>
      </p:sp>
      <p:sp>
        <p:nvSpPr>
          <p:cNvPr id="19" name="Oval 18"/>
          <p:cNvSpPr/>
          <p:nvPr/>
        </p:nvSpPr>
        <p:spPr>
          <a:xfrm>
            <a:off x="1051560" y="3766295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239926" y="3732377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Conseguimos incluir e desativar usuários da nossa equipe.</a:t>
            </a:r>
          </a:p>
        </p:txBody>
      </p:sp>
      <p:sp>
        <p:nvSpPr>
          <p:cNvPr id="21" name="Oval 20"/>
          <p:cNvSpPr/>
          <p:nvPr/>
        </p:nvSpPr>
        <p:spPr>
          <a:xfrm>
            <a:off x="1051560" y="4023953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39926" y="3990035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Útil se a sua equipe não quiser administrar o sistema.</a:t>
            </a:r>
          </a:p>
        </p:txBody>
      </p:sp>
      <p:sp>
        <p:nvSpPr>
          <p:cNvPr id="23" name="Oval 22"/>
          <p:cNvSpPr/>
          <p:nvPr/>
        </p:nvSpPr>
        <p:spPr>
          <a:xfrm>
            <a:off x="1051560" y="4281610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239926" y="4247692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Você continua Administrador: o seu acesso não muda.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2288" y="1847088"/>
            <a:ext cx="5172440" cy="2926080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242288" y="1847088"/>
            <a:ext cx="5172440" cy="50292"/>
          </a:xfrm>
          <a:prstGeom prst="rect">
            <a:avLst/>
          </a:prstGeom>
          <a:solidFill>
            <a:srgbClr val="6E7288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6669496" y="2212116"/>
            <a:ext cx="96560" cy="96560"/>
          </a:xfrm>
          <a:prstGeom prst="ellipse">
            <a:avLst/>
          </a:prstGeom>
          <a:noFill/>
          <a:ln w="15875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8" name="Freeform 27"/>
          <p:cNvSpPr/>
          <p:nvPr/>
        </p:nvSpPr>
        <p:spPr>
          <a:xfrm>
            <a:off x="6610796" y="2389144"/>
            <a:ext cx="213961" cy="86443"/>
          </a:xfrm>
          <a:custGeom>
            <a:avLst/>
            <a:gdLst/>
            <a:ahLst/>
            <a:cxnLst/>
            <a:rect l="l" t="t" r="r" b="b"/>
            <a:pathLst>
              <a:path w="213961" h="86443">
                <a:moveTo>
                  <a:pt x="0" y="86443"/>
                </a:moveTo>
                <a:lnTo>
                  <a:pt x="3249" y="73548"/>
                </a:lnTo>
                <a:lnTo>
                  <a:pt x="8167" y="61152"/>
                </a:lnTo>
                <a:lnTo>
                  <a:pt x="14674" y="49456"/>
                </a:lnTo>
                <a:lnTo>
                  <a:pt x="22667" y="38647"/>
                </a:lnTo>
                <a:lnTo>
                  <a:pt x="32017" y="28900"/>
                </a:lnTo>
                <a:lnTo>
                  <a:pt x="42573" y="20370"/>
                </a:lnTo>
                <a:lnTo>
                  <a:pt x="54165" y="13197"/>
                </a:lnTo>
                <a:lnTo>
                  <a:pt x="66607" y="7494"/>
                </a:lnTo>
                <a:lnTo>
                  <a:pt x="79698" y="3353"/>
                </a:lnTo>
                <a:lnTo>
                  <a:pt x="93229" y="842"/>
                </a:lnTo>
                <a:lnTo>
                  <a:pt x="106981" y="0"/>
                </a:lnTo>
                <a:lnTo>
                  <a:pt x="120733" y="842"/>
                </a:lnTo>
                <a:lnTo>
                  <a:pt x="134263" y="3353"/>
                </a:lnTo>
                <a:lnTo>
                  <a:pt x="147355" y="7494"/>
                </a:lnTo>
                <a:lnTo>
                  <a:pt x="159797" y="13197"/>
                </a:lnTo>
                <a:lnTo>
                  <a:pt x="171389" y="20370"/>
                </a:lnTo>
                <a:lnTo>
                  <a:pt x="181945" y="28900"/>
                </a:lnTo>
                <a:lnTo>
                  <a:pt x="191294" y="38647"/>
                </a:lnTo>
                <a:lnTo>
                  <a:pt x="199287" y="49456"/>
                </a:lnTo>
                <a:lnTo>
                  <a:pt x="205795" y="61152"/>
                </a:lnTo>
                <a:lnTo>
                  <a:pt x="210712" y="73548"/>
                </a:lnTo>
                <a:lnTo>
                  <a:pt x="213961" y="86443"/>
                </a:lnTo>
              </a:path>
            </a:pathLst>
          </a:custGeom>
          <a:noFill/>
          <a:ln w="15875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544772" y="2264420"/>
            <a:ext cx="72420" cy="72420"/>
          </a:xfrm>
          <a:prstGeom prst="ellipse">
            <a:avLst/>
          </a:prstGeom>
          <a:noFill/>
          <a:ln w="13494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0" name="Freeform 29"/>
          <p:cNvSpPr/>
          <p:nvPr/>
        </p:nvSpPr>
        <p:spPr>
          <a:xfrm>
            <a:off x="6514916" y="2437425"/>
            <a:ext cx="132133" cy="53676"/>
          </a:xfrm>
          <a:custGeom>
            <a:avLst/>
            <a:gdLst/>
            <a:ahLst/>
            <a:cxnLst/>
            <a:rect l="l" t="t" r="r" b="b"/>
            <a:pathLst>
              <a:path w="132133" h="53676">
                <a:moveTo>
                  <a:pt x="0" y="53676"/>
                </a:moveTo>
                <a:lnTo>
                  <a:pt x="3263" y="43736"/>
                </a:lnTo>
                <a:lnTo>
                  <a:pt x="7853" y="34401"/>
                </a:lnTo>
                <a:lnTo>
                  <a:pt x="13671" y="25869"/>
                </a:lnTo>
                <a:lnTo>
                  <a:pt x="20596" y="18320"/>
                </a:lnTo>
                <a:lnTo>
                  <a:pt x="28482" y="11914"/>
                </a:lnTo>
                <a:lnTo>
                  <a:pt x="37161" y="6785"/>
                </a:lnTo>
                <a:lnTo>
                  <a:pt x="46450" y="3042"/>
                </a:lnTo>
                <a:lnTo>
                  <a:pt x="56154" y="764"/>
                </a:lnTo>
                <a:lnTo>
                  <a:pt x="66067" y="0"/>
                </a:lnTo>
                <a:lnTo>
                  <a:pt x="75979" y="764"/>
                </a:lnTo>
                <a:lnTo>
                  <a:pt x="85683" y="3042"/>
                </a:lnTo>
                <a:lnTo>
                  <a:pt x="94972" y="6785"/>
                </a:lnTo>
                <a:lnTo>
                  <a:pt x="103651" y="11914"/>
                </a:lnTo>
                <a:lnTo>
                  <a:pt x="111537" y="18320"/>
                </a:lnTo>
                <a:lnTo>
                  <a:pt x="118462" y="25869"/>
                </a:lnTo>
                <a:lnTo>
                  <a:pt x="124280" y="34401"/>
                </a:lnTo>
                <a:lnTo>
                  <a:pt x="128870" y="43736"/>
                </a:lnTo>
                <a:lnTo>
                  <a:pt x="132133" y="53676"/>
                </a:lnTo>
              </a:path>
            </a:pathLst>
          </a:custGeom>
          <a:noFill/>
          <a:ln w="13494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18360" y="2264420"/>
            <a:ext cx="72420" cy="72420"/>
          </a:xfrm>
          <a:prstGeom prst="ellipse">
            <a:avLst/>
          </a:prstGeom>
          <a:noFill/>
          <a:ln w="13494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2" name="Freeform 31"/>
          <p:cNvSpPr/>
          <p:nvPr/>
        </p:nvSpPr>
        <p:spPr>
          <a:xfrm>
            <a:off x="6788504" y="2437425"/>
            <a:ext cx="132134" cy="53676"/>
          </a:xfrm>
          <a:custGeom>
            <a:avLst/>
            <a:gdLst/>
            <a:ahLst/>
            <a:cxnLst/>
            <a:rect l="l" t="t" r="r" b="b"/>
            <a:pathLst>
              <a:path w="132134" h="53676">
                <a:moveTo>
                  <a:pt x="0" y="53676"/>
                </a:moveTo>
                <a:lnTo>
                  <a:pt x="3264" y="43736"/>
                </a:lnTo>
                <a:lnTo>
                  <a:pt x="7853" y="34401"/>
                </a:lnTo>
                <a:lnTo>
                  <a:pt x="13672" y="25869"/>
                </a:lnTo>
                <a:lnTo>
                  <a:pt x="20597" y="18320"/>
                </a:lnTo>
                <a:lnTo>
                  <a:pt x="28482" y="11914"/>
                </a:lnTo>
                <a:lnTo>
                  <a:pt x="37161" y="6785"/>
                </a:lnTo>
                <a:lnTo>
                  <a:pt x="46450" y="3042"/>
                </a:lnTo>
                <a:lnTo>
                  <a:pt x="56154" y="764"/>
                </a:lnTo>
                <a:lnTo>
                  <a:pt x="66067" y="0"/>
                </a:lnTo>
                <a:lnTo>
                  <a:pt x="75980" y="764"/>
                </a:lnTo>
                <a:lnTo>
                  <a:pt x="85684" y="3042"/>
                </a:lnTo>
                <a:lnTo>
                  <a:pt x="94973" y="6785"/>
                </a:lnTo>
                <a:lnTo>
                  <a:pt x="103652" y="11914"/>
                </a:lnTo>
                <a:lnTo>
                  <a:pt x="111537" y="18320"/>
                </a:lnTo>
                <a:lnTo>
                  <a:pt x="118462" y="25869"/>
                </a:lnTo>
                <a:lnTo>
                  <a:pt x="124281" y="34401"/>
                </a:lnTo>
                <a:lnTo>
                  <a:pt x="128870" y="43736"/>
                </a:lnTo>
                <a:lnTo>
                  <a:pt x="132134" y="53676"/>
                </a:lnTo>
              </a:path>
            </a:pathLst>
          </a:custGeom>
          <a:noFill/>
          <a:ln w="13494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933401" y="2139696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6E7288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933401" y="2199132"/>
            <a:ext cx="1207008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720" b="0" i="0" spc="120" cap="all">
                <a:solidFill>
                  <a:srgbClr val="FFFFFF"/>
                </a:solidFill>
                <a:latin typeface="Montserrat SemiBold"/>
              </a:rPr>
              <a:t>Mais restrito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6608" y="2688336"/>
            <a:ext cx="462380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0" i="0">
                <a:solidFill>
                  <a:srgbClr val="14142E"/>
                </a:solidFill>
                <a:latin typeface="Montserrat Light"/>
              </a:rPr>
              <a:t>Deixe como “Padrão”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516608" y="3310128"/>
            <a:ext cx="4623801" cy="0"/>
          </a:xfrm>
          <a:prstGeom prst="line">
            <a:avLst/>
          </a:prstGeom>
          <a:ln w="12700" cap="rnd">
            <a:solidFill>
              <a:srgbClr val="DFE2F0"/>
            </a:solidFill>
            <a:round/>
          </a:ln>
          <a:effectLst/>
        </p:spPr>
      </p:cxnSp>
      <p:sp>
        <p:nvSpPr>
          <p:cNvPr id="37" name="Oval 36"/>
          <p:cNvSpPr/>
          <p:nvPr/>
        </p:nvSpPr>
        <p:spPr>
          <a:xfrm>
            <a:off x="6516608" y="3508638"/>
            <a:ext cx="69494" cy="69494"/>
          </a:xfrm>
          <a:prstGeom prst="ellipse">
            <a:avLst/>
          </a:prstGeom>
          <a:solidFill>
            <a:srgbClr val="6E7288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704975" y="3474720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Acessamos apenas a operação da unidade.</a:t>
            </a:r>
          </a:p>
        </p:txBody>
      </p:sp>
      <p:sp>
        <p:nvSpPr>
          <p:cNvPr id="39" name="Oval 38"/>
          <p:cNvSpPr/>
          <p:nvPr/>
        </p:nvSpPr>
        <p:spPr>
          <a:xfrm>
            <a:off x="6516608" y="3766295"/>
            <a:ext cx="69494" cy="69494"/>
          </a:xfrm>
          <a:prstGeom prst="ellipse">
            <a:avLst/>
          </a:prstGeom>
          <a:solidFill>
            <a:srgbClr val="6E7288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704975" y="3732377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Não temos acesso aos dados cadastrais da empresa.</a:t>
            </a:r>
          </a:p>
        </p:txBody>
      </p:sp>
      <p:sp>
        <p:nvSpPr>
          <p:cNvPr id="41" name="Oval 40"/>
          <p:cNvSpPr/>
          <p:nvPr/>
        </p:nvSpPr>
        <p:spPr>
          <a:xfrm>
            <a:off x="6516608" y="4023953"/>
            <a:ext cx="69494" cy="69494"/>
          </a:xfrm>
          <a:prstGeom prst="ellipse">
            <a:avLst/>
          </a:prstGeom>
          <a:solidFill>
            <a:srgbClr val="6E7288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704975" y="3990035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Não conseguimos gerenciar usuários da unidade.</a:t>
            </a:r>
          </a:p>
        </p:txBody>
      </p:sp>
      <p:sp>
        <p:nvSpPr>
          <p:cNvPr id="43" name="Oval 42"/>
          <p:cNvSpPr/>
          <p:nvPr/>
        </p:nvSpPr>
        <p:spPr>
          <a:xfrm>
            <a:off x="6516608" y="4281610"/>
            <a:ext cx="69494" cy="69494"/>
          </a:xfrm>
          <a:prstGeom prst="ellipse">
            <a:avLst/>
          </a:prstGeom>
          <a:solidFill>
            <a:srgbClr val="6E7288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704975" y="4247692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Suficiente para a rotina de emissão. [CONFIRMAR]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7240" y="4882896"/>
            <a:ext cx="10637489" cy="603504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777240" y="4882896"/>
            <a:ext cx="32004" cy="603504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7" name="Freeform 46"/>
          <p:cNvSpPr/>
          <p:nvPr/>
        </p:nvSpPr>
        <p:spPr>
          <a:xfrm>
            <a:off x="1085122" y="5085893"/>
            <a:ext cx="134044" cy="159105"/>
          </a:xfrm>
          <a:custGeom>
            <a:avLst/>
            <a:gdLst/>
            <a:ahLst/>
            <a:cxnLst/>
            <a:rect l="l" t="t" r="r" b="b"/>
            <a:pathLst>
              <a:path w="134044" h="159105">
                <a:moveTo>
                  <a:pt x="0" y="46929"/>
                </a:moveTo>
                <a:lnTo>
                  <a:pt x="2381" y="41181"/>
                </a:lnTo>
                <a:lnTo>
                  <a:pt x="5254" y="35661"/>
                </a:lnTo>
                <a:lnTo>
                  <a:pt x="8597" y="30414"/>
                </a:lnTo>
                <a:lnTo>
                  <a:pt x="12385" y="25477"/>
                </a:lnTo>
                <a:lnTo>
                  <a:pt x="16589" y="20890"/>
                </a:lnTo>
                <a:lnTo>
                  <a:pt x="21176" y="16686"/>
                </a:lnTo>
                <a:lnTo>
                  <a:pt x="26113" y="12898"/>
                </a:lnTo>
                <a:lnTo>
                  <a:pt x="31360" y="9555"/>
                </a:lnTo>
                <a:lnTo>
                  <a:pt x="36880" y="6682"/>
                </a:lnTo>
                <a:lnTo>
                  <a:pt x="42628" y="4301"/>
                </a:lnTo>
                <a:lnTo>
                  <a:pt x="48562" y="2430"/>
                </a:lnTo>
                <a:lnTo>
                  <a:pt x="54637" y="1083"/>
                </a:lnTo>
                <a:lnTo>
                  <a:pt x="60806" y="271"/>
                </a:lnTo>
                <a:lnTo>
                  <a:pt x="67022" y="0"/>
                </a:lnTo>
                <a:lnTo>
                  <a:pt x="73238" y="271"/>
                </a:lnTo>
                <a:lnTo>
                  <a:pt x="79407" y="1083"/>
                </a:lnTo>
                <a:lnTo>
                  <a:pt x="85482" y="2430"/>
                </a:lnTo>
                <a:lnTo>
                  <a:pt x="91416" y="4301"/>
                </a:lnTo>
                <a:lnTo>
                  <a:pt x="97164" y="6682"/>
                </a:lnTo>
                <a:lnTo>
                  <a:pt x="102684" y="9555"/>
                </a:lnTo>
                <a:lnTo>
                  <a:pt x="107931" y="12898"/>
                </a:lnTo>
                <a:lnTo>
                  <a:pt x="112868" y="16686"/>
                </a:lnTo>
                <a:lnTo>
                  <a:pt x="117455" y="20890"/>
                </a:lnTo>
                <a:lnTo>
                  <a:pt x="121659" y="25477"/>
                </a:lnTo>
                <a:lnTo>
                  <a:pt x="125447" y="30414"/>
                </a:lnTo>
                <a:lnTo>
                  <a:pt x="128790" y="35661"/>
                </a:lnTo>
                <a:lnTo>
                  <a:pt x="131663" y="41181"/>
                </a:lnTo>
                <a:lnTo>
                  <a:pt x="134044" y="46929"/>
                </a:lnTo>
                <a:lnTo>
                  <a:pt x="94454" y="131673"/>
                </a:lnTo>
                <a:lnTo>
                  <a:pt x="94454" y="159105"/>
                </a:lnTo>
                <a:lnTo>
                  <a:pt x="39590" y="159105"/>
                </a:lnTo>
                <a:lnTo>
                  <a:pt x="39590" y="131673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1127455" y="5261458"/>
            <a:ext cx="49378" cy="0"/>
          </a:xfrm>
          <a:custGeom>
            <a:avLst/>
            <a:gdLst/>
            <a:ahLst/>
            <a:cxnLst/>
            <a:rect l="l" t="t" r="r" b="b"/>
            <a:pathLst>
              <a:path w="49378" h="0">
                <a:moveTo>
                  <a:pt x="0" y="0"/>
                </a:moveTo>
                <a:lnTo>
                  <a:pt x="4937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1135685" y="5283403"/>
            <a:ext cx="32918" cy="0"/>
          </a:xfrm>
          <a:custGeom>
            <a:avLst/>
            <a:gdLst/>
            <a:ahLst/>
            <a:cxnLst/>
            <a:rect l="l" t="t" r="r" b="b"/>
            <a:pathLst>
              <a:path w="32918" h="0">
                <a:moveTo>
                  <a:pt x="0" y="0"/>
                </a:moveTo>
                <a:lnTo>
                  <a:pt x="3291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1152144" y="5140757"/>
            <a:ext cx="0" cy="65837"/>
          </a:xfrm>
          <a:custGeom>
            <a:avLst/>
            <a:gdLst/>
            <a:ahLst/>
            <a:cxnLst/>
            <a:rect l="l" t="t" r="r" b="b"/>
            <a:pathLst>
              <a:path w="0" h="65837">
                <a:moveTo>
                  <a:pt x="0" y="65837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152144" y="5138014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0" y="30175"/>
                </a:moveTo>
                <a:lnTo>
                  <a:pt x="3017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1121969" y="5138014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30175" y="30175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472184" y="4882896"/>
            <a:ext cx="9668225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Nossa sugestão: marque “Administrador” para a nossa responsável. Assim resolvemos qualquer ajuste de acesso sem precisar acionar a sua equipe de novo.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614416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Fonte: comunicado oficial do SINIR (atribuições de cada tipo de usuário). [CONFIRMAR — se o perfil Padrão basta para emitir MTR na sua unidade]  Você pode trocar o tipo depois, a qualquer momento.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Rota A  ·  Conclusão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Salve, confirme com a gente e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saiba como revogar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10512"/>
            <a:ext cx="502920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 i="0" spc="150" cap="all">
                <a:solidFill>
                  <a:srgbClr val="12A87B"/>
                </a:solidFill>
                <a:latin typeface="Montserrat SemiBold"/>
              </a:rPr>
              <a:t>Depois de salvar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212848"/>
            <a:ext cx="274320" cy="274320"/>
          </a:xfrm>
          <a:prstGeom prst="rect">
            <a:avLst/>
          </a:prstGeom>
          <a:noFill/>
          <a:ln w="16510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Freeform 10"/>
          <p:cNvSpPr/>
          <p:nvPr/>
        </p:nvSpPr>
        <p:spPr>
          <a:xfrm>
            <a:off x="844906" y="2294412"/>
            <a:ext cx="142463" cy="107717"/>
          </a:xfrm>
          <a:custGeom>
            <a:avLst/>
            <a:gdLst/>
            <a:ahLst/>
            <a:cxnLst/>
            <a:rect l="l" t="t" r="r" b="b"/>
            <a:pathLst>
              <a:path w="142463" h="107717">
                <a:moveTo>
                  <a:pt x="0" y="59071"/>
                </a:moveTo>
                <a:lnTo>
                  <a:pt x="52120" y="107717"/>
                </a:lnTo>
                <a:lnTo>
                  <a:pt x="142463" y="0"/>
                </a:lnTo>
              </a:path>
            </a:pathLst>
          </a:custGeom>
          <a:noFill/>
          <a:ln w="19050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157984"/>
            <a:ext cx="45720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14142E"/>
                </a:solidFill>
                <a:latin typeface="Montserrat SemiBold"/>
              </a:rPr>
              <a:t>Confira o CPF cadastrado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32303"/>
            <a:ext cx="45720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Um dígito errado impede o vínculo.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944368"/>
            <a:ext cx="274320" cy="274320"/>
          </a:xfrm>
          <a:prstGeom prst="rect">
            <a:avLst/>
          </a:prstGeom>
          <a:noFill/>
          <a:ln w="16510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5" name="Freeform 14"/>
          <p:cNvSpPr/>
          <p:nvPr/>
        </p:nvSpPr>
        <p:spPr>
          <a:xfrm>
            <a:off x="844906" y="3025932"/>
            <a:ext cx="142463" cy="107717"/>
          </a:xfrm>
          <a:custGeom>
            <a:avLst/>
            <a:gdLst/>
            <a:ahLst/>
            <a:cxnLst/>
            <a:rect l="l" t="t" r="r" b="b"/>
            <a:pathLst>
              <a:path w="142463" h="107717">
                <a:moveTo>
                  <a:pt x="0" y="59071"/>
                </a:moveTo>
                <a:lnTo>
                  <a:pt x="52120" y="107717"/>
                </a:lnTo>
                <a:lnTo>
                  <a:pt x="142463" y="0"/>
                </a:lnTo>
              </a:path>
            </a:pathLst>
          </a:custGeom>
          <a:noFill/>
          <a:ln w="19050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2889504"/>
            <a:ext cx="45720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14142E"/>
                </a:solidFill>
                <a:latin typeface="Montserrat SemiBold"/>
              </a:rPr>
              <a:t>Confirme se o usuário ficou “Ativo”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63824"/>
            <a:ext cx="45720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É o que libera o acesso à unidade.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675887"/>
            <a:ext cx="274320" cy="274320"/>
          </a:xfrm>
          <a:prstGeom prst="rect">
            <a:avLst/>
          </a:prstGeom>
          <a:noFill/>
          <a:ln w="16510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9" name="Freeform 18"/>
          <p:cNvSpPr/>
          <p:nvPr/>
        </p:nvSpPr>
        <p:spPr>
          <a:xfrm>
            <a:off x="844906" y="3757452"/>
            <a:ext cx="142463" cy="107717"/>
          </a:xfrm>
          <a:custGeom>
            <a:avLst/>
            <a:gdLst/>
            <a:ahLst/>
            <a:cxnLst/>
            <a:rect l="l" t="t" r="r" b="b"/>
            <a:pathLst>
              <a:path w="142463" h="107717">
                <a:moveTo>
                  <a:pt x="0" y="59071"/>
                </a:moveTo>
                <a:lnTo>
                  <a:pt x="52120" y="107717"/>
                </a:lnTo>
                <a:lnTo>
                  <a:pt x="142463" y="0"/>
                </a:lnTo>
              </a:path>
            </a:pathLst>
          </a:custGeom>
          <a:noFill/>
          <a:ln w="19050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4440" y="3621024"/>
            <a:ext cx="45720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14142E"/>
                </a:solidFill>
                <a:latin typeface="Montserrat SemiBold"/>
              </a:rPr>
              <a:t>Nos avise por escrito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895344"/>
            <a:ext cx="45720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Testamos o acesso e retomamos a emissão na mesma hora.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1810512"/>
            <a:ext cx="5056632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 i="0" spc="150" cap="all">
                <a:solidFill>
                  <a:srgbClr val="3432C9"/>
                </a:solidFill>
                <a:latin typeface="Montserrat SemiBold"/>
              </a:rPr>
              <a:t>Para retirar o acesso depois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2139696"/>
            <a:ext cx="5056632" cy="420624"/>
          </a:xfrm>
          <a:prstGeom prst="rect">
            <a:avLst/>
          </a:prstGeom>
          <a:solidFill>
            <a:srgbClr val="F4F5FC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574536" y="2139696"/>
            <a:ext cx="4617720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19" b="0" i="0">
                <a:solidFill>
                  <a:srgbClr val="14142E"/>
                </a:solidFill>
                <a:latin typeface="Montserrat SemiBold"/>
              </a:rPr>
              <a:t>Configurações</a:t>
            </a:r>
          </a:p>
        </p:txBody>
      </p:sp>
      <p:sp>
        <p:nvSpPr>
          <p:cNvPr id="25" name="Freeform 24"/>
          <p:cNvSpPr/>
          <p:nvPr/>
        </p:nvSpPr>
        <p:spPr>
          <a:xfrm>
            <a:off x="6684264" y="2564892"/>
            <a:ext cx="0" cy="82296"/>
          </a:xfrm>
          <a:custGeom>
            <a:avLst/>
            <a:gdLst/>
            <a:ahLst/>
            <a:cxnLst/>
            <a:rect l="l" t="t" r="r" b="b"/>
            <a:pathLst>
              <a:path w="0" h="82296">
                <a:moveTo>
                  <a:pt x="0" y="0"/>
                </a:moveTo>
                <a:lnTo>
                  <a:pt x="0" y="82296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6662800" y="2606820"/>
            <a:ext cx="42928" cy="40368"/>
          </a:xfrm>
          <a:custGeom>
            <a:avLst/>
            <a:gdLst/>
            <a:ahLst/>
            <a:cxnLst/>
            <a:rect l="l" t="t" r="r" b="b"/>
            <a:pathLst>
              <a:path w="42928" h="40368">
                <a:moveTo>
                  <a:pt x="21464" y="40368"/>
                </a:moveTo>
                <a:lnTo>
                  <a:pt x="0" y="0"/>
                </a:lnTo>
                <a:lnTo>
                  <a:pt x="42928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5080" y="2651760"/>
            <a:ext cx="5056632" cy="420624"/>
          </a:xfrm>
          <a:prstGeom prst="rect">
            <a:avLst/>
          </a:prstGeom>
          <a:solidFill>
            <a:srgbClr val="F4F5FC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574536" y="2651760"/>
            <a:ext cx="4617720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19" b="0" i="0">
                <a:solidFill>
                  <a:srgbClr val="14142E"/>
                </a:solidFill>
                <a:latin typeface="Montserrat SemiBold"/>
              </a:rPr>
              <a:t>Meus Usuários</a:t>
            </a:r>
          </a:p>
        </p:txBody>
      </p:sp>
      <p:sp>
        <p:nvSpPr>
          <p:cNvPr id="29" name="Freeform 28"/>
          <p:cNvSpPr/>
          <p:nvPr/>
        </p:nvSpPr>
        <p:spPr>
          <a:xfrm>
            <a:off x="6684264" y="3076956"/>
            <a:ext cx="0" cy="82296"/>
          </a:xfrm>
          <a:custGeom>
            <a:avLst/>
            <a:gdLst/>
            <a:ahLst/>
            <a:cxnLst/>
            <a:rect l="l" t="t" r="r" b="b"/>
            <a:pathLst>
              <a:path w="0" h="82296">
                <a:moveTo>
                  <a:pt x="0" y="0"/>
                </a:moveTo>
                <a:lnTo>
                  <a:pt x="0" y="82296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6662800" y="3118884"/>
            <a:ext cx="42928" cy="40368"/>
          </a:xfrm>
          <a:custGeom>
            <a:avLst/>
            <a:gdLst/>
            <a:ahLst/>
            <a:cxnLst/>
            <a:rect l="l" t="t" r="r" b="b"/>
            <a:pathLst>
              <a:path w="42928" h="40368">
                <a:moveTo>
                  <a:pt x="21464" y="40368"/>
                </a:moveTo>
                <a:lnTo>
                  <a:pt x="0" y="0"/>
                </a:lnTo>
                <a:lnTo>
                  <a:pt x="42928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55080" y="3163824"/>
            <a:ext cx="5056632" cy="420624"/>
          </a:xfrm>
          <a:prstGeom prst="rect">
            <a:avLst/>
          </a:prstGeom>
          <a:solidFill>
            <a:srgbClr val="F4F5FC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574536" y="3163824"/>
            <a:ext cx="4617720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19" b="0" i="0">
                <a:solidFill>
                  <a:srgbClr val="14142E"/>
                </a:solidFill>
                <a:latin typeface="Montserrat SemiBold"/>
              </a:rPr>
              <a:t>Gerenciador de Usuários</a:t>
            </a:r>
          </a:p>
        </p:txBody>
      </p:sp>
      <p:sp>
        <p:nvSpPr>
          <p:cNvPr id="33" name="Freeform 32"/>
          <p:cNvSpPr/>
          <p:nvPr/>
        </p:nvSpPr>
        <p:spPr>
          <a:xfrm>
            <a:off x="6684264" y="3589020"/>
            <a:ext cx="0" cy="82296"/>
          </a:xfrm>
          <a:custGeom>
            <a:avLst/>
            <a:gdLst/>
            <a:ahLst/>
            <a:cxnLst/>
            <a:rect l="l" t="t" r="r" b="b"/>
            <a:pathLst>
              <a:path w="0" h="82296">
                <a:moveTo>
                  <a:pt x="0" y="0"/>
                </a:moveTo>
                <a:lnTo>
                  <a:pt x="0" y="82296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6662800" y="3630948"/>
            <a:ext cx="42928" cy="40368"/>
          </a:xfrm>
          <a:custGeom>
            <a:avLst/>
            <a:gdLst/>
            <a:ahLst/>
            <a:cxnLst/>
            <a:rect l="l" t="t" r="r" b="b"/>
            <a:pathLst>
              <a:path w="42928" h="40368">
                <a:moveTo>
                  <a:pt x="21464" y="40368"/>
                </a:moveTo>
                <a:lnTo>
                  <a:pt x="0" y="0"/>
                </a:lnTo>
                <a:lnTo>
                  <a:pt x="42928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55080" y="3675887"/>
            <a:ext cx="5056632" cy="420624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574536" y="3675887"/>
            <a:ext cx="4617720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19" b="0" i="0">
                <a:solidFill>
                  <a:srgbClr val="FFFFFF"/>
                </a:solidFill>
                <a:latin typeface="Montserrat SemiBold"/>
              </a:rPr>
              <a:t>Ícone de edição do usuário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4279392"/>
            <a:ext cx="5056632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Na janela de edição, desmarque a opção “Ativo” e, se aplicável, “Administrador”.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4956048"/>
            <a:ext cx="10637489" cy="694944"/>
          </a:xfrm>
          <a:prstGeom prst="rect">
            <a:avLst/>
          </a:prstGeom>
          <a:solidFill>
            <a:srgbClr val="E7F6F1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77240" y="4956048"/>
            <a:ext cx="32004" cy="694944"/>
          </a:xfrm>
          <a:prstGeom prst="rect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0" name="Freeform 39"/>
          <p:cNvSpPr/>
          <p:nvPr/>
        </p:nvSpPr>
        <p:spPr>
          <a:xfrm>
            <a:off x="1058875" y="5188306"/>
            <a:ext cx="186538" cy="230428"/>
          </a:xfrm>
          <a:custGeom>
            <a:avLst/>
            <a:gdLst/>
            <a:ahLst/>
            <a:cxnLst/>
            <a:rect l="l" t="t" r="r" b="b"/>
            <a:pathLst>
              <a:path w="186538" h="230428">
                <a:moveTo>
                  <a:pt x="93269" y="0"/>
                </a:moveTo>
                <a:lnTo>
                  <a:pt x="186538" y="38404"/>
                </a:lnTo>
                <a:lnTo>
                  <a:pt x="186538" y="120700"/>
                </a:lnTo>
                <a:lnTo>
                  <a:pt x="93269" y="230428"/>
                </a:lnTo>
                <a:lnTo>
                  <a:pt x="0" y="120700"/>
                </a:lnTo>
                <a:lnTo>
                  <a:pt x="0" y="38404"/>
                </a:lnTo>
                <a:close/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1110996" y="5265115"/>
            <a:ext cx="87782" cy="65837"/>
          </a:xfrm>
          <a:custGeom>
            <a:avLst/>
            <a:gdLst/>
            <a:ahLst/>
            <a:cxnLst/>
            <a:rect l="l" t="t" r="r" b="b"/>
            <a:pathLst>
              <a:path w="87782" h="65837">
                <a:moveTo>
                  <a:pt x="0" y="32919"/>
                </a:moveTo>
                <a:lnTo>
                  <a:pt x="30175" y="65837"/>
                </a:lnTo>
                <a:lnTo>
                  <a:pt x="87782" y="0"/>
                </a:lnTo>
              </a:path>
            </a:pathLst>
          </a:custGeom>
          <a:noFill/>
          <a:ln w="17462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72184" y="4956048"/>
            <a:ext cx="9668225" cy="6949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3A3C55"/>
                </a:solidFill>
                <a:latin typeface="Montserrat"/>
              </a:rPr>
              <a:t>O acesso é reversível a qualquer momento e não depende de nós. Regra do sistema: um Administrador só pode ser inativado se houver outro Administrador cadastrado na unidade.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5760720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Fonte: comunicado oficial do SINIR (procedimento de inativação de usuário).  [PRINT PENDENTE — janela de edição do usuário]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Rota B  ·  Passo 1 de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Nós entramos e o sistema avisa que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falta o vínculo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10512"/>
            <a:ext cx="10637489" cy="548640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1810512"/>
            <a:ext cx="32004" cy="548640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Freeform 10"/>
          <p:cNvSpPr/>
          <p:nvPr/>
        </p:nvSpPr>
        <p:spPr>
          <a:xfrm>
            <a:off x="1069848" y="1997050"/>
            <a:ext cx="164592" cy="202996"/>
          </a:xfrm>
          <a:custGeom>
            <a:avLst/>
            <a:gdLst/>
            <a:ahLst/>
            <a:cxnLst/>
            <a:rect l="l" t="t" r="r" b="b"/>
            <a:pathLst>
              <a:path w="164592" h="202996">
                <a:moveTo>
                  <a:pt x="0" y="0"/>
                </a:moveTo>
                <a:lnTo>
                  <a:pt x="164592" y="0"/>
                </a:lnTo>
                <a:lnTo>
                  <a:pt x="164592" y="202996"/>
                </a:lnTo>
                <a:lnTo>
                  <a:pt x="0" y="202996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119226" y="1969618"/>
            <a:ext cx="65836" cy="49377"/>
          </a:xfrm>
          <a:custGeom>
            <a:avLst/>
            <a:gdLst/>
            <a:ahLst/>
            <a:cxnLst/>
            <a:rect l="l" t="t" r="r" b="b"/>
            <a:pathLst>
              <a:path w="65836" h="49377">
                <a:moveTo>
                  <a:pt x="0" y="0"/>
                </a:moveTo>
                <a:lnTo>
                  <a:pt x="65836" y="0"/>
                </a:lnTo>
                <a:lnTo>
                  <a:pt x="65836" y="49377"/>
                </a:lnTo>
                <a:lnTo>
                  <a:pt x="0" y="49377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102766" y="2073859"/>
            <a:ext cx="98756" cy="0"/>
          </a:xfrm>
          <a:custGeom>
            <a:avLst/>
            <a:gdLst/>
            <a:ahLst/>
            <a:cxnLst/>
            <a:rect l="l" t="t" r="r" b="b"/>
            <a:pathLst>
              <a:path w="98756" h="0">
                <a:moveTo>
                  <a:pt x="0" y="0"/>
                </a:moveTo>
                <a:lnTo>
                  <a:pt x="98756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102766" y="2112264"/>
            <a:ext cx="98756" cy="0"/>
          </a:xfrm>
          <a:custGeom>
            <a:avLst/>
            <a:gdLst/>
            <a:ahLst/>
            <a:cxnLst/>
            <a:rect l="l" t="t" r="r" b="b"/>
            <a:pathLst>
              <a:path w="98756" h="0">
                <a:moveTo>
                  <a:pt x="0" y="0"/>
                </a:moveTo>
                <a:lnTo>
                  <a:pt x="98756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102766" y="2150669"/>
            <a:ext cx="98756" cy="0"/>
          </a:xfrm>
          <a:custGeom>
            <a:avLst/>
            <a:gdLst/>
            <a:ahLst/>
            <a:cxnLst/>
            <a:rect l="l" t="t" r="r" b="b"/>
            <a:pathLst>
              <a:path w="98756" h="0">
                <a:moveTo>
                  <a:pt x="0" y="0"/>
                </a:moveTo>
                <a:lnTo>
                  <a:pt x="98756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72184" y="1810512"/>
            <a:ext cx="9668225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Nossa responsável entra no MTR Nacional com o CPF dela. Como ela ainda não está vinculada à sua unidade, o sistema exibe o aviso e oferece o botão “Pesquisar CPF/CNPJ”.</a:t>
            </a:r>
          </a:p>
        </p:txBody>
      </p:sp>
      <p:pic>
        <p:nvPicPr>
          <p:cNvPr id="17" name="Picture 16" descr="guia_fig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697" y="2560320"/>
            <a:ext cx="4787526" cy="2212848"/>
          </a:xfrm>
          <a:prstGeom prst="rect">
            <a:avLst/>
          </a:prstGeom>
          <a:effectLst/>
        </p:spPr>
      </p:pic>
      <p:sp>
        <p:nvSpPr>
          <p:cNvPr id="18" name="Rectangle 17"/>
          <p:cNvSpPr/>
          <p:nvPr/>
        </p:nvSpPr>
        <p:spPr>
          <a:xfrm>
            <a:off x="969697" y="2560320"/>
            <a:ext cx="4787526" cy="2212848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697" y="4846320"/>
            <a:ext cx="478752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Figura 6 — aviso de CPF sem vínculo com nenhum empreendimento.</a:t>
            </a:r>
          </a:p>
        </p:txBody>
      </p:sp>
      <p:pic>
        <p:nvPicPr>
          <p:cNvPr id="20" name="Picture 19" descr="guia_fig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8416" y="2560320"/>
            <a:ext cx="4420184" cy="2212848"/>
          </a:xfrm>
          <a:prstGeom prst="rect">
            <a:avLst/>
          </a:prstGeom>
          <a:effectLst/>
        </p:spPr>
      </p:pic>
      <p:sp>
        <p:nvSpPr>
          <p:cNvPr id="21" name="Rectangle 20"/>
          <p:cNvSpPr/>
          <p:nvPr/>
        </p:nvSpPr>
        <p:spPr>
          <a:xfrm>
            <a:off x="6618416" y="2560320"/>
            <a:ext cx="4420184" cy="2212848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618416" y="4846320"/>
            <a:ext cx="4420184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Figura 7 — destaque no botão “Pesquisar CPF/CNPJ”.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75416" y="3011740"/>
            <a:ext cx="400468" cy="128345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9456692" y="2793016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456692" y="2793016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212080"/>
            <a:ext cx="10637489" cy="47548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777240" y="5212080"/>
            <a:ext cx="32004" cy="47548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8" name="Freeform 27"/>
          <p:cNvSpPr/>
          <p:nvPr/>
        </p:nvSpPr>
        <p:spPr>
          <a:xfrm>
            <a:off x="1085122" y="5351069"/>
            <a:ext cx="134044" cy="159105"/>
          </a:xfrm>
          <a:custGeom>
            <a:avLst/>
            <a:gdLst/>
            <a:ahLst/>
            <a:cxnLst/>
            <a:rect l="l" t="t" r="r" b="b"/>
            <a:pathLst>
              <a:path w="134044" h="159105">
                <a:moveTo>
                  <a:pt x="0" y="46929"/>
                </a:moveTo>
                <a:lnTo>
                  <a:pt x="2381" y="41181"/>
                </a:lnTo>
                <a:lnTo>
                  <a:pt x="5254" y="35661"/>
                </a:lnTo>
                <a:lnTo>
                  <a:pt x="8597" y="30414"/>
                </a:lnTo>
                <a:lnTo>
                  <a:pt x="12385" y="25477"/>
                </a:lnTo>
                <a:lnTo>
                  <a:pt x="16589" y="20890"/>
                </a:lnTo>
                <a:lnTo>
                  <a:pt x="21176" y="16686"/>
                </a:lnTo>
                <a:lnTo>
                  <a:pt x="26113" y="12898"/>
                </a:lnTo>
                <a:lnTo>
                  <a:pt x="31360" y="9555"/>
                </a:lnTo>
                <a:lnTo>
                  <a:pt x="36880" y="6682"/>
                </a:lnTo>
                <a:lnTo>
                  <a:pt x="42628" y="4301"/>
                </a:lnTo>
                <a:lnTo>
                  <a:pt x="48562" y="2430"/>
                </a:lnTo>
                <a:lnTo>
                  <a:pt x="54637" y="1083"/>
                </a:lnTo>
                <a:lnTo>
                  <a:pt x="60806" y="271"/>
                </a:lnTo>
                <a:lnTo>
                  <a:pt x="67022" y="0"/>
                </a:lnTo>
                <a:lnTo>
                  <a:pt x="73238" y="271"/>
                </a:lnTo>
                <a:lnTo>
                  <a:pt x="79407" y="1083"/>
                </a:lnTo>
                <a:lnTo>
                  <a:pt x="85482" y="2430"/>
                </a:lnTo>
                <a:lnTo>
                  <a:pt x="91416" y="4301"/>
                </a:lnTo>
                <a:lnTo>
                  <a:pt x="97164" y="6682"/>
                </a:lnTo>
                <a:lnTo>
                  <a:pt x="102684" y="9555"/>
                </a:lnTo>
                <a:lnTo>
                  <a:pt x="107931" y="12898"/>
                </a:lnTo>
                <a:lnTo>
                  <a:pt x="112868" y="16686"/>
                </a:lnTo>
                <a:lnTo>
                  <a:pt x="117455" y="20890"/>
                </a:lnTo>
                <a:lnTo>
                  <a:pt x="121659" y="25477"/>
                </a:lnTo>
                <a:lnTo>
                  <a:pt x="125447" y="30414"/>
                </a:lnTo>
                <a:lnTo>
                  <a:pt x="128790" y="35661"/>
                </a:lnTo>
                <a:lnTo>
                  <a:pt x="131663" y="41181"/>
                </a:lnTo>
                <a:lnTo>
                  <a:pt x="134044" y="46929"/>
                </a:lnTo>
                <a:lnTo>
                  <a:pt x="94454" y="131673"/>
                </a:lnTo>
                <a:lnTo>
                  <a:pt x="94454" y="159105"/>
                </a:lnTo>
                <a:lnTo>
                  <a:pt x="39590" y="159105"/>
                </a:lnTo>
                <a:lnTo>
                  <a:pt x="39590" y="131673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127455" y="5526634"/>
            <a:ext cx="49378" cy="0"/>
          </a:xfrm>
          <a:custGeom>
            <a:avLst/>
            <a:gdLst/>
            <a:ahLst/>
            <a:cxnLst/>
            <a:rect l="l" t="t" r="r" b="b"/>
            <a:pathLst>
              <a:path w="49378" h="0">
                <a:moveTo>
                  <a:pt x="0" y="0"/>
                </a:moveTo>
                <a:lnTo>
                  <a:pt x="4937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135685" y="5548579"/>
            <a:ext cx="32918" cy="0"/>
          </a:xfrm>
          <a:custGeom>
            <a:avLst/>
            <a:gdLst/>
            <a:ahLst/>
            <a:cxnLst/>
            <a:rect l="l" t="t" r="r" b="b"/>
            <a:pathLst>
              <a:path w="32918" h="0">
                <a:moveTo>
                  <a:pt x="0" y="0"/>
                </a:moveTo>
                <a:lnTo>
                  <a:pt x="3291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152144" y="5405933"/>
            <a:ext cx="0" cy="65837"/>
          </a:xfrm>
          <a:custGeom>
            <a:avLst/>
            <a:gdLst/>
            <a:ahLst/>
            <a:cxnLst/>
            <a:rect l="l" t="t" r="r" b="b"/>
            <a:pathLst>
              <a:path w="0" h="65837">
                <a:moveTo>
                  <a:pt x="0" y="65837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152144" y="5403190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0" y="30175"/>
                </a:moveTo>
                <a:lnTo>
                  <a:pt x="3017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121969" y="5403190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30175" y="30175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72184" y="5212080"/>
            <a:ext cx="9668225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Este passo é executado pela nossa equipe. Você não precisa fazer nada ainda.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760720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Figura do Guia Rápido “Login Único GOV.BR — MTR Nacional/Sinir”, MMA/SINIR, v. 1.0, 05/01/2026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Rota B  ·  Passo 2 de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Localizamos a sua empresa e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solicitamos o acesso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10512"/>
            <a:ext cx="10637489" cy="548640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1810512"/>
            <a:ext cx="32004" cy="548640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Freeform 10"/>
          <p:cNvSpPr/>
          <p:nvPr/>
        </p:nvSpPr>
        <p:spPr>
          <a:xfrm>
            <a:off x="1069848" y="1997050"/>
            <a:ext cx="164592" cy="202996"/>
          </a:xfrm>
          <a:custGeom>
            <a:avLst/>
            <a:gdLst/>
            <a:ahLst/>
            <a:cxnLst/>
            <a:rect l="l" t="t" r="r" b="b"/>
            <a:pathLst>
              <a:path w="164592" h="202996">
                <a:moveTo>
                  <a:pt x="0" y="0"/>
                </a:moveTo>
                <a:lnTo>
                  <a:pt x="164592" y="0"/>
                </a:lnTo>
                <a:lnTo>
                  <a:pt x="164592" y="202996"/>
                </a:lnTo>
                <a:lnTo>
                  <a:pt x="0" y="202996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119226" y="1969618"/>
            <a:ext cx="65836" cy="49377"/>
          </a:xfrm>
          <a:custGeom>
            <a:avLst/>
            <a:gdLst/>
            <a:ahLst/>
            <a:cxnLst/>
            <a:rect l="l" t="t" r="r" b="b"/>
            <a:pathLst>
              <a:path w="65836" h="49377">
                <a:moveTo>
                  <a:pt x="0" y="0"/>
                </a:moveTo>
                <a:lnTo>
                  <a:pt x="65836" y="0"/>
                </a:lnTo>
                <a:lnTo>
                  <a:pt x="65836" y="49377"/>
                </a:lnTo>
                <a:lnTo>
                  <a:pt x="0" y="49377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102766" y="2073859"/>
            <a:ext cx="98756" cy="0"/>
          </a:xfrm>
          <a:custGeom>
            <a:avLst/>
            <a:gdLst/>
            <a:ahLst/>
            <a:cxnLst/>
            <a:rect l="l" t="t" r="r" b="b"/>
            <a:pathLst>
              <a:path w="98756" h="0">
                <a:moveTo>
                  <a:pt x="0" y="0"/>
                </a:moveTo>
                <a:lnTo>
                  <a:pt x="98756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102766" y="2112264"/>
            <a:ext cx="98756" cy="0"/>
          </a:xfrm>
          <a:custGeom>
            <a:avLst/>
            <a:gdLst/>
            <a:ahLst/>
            <a:cxnLst/>
            <a:rect l="l" t="t" r="r" b="b"/>
            <a:pathLst>
              <a:path w="98756" h="0">
                <a:moveTo>
                  <a:pt x="0" y="0"/>
                </a:moveTo>
                <a:lnTo>
                  <a:pt x="98756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102766" y="2150669"/>
            <a:ext cx="98756" cy="0"/>
          </a:xfrm>
          <a:custGeom>
            <a:avLst/>
            <a:gdLst/>
            <a:ahLst/>
            <a:cxnLst/>
            <a:rect l="l" t="t" r="r" b="b"/>
            <a:pathLst>
              <a:path w="98756" h="0">
                <a:moveTo>
                  <a:pt x="0" y="0"/>
                </a:moveTo>
                <a:lnTo>
                  <a:pt x="98756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72184" y="1810512"/>
            <a:ext cx="9668225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Buscamos a sua empresa pelo CNPJ. Na coluna “Solicitar acesso”, selecionamos a unidade e preenchemos os dados cadastrais da nossa responsável. Ainda é tudo do nosso lado.</a:t>
            </a:r>
          </a:p>
        </p:txBody>
      </p:sp>
      <p:pic>
        <p:nvPicPr>
          <p:cNvPr id="17" name="Picture 16" descr="guia_fig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612" y="2560320"/>
            <a:ext cx="4425696" cy="2212848"/>
          </a:xfrm>
          <a:prstGeom prst="rect">
            <a:avLst/>
          </a:prstGeom>
          <a:effectLst/>
        </p:spPr>
      </p:pic>
      <p:sp>
        <p:nvSpPr>
          <p:cNvPr id="18" name="Rectangle 17"/>
          <p:cNvSpPr/>
          <p:nvPr/>
        </p:nvSpPr>
        <p:spPr>
          <a:xfrm>
            <a:off x="1150612" y="2560320"/>
            <a:ext cx="4425696" cy="2212848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150612" y="4846320"/>
            <a:ext cx="442569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Figura 8 — coluna “Solicitar acesso”.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2856" y="3140086"/>
            <a:ext cx="318650" cy="1504736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4592487" y="2921361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592487" y="2921361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1</a:t>
            </a:r>
          </a:p>
        </p:txBody>
      </p:sp>
      <p:pic>
        <p:nvPicPr>
          <p:cNvPr id="23" name="Picture 22" descr="guia_fig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5998" y="2560320"/>
            <a:ext cx="4785021" cy="2212848"/>
          </a:xfrm>
          <a:prstGeom prst="rect">
            <a:avLst/>
          </a:prstGeom>
          <a:effectLst/>
        </p:spPr>
      </p:pic>
      <p:sp>
        <p:nvSpPr>
          <p:cNvPr id="24" name="Rectangle 23"/>
          <p:cNvSpPr/>
          <p:nvPr/>
        </p:nvSpPr>
        <p:spPr>
          <a:xfrm>
            <a:off x="6435998" y="2560320"/>
            <a:ext cx="4785021" cy="2212848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35998" y="4846320"/>
            <a:ext cx="4785021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Figura 9 — janela “Dados Cadastrais” e botão “Enviar”.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83086" y="4051779"/>
            <a:ext cx="224896" cy="115068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9064361" y="3833055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064361" y="3833055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212080"/>
            <a:ext cx="10637489" cy="475488"/>
          </a:xfrm>
          <a:prstGeom prst="rect">
            <a:avLst/>
          </a:prstGeom>
          <a:solidFill>
            <a:srgbClr val="E7F6F1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77240" y="5212080"/>
            <a:ext cx="32004" cy="475488"/>
          </a:xfrm>
          <a:prstGeom prst="rect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1" name="Freeform 30"/>
          <p:cNvSpPr/>
          <p:nvPr/>
        </p:nvSpPr>
        <p:spPr>
          <a:xfrm>
            <a:off x="1047902" y="5373014"/>
            <a:ext cx="197511" cy="159106"/>
          </a:xfrm>
          <a:custGeom>
            <a:avLst/>
            <a:gdLst/>
            <a:ahLst/>
            <a:cxnLst/>
            <a:rect l="l" t="t" r="r" b="b"/>
            <a:pathLst>
              <a:path w="197511" h="159106">
                <a:moveTo>
                  <a:pt x="0" y="159106"/>
                </a:moveTo>
                <a:lnTo>
                  <a:pt x="65837" y="159106"/>
                </a:lnTo>
                <a:lnTo>
                  <a:pt x="65837" y="65837"/>
                </a:lnTo>
                <a:lnTo>
                  <a:pt x="142647" y="65837"/>
                </a:lnTo>
                <a:lnTo>
                  <a:pt x="142647" y="0"/>
                </a:lnTo>
                <a:lnTo>
                  <a:pt x="197511" y="0"/>
                </a:lnTo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235871" y="5356272"/>
            <a:ext cx="31487" cy="33485"/>
          </a:xfrm>
          <a:custGeom>
            <a:avLst/>
            <a:gdLst/>
            <a:ahLst/>
            <a:cxnLst/>
            <a:rect l="l" t="t" r="r" b="b"/>
            <a:pathLst>
              <a:path w="31487" h="33485">
                <a:moveTo>
                  <a:pt x="31487" y="16742"/>
                </a:moveTo>
                <a:lnTo>
                  <a:pt x="0" y="33485"/>
                </a:lnTo>
                <a:lnTo>
                  <a:pt x="0" y="0"/>
                </a:lnTo>
                <a:close/>
              </a:path>
            </a:pathLst>
          </a:custGeom>
          <a:solidFill>
            <a:srgbClr val="12A87B"/>
          </a:solidFill>
          <a:ln w="952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28700" y="5512917"/>
            <a:ext cx="38404" cy="38404"/>
          </a:xfrm>
          <a:prstGeom prst="ellipse">
            <a:avLst/>
          </a:prstGeom>
          <a:solidFill>
            <a:srgbClr val="FFFFFF"/>
          </a:solidFill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472184" y="5212080"/>
            <a:ext cx="9668225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Depois do envio, a solicitação fica pendente de aprovação. A sua unidade pode nos contatar por e-mail ou telefone antes de aprovar.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760720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Figura do Guia Rápido “Login Único GOV.BR — MTR Nacional/Sinir”, MMA/SINIR, v. 1.0, 05/01/2026  ·  Figuras 8 e 9.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Rota B  ·  Passo 3 de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Seu Administrador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aprova a solicitação</a:t>
            </a:r>
            <a:r>
              <a:rPr sz="2550" b="0" i="0">
                <a:solidFill>
                  <a:srgbClr val="14142E"/>
                </a:solidFill>
                <a:latin typeface="Montserrat Light"/>
              </a:rPr>
              <a:t> — e pronto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15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1828800"/>
            <a:ext cx="274320" cy="274320"/>
          </a:xfrm>
          <a:prstGeom prst="ellipse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1" y="1847088"/>
            <a:ext cx="449884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A solicitação chega para o Administrador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151" y="2103120"/>
            <a:ext cx="449884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É quem cadastrou a sua empresa no MTR Nacional.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2688336"/>
            <a:ext cx="274320" cy="274320"/>
          </a:xfrm>
          <a:prstGeom prst="ellipse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2688336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1" y="2706624"/>
            <a:ext cx="449884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Ele entra no Gerenciador de Usuários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6151" y="2962656"/>
            <a:ext cx="449884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Configurações › Meus Usuários › Gerenciador de Usuários.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547872"/>
            <a:ext cx="274320" cy="274320"/>
          </a:xfrm>
          <a:prstGeom prst="ellipse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7240" y="3547872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1" y="3566160"/>
            <a:ext cx="449884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Confere o nome e o CPF da solicitante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6151" y="3822191"/>
            <a:ext cx="449884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Ana Nunes Lucato · 142.803.138-30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4407407"/>
            <a:ext cx="274320" cy="274320"/>
          </a:xfrm>
          <a:prstGeom prst="ellipse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4407407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1" y="4425696"/>
            <a:ext cx="449884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Aprova e deixa o usuário “Ativo”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16151" y="4681728"/>
            <a:ext cx="449884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O acesso é liberado e a emissão volta ao normal.</a:t>
            </a:r>
          </a:p>
        </p:txBody>
      </p:sp>
      <p:pic>
        <p:nvPicPr>
          <p:cNvPr id="25" name="Picture 24" descr="guia_fig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47088"/>
            <a:ext cx="5056632" cy="2189730"/>
          </a:xfrm>
          <a:prstGeom prst="rect">
            <a:avLst/>
          </a:prstGeom>
          <a:effectLst/>
        </p:spPr>
      </p:pic>
      <p:sp>
        <p:nvSpPr>
          <p:cNvPr id="26" name="Rectangle 25"/>
          <p:cNvSpPr/>
          <p:nvPr/>
        </p:nvSpPr>
        <p:spPr>
          <a:xfrm>
            <a:off x="6355080" y="1847088"/>
            <a:ext cx="5056632" cy="2189730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355080" y="4109970"/>
            <a:ext cx="5056632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Figura 10 — confirmação de que a solicitação foi enviada e aguarda aprovação.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4626864"/>
            <a:ext cx="5056632" cy="512064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355080" y="4626864"/>
            <a:ext cx="32004" cy="512064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0" name="Freeform 29"/>
          <p:cNvSpPr/>
          <p:nvPr/>
        </p:nvSpPr>
        <p:spPr>
          <a:xfrm>
            <a:off x="6662962" y="4784141"/>
            <a:ext cx="134044" cy="159105"/>
          </a:xfrm>
          <a:custGeom>
            <a:avLst/>
            <a:gdLst/>
            <a:ahLst/>
            <a:cxnLst/>
            <a:rect l="l" t="t" r="r" b="b"/>
            <a:pathLst>
              <a:path w="134044" h="159105">
                <a:moveTo>
                  <a:pt x="0" y="46929"/>
                </a:moveTo>
                <a:lnTo>
                  <a:pt x="2381" y="41181"/>
                </a:lnTo>
                <a:lnTo>
                  <a:pt x="5254" y="35661"/>
                </a:lnTo>
                <a:lnTo>
                  <a:pt x="8597" y="30414"/>
                </a:lnTo>
                <a:lnTo>
                  <a:pt x="12385" y="25477"/>
                </a:lnTo>
                <a:lnTo>
                  <a:pt x="16589" y="20890"/>
                </a:lnTo>
                <a:lnTo>
                  <a:pt x="21176" y="16686"/>
                </a:lnTo>
                <a:lnTo>
                  <a:pt x="26113" y="12898"/>
                </a:lnTo>
                <a:lnTo>
                  <a:pt x="31360" y="9555"/>
                </a:lnTo>
                <a:lnTo>
                  <a:pt x="36880" y="6682"/>
                </a:lnTo>
                <a:lnTo>
                  <a:pt x="42628" y="4301"/>
                </a:lnTo>
                <a:lnTo>
                  <a:pt x="48562" y="2430"/>
                </a:lnTo>
                <a:lnTo>
                  <a:pt x="54637" y="1083"/>
                </a:lnTo>
                <a:lnTo>
                  <a:pt x="60806" y="271"/>
                </a:lnTo>
                <a:lnTo>
                  <a:pt x="67022" y="0"/>
                </a:lnTo>
                <a:lnTo>
                  <a:pt x="73238" y="271"/>
                </a:lnTo>
                <a:lnTo>
                  <a:pt x="79407" y="1083"/>
                </a:lnTo>
                <a:lnTo>
                  <a:pt x="85482" y="2430"/>
                </a:lnTo>
                <a:lnTo>
                  <a:pt x="91416" y="4301"/>
                </a:lnTo>
                <a:lnTo>
                  <a:pt x="97164" y="6682"/>
                </a:lnTo>
                <a:lnTo>
                  <a:pt x="102684" y="9555"/>
                </a:lnTo>
                <a:lnTo>
                  <a:pt x="107931" y="12898"/>
                </a:lnTo>
                <a:lnTo>
                  <a:pt x="112868" y="16686"/>
                </a:lnTo>
                <a:lnTo>
                  <a:pt x="117455" y="20890"/>
                </a:lnTo>
                <a:lnTo>
                  <a:pt x="121659" y="25477"/>
                </a:lnTo>
                <a:lnTo>
                  <a:pt x="125447" y="30414"/>
                </a:lnTo>
                <a:lnTo>
                  <a:pt x="128790" y="35661"/>
                </a:lnTo>
                <a:lnTo>
                  <a:pt x="131663" y="41181"/>
                </a:lnTo>
                <a:lnTo>
                  <a:pt x="134044" y="46929"/>
                </a:lnTo>
                <a:lnTo>
                  <a:pt x="94454" y="131673"/>
                </a:lnTo>
                <a:lnTo>
                  <a:pt x="94454" y="159105"/>
                </a:lnTo>
                <a:lnTo>
                  <a:pt x="39590" y="159105"/>
                </a:lnTo>
                <a:lnTo>
                  <a:pt x="39590" y="131673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6705295" y="4959706"/>
            <a:ext cx="49378" cy="0"/>
          </a:xfrm>
          <a:custGeom>
            <a:avLst/>
            <a:gdLst/>
            <a:ahLst/>
            <a:cxnLst/>
            <a:rect l="l" t="t" r="r" b="b"/>
            <a:pathLst>
              <a:path w="49378" h="0">
                <a:moveTo>
                  <a:pt x="0" y="0"/>
                </a:moveTo>
                <a:lnTo>
                  <a:pt x="4937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6713525" y="4981651"/>
            <a:ext cx="32918" cy="0"/>
          </a:xfrm>
          <a:custGeom>
            <a:avLst/>
            <a:gdLst/>
            <a:ahLst/>
            <a:cxnLst/>
            <a:rect l="l" t="t" r="r" b="b"/>
            <a:pathLst>
              <a:path w="32918" h="0">
                <a:moveTo>
                  <a:pt x="0" y="0"/>
                </a:moveTo>
                <a:lnTo>
                  <a:pt x="3291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6729984" y="4839005"/>
            <a:ext cx="0" cy="65837"/>
          </a:xfrm>
          <a:custGeom>
            <a:avLst/>
            <a:gdLst/>
            <a:ahLst/>
            <a:cxnLst/>
            <a:rect l="l" t="t" r="r" b="b"/>
            <a:pathLst>
              <a:path w="0" h="65837">
                <a:moveTo>
                  <a:pt x="0" y="65837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6729984" y="4836262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0" y="30175"/>
                </a:moveTo>
                <a:lnTo>
                  <a:pt x="3017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699809" y="4836262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30175" y="30175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50024" y="4626864"/>
            <a:ext cx="4087368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3A3C55"/>
                </a:solidFill>
                <a:latin typeface="Montserrat"/>
              </a:rPr>
              <a:t>Se preferir, o Administrador pode simplesmente nos cadastrar direto, pela Rota A (slides 8 a 12). O resultado é o mesmo.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94960"/>
            <a:ext cx="10637489" cy="512064"/>
          </a:xfrm>
          <a:prstGeom prst="rect">
            <a:avLst/>
          </a:prstGeom>
          <a:solidFill>
            <a:srgbClr val="E7F6F1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777240" y="5394960"/>
            <a:ext cx="32004" cy="512064"/>
          </a:xfrm>
          <a:prstGeom prst="rect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1078077" y="5560466"/>
            <a:ext cx="82296" cy="82296"/>
          </a:xfrm>
          <a:prstGeom prst="ellipse">
            <a:avLst/>
          </a:pr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0" name="Freeform 39"/>
          <p:cNvSpPr/>
          <p:nvPr/>
        </p:nvSpPr>
        <p:spPr>
          <a:xfrm>
            <a:off x="1050333" y="5667451"/>
            <a:ext cx="137786" cy="44731"/>
          </a:xfrm>
          <a:custGeom>
            <a:avLst/>
            <a:gdLst/>
            <a:ahLst/>
            <a:cxnLst/>
            <a:rect l="l" t="t" r="r" b="b"/>
            <a:pathLst>
              <a:path w="137786" h="44731">
                <a:moveTo>
                  <a:pt x="0" y="44731"/>
                </a:moveTo>
                <a:lnTo>
                  <a:pt x="2678" y="37921"/>
                </a:lnTo>
                <a:lnTo>
                  <a:pt x="6294" y="31428"/>
                </a:lnTo>
                <a:lnTo>
                  <a:pt x="10794" y="25344"/>
                </a:lnTo>
                <a:lnTo>
                  <a:pt x="16117" y="19755"/>
                </a:lnTo>
                <a:lnTo>
                  <a:pt x="22186" y="14741"/>
                </a:lnTo>
                <a:lnTo>
                  <a:pt x="28915" y="10371"/>
                </a:lnTo>
                <a:lnTo>
                  <a:pt x="36210" y="6709"/>
                </a:lnTo>
                <a:lnTo>
                  <a:pt x="43968" y="3805"/>
                </a:lnTo>
                <a:lnTo>
                  <a:pt x="52078" y="1701"/>
                </a:lnTo>
                <a:lnTo>
                  <a:pt x="60425" y="427"/>
                </a:lnTo>
                <a:lnTo>
                  <a:pt x="68893" y="0"/>
                </a:lnTo>
                <a:lnTo>
                  <a:pt x="77360" y="427"/>
                </a:lnTo>
                <a:lnTo>
                  <a:pt x="85708" y="1701"/>
                </a:lnTo>
                <a:lnTo>
                  <a:pt x="93818" y="3805"/>
                </a:lnTo>
                <a:lnTo>
                  <a:pt x="101575" y="6709"/>
                </a:lnTo>
                <a:lnTo>
                  <a:pt x="108870" y="10371"/>
                </a:lnTo>
                <a:lnTo>
                  <a:pt x="115599" y="14741"/>
                </a:lnTo>
                <a:lnTo>
                  <a:pt x="121668" y="19755"/>
                </a:lnTo>
                <a:lnTo>
                  <a:pt x="126991" y="25344"/>
                </a:lnTo>
                <a:lnTo>
                  <a:pt x="131491" y="31428"/>
                </a:lnTo>
                <a:lnTo>
                  <a:pt x="135107" y="37921"/>
                </a:lnTo>
                <a:lnTo>
                  <a:pt x="137786" y="44731"/>
                </a:lnTo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1190549" y="5667451"/>
            <a:ext cx="82296" cy="60351"/>
          </a:xfrm>
          <a:custGeom>
            <a:avLst/>
            <a:gdLst/>
            <a:ahLst/>
            <a:cxnLst/>
            <a:rect l="l" t="t" r="r" b="b"/>
            <a:pathLst>
              <a:path w="82296" h="60351">
                <a:moveTo>
                  <a:pt x="0" y="32919"/>
                </a:moveTo>
                <a:lnTo>
                  <a:pt x="27432" y="60351"/>
                </a:lnTo>
                <a:lnTo>
                  <a:pt x="82296" y="0"/>
                </a:lnTo>
              </a:path>
            </a:pathLst>
          </a:custGeom>
          <a:noFill/>
          <a:ln w="18256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72184" y="5394960"/>
            <a:ext cx="9668225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Aprovado o acesso, nos avise: testamos na hora e retomamos a emissão dos seus MTRs.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5943600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Figura do Guia Rápido “Login Único GOV.BR — MTR Nacional/Sinir”, MMA/SINIR, v. 1.0, 05/01/2026  ·  Figura 10.  [PRINT PENDENTE — tela de aprovação da solicitação]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Caso especial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Se a sua empresa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ainda não existe no MTR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10512"/>
            <a:ext cx="10637489" cy="548640"/>
          </a:xfrm>
          <a:prstGeom prst="rect">
            <a:avLst/>
          </a:prstGeom>
          <a:solidFill>
            <a:srgbClr val="FDF4E3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1810512"/>
            <a:ext cx="32004" cy="548640"/>
          </a:xfrm>
          <a:prstGeom prst="rect">
            <a:avLst/>
          </a:prstGeom>
          <a:solidFill>
            <a:srgbClr val="B08535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Freeform 10"/>
          <p:cNvSpPr/>
          <p:nvPr/>
        </p:nvSpPr>
        <p:spPr>
          <a:xfrm>
            <a:off x="1034186" y="1975104"/>
            <a:ext cx="235916" cy="208483"/>
          </a:xfrm>
          <a:custGeom>
            <a:avLst/>
            <a:gdLst/>
            <a:ahLst/>
            <a:cxnLst/>
            <a:rect l="l" t="t" r="r" b="b"/>
            <a:pathLst>
              <a:path w="235916" h="208483">
                <a:moveTo>
                  <a:pt x="117958" y="0"/>
                </a:moveTo>
                <a:lnTo>
                  <a:pt x="235916" y="208483"/>
                </a:lnTo>
                <a:lnTo>
                  <a:pt x="0" y="208483"/>
                </a:lnTo>
                <a:close/>
              </a:path>
            </a:pathLst>
          </a:custGeom>
          <a:noFill/>
          <a:ln w="15875" cap="rnd">
            <a:solidFill>
              <a:srgbClr val="B08535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152144" y="2051914"/>
            <a:ext cx="0" cy="65836"/>
          </a:xfrm>
          <a:custGeom>
            <a:avLst/>
            <a:gdLst/>
            <a:ahLst/>
            <a:cxnLst/>
            <a:rect l="l" t="t" r="r" b="b"/>
            <a:pathLst>
              <a:path w="0" h="65836">
                <a:moveTo>
                  <a:pt x="0" y="0"/>
                </a:moveTo>
                <a:lnTo>
                  <a:pt x="0" y="65836"/>
                </a:lnTo>
              </a:path>
            </a:pathLst>
          </a:custGeom>
          <a:noFill/>
          <a:ln w="18256" cap="rnd">
            <a:solidFill>
              <a:srgbClr val="B08535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41856" y="2139010"/>
            <a:ext cx="20574" cy="20574"/>
          </a:xfrm>
          <a:prstGeom prst="ellipse">
            <a:avLst/>
          </a:prstGeom>
          <a:solidFill>
            <a:srgbClr val="B08535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472184" y="1810512"/>
            <a:ext cx="9668225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Se a busca não encontrar o CNPJ, o empreendimento ainda não está cadastrado. O próprio sistema oferece o cadastro — e quem o solicita passa a ser o Administrador da unidade.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2478024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86384" y="2478024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1</a:t>
            </a:r>
          </a:p>
        </p:txBody>
      </p:sp>
      <p:pic>
        <p:nvPicPr>
          <p:cNvPr id="17" name="Picture 16" descr="guia_fig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816352"/>
            <a:ext cx="3392424" cy="1610523"/>
          </a:xfrm>
          <a:prstGeom prst="rect">
            <a:avLst/>
          </a:prstGeom>
          <a:effectLst/>
        </p:spPr>
      </p:pic>
      <p:sp>
        <p:nvSpPr>
          <p:cNvPr id="18" name="Rectangle 17"/>
          <p:cNvSpPr/>
          <p:nvPr/>
        </p:nvSpPr>
        <p:spPr>
          <a:xfrm>
            <a:off x="777240" y="2816352"/>
            <a:ext cx="3392424" cy="1610523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7240" y="4626864"/>
            <a:ext cx="3392424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80" b="0" i="0">
                <a:solidFill>
                  <a:srgbClr val="3A3C55"/>
                </a:solidFill>
                <a:latin typeface="Montserrat"/>
              </a:rPr>
              <a:t>Informe o CPF ou CNPJ na janela “Pesquisar Empreendimento”.</a:t>
            </a:r>
          </a:p>
        </p:txBody>
      </p:sp>
      <p:sp>
        <p:nvSpPr>
          <p:cNvPr id="20" name="Oval 19"/>
          <p:cNvSpPr/>
          <p:nvPr/>
        </p:nvSpPr>
        <p:spPr>
          <a:xfrm>
            <a:off x="4416551" y="2478024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416551" y="2478024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2</a:t>
            </a:r>
          </a:p>
        </p:txBody>
      </p:sp>
      <p:pic>
        <p:nvPicPr>
          <p:cNvPr id="22" name="Picture 21" descr="guia_fig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7407" y="2816352"/>
            <a:ext cx="3392424" cy="1608385"/>
          </a:xfrm>
          <a:prstGeom prst="rect">
            <a:avLst/>
          </a:prstGeom>
          <a:effectLst/>
        </p:spPr>
      </p:pic>
      <p:sp>
        <p:nvSpPr>
          <p:cNvPr id="23" name="Rectangle 22"/>
          <p:cNvSpPr/>
          <p:nvPr/>
        </p:nvSpPr>
        <p:spPr>
          <a:xfrm>
            <a:off x="4407407" y="2816352"/>
            <a:ext cx="3392424" cy="1608385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897360" y="3707236"/>
            <a:ext cx="408447" cy="71894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407407" y="4626864"/>
            <a:ext cx="3392424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80" b="0" i="0">
                <a:solidFill>
                  <a:srgbClr val="3A3C55"/>
                </a:solidFill>
                <a:latin typeface="Montserrat"/>
              </a:rPr>
              <a:t>Não localizado: clique em “Cadastrar Empreendimento”.</a:t>
            </a:r>
          </a:p>
        </p:txBody>
      </p:sp>
      <p:sp>
        <p:nvSpPr>
          <p:cNvPr id="26" name="Oval 25"/>
          <p:cNvSpPr/>
          <p:nvPr/>
        </p:nvSpPr>
        <p:spPr>
          <a:xfrm>
            <a:off x="8046719" y="2478024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046719" y="2478024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3</a:t>
            </a:r>
          </a:p>
        </p:txBody>
      </p:sp>
      <p:pic>
        <p:nvPicPr>
          <p:cNvPr id="28" name="Picture 27" descr="guia_fig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76313" y="2816352"/>
            <a:ext cx="1714948" cy="1700784"/>
          </a:xfrm>
          <a:prstGeom prst="rect">
            <a:avLst/>
          </a:prstGeom>
          <a:effectLst/>
        </p:spPr>
      </p:pic>
      <p:sp>
        <p:nvSpPr>
          <p:cNvPr id="29" name="Rectangle 28"/>
          <p:cNvSpPr/>
          <p:nvPr/>
        </p:nvSpPr>
        <p:spPr>
          <a:xfrm>
            <a:off x="8876313" y="2816352"/>
            <a:ext cx="1714948" cy="1700784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612026" y="4296034"/>
            <a:ext cx="154345" cy="45921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037575" y="4626864"/>
            <a:ext cx="3392424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80" b="0" i="0">
                <a:solidFill>
                  <a:srgbClr val="3A3C55"/>
                </a:solidFill>
                <a:latin typeface="Montserrat"/>
              </a:rPr>
              <a:t>Preencha o formulário e clique em “Solicitar Acesso”.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5266944"/>
            <a:ext cx="10637489" cy="56692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777240" y="5266944"/>
            <a:ext cx="32004" cy="56692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4" name="Freeform 33"/>
          <p:cNvSpPr/>
          <p:nvPr/>
        </p:nvSpPr>
        <p:spPr>
          <a:xfrm>
            <a:off x="1058875" y="5435194"/>
            <a:ext cx="186538" cy="230428"/>
          </a:xfrm>
          <a:custGeom>
            <a:avLst/>
            <a:gdLst/>
            <a:ahLst/>
            <a:cxnLst/>
            <a:rect l="l" t="t" r="r" b="b"/>
            <a:pathLst>
              <a:path w="186538" h="230428">
                <a:moveTo>
                  <a:pt x="93269" y="0"/>
                </a:moveTo>
                <a:lnTo>
                  <a:pt x="186538" y="38404"/>
                </a:lnTo>
                <a:lnTo>
                  <a:pt x="186538" y="120700"/>
                </a:lnTo>
                <a:lnTo>
                  <a:pt x="93269" y="230428"/>
                </a:lnTo>
                <a:lnTo>
                  <a:pt x="0" y="120700"/>
                </a:lnTo>
                <a:lnTo>
                  <a:pt x="0" y="38404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1110996" y="5512003"/>
            <a:ext cx="87782" cy="65837"/>
          </a:xfrm>
          <a:custGeom>
            <a:avLst/>
            <a:gdLst/>
            <a:ahLst/>
            <a:cxnLst/>
            <a:rect l="l" t="t" r="r" b="b"/>
            <a:pathLst>
              <a:path w="87782" h="65837">
                <a:moveTo>
                  <a:pt x="0" y="32919"/>
                </a:moveTo>
                <a:lnTo>
                  <a:pt x="30175" y="65837"/>
                </a:lnTo>
                <a:lnTo>
                  <a:pt x="87782" y="0"/>
                </a:lnTo>
              </a:path>
            </a:pathLst>
          </a:custGeom>
          <a:noFill/>
          <a:ln w="1746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72184" y="5266944"/>
            <a:ext cx="9668225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Atenção: a pessoa que solicitar o cadastro fica responsável pela gestão de acessos e pela aprovação dos novos usuários da unidade. Escolha bem quem fará isso.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961888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Figura do Guia Rápido “Login Único GOV.BR — MTR Nacional/Sinir”, MMA/SINIR, v. 1.0, 05/01/2026  ·  Figuras 12, 13 e 15.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Alternativa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Se preferir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repassar o login e a senha Gov.br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5172440" cy="3054096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5172440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106241" y="2194377"/>
            <a:ext cx="143012" cy="143012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150406" y="2238542"/>
            <a:ext cx="54681" cy="54681"/>
          </a:xfrm>
          <a:prstGeom prst="ellipse">
            <a:avLst/>
          </a:pr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3" name="Freeform 12"/>
          <p:cNvSpPr/>
          <p:nvPr/>
        </p:nvSpPr>
        <p:spPr>
          <a:xfrm>
            <a:off x="1228222" y="2316358"/>
            <a:ext cx="185075" cy="185075"/>
          </a:xfrm>
          <a:custGeom>
            <a:avLst/>
            <a:gdLst/>
            <a:ahLst/>
            <a:cxnLst/>
            <a:rect l="l" t="t" r="r" b="b"/>
            <a:pathLst>
              <a:path w="185075" h="185075">
                <a:moveTo>
                  <a:pt x="0" y="0"/>
                </a:moveTo>
                <a:lnTo>
                  <a:pt x="185075" y="185075"/>
                </a:lnTo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295522" y="2434133"/>
            <a:ext cx="50475" cy="50475"/>
          </a:xfrm>
          <a:custGeom>
            <a:avLst/>
            <a:gdLst/>
            <a:ahLst/>
            <a:cxnLst/>
            <a:rect l="l" t="t" r="r" b="b"/>
            <a:pathLst>
              <a:path w="50475" h="50475">
                <a:moveTo>
                  <a:pt x="50475" y="0"/>
                </a:moveTo>
                <a:lnTo>
                  <a:pt x="0" y="50475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337584" y="2476195"/>
            <a:ext cx="50475" cy="50475"/>
          </a:xfrm>
          <a:custGeom>
            <a:avLst/>
            <a:gdLst/>
            <a:ahLst/>
            <a:cxnLst/>
            <a:rect l="l" t="t" r="r" b="b"/>
            <a:pathLst>
              <a:path w="50475" h="50475">
                <a:moveTo>
                  <a:pt x="50475" y="0"/>
                </a:moveTo>
                <a:lnTo>
                  <a:pt x="0" y="50475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706624"/>
            <a:ext cx="462380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0" i="0">
                <a:solidFill>
                  <a:srgbClr val="14142E"/>
                </a:solidFill>
                <a:latin typeface="Montserrat Light"/>
              </a:rPr>
              <a:t>Como funcionaria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51560" y="3328416"/>
            <a:ext cx="4623800" cy="0"/>
          </a:xfrm>
          <a:prstGeom prst="line">
            <a:avLst/>
          </a:prstGeom>
          <a:ln w="12700" cap="rnd">
            <a:solidFill>
              <a:srgbClr val="DFE2F0"/>
            </a:solidFill>
            <a:round/>
          </a:ln>
          <a:effectLst/>
        </p:spPr>
      </p:cxnSp>
      <p:sp>
        <p:nvSpPr>
          <p:cNvPr id="18" name="Oval 17"/>
          <p:cNvSpPr/>
          <p:nvPr/>
        </p:nvSpPr>
        <p:spPr>
          <a:xfrm>
            <a:off x="1051560" y="3526926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39926" y="3493008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Você nos informa o CPF e a senha da conta Gov.br do responsável.</a:t>
            </a:r>
          </a:p>
        </p:txBody>
      </p:sp>
      <p:sp>
        <p:nvSpPr>
          <p:cNvPr id="20" name="Oval 19"/>
          <p:cNvSpPr/>
          <p:nvPr/>
        </p:nvSpPr>
        <p:spPr>
          <a:xfrm>
            <a:off x="1051560" y="3940641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39926" y="3906723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Acessamos o MTR Nacional com essas credenciais.</a:t>
            </a:r>
          </a:p>
        </p:txBody>
      </p:sp>
      <p:sp>
        <p:nvSpPr>
          <p:cNvPr id="22" name="Oval 21"/>
          <p:cNvSpPr/>
          <p:nvPr/>
        </p:nvSpPr>
        <p:spPr>
          <a:xfrm>
            <a:off x="1051560" y="4198298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39926" y="4164380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Seguimos emitindo os MTRs como antes.</a:t>
            </a:r>
          </a:p>
        </p:txBody>
      </p:sp>
      <p:sp>
        <p:nvSpPr>
          <p:cNvPr id="24" name="Oval 23"/>
          <p:cNvSpPr/>
          <p:nvPr/>
        </p:nvSpPr>
        <p:spPr>
          <a:xfrm>
            <a:off x="1051560" y="4455956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239926" y="4422038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Nada muda na sua rotina.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42288" y="1847088"/>
            <a:ext cx="5172440" cy="3054096"/>
          </a:xfrm>
          <a:prstGeom prst="rect">
            <a:avLst/>
          </a:prstGeom>
          <a:solidFill>
            <a:srgbClr val="FCEDE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42288" y="1847088"/>
            <a:ext cx="5172440" cy="50292"/>
          </a:xfrm>
          <a:prstGeom prst="rect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8" name="Freeform 27"/>
          <p:cNvSpPr/>
          <p:nvPr/>
        </p:nvSpPr>
        <p:spPr>
          <a:xfrm>
            <a:off x="6546052" y="2181758"/>
            <a:ext cx="361737" cy="319675"/>
          </a:xfrm>
          <a:custGeom>
            <a:avLst/>
            <a:gdLst/>
            <a:ahLst/>
            <a:cxnLst/>
            <a:rect l="l" t="t" r="r" b="b"/>
            <a:pathLst>
              <a:path w="361737" h="319675">
                <a:moveTo>
                  <a:pt x="180869" y="0"/>
                </a:moveTo>
                <a:lnTo>
                  <a:pt x="361737" y="319675"/>
                </a:lnTo>
                <a:lnTo>
                  <a:pt x="0" y="319675"/>
                </a:lnTo>
                <a:close/>
              </a:path>
            </a:pathLst>
          </a:cu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6726921" y="2299533"/>
            <a:ext cx="0" cy="100950"/>
          </a:xfrm>
          <a:custGeom>
            <a:avLst/>
            <a:gdLst/>
            <a:ahLst/>
            <a:cxnLst/>
            <a:rect l="l" t="t" r="r" b="b"/>
            <a:pathLst>
              <a:path w="0" h="100950">
                <a:moveTo>
                  <a:pt x="0" y="0"/>
                </a:moveTo>
                <a:lnTo>
                  <a:pt x="0" y="100950"/>
                </a:lnTo>
              </a:path>
            </a:pathLst>
          </a:custGeom>
          <a:noFill/>
          <a:ln w="18256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711147" y="2433081"/>
            <a:ext cx="31546" cy="31546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16608" y="2706624"/>
            <a:ext cx="462380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0" i="0">
                <a:solidFill>
                  <a:srgbClr val="14142E"/>
                </a:solidFill>
                <a:latin typeface="Montserrat Light"/>
              </a:rPr>
              <a:t>Antes de decidir, considere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16608" y="3328416"/>
            <a:ext cx="4623801" cy="0"/>
          </a:xfrm>
          <a:prstGeom prst="line">
            <a:avLst/>
          </a:prstGeom>
          <a:ln w="12700" cap="rnd">
            <a:solidFill>
              <a:srgbClr val="DFE2F0"/>
            </a:solidFill>
            <a:round/>
          </a:ln>
          <a:effectLst/>
        </p:spPr>
      </p:cxnSp>
      <p:sp>
        <p:nvSpPr>
          <p:cNvPr id="33" name="Oval 32"/>
          <p:cNvSpPr/>
          <p:nvPr/>
        </p:nvSpPr>
        <p:spPr>
          <a:xfrm>
            <a:off x="6516608" y="3526926"/>
            <a:ext cx="69494" cy="6949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704975" y="3493008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A conta Gov.br é pessoal e intransferível.</a:t>
            </a:r>
          </a:p>
        </p:txBody>
      </p:sp>
      <p:sp>
        <p:nvSpPr>
          <p:cNvPr id="35" name="Oval 34"/>
          <p:cNvSpPr/>
          <p:nvPr/>
        </p:nvSpPr>
        <p:spPr>
          <a:xfrm>
            <a:off x="6516608" y="3784583"/>
            <a:ext cx="69494" cy="6949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704975" y="3750665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A mesma senha abre outros serviços do governo em nome do titular.</a:t>
            </a:r>
          </a:p>
        </p:txBody>
      </p:sp>
      <p:sp>
        <p:nvSpPr>
          <p:cNvPr id="37" name="Oval 36"/>
          <p:cNvSpPr/>
          <p:nvPr/>
        </p:nvSpPr>
        <p:spPr>
          <a:xfrm>
            <a:off x="6516608" y="4198298"/>
            <a:ext cx="69494" cy="6949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704975" y="4164380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Toda ação fica registrada como se fosse o próprio titular.</a:t>
            </a:r>
          </a:p>
        </p:txBody>
      </p:sp>
      <p:sp>
        <p:nvSpPr>
          <p:cNvPr id="39" name="Oval 38"/>
          <p:cNvSpPr/>
          <p:nvPr/>
        </p:nvSpPr>
        <p:spPr>
          <a:xfrm>
            <a:off x="6516608" y="4455956"/>
            <a:ext cx="69494" cy="6949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704975" y="4422038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Uma troca de senha derruba o nosso acesso sem aviso.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5010912"/>
            <a:ext cx="10637489" cy="694944"/>
          </a:xfrm>
          <a:prstGeom prst="rect">
            <a:avLst/>
          </a:prstGeom>
          <a:solidFill>
            <a:srgbClr val="E7F6F1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777240" y="5010912"/>
            <a:ext cx="32004" cy="694944"/>
          </a:xfrm>
          <a:prstGeom prst="rect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3" name="Freeform 42"/>
          <p:cNvSpPr/>
          <p:nvPr/>
        </p:nvSpPr>
        <p:spPr>
          <a:xfrm>
            <a:off x="1058875" y="5243170"/>
            <a:ext cx="186538" cy="230428"/>
          </a:xfrm>
          <a:custGeom>
            <a:avLst/>
            <a:gdLst/>
            <a:ahLst/>
            <a:cxnLst/>
            <a:rect l="l" t="t" r="r" b="b"/>
            <a:pathLst>
              <a:path w="186538" h="230428">
                <a:moveTo>
                  <a:pt x="93269" y="0"/>
                </a:moveTo>
                <a:lnTo>
                  <a:pt x="186538" y="38404"/>
                </a:lnTo>
                <a:lnTo>
                  <a:pt x="186538" y="120700"/>
                </a:lnTo>
                <a:lnTo>
                  <a:pt x="93269" y="230428"/>
                </a:lnTo>
                <a:lnTo>
                  <a:pt x="0" y="120700"/>
                </a:lnTo>
                <a:lnTo>
                  <a:pt x="0" y="38404"/>
                </a:lnTo>
                <a:close/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1110996" y="5319979"/>
            <a:ext cx="87782" cy="65837"/>
          </a:xfrm>
          <a:custGeom>
            <a:avLst/>
            <a:gdLst/>
            <a:ahLst/>
            <a:cxnLst/>
            <a:rect l="l" t="t" r="r" b="b"/>
            <a:pathLst>
              <a:path w="87782" h="65837">
                <a:moveTo>
                  <a:pt x="0" y="32919"/>
                </a:moveTo>
                <a:lnTo>
                  <a:pt x="30175" y="65837"/>
                </a:lnTo>
                <a:lnTo>
                  <a:pt x="87782" y="0"/>
                </a:lnTo>
              </a:path>
            </a:pathLst>
          </a:custGeom>
          <a:noFill/>
          <a:ln w="17462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472184" y="5010912"/>
            <a:ext cx="9668225" cy="6949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019" b="0" i="0">
                <a:solidFill>
                  <a:srgbClr val="3A3C55"/>
                </a:solidFill>
                <a:latin typeface="Montserrat"/>
              </a:rPr>
              <a:t>Nossa recomendação: prefira a Rota A ou a Rota B. O resultado prático é o mesmo — nós emitimos os seus MTRs — sem expor a conta pessoal do responsável e sem depender da senha dele.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5797296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A decisão é da sua empresa. Seguiremos a orientação que você nos der, por escrito.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Perguntas frequentes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O que mais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costuma gerar dúvida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5181584" cy="120700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32004" cy="120700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33271" y="2029968"/>
            <a:ext cx="466952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19" b="0" i="0">
                <a:solidFill>
                  <a:srgbClr val="14142E"/>
                </a:solidFill>
                <a:latin typeface="Montserrat SemiBold"/>
              </a:rPr>
              <a:t>Vou perder meu cadastro e meu histórico?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2450592"/>
            <a:ext cx="466952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Não. A mudança é na forma de entrar. Cadastro da empresa, unidades e MTRs já emitidos continuam.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144" y="1847088"/>
            <a:ext cx="5181584" cy="120700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233144" y="1847088"/>
            <a:ext cx="32004" cy="120700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89176" y="2029968"/>
            <a:ext cx="466952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19" b="0" i="0">
                <a:solidFill>
                  <a:srgbClr val="14142E"/>
                </a:solidFill>
                <a:latin typeface="Montserrat SemiBold"/>
              </a:rPr>
              <a:t>Minha senha antiga do MTR ainda funciona?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176" y="2450592"/>
            <a:ext cx="466952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Não. Desde 01/08/2026 o acesso é apenas pelo Login Único Gov.br.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200400"/>
            <a:ext cx="5181584" cy="120700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777240" y="3200400"/>
            <a:ext cx="32004" cy="120700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33271" y="3383280"/>
            <a:ext cx="466952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19" b="0" i="0">
                <a:solidFill>
                  <a:srgbClr val="14142E"/>
                </a:solidFill>
                <a:latin typeface="Montserrat SemiBold"/>
              </a:rPr>
              <a:t>Autorizar vocês dá acesso a mais alguma coisa?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1" y="3803904"/>
            <a:ext cx="466952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Não. O acesso vale só para a unidade autorizada e pode ser retirado quando você quiser.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144" y="3200400"/>
            <a:ext cx="5181584" cy="120700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233144" y="3200400"/>
            <a:ext cx="32004" cy="120700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89176" y="3383280"/>
            <a:ext cx="466952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19" b="0" i="0">
                <a:solidFill>
                  <a:srgbClr val="14142E"/>
                </a:solidFill>
                <a:latin typeface="Montserrat SemiBold"/>
              </a:rPr>
              <a:t>Preciso marcar “Administrador” para vocês?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9176" y="3803904"/>
            <a:ext cx="466952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Não é obrigatório. Marque se quiser que a gente também cuide da gestão de acessos da unidade.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553712"/>
            <a:ext cx="5181584" cy="120700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777240" y="4553712"/>
            <a:ext cx="32004" cy="120700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33271" y="4736592"/>
            <a:ext cx="466952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19" b="0" i="0">
                <a:solidFill>
                  <a:srgbClr val="14142E"/>
                </a:solidFill>
                <a:latin typeface="Montserrat SemiBold"/>
              </a:rPr>
              <a:t>Mais de uma pessoa pode ter acesso?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1" y="5157216"/>
            <a:ext cx="466952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Sim. O Administrador cadastra quantos usuários precisar, cada um com o seu CPF.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3144" y="4553712"/>
            <a:ext cx="5181584" cy="120700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233144" y="4553712"/>
            <a:ext cx="32004" cy="120700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89176" y="4736592"/>
            <a:ext cx="466952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19" b="0" i="0">
                <a:solidFill>
                  <a:srgbClr val="14142E"/>
                </a:solidFill>
                <a:latin typeface="Montserrat SemiBold"/>
              </a:rPr>
              <a:t>Quem tira dúvidas sobre o sistema?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89176" y="5157216"/>
            <a:ext cx="466952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O canal oficial do módulo MTR Nacional é mtr.sinir@mma.gov.br. Nossa equipe também apoia.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Pontos de atenção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Situação e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o que fazer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65376"/>
            <a:ext cx="10637489" cy="676656"/>
          </a:xfrm>
          <a:prstGeom prst="rect">
            <a:avLst/>
          </a:prstGeom>
          <a:solidFill>
            <a:srgbClr val="EEF0F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Freeform 9"/>
          <p:cNvSpPr/>
          <p:nvPr/>
        </p:nvSpPr>
        <p:spPr>
          <a:xfrm>
            <a:off x="997610" y="2075688"/>
            <a:ext cx="235916" cy="208483"/>
          </a:xfrm>
          <a:custGeom>
            <a:avLst/>
            <a:gdLst/>
            <a:ahLst/>
            <a:cxnLst/>
            <a:rect l="l" t="t" r="r" b="b"/>
            <a:pathLst>
              <a:path w="235916" h="208483">
                <a:moveTo>
                  <a:pt x="117958" y="0"/>
                </a:moveTo>
                <a:lnTo>
                  <a:pt x="235916" y="208483"/>
                </a:lnTo>
                <a:lnTo>
                  <a:pt x="0" y="208483"/>
                </a:lnTo>
                <a:close/>
              </a:path>
            </a:pathLst>
          </a:cu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115568" y="2152498"/>
            <a:ext cx="0" cy="65836"/>
          </a:xfrm>
          <a:custGeom>
            <a:avLst/>
            <a:gdLst/>
            <a:ahLst/>
            <a:cxnLst/>
            <a:rect l="l" t="t" r="r" b="b"/>
            <a:pathLst>
              <a:path w="0" h="65836">
                <a:moveTo>
                  <a:pt x="0" y="0"/>
                </a:moveTo>
                <a:lnTo>
                  <a:pt x="0" y="65836"/>
                </a:lnTo>
              </a:path>
            </a:pathLst>
          </a:custGeom>
          <a:noFill/>
          <a:ln w="18256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5281" y="2239594"/>
            <a:ext cx="20574" cy="2057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417319" y="1956816"/>
            <a:ext cx="461772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A senha antiga do MTR não funciona mais</a:t>
            </a:r>
          </a:p>
        </p:txBody>
      </p:sp>
      <p:sp>
        <p:nvSpPr>
          <p:cNvPr id="14" name="Freeform 13"/>
          <p:cNvSpPr/>
          <p:nvPr/>
        </p:nvSpPr>
        <p:spPr>
          <a:xfrm>
            <a:off x="6172200" y="2203704"/>
            <a:ext cx="274320" cy="0"/>
          </a:xfrm>
          <a:custGeom>
            <a:avLst/>
            <a:gdLst/>
            <a:ahLst/>
            <a:cxnLst/>
            <a:rect l="l" t="t" r="r" b="b"/>
            <a:pathLst>
              <a:path w="274320" h="0">
                <a:moveTo>
                  <a:pt x="0" y="0"/>
                </a:moveTo>
                <a:lnTo>
                  <a:pt x="274320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6390004" y="2173654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956816"/>
            <a:ext cx="4602449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É esperado. Entre pelo botão “Entrar com GOV.BR” com a senha da conta Gov.br.</a:t>
            </a:r>
          </a:p>
        </p:txBody>
      </p:sp>
      <p:sp>
        <p:nvSpPr>
          <p:cNvPr id="17" name="Freeform 16"/>
          <p:cNvSpPr/>
          <p:nvPr/>
        </p:nvSpPr>
        <p:spPr>
          <a:xfrm>
            <a:off x="997610" y="2825496"/>
            <a:ext cx="235916" cy="208483"/>
          </a:xfrm>
          <a:custGeom>
            <a:avLst/>
            <a:gdLst/>
            <a:ahLst/>
            <a:cxnLst/>
            <a:rect l="l" t="t" r="r" b="b"/>
            <a:pathLst>
              <a:path w="235916" h="208483">
                <a:moveTo>
                  <a:pt x="117958" y="0"/>
                </a:moveTo>
                <a:lnTo>
                  <a:pt x="235916" y="208483"/>
                </a:lnTo>
                <a:lnTo>
                  <a:pt x="0" y="208483"/>
                </a:lnTo>
                <a:close/>
              </a:path>
            </a:pathLst>
          </a:cu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115568" y="2902306"/>
            <a:ext cx="0" cy="65836"/>
          </a:xfrm>
          <a:custGeom>
            <a:avLst/>
            <a:gdLst/>
            <a:ahLst/>
            <a:cxnLst/>
            <a:rect l="l" t="t" r="r" b="b"/>
            <a:pathLst>
              <a:path w="0" h="65836">
                <a:moveTo>
                  <a:pt x="0" y="0"/>
                </a:moveTo>
                <a:lnTo>
                  <a:pt x="0" y="65836"/>
                </a:lnTo>
              </a:path>
            </a:pathLst>
          </a:custGeom>
          <a:noFill/>
          <a:ln w="18256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05281" y="2989402"/>
            <a:ext cx="20574" cy="2057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417319" y="2706624"/>
            <a:ext cx="461772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O responsável ainda não tem conta Gov.br</a:t>
            </a:r>
          </a:p>
        </p:txBody>
      </p:sp>
      <p:sp>
        <p:nvSpPr>
          <p:cNvPr id="21" name="Freeform 20"/>
          <p:cNvSpPr/>
          <p:nvPr/>
        </p:nvSpPr>
        <p:spPr>
          <a:xfrm>
            <a:off x="6172200" y="2953512"/>
            <a:ext cx="274320" cy="0"/>
          </a:xfrm>
          <a:custGeom>
            <a:avLst/>
            <a:gdLst/>
            <a:ahLst/>
            <a:cxnLst/>
            <a:rect l="l" t="t" r="r" b="b"/>
            <a:pathLst>
              <a:path w="274320" h="0">
                <a:moveTo>
                  <a:pt x="0" y="0"/>
                </a:moveTo>
                <a:lnTo>
                  <a:pt x="274320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6390004" y="2923462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92824" y="2706624"/>
            <a:ext cx="4602449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Crie em gov.br antes de tudo. E-mails Outlook, Hotmail e Live não são aceitos no momento.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364991"/>
            <a:ext cx="10637489" cy="676656"/>
          </a:xfrm>
          <a:prstGeom prst="rect">
            <a:avLst/>
          </a:prstGeom>
          <a:solidFill>
            <a:srgbClr val="EEF0F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Freeform 24"/>
          <p:cNvSpPr/>
          <p:nvPr/>
        </p:nvSpPr>
        <p:spPr>
          <a:xfrm>
            <a:off x="997610" y="3575304"/>
            <a:ext cx="235916" cy="208483"/>
          </a:xfrm>
          <a:custGeom>
            <a:avLst/>
            <a:gdLst/>
            <a:ahLst/>
            <a:cxnLst/>
            <a:rect l="l" t="t" r="r" b="b"/>
            <a:pathLst>
              <a:path w="235916" h="208483">
                <a:moveTo>
                  <a:pt x="117958" y="0"/>
                </a:moveTo>
                <a:lnTo>
                  <a:pt x="235916" y="208483"/>
                </a:lnTo>
                <a:lnTo>
                  <a:pt x="0" y="208483"/>
                </a:lnTo>
                <a:close/>
              </a:path>
            </a:pathLst>
          </a:cu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115568" y="3652114"/>
            <a:ext cx="0" cy="65836"/>
          </a:xfrm>
          <a:custGeom>
            <a:avLst/>
            <a:gdLst/>
            <a:ahLst/>
            <a:cxnLst/>
            <a:rect l="l" t="t" r="r" b="b"/>
            <a:pathLst>
              <a:path w="0" h="65836">
                <a:moveTo>
                  <a:pt x="0" y="0"/>
                </a:moveTo>
                <a:lnTo>
                  <a:pt x="0" y="65836"/>
                </a:lnTo>
              </a:path>
            </a:pathLst>
          </a:custGeom>
          <a:noFill/>
          <a:ln w="18256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05281" y="3739210"/>
            <a:ext cx="20574" cy="2057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417319" y="3456432"/>
            <a:ext cx="461772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Não aparece o menu Configurações</a:t>
            </a:r>
          </a:p>
        </p:txBody>
      </p:sp>
      <p:sp>
        <p:nvSpPr>
          <p:cNvPr id="29" name="Freeform 28"/>
          <p:cNvSpPr/>
          <p:nvPr/>
        </p:nvSpPr>
        <p:spPr>
          <a:xfrm>
            <a:off x="6172200" y="3703320"/>
            <a:ext cx="274320" cy="0"/>
          </a:xfrm>
          <a:custGeom>
            <a:avLst/>
            <a:gdLst/>
            <a:ahLst/>
            <a:cxnLst/>
            <a:rect l="l" t="t" r="r" b="b"/>
            <a:pathLst>
              <a:path w="274320" h="0">
                <a:moveTo>
                  <a:pt x="0" y="0"/>
                </a:moveTo>
                <a:lnTo>
                  <a:pt x="274320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6390004" y="3673270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92824" y="3456432"/>
            <a:ext cx="4602449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Esse login não é Administrador da unidade. Procure quem cadastrou a empresa no MTR.</a:t>
            </a:r>
          </a:p>
        </p:txBody>
      </p:sp>
      <p:sp>
        <p:nvSpPr>
          <p:cNvPr id="32" name="Freeform 31"/>
          <p:cNvSpPr/>
          <p:nvPr/>
        </p:nvSpPr>
        <p:spPr>
          <a:xfrm>
            <a:off x="997610" y="4325112"/>
            <a:ext cx="235916" cy="208483"/>
          </a:xfrm>
          <a:custGeom>
            <a:avLst/>
            <a:gdLst/>
            <a:ahLst/>
            <a:cxnLst/>
            <a:rect l="l" t="t" r="r" b="b"/>
            <a:pathLst>
              <a:path w="235916" h="208483">
                <a:moveTo>
                  <a:pt x="117958" y="0"/>
                </a:moveTo>
                <a:lnTo>
                  <a:pt x="235916" y="208483"/>
                </a:lnTo>
                <a:lnTo>
                  <a:pt x="0" y="208483"/>
                </a:lnTo>
                <a:close/>
              </a:path>
            </a:pathLst>
          </a:cu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115568" y="4401922"/>
            <a:ext cx="0" cy="65836"/>
          </a:xfrm>
          <a:custGeom>
            <a:avLst/>
            <a:gdLst/>
            <a:ahLst/>
            <a:cxnLst/>
            <a:rect l="l" t="t" r="r" b="b"/>
            <a:pathLst>
              <a:path w="0" h="65836">
                <a:moveTo>
                  <a:pt x="0" y="0"/>
                </a:moveTo>
                <a:lnTo>
                  <a:pt x="0" y="65836"/>
                </a:lnTo>
              </a:path>
            </a:pathLst>
          </a:custGeom>
          <a:noFill/>
          <a:ln w="18256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05281" y="4489018"/>
            <a:ext cx="20574" cy="2057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417319" y="4206240"/>
            <a:ext cx="461772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O Administrador saiu da empresa</a:t>
            </a:r>
          </a:p>
        </p:txBody>
      </p:sp>
      <p:sp>
        <p:nvSpPr>
          <p:cNvPr id="36" name="Freeform 35"/>
          <p:cNvSpPr/>
          <p:nvPr/>
        </p:nvSpPr>
        <p:spPr>
          <a:xfrm>
            <a:off x="6172200" y="4453128"/>
            <a:ext cx="274320" cy="0"/>
          </a:xfrm>
          <a:custGeom>
            <a:avLst/>
            <a:gdLst/>
            <a:ahLst/>
            <a:cxnLst/>
            <a:rect l="l" t="t" r="r" b="b"/>
            <a:pathLst>
              <a:path w="274320" h="0">
                <a:moveTo>
                  <a:pt x="0" y="0"/>
                </a:moveTo>
                <a:lnTo>
                  <a:pt x="274320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390004" y="4423078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92824" y="4206240"/>
            <a:ext cx="4602449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Outro Administrador precisa assumir antes: só é possível inativar se houver outro cadastrado.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864608"/>
            <a:ext cx="10637489" cy="676656"/>
          </a:xfrm>
          <a:prstGeom prst="rect">
            <a:avLst/>
          </a:prstGeom>
          <a:solidFill>
            <a:srgbClr val="EEF0F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0" name="Freeform 39"/>
          <p:cNvSpPr/>
          <p:nvPr/>
        </p:nvSpPr>
        <p:spPr>
          <a:xfrm>
            <a:off x="997610" y="5074920"/>
            <a:ext cx="235916" cy="208483"/>
          </a:xfrm>
          <a:custGeom>
            <a:avLst/>
            <a:gdLst/>
            <a:ahLst/>
            <a:cxnLst/>
            <a:rect l="l" t="t" r="r" b="b"/>
            <a:pathLst>
              <a:path w="235916" h="208483">
                <a:moveTo>
                  <a:pt x="117958" y="0"/>
                </a:moveTo>
                <a:lnTo>
                  <a:pt x="235916" y="208483"/>
                </a:lnTo>
                <a:lnTo>
                  <a:pt x="0" y="208483"/>
                </a:lnTo>
                <a:close/>
              </a:path>
            </a:pathLst>
          </a:cu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1115568" y="5151730"/>
            <a:ext cx="0" cy="65836"/>
          </a:xfrm>
          <a:custGeom>
            <a:avLst/>
            <a:gdLst/>
            <a:ahLst/>
            <a:cxnLst/>
            <a:rect l="l" t="t" r="r" b="b"/>
            <a:pathLst>
              <a:path w="0" h="65836">
                <a:moveTo>
                  <a:pt x="0" y="0"/>
                </a:moveTo>
                <a:lnTo>
                  <a:pt x="0" y="65836"/>
                </a:lnTo>
              </a:path>
            </a:pathLst>
          </a:custGeom>
          <a:noFill/>
          <a:ln w="18256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05281" y="5238826"/>
            <a:ext cx="20574" cy="2057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417319" y="4956048"/>
            <a:ext cx="461772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A autorização ainda não foi concedida</a:t>
            </a:r>
          </a:p>
        </p:txBody>
      </p:sp>
      <p:sp>
        <p:nvSpPr>
          <p:cNvPr id="44" name="Freeform 43"/>
          <p:cNvSpPr/>
          <p:nvPr/>
        </p:nvSpPr>
        <p:spPr>
          <a:xfrm>
            <a:off x="6172200" y="5202936"/>
            <a:ext cx="274320" cy="0"/>
          </a:xfrm>
          <a:custGeom>
            <a:avLst/>
            <a:gdLst/>
            <a:ahLst/>
            <a:cxnLst/>
            <a:rect l="l" t="t" r="r" b="b"/>
            <a:pathLst>
              <a:path w="274320" h="0">
                <a:moveTo>
                  <a:pt x="0" y="0"/>
                </a:moveTo>
                <a:lnTo>
                  <a:pt x="274320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6390004" y="5172886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92824" y="4956048"/>
            <a:ext cx="4602449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Sem o vínculo, não conseguimos emitir e a coleta fica parada. É o item mais urgente.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5614416"/>
            <a:ext cx="10637489" cy="438912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777240" y="5614416"/>
            <a:ext cx="32004" cy="43891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1119225" y="5746089"/>
            <a:ext cx="65836" cy="65836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0" name="Freeform 49"/>
          <p:cNvSpPr/>
          <p:nvPr/>
        </p:nvSpPr>
        <p:spPr>
          <a:xfrm>
            <a:off x="1079203" y="5866790"/>
            <a:ext cx="145882" cy="58938"/>
          </a:xfrm>
          <a:custGeom>
            <a:avLst/>
            <a:gdLst/>
            <a:ahLst/>
            <a:cxnLst/>
            <a:rect l="l" t="t" r="r" b="b"/>
            <a:pathLst>
              <a:path w="145882" h="58938">
                <a:moveTo>
                  <a:pt x="0" y="58938"/>
                </a:moveTo>
                <a:lnTo>
                  <a:pt x="2215" y="50146"/>
                </a:lnTo>
                <a:lnTo>
                  <a:pt x="5568" y="41695"/>
                </a:lnTo>
                <a:lnTo>
                  <a:pt x="10005" y="33720"/>
                </a:lnTo>
                <a:lnTo>
                  <a:pt x="15455" y="26351"/>
                </a:lnTo>
                <a:lnTo>
                  <a:pt x="21829" y="19705"/>
                </a:lnTo>
                <a:lnTo>
                  <a:pt x="29026" y="13889"/>
                </a:lnTo>
                <a:lnTo>
                  <a:pt x="36930" y="8998"/>
                </a:lnTo>
                <a:lnTo>
                  <a:pt x="45413" y="5109"/>
                </a:lnTo>
                <a:lnTo>
                  <a:pt x="54339" y="2286"/>
                </a:lnTo>
                <a:lnTo>
                  <a:pt x="63565" y="574"/>
                </a:lnTo>
                <a:lnTo>
                  <a:pt x="72941" y="0"/>
                </a:lnTo>
                <a:lnTo>
                  <a:pt x="82317" y="574"/>
                </a:lnTo>
                <a:lnTo>
                  <a:pt x="91543" y="2286"/>
                </a:lnTo>
                <a:lnTo>
                  <a:pt x="100469" y="5109"/>
                </a:lnTo>
                <a:lnTo>
                  <a:pt x="108952" y="8998"/>
                </a:lnTo>
                <a:lnTo>
                  <a:pt x="116856" y="13889"/>
                </a:lnTo>
                <a:lnTo>
                  <a:pt x="124053" y="19705"/>
                </a:lnTo>
                <a:lnTo>
                  <a:pt x="130427" y="26351"/>
                </a:lnTo>
                <a:lnTo>
                  <a:pt x="135877" y="33720"/>
                </a:lnTo>
                <a:lnTo>
                  <a:pt x="140314" y="41695"/>
                </a:lnTo>
                <a:lnTo>
                  <a:pt x="143667" y="50146"/>
                </a:lnTo>
                <a:lnTo>
                  <a:pt x="145882" y="58938"/>
                </a:lnTo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34186" y="5781751"/>
            <a:ext cx="49377" cy="49377"/>
          </a:xfrm>
          <a:prstGeom prst="ellipse">
            <a:avLst/>
          </a:pr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2" name="Freeform 51"/>
          <p:cNvSpPr/>
          <p:nvPr/>
        </p:nvSpPr>
        <p:spPr>
          <a:xfrm>
            <a:off x="1013830" y="5899709"/>
            <a:ext cx="90091" cy="36598"/>
          </a:xfrm>
          <a:custGeom>
            <a:avLst/>
            <a:gdLst/>
            <a:ahLst/>
            <a:cxnLst/>
            <a:rect l="l" t="t" r="r" b="b"/>
            <a:pathLst>
              <a:path w="90091" h="36598">
                <a:moveTo>
                  <a:pt x="0" y="36598"/>
                </a:moveTo>
                <a:lnTo>
                  <a:pt x="2225" y="29820"/>
                </a:lnTo>
                <a:lnTo>
                  <a:pt x="5354" y="23455"/>
                </a:lnTo>
                <a:lnTo>
                  <a:pt x="9321" y="17638"/>
                </a:lnTo>
                <a:lnTo>
                  <a:pt x="14043" y="12491"/>
                </a:lnTo>
                <a:lnTo>
                  <a:pt x="19419" y="8123"/>
                </a:lnTo>
                <a:lnTo>
                  <a:pt x="25337" y="4626"/>
                </a:lnTo>
                <a:lnTo>
                  <a:pt x="31670" y="2074"/>
                </a:lnTo>
                <a:lnTo>
                  <a:pt x="38286" y="521"/>
                </a:lnTo>
                <a:lnTo>
                  <a:pt x="45045" y="0"/>
                </a:lnTo>
                <a:lnTo>
                  <a:pt x="51804" y="521"/>
                </a:lnTo>
                <a:lnTo>
                  <a:pt x="58420" y="2074"/>
                </a:lnTo>
                <a:lnTo>
                  <a:pt x="64754" y="4626"/>
                </a:lnTo>
                <a:lnTo>
                  <a:pt x="70671" y="8123"/>
                </a:lnTo>
                <a:lnTo>
                  <a:pt x="76048" y="12491"/>
                </a:lnTo>
                <a:lnTo>
                  <a:pt x="80769" y="17638"/>
                </a:lnTo>
                <a:lnTo>
                  <a:pt x="84737" y="23455"/>
                </a:lnTo>
                <a:lnTo>
                  <a:pt x="87866" y="29820"/>
                </a:lnTo>
                <a:lnTo>
                  <a:pt x="90091" y="36598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20724" y="5781751"/>
            <a:ext cx="49377" cy="49377"/>
          </a:xfrm>
          <a:prstGeom prst="ellipse">
            <a:avLst/>
          </a:pr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4" name="Freeform 53"/>
          <p:cNvSpPr/>
          <p:nvPr/>
        </p:nvSpPr>
        <p:spPr>
          <a:xfrm>
            <a:off x="1200367" y="5899709"/>
            <a:ext cx="90091" cy="36598"/>
          </a:xfrm>
          <a:custGeom>
            <a:avLst/>
            <a:gdLst/>
            <a:ahLst/>
            <a:cxnLst/>
            <a:rect l="l" t="t" r="r" b="b"/>
            <a:pathLst>
              <a:path w="90091" h="36598">
                <a:moveTo>
                  <a:pt x="0" y="36598"/>
                </a:moveTo>
                <a:lnTo>
                  <a:pt x="2225" y="29820"/>
                </a:lnTo>
                <a:lnTo>
                  <a:pt x="5354" y="23455"/>
                </a:lnTo>
                <a:lnTo>
                  <a:pt x="9322" y="17638"/>
                </a:lnTo>
                <a:lnTo>
                  <a:pt x="14043" y="12491"/>
                </a:lnTo>
                <a:lnTo>
                  <a:pt x="19420" y="8123"/>
                </a:lnTo>
                <a:lnTo>
                  <a:pt x="25337" y="4626"/>
                </a:lnTo>
                <a:lnTo>
                  <a:pt x="31671" y="2074"/>
                </a:lnTo>
                <a:lnTo>
                  <a:pt x="38287" y="521"/>
                </a:lnTo>
                <a:lnTo>
                  <a:pt x="45046" y="0"/>
                </a:lnTo>
                <a:lnTo>
                  <a:pt x="51805" y="521"/>
                </a:lnTo>
                <a:lnTo>
                  <a:pt x="58421" y="2074"/>
                </a:lnTo>
                <a:lnTo>
                  <a:pt x="64754" y="4626"/>
                </a:lnTo>
                <a:lnTo>
                  <a:pt x="70672" y="8123"/>
                </a:lnTo>
                <a:lnTo>
                  <a:pt x="76048" y="12491"/>
                </a:lnTo>
                <a:lnTo>
                  <a:pt x="80770" y="17638"/>
                </a:lnTo>
                <a:lnTo>
                  <a:pt x="84737" y="23455"/>
                </a:lnTo>
                <a:lnTo>
                  <a:pt x="87866" y="29820"/>
                </a:lnTo>
                <a:lnTo>
                  <a:pt x="90091" y="36598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72184" y="5614416"/>
            <a:ext cx="9668225" cy="4389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3A3C55"/>
                </a:solidFill>
                <a:latin typeface="Montserrat"/>
              </a:rPr>
              <a:t>Travou em qualquer um desses pontos? Fale com a gente — resolvemos junto.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O que fazer agora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Um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checklist curto</a:t>
            </a:r>
            <a:r>
              <a:rPr sz="2550" b="0" i="0">
                <a:solidFill>
                  <a:srgbClr val="14142E"/>
                </a:solidFill>
                <a:latin typeface="Montserrat Light"/>
              </a:rPr>
              <a:t> para a sua equipe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901952"/>
            <a:ext cx="274320" cy="274320"/>
          </a:xfrm>
          <a:prstGeom prst="rect">
            <a:avLst/>
          </a:prstGeom>
          <a:noFill/>
          <a:ln w="1651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234440" y="1847088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14142E"/>
                </a:solidFill>
                <a:latin typeface="Montserrat SemiBold"/>
              </a:rPr>
              <a:t>Identifique o Administrador da sua unidade no MTR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121408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É quem cadastrou a empresa e pode autorizar novos usuários.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596896"/>
            <a:ext cx="274320" cy="274320"/>
          </a:xfrm>
          <a:prstGeom prst="rect">
            <a:avLst/>
          </a:prstGeom>
          <a:noFill/>
          <a:ln w="1651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14142E"/>
                </a:solidFill>
                <a:latin typeface="Montserrat SemiBold"/>
              </a:rPr>
              <a:t>Confirme se essa pessoa tem conta Gov.br ativa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816352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Sem ela, não há como entrar no sistema.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291840"/>
            <a:ext cx="274320" cy="274320"/>
          </a:xfrm>
          <a:prstGeom prst="rect">
            <a:avLst/>
          </a:prstGeom>
          <a:noFill/>
          <a:ln w="1651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34440" y="3236976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14142E"/>
                </a:solidFill>
                <a:latin typeface="Montserrat SemiBold"/>
              </a:rPr>
              <a:t>Escolha a rota: A (você cadastra) ou B (nós solicitamos)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511296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As duas levam ao mesmo resultado.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274320" cy="274320"/>
          </a:xfrm>
          <a:prstGeom prst="rect">
            <a:avLst/>
          </a:prstGeom>
          <a:noFill/>
          <a:ln w="1651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34440" y="3931920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14142E"/>
                </a:solidFill>
                <a:latin typeface="Montserrat SemiBold"/>
              </a:rPr>
              <a:t>Cadastre ou aprove o CPF da nossa responsável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206240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Ana Nunes Lucato · 142.803.138-30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681728"/>
            <a:ext cx="274320" cy="274320"/>
          </a:xfrm>
          <a:prstGeom prst="rect">
            <a:avLst/>
          </a:prstGeom>
          <a:noFill/>
          <a:ln w="1651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34440" y="4626864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14142E"/>
                </a:solidFill>
                <a:latin typeface="Montserrat SemiBold"/>
              </a:rPr>
              <a:t>Nos avise por escrito quando estiver feito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4901184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Testamos o acesso e retomamos a emissão na mesma hora.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5376672"/>
            <a:ext cx="274320" cy="274320"/>
          </a:xfrm>
          <a:prstGeom prst="rect">
            <a:avLst/>
          </a:prstGeom>
          <a:noFill/>
          <a:ln w="1651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234440" y="5321808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14142E"/>
                </a:solidFill>
                <a:latin typeface="Montserrat SemiBold"/>
              </a:rPr>
              <a:t>Revise periodicamente os usuários da unidade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5596128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Desative quem não faz mais parte da operação.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1847088"/>
            <a:ext cx="3273552" cy="221284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8" name="Freeform 27"/>
          <p:cNvSpPr/>
          <p:nvPr/>
        </p:nvSpPr>
        <p:spPr>
          <a:xfrm>
            <a:off x="8414309" y="2195292"/>
            <a:ext cx="307238" cy="245790"/>
          </a:xfrm>
          <a:custGeom>
            <a:avLst/>
            <a:gdLst/>
            <a:ahLst/>
            <a:cxnLst/>
            <a:rect l="l" t="t" r="r" b="b"/>
            <a:pathLst>
              <a:path w="307238" h="245790">
                <a:moveTo>
                  <a:pt x="0" y="0"/>
                </a:moveTo>
                <a:lnTo>
                  <a:pt x="307238" y="0"/>
                </a:lnTo>
                <a:lnTo>
                  <a:pt x="307238" y="245790"/>
                </a:lnTo>
                <a:lnTo>
                  <a:pt x="0" y="245790"/>
                </a:lnTo>
                <a:close/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8414309" y="2264420"/>
            <a:ext cx="307238" cy="0"/>
          </a:xfrm>
          <a:custGeom>
            <a:avLst/>
            <a:gdLst/>
            <a:ahLst/>
            <a:cxnLst/>
            <a:rect l="l" t="t" r="r" b="b"/>
            <a:pathLst>
              <a:path w="307238" h="0">
                <a:moveTo>
                  <a:pt x="0" y="0"/>
                </a:moveTo>
                <a:lnTo>
                  <a:pt x="307238" y="0"/>
                </a:lnTo>
              </a:path>
            </a:pathLst>
          </a:custGeom>
          <a:noFill/>
          <a:ln w="14288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8491118" y="2156887"/>
            <a:ext cx="0" cy="69128"/>
          </a:xfrm>
          <a:custGeom>
            <a:avLst/>
            <a:gdLst/>
            <a:ahLst/>
            <a:cxnLst/>
            <a:rect l="l" t="t" r="r" b="b"/>
            <a:pathLst>
              <a:path w="0" h="69128">
                <a:moveTo>
                  <a:pt x="0" y="0"/>
                </a:moveTo>
                <a:lnTo>
                  <a:pt x="0" y="69128"/>
                </a:lnTo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8644738" y="2156887"/>
            <a:ext cx="0" cy="69128"/>
          </a:xfrm>
          <a:custGeom>
            <a:avLst/>
            <a:gdLst/>
            <a:ahLst/>
            <a:cxnLst/>
            <a:rect l="l" t="t" r="r" b="b"/>
            <a:pathLst>
              <a:path w="0" h="69128">
                <a:moveTo>
                  <a:pt x="0" y="0"/>
                </a:moveTo>
                <a:lnTo>
                  <a:pt x="0" y="69128"/>
                </a:lnTo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465195" y="2307625"/>
            <a:ext cx="21122" cy="21122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8526642" y="2307625"/>
            <a:ext cx="21122" cy="21122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8588090" y="2307625"/>
            <a:ext cx="21122" cy="21122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8649538" y="2307625"/>
            <a:ext cx="21122" cy="21122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8465195" y="2369073"/>
            <a:ext cx="21122" cy="21122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8526642" y="2369073"/>
            <a:ext cx="21122" cy="21122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8588090" y="2369073"/>
            <a:ext cx="21122" cy="21122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8649538" y="2369073"/>
            <a:ext cx="21122" cy="21122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375904" y="2651760"/>
            <a:ext cx="279806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 spc="100" cap="all">
                <a:solidFill>
                  <a:srgbClr val="FFFFFF"/>
                </a:solidFill>
                <a:latin typeface="Montserrat SemiBold"/>
              </a:rPr>
              <a:t>Já em vigor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75904" y="2999232"/>
            <a:ext cx="2798064" cy="8229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0" i="0">
                <a:solidFill>
                  <a:srgbClr val="FFFFFF"/>
                </a:solidFill>
                <a:latin typeface="Montserrat Light"/>
              </a:rPr>
              <a:t>1º de agosto
de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75904" y="3675887"/>
            <a:ext cx="279806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FFFFFF"/>
                </a:solidFill>
                <a:latin typeface="Montserrat"/>
              </a:rPr>
              <a:t>Login exclusivo pelo Gov.br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38160" y="4224528"/>
            <a:ext cx="3273552" cy="731520"/>
          </a:xfrm>
          <a:prstGeom prst="rect">
            <a:avLst/>
          </a:prstGeom>
          <a:solidFill>
            <a:srgbClr val="FCEDE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8138160" y="4224528"/>
            <a:ext cx="32004" cy="731520"/>
          </a:xfrm>
          <a:prstGeom prst="rect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5" name="Freeform 44"/>
          <p:cNvSpPr/>
          <p:nvPr/>
        </p:nvSpPr>
        <p:spPr>
          <a:xfrm>
            <a:off x="8395106" y="4480560"/>
            <a:ext cx="235916" cy="208483"/>
          </a:xfrm>
          <a:custGeom>
            <a:avLst/>
            <a:gdLst/>
            <a:ahLst/>
            <a:cxnLst/>
            <a:rect l="l" t="t" r="r" b="b"/>
            <a:pathLst>
              <a:path w="235916" h="208483">
                <a:moveTo>
                  <a:pt x="117958" y="0"/>
                </a:moveTo>
                <a:lnTo>
                  <a:pt x="235916" y="208483"/>
                </a:lnTo>
                <a:lnTo>
                  <a:pt x="0" y="208483"/>
                </a:lnTo>
                <a:close/>
              </a:path>
            </a:pathLst>
          </a:cu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513064" y="4557370"/>
            <a:ext cx="0" cy="65836"/>
          </a:xfrm>
          <a:custGeom>
            <a:avLst/>
            <a:gdLst/>
            <a:ahLst/>
            <a:cxnLst/>
            <a:rect l="l" t="t" r="r" b="b"/>
            <a:pathLst>
              <a:path w="0" h="65836">
                <a:moveTo>
                  <a:pt x="0" y="0"/>
                </a:moveTo>
                <a:lnTo>
                  <a:pt x="0" y="65836"/>
                </a:lnTo>
              </a:path>
            </a:pathLst>
          </a:custGeom>
          <a:noFill/>
          <a:ln w="18256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502777" y="4644466"/>
            <a:ext cx="20574" cy="2057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833104" y="4224528"/>
            <a:ext cx="2304288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40" b="0" i="0">
                <a:solidFill>
                  <a:srgbClr val="3A3C55"/>
                </a:solidFill>
                <a:latin typeface="Montserrat"/>
              </a:rPr>
              <a:t>Sem acesso, sem MTR. Sem MTR, a carga não pode ser transportada. Resolver o acesso é o que destrava a coleta.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flip="none" rotWithShape="1">
            <a:gsLst>
              <a:gs pos="0">
                <a:srgbClr val="17165D"/>
              </a:gs>
              <a:gs pos="52000">
                <a:srgbClr val="24238E"/>
              </a:gs>
              <a:gs pos="100000">
                <a:srgbClr val="3432C9"/>
              </a:gs>
            </a:gsLst>
            <a:lin ang="2100000" scaled="0"/>
          </a:gra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 flipV="1">
            <a:off x="-685800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" name="Connector 3"/>
          <p:cNvCxnSpPr/>
          <p:nvPr/>
        </p:nvCxnSpPr>
        <p:spPr>
          <a:xfrm flipV="1">
            <a:off x="-6437376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5" name="Connector 4"/>
          <p:cNvCxnSpPr/>
          <p:nvPr/>
        </p:nvCxnSpPr>
        <p:spPr>
          <a:xfrm flipV="1">
            <a:off x="-6016752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6" name="Connector 5"/>
          <p:cNvCxnSpPr/>
          <p:nvPr/>
        </p:nvCxnSpPr>
        <p:spPr>
          <a:xfrm flipV="1">
            <a:off x="-559612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7" name="Connector 6"/>
          <p:cNvCxnSpPr/>
          <p:nvPr/>
        </p:nvCxnSpPr>
        <p:spPr>
          <a:xfrm flipV="1">
            <a:off x="-5175504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8" name="Connector 7"/>
          <p:cNvCxnSpPr/>
          <p:nvPr/>
        </p:nvCxnSpPr>
        <p:spPr>
          <a:xfrm flipV="1">
            <a:off x="-4754879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9" name="Connector 8"/>
          <p:cNvCxnSpPr/>
          <p:nvPr/>
        </p:nvCxnSpPr>
        <p:spPr>
          <a:xfrm flipV="1">
            <a:off x="-433425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0" name="Connector 9"/>
          <p:cNvCxnSpPr/>
          <p:nvPr/>
        </p:nvCxnSpPr>
        <p:spPr>
          <a:xfrm flipV="1">
            <a:off x="-3913631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1" name="Connector 10"/>
          <p:cNvCxnSpPr/>
          <p:nvPr/>
        </p:nvCxnSpPr>
        <p:spPr>
          <a:xfrm flipV="1">
            <a:off x="-349300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2" name="Connector 11"/>
          <p:cNvCxnSpPr/>
          <p:nvPr/>
        </p:nvCxnSpPr>
        <p:spPr>
          <a:xfrm flipV="1">
            <a:off x="-3072383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3" name="Connector 12"/>
          <p:cNvCxnSpPr/>
          <p:nvPr/>
        </p:nvCxnSpPr>
        <p:spPr>
          <a:xfrm flipV="1">
            <a:off x="-2651759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4" name="Connector 13"/>
          <p:cNvCxnSpPr/>
          <p:nvPr/>
        </p:nvCxnSpPr>
        <p:spPr>
          <a:xfrm flipV="1">
            <a:off x="-2231135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5" name="Connector 14"/>
          <p:cNvCxnSpPr/>
          <p:nvPr/>
        </p:nvCxnSpPr>
        <p:spPr>
          <a:xfrm flipV="1">
            <a:off x="-1810511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6" name="Connector 15"/>
          <p:cNvCxnSpPr/>
          <p:nvPr/>
        </p:nvCxnSpPr>
        <p:spPr>
          <a:xfrm flipV="1">
            <a:off x="-1389887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7" name="Connector 16"/>
          <p:cNvCxnSpPr/>
          <p:nvPr/>
        </p:nvCxnSpPr>
        <p:spPr>
          <a:xfrm flipV="1">
            <a:off x="-969263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8" name="Connector 17"/>
          <p:cNvCxnSpPr/>
          <p:nvPr/>
        </p:nvCxnSpPr>
        <p:spPr>
          <a:xfrm flipV="1">
            <a:off x="-548639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9" name="Connector 18"/>
          <p:cNvCxnSpPr/>
          <p:nvPr/>
        </p:nvCxnSpPr>
        <p:spPr>
          <a:xfrm flipV="1">
            <a:off x="-128015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0" name="Connector 19"/>
          <p:cNvCxnSpPr/>
          <p:nvPr/>
        </p:nvCxnSpPr>
        <p:spPr>
          <a:xfrm flipV="1">
            <a:off x="29260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1" name="Connector 20"/>
          <p:cNvCxnSpPr/>
          <p:nvPr/>
        </p:nvCxnSpPr>
        <p:spPr>
          <a:xfrm flipV="1">
            <a:off x="71323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2" name="Connector 21"/>
          <p:cNvCxnSpPr/>
          <p:nvPr/>
        </p:nvCxnSpPr>
        <p:spPr>
          <a:xfrm flipV="1">
            <a:off x="113385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3" name="Connector 22"/>
          <p:cNvCxnSpPr/>
          <p:nvPr/>
        </p:nvCxnSpPr>
        <p:spPr>
          <a:xfrm flipV="1">
            <a:off x="155448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4" name="Connector 23"/>
          <p:cNvCxnSpPr/>
          <p:nvPr/>
        </p:nvCxnSpPr>
        <p:spPr>
          <a:xfrm flipV="1">
            <a:off x="197510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5" name="Connector 24"/>
          <p:cNvCxnSpPr/>
          <p:nvPr/>
        </p:nvCxnSpPr>
        <p:spPr>
          <a:xfrm flipV="1">
            <a:off x="239572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6" name="Connector 25"/>
          <p:cNvCxnSpPr/>
          <p:nvPr/>
        </p:nvCxnSpPr>
        <p:spPr>
          <a:xfrm flipV="1">
            <a:off x="281635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7" name="Connector 26"/>
          <p:cNvCxnSpPr/>
          <p:nvPr/>
        </p:nvCxnSpPr>
        <p:spPr>
          <a:xfrm flipV="1">
            <a:off x="323697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365760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407822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449884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491947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534009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3" name="Connector 32"/>
          <p:cNvCxnSpPr/>
          <p:nvPr/>
        </p:nvCxnSpPr>
        <p:spPr>
          <a:xfrm flipV="1">
            <a:off x="576072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618134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660196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702259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744321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786384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9" name="Connector 38"/>
          <p:cNvCxnSpPr/>
          <p:nvPr/>
        </p:nvCxnSpPr>
        <p:spPr>
          <a:xfrm flipV="1">
            <a:off x="828446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870508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912571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2" name="Connector 41"/>
          <p:cNvCxnSpPr/>
          <p:nvPr/>
        </p:nvCxnSpPr>
        <p:spPr>
          <a:xfrm flipV="1">
            <a:off x="954633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3" name="Connector 42"/>
          <p:cNvCxnSpPr/>
          <p:nvPr/>
        </p:nvCxnSpPr>
        <p:spPr>
          <a:xfrm flipV="1">
            <a:off x="996696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4" name="Connector 43"/>
          <p:cNvCxnSpPr/>
          <p:nvPr/>
        </p:nvCxnSpPr>
        <p:spPr>
          <a:xfrm flipV="1">
            <a:off x="1038758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5" name="Connector 44"/>
          <p:cNvCxnSpPr/>
          <p:nvPr/>
        </p:nvCxnSpPr>
        <p:spPr>
          <a:xfrm flipV="1">
            <a:off x="1080820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6" name="Connector 45"/>
          <p:cNvCxnSpPr/>
          <p:nvPr/>
        </p:nvCxnSpPr>
        <p:spPr>
          <a:xfrm flipV="1">
            <a:off x="1122883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7" name="Connector 46"/>
          <p:cNvCxnSpPr/>
          <p:nvPr/>
        </p:nvCxnSpPr>
        <p:spPr>
          <a:xfrm flipV="1">
            <a:off x="1164945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8" name="Connector 47"/>
          <p:cNvCxnSpPr/>
          <p:nvPr/>
        </p:nvCxnSpPr>
        <p:spPr>
          <a:xfrm flipV="1">
            <a:off x="1207008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9" name="Connector 48"/>
          <p:cNvCxnSpPr/>
          <p:nvPr/>
        </p:nvCxnSpPr>
        <p:spPr>
          <a:xfrm flipV="1">
            <a:off x="1249070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sp>
        <p:nvSpPr>
          <p:cNvPr id="50" name="Rectangle 49"/>
          <p:cNvSpPr/>
          <p:nvPr/>
        </p:nvSpPr>
        <p:spPr>
          <a:xfrm>
            <a:off x="5120627" y="0"/>
            <a:ext cx="7071342" cy="6858000"/>
          </a:xfrm>
          <a:prstGeom prst="rect">
            <a:avLst/>
          </a:prstGeom>
          <a:gradFill flip="none" rotWithShape="1">
            <a:gsLst>
              <a:gs pos="0">
                <a:srgbClr val="3432C9">
                  <a:alpha val="0"/>
                </a:srgbClr>
              </a:gs>
              <a:gs pos="100000">
                <a:srgbClr val="3432C9">
                  <a:alpha val="32000"/>
                </a:srgbClr>
              </a:gs>
            </a:gsLst>
            <a:lin ang="0" scaled="0"/>
          </a:gra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51" name="Connector 50"/>
          <p:cNvCxnSpPr/>
          <p:nvPr/>
        </p:nvCxnSpPr>
        <p:spPr>
          <a:xfrm>
            <a:off x="7543800" y="0"/>
            <a:ext cx="0" cy="6858000"/>
          </a:xfrm>
          <a:prstGeom prst="line">
            <a:avLst/>
          </a:prstGeom>
          <a:ln w="9525" cap="rnd">
            <a:solidFill>
              <a:srgbClr val="FFFFFF">
                <a:alpha val="18000"/>
              </a:srgbClr>
            </a:solidFill>
            <a:round/>
          </a:ln>
          <a:effectLst/>
        </p:spPr>
      </p:cxnSp>
      <p:sp>
        <p:nvSpPr>
          <p:cNvPr id="52" name="Freeform 51"/>
          <p:cNvSpPr/>
          <p:nvPr/>
        </p:nvSpPr>
        <p:spPr>
          <a:xfrm>
            <a:off x="10829496" y="894846"/>
            <a:ext cx="257218" cy="334839"/>
          </a:xfrm>
          <a:custGeom>
            <a:avLst/>
            <a:gdLst/>
            <a:ahLst/>
            <a:cxnLst/>
            <a:rect l="l" t="t" r="r" b="b"/>
            <a:pathLst>
              <a:path w="257218" h="334839">
                <a:moveTo>
                  <a:pt x="185446" y="0"/>
                </a:moveTo>
                <a:lnTo>
                  <a:pt x="198981" y="11655"/>
                </a:lnTo>
                <a:lnTo>
                  <a:pt x="211343" y="24546"/>
                </a:lnTo>
                <a:lnTo>
                  <a:pt x="222421" y="38556"/>
                </a:lnTo>
                <a:lnTo>
                  <a:pt x="232113" y="53558"/>
                </a:lnTo>
                <a:lnTo>
                  <a:pt x="240333" y="69415"/>
                </a:lnTo>
                <a:lnTo>
                  <a:pt x="247005" y="85983"/>
                </a:lnTo>
                <a:lnTo>
                  <a:pt x="252067" y="103112"/>
                </a:lnTo>
                <a:lnTo>
                  <a:pt x="255475" y="120644"/>
                </a:lnTo>
                <a:lnTo>
                  <a:pt x="257198" y="138422"/>
                </a:lnTo>
                <a:lnTo>
                  <a:pt x="257218" y="156283"/>
                </a:lnTo>
                <a:lnTo>
                  <a:pt x="255537" y="174064"/>
                </a:lnTo>
                <a:lnTo>
                  <a:pt x="252170" y="191605"/>
                </a:lnTo>
                <a:lnTo>
                  <a:pt x="247147" y="208745"/>
                </a:lnTo>
                <a:lnTo>
                  <a:pt x="240514" y="225328"/>
                </a:lnTo>
                <a:lnTo>
                  <a:pt x="232332" y="241205"/>
                </a:lnTo>
                <a:lnTo>
                  <a:pt x="222674" y="256229"/>
                </a:lnTo>
                <a:lnTo>
                  <a:pt x="211629" y="270265"/>
                </a:lnTo>
                <a:lnTo>
                  <a:pt x="199296" y="283185"/>
                </a:lnTo>
                <a:lnTo>
                  <a:pt x="185789" y="294871"/>
                </a:lnTo>
                <a:lnTo>
                  <a:pt x="171231" y="305218"/>
                </a:lnTo>
                <a:lnTo>
                  <a:pt x="155752" y="314130"/>
                </a:lnTo>
                <a:lnTo>
                  <a:pt x="139495" y="321528"/>
                </a:lnTo>
                <a:lnTo>
                  <a:pt x="122608" y="327342"/>
                </a:lnTo>
                <a:lnTo>
                  <a:pt x="105243" y="331522"/>
                </a:lnTo>
                <a:lnTo>
                  <a:pt x="87559" y="334028"/>
                </a:lnTo>
                <a:lnTo>
                  <a:pt x="69716" y="334839"/>
                </a:lnTo>
                <a:lnTo>
                  <a:pt x="51878" y="333945"/>
                </a:lnTo>
                <a:lnTo>
                  <a:pt x="34205" y="331357"/>
                </a:lnTo>
                <a:lnTo>
                  <a:pt x="16860" y="327096"/>
                </a:lnTo>
                <a:lnTo>
                  <a:pt x="0" y="321203"/>
                </a:lnTo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10829496" y="1199166"/>
            <a:ext cx="109902" cy="98555"/>
          </a:xfrm>
          <a:custGeom>
            <a:avLst/>
            <a:gdLst/>
            <a:ahLst/>
            <a:cxnLst/>
            <a:rect l="l" t="t" r="r" b="b"/>
            <a:pathLst>
              <a:path w="109902" h="98555">
                <a:moveTo>
                  <a:pt x="0" y="16883"/>
                </a:moveTo>
                <a:lnTo>
                  <a:pt x="109902" y="0"/>
                </a:lnTo>
                <a:lnTo>
                  <a:pt x="75453" y="98555"/>
                </a:lnTo>
                <a:close/>
              </a:path>
            </a:pathLst>
          </a:custGeom>
          <a:solidFill>
            <a:srgbClr val="FFFFFF"/>
          </a:solidFill>
          <a:ln w="95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10712582" y="855147"/>
            <a:ext cx="257218" cy="334839"/>
          </a:xfrm>
          <a:custGeom>
            <a:avLst/>
            <a:gdLst/>
            <a:ahLst/>
            <a:cxnLst/>
            <a:rect l="l" t="t" r="r" b="b"/>
            <a:pathLst>
              <a:path w="257218" h="334839">
                <a:moveTo>
                  <a:pt x="71772" y="334839"/>
                </a:moveTo>
                <a:lnTo>
                  <a:pt x="58237" y="323184"/>
                </a:lnTo>
                <a:lnTo>
                  <a:pt x="45875" y="310293"/>
                </a:lnTo>
                <a:lnTo>
                  <a:pt x="34797" y="296283"/>
                </a:lnTo>
                <a:lnTo>
                  <a:pt x="25105" y="281281"/>
                </a:lnTo>
                <a:lnTo>
                  <a:pt x="16885" y="265424"/>
                </a:lnTo>
                <a:lnTo>
                  <a:pt x="10213" y="248856"/>
                </a:lnTo>
                <a:lnTo>
                  <a:pt x="5151" y="231727"/>
                </a:lnTo>
                <a:lnTo>
                  <a:pt x="1743" y="214195"/>
                </a:lnTo>
                <a:lnTo>
                  <a:pt x="20" y="196417"/>
                </a:lnTo>
                <a:lnTo>
                  <a:pt x="0" y="178556"/>
                </a:lnTo>
                <a:lnTo>
                  <a:pt x="1681" y="160775"/>
                </a:lnTo>
                <a:lnTo>
                  <a:pt x="5048" y="143234"/>
                </a:lnTo>
                <a:lnTo>
                  <a:pt x="10071" y="126094"/>
                </a:lnTo>
                <a:lnTo>
                  <a:pt x="16704" y="109511"/>
                </a:lnTo>
                <a:lnTo>
                  <a:pt x="24886" y="93634"/>
                </a:lnTo>
                <a:lnTo>
                  <a:pt x="34544" y="78610"/>
                </a:lnTo>
                <a:lnTo>
                  <a:pt x="45589" y="64574"/>
                </a:lnTo>
                <a:lnTo>
                  <a:pt x="57922" y="51654"/>
                </a:lnTo>
                <a:lnTo>
                  <a:pt x="71429" y="39968"/>
                </a:lnTo>
                <a:lnTo>
                  <a:pt x="85987" y="29621"/>
                </a:lnTo>
                <a:lnTo>
                  <a:pt x="101466" y="20709"/>
                </a:lnTo>
                <a:lnTo>
                  <a:pt x="117723" y="13311"/>
                </a:lnTo>
                <a:lnTo>
                  <a:pt x="134610" y="7497"/>
                </a:lnTo>
                <a:lnTo>
                  <a:pt x="151975" y="3317"/>
                </a:lnTo>
                <a:lnTo>
                  <a:pt x="169659" y="811"/>
                </a:lnTo>
                <a:lnTo>
                  <a:pt x="187502" y="0"/>
                </a:lnTo>
                <a:lnTo>
                  <a:pt x="205340" y="894"/>
                </a:lnTo>
                <a:lnTo>
                  <a:pt x="223013" y="3482"/>
                </a:lnTo>
                <a:lnTo>
                  <a:pt x="240358" y="7743"/>
                </a:lnTo>
                <a:lnTo>
                  <a:pt x="257218" y="13636"/>
                </a:lnTo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10859898" y="787111"/>
            <a:ext cx="109902" cy="98555"/>
          </a:xfrm>
          <a:custGeom>
            <a:avLst/>
            <a:gdLst/>
            <a:ahLst/>
            <a:cxnLst/>
            <a:rect l="l" t="t" r="r" b="b"/>
            <a:pathLst>
              <a:path w="109902" h="98555">
                <a:moveTo>
                  <a:pt x="109902" y="81672"/>
                </a:moveTo>
                <a:lnTo>
                  <a:pt x="0" y="98555"/>
                </a:lnTo>
                <a:lnTo>
                  <a:pt x="34449" y="0"/>
                </a:lnTo>
                <a:close/>
              </a:path>
            </a:pathLst>
          </a:custGeom>
          <a:solidFill>
            <a:srgbClr val="FFFFFF"/>
          </a:solidFill>
          <a:ln w="95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777240" y="1163116"/>
            <a:ext cx="274320" cy="0"/>
          </a:xfrm>
          <a:prstGeom prst="line">
            <a:avLst/>
          </a:prstGeom>
          <a:ln w="20320" cap="rnd">
            <a:solidFill>
              <a:srgbClr val="FFFFFF"/>
            </a:solidFill>
            <a:round/>
          </a:ln>
          <a:effectLst/>
        </p:spPr>
      </p:cxnSp>
      <p:sp>
        <p:nvSpPr>
          <p:cNvPr id="57" name="TextBox 56"/>
          <p:cNvSpPr txBox="1"/>
          <p:nvPr/>
        </p:nvSpPr>
        <p:spPr>
          <a:xfrm>
            <a:off x="1197863" y="1074420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 spc="190" cap="all">
                <a:solidFill>
                  <a:srgbClr val="FFFFFF"/>
                </a:solidFill>
                <a:latin typeface="Montserrat SemiBold"/>
              </a:rPr>
              <a:t>Nunes &amp; Lucato  ·  Gestão Ambiental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7240" y="1481328"/>
            <a:ext cx="6675120" cy="20116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1700" b="0" i="0">
                <a:solidFill>
                  <a:srgbClr val="FFFFFF"/>
                </a:solidFill>
                <a:latin typeface="Montserrat Light"/>
              </a:rPr>
              <a:t>A mudança é só no acesso. O nosso compromisso com a </a:t>
            </a:r>
            <a:r>
              <a:rPr sz="1700" b="0" i="0">
                <a:solidFill>
                  <a:srgbClr val="FFFFFF"/>
                </a:solidFill>
                <a:latin typeface="Montserrat SemiBold"/>
              </a:rPr>
              <a:t>rastreabilidade dos seus resíduos</a:t>
            </a:r>
            <a:r>
              <a:rPr sz="1700" b="0" i="0">
                <a:solidFill>
                  <a:srgbClr val="FFFFFF"/>
                </a:solidFill>
                <a:latin typeface="Montserrat Light"/>
              </a:rPr>
              <a:t> e com a regularidade da sua documentação continua </a:t>
            </a:r>
            <a:r>
              <a:rPr sz="1700" b="0" i="0">
                <a:solidFill>
                  <a:srgbClr val="FFFFFF"/>
                </a:solidFill>
                <a:latin typeface="Montserrat SemiBold"/>
              </a:rPr>
              <a:t>exatamente o mesmo</a:t>
            </a:r>
            <a:r>
              <a:rPr sz="1700" b="0" i="0">
                <a:solidFill>
                  <a:srgbClr val="FFFFFF"/>
                </a:solidFill>
                <a:latin typeface="Montserrat Light"/>
              </a:rPr>
              <a:t>.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77240" y="3584448"/>
            <a:ext cx="960120" cy="0"/>
          </a:xfrm>
          <a:prstGeom prst="line">
            <a:avLst/>
          </a:prstGeom>
          <a:ln w="22860" cap="rnd">
            <a:solidFill>
              <a:srgbClr val="FFFFFF">
                <a:alpha val="75000"/>
              </a:srgbClr>
            </a:solidFill>
            <a:round/>
          </a:ln>
          <a:effectLst/>
        </p:spPr>
      </p:cxnSp>
      <p:sp>
        <p:nvSpPr>
          <p:cNvPr id="60" name="TextBox 59"/>
          <p:cNvSpPr txBox="1"/>
          <p:nvPr/>
        </p:nvSpPr>
        <p:spPr>
          <a:xfrm>
            <a:off x="777240" y="3822191"/>
            <a:ext cx="320040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 i="0" spc="120" cap="all">
                <a:solidFill>
                  <a:srgbClr val="FFFFFF"/>
                </a:solidFill>
                <a:latin typeface="Montserrat"/>
              </a:rPr>
              <a:t>Fale com a nossa equipe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069080" y="3794759"/>
            <a:ext cx="32918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40" b="0" i="0">
                <a:solidFill>
                  <a:srgbClr val="FFFFFF"/>
                </a:solidFill>
                <a:latin typeface="Montserrat SemiBold"/>
              </a:rPr>
              <a:t>Ana Nunes Lucato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7240" y="4224528"/>
            <a:ext cx="320040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 i="0" spc="120" cap="all">
                <a:solidFill>
                  <a:srgbClr val="FFFFFF"/>
                </a:solidFill>
                <a:latin typeface="Montserrat"/>
              </a:rPr>
              <a:t>E-mail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69080" y="4197096"/>
            <a:ext cx="32918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40" b="0" i="0">
                <a:solidFill>
                  <a:srgbClr val="FFFFFF"/>
                </a:solidFill>
                <a:latin typeface="Montserrat SemiBold"/>
              </a:rPr>
              <a:t>anapnuneslucato@gmail.com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7240" y="4626864"/>
            <a:ext cx="320040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 i="0" spc="120" cap="all">
                <a:solidFill>
                  <a:srgbClr val="FFFFFF"/>
                </a:solidFill>
                <a:latin typeface="Montserrat"/>
              </a:rPr>
              <a:t>Telefone / WhatsApp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69080" y="4599431"/>
            <a:ext cx="32918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40" b="0" i="0">
                <a:solidFill>
                  <a:srgbClr val="FFFFFF"/>
                </a:solidFill>
                <a:latin typeface="Montserrat SemiBold"/>
              </a:rPr>
              <a:t>[INSERIR TELEFONE]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7240" y="5029200"/>
            <a:ext cx="320040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 i="0" spc="120" cap="all">
                <a:solidFill>
                  <a:srgbClr val="FFFFFF"/>
                </a:solidFill>
                <a:latin typeface="Montserrat"/>
              </a:rPr>
              <a:t>Suporte oficial do MTR Nacional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69080" y="5001768"/>
            <a:ext cx="32918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40" b="0" i="0">
                <a:solidFill>
                  <a:srgbClr val="FFFFFF"/>
                </a:solidFill>
                <a:latin typeface="Montserrat SemiBold"/>
              </a:rPr>
              <a:t>mtr.sinir@mma.gov.br</a:t>
            </a:r>
          </a:p>
        </p:txBody>
      </p:sp>
      <p:pic>
        <p:nvPicPr>
          <p:cNvPr id="68" name="Picture 67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1481328"/>
            <a:ext cx="2044798" cy="420624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092440" y="2212848"/>
            <a:ext cx="382219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19" b="0" i="0" spc="160" cap="all">
                <a:solidFill>
                  <a:srgbClr val="FFFFFF"/>
                </a:solidFill>
                <a:latin typeface="Montserrat SemiBold"/>
              </a:rPr>
              <a:t>Fontes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092440" y="2487168"/>
            <a:ext cx="3822192" cy="0"/>
          </a:xfrm>
          <a:prstGeom prst="line">
            <a:avLst/>
          </a:prstGeom>
          <a:ln w="9525" cap="rnd">
            <a:solidFill>
              <a:srgbClr val="FFFFFF">
                <a:alpha val="30000"/>
              </a:srgbClr>
            </a:solidFill>
            <a:round/>
          </a:ln>
          <a:effectLst/>
        </p:spPr>
      </p:cxnSp>
      <p:sp>
        <p:nvSpPr>
          <p:cNvPr id="71" name="TextBox 70"/>
          <p:cNvSpPr txBox="1"/>
          <p:nvPr/>
        </p:nvSpPr>
        <p:spPr>
          <a:xfrm>
            <a:off x="8092440" y="2615184"/>
            <a:ext cx="3822192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 i="0">
                <a:solidFill>
                  <a:srgbClr val="FFFFFF"/>
                </a:solidFill>
                <a:latin typeface="Montserrat"/>
              </a:rPr>
              <a:t>Portal do SINIR — Sistema MTR: sinir.gov.br/sistemas/mtr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92440" y="3182112"/>
            <a:ext cx="3822192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 i="0">
                <a:solidFill>
                  <a:srgbClr val="FFFFFF"/>
                </a:solidFill>
                <a:latin typeface="Montserrat"/>
              </a:rPr>
              <a:t>Comunicado “Login Único (Gov.br) — Sistema MTR Nacional”, SINIR: tipos de usuário e gerenciamento de acessos.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92440" y="3749039"/>
            <a:ext cx="3822192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 i="0">
                <a:solidFill>
                  <a:srgbClr val="FFFFFF"/>
                </a:solidFill>
                <a:latin typeface="Montserrat"/>
              </a:rPr>
              <a:t>Guia Rápido “Login Único GOV.BR — MTR Nacional/Sinir”, MMA/SINIR, v. 1.0, 05/01/2026 — origem das Figuras 1 a 15.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92440" y="4315968"/>
            <a:ext cx="3822192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 i="0">
                <a:solidFill>
                  <a:srgbClr val="FFFFFF"/>
                </a:solidFill>
                <a:latin typeface="Montserrat"/>
              </a:rPr>
              <a:t>gov.br — serviços Emitir o MTR e Criar sua conta gov.br.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092440" y="4882896"/>
            <a:ext cx="3822192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 i="0">
                <a:solidFill>
                  <a:srgbClr val="FFFFFF"/>
                </a:solidFill>
                <a:latin typeface="Montserrat"/>
              </a:rPr>
              <a:t>Print da tela do sistema: acervo próprio da Nunes &amp; Lucato.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92440" y="5541264"/>
            <a:ext cx="3822192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00" b="0" i="0">
                <a:solidFill>
                  <a:srgbClr val="FFFFFF"/>
                </a:solidFill>
                <a:latin typeface="Montserrat"/>
              </a:rPr>
              <a:t>Reprodução das figuras oficiais permitida sem fins lucrativos, citada a fonte (MMA).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FFFFFF">
                <a:alpha val="22000"/>
              </a:srgbClr>
            </a:solidFill>
            <a:round/>
          </a:ln>
          <a:effectLst/>
        </p:spPr>
      </p:cxnSp>
      <p:pic>
        <p:nvPicPr>
          <p:cNvPr id="78" name="Picture 77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FFFFFF"/>
                </a:solidFill>
                <a:latin typeface="Montserrat"/>
              </a:rPr>
              <a:t>MTR Nacional  ·  Login Único Gov.br    |    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