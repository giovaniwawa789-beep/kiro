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flip="none" rotWithShape="1">
            <a:gsLst>
              <a:gs pos="0">
                <a:srgbClr val="090818"/>
              </a:gs>
              <a:gs pos="34000">
                <a:srgbClr val="0E0D28"/>
              </a:gs>
              <a:gs pos="70000">
                <a:srgbClr val="24238E"/>
              </a:gs>
              <a:gs pos="100000">
                <a:srgbClr val="3432C9"/>
              </a:gs>
            </a:gsLst>
            <a:lin ang="0" scaled="0"/>
          </a:gra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 flipV="1">
            <a:off x="-6858000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4" name="Connector 3"/>
          <p:cNvCxnSpPr/>
          <p:nvPr/>
        </p:nvCxnSpPr>
        <p:spPr>
          <a:xfrm flipV="1">
            <a:off x="-6437376" y="0"/>
            <a:ext cx="6857999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5" name="Connector 4"/>
          <p:cNvCxnSpPr/>
          <p:nvPr/>
        </p:nvCxnSpPr>
        <p:spPr>
          <a:xfrm flipV="1">
            <a:off x="-6016752" y="0"/>
            <a:ext cx="6857999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6" name="Connector 5"/>
          <p:cNvCxnSpPr/>
          <p:nvPr/>
        </p:nvCxnSpPr>
        <p:spPr>
          <a:xfrm flipV="1">
            <a:off x="-5596128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7" name="Connector 6"/>
          <p:cNvCxnSpPr/>
          <p:nvPr/>
        </p:nvCxnSpPr>
        <p:spPr>
          <a:xfrm flipV="1">
            <a:off x="-5175504" y="0"/>
            <a:ext cx="6857999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8" name="Connector 7"/>
          <p:cNvCxnSpPr/>
          <p:nvPr/>
        </p:nvCxnSpPr>
        <p:spPr>
          <a:xfrm flipV="1">
            <a:off x="-4754879" y="0"/>
            <a:ext cx="6857999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9" name="Connector 8"/>
          <p:cNvCxnSpPr/>
          <p:nvPr/>
        </p:nvCxnSpPr>
        <p:spPr>
          <a:xfrm flipV="1">
            <a:off x="-4334256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10" name="Connector 9"/>
          <p:cNvCxnSpPr/>
          <p:nvPr/>
        </p:nvCxnSpPr>
        <p:spPr>
          <a:xfrm flipV="1">
            <a:off x="-3913631" y="0"/>
            <a:ext cx="6857999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11" name="Connector 10"/>
          <p:cNvCxnSpPr/>
          <p:nvPr/>
        </p:nvCxnSpPr>
        <p:spPr>
          <a:xfrm flipV="1">
            <a:off x="-3493008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12" name="Connector 11"/>
          <p:cNvCxnSpPr/>
          <p:nvPr/>
        </p:nvCxnSpPr>
        <p:spPr>
          <a:xfrm flipV="1">
            <a:off x="-3072383" y="0"/>
            <a:ext cx="6857999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13" name="Connector 12"/>
          <p:cNvCxnSpPr/>
          <p:nvPr/>
        </p:nvCxnSpPr>
        <p:spPr>
          <a:xfrm flipV="1">
            <a:off x="-2651759" y="0"/>
            <a:ext cx="6857999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14" name="Connector 13"/>
          <p:cNvCxnSpPr/>
          <p:nvPr/>
        </p:nvCxnSpPr>
        <p:spPr>
          <a:xfrm flipV="1">
            <a:off x="-2231135" y="0"/>
            <a:ext cx="6857999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15" name="Connector 14"/>
          <p:cNvCxnSpPr/>
          <p:nvPr/>
        </p:nvCxnSpPr>
        <p:spPr>
          <a:xfrm flipV="1">
            <a:off x="-1810511" y="0"/>
            <a:ext cx="6857999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16" name="Connector 15"/>
          <p:cNvCxnSpPr/>
          <p:nvPr/>
        </p:nvCxnSpPr>
        <p:spPr>
          <a:xfrm flipV="1">
            <a:off x="-1389887" y="0"/>
            <a:ext cx="6857999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17" name="Connector 16"/>
          <p:cNvCxnSpPr/>
          <p:nvPr/>
        </p:nvCxnSpPr>
        <p:spPr>
          <a:xfrm flipV="1">
            <a:off x="-969263" y="0"/>
            <a:ext cx="6857999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18" name="Connector 17"/>
          <p:cNvCxnSpPr/>
          <p:nvPr/>
        </p:nvCxnSpPr>
        <p:spPr>
          <a:xfrm flipV="1">
            <a:off x="-548639" y="0"/>
            <a:ext cx="6857999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19" name="Connector 18"/>
          <p:cNvCxnSpPr/>
          <p:nvPr/>
        </p:nvCxnSpPr>
        <p:spPr>
          <a:xfrm flipV="1">
            <a:off x="-128015" y="0"/>
            <a:ext cx="6857999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20" name="Connector 19"/>
          <p:cNvCxnSpPr/>
          <p:nvPr/>
        </p:nvCxnSpPr>
        <p:spPr>
          <a:xfrm flipV="1">
            <a:off x="292608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21" name="Connector 20"/>
          <p:cNvCxnSpPr/>
          <p:nvPr/>
        </p:nvCxnSpPr>
        <p:spPr>
          <a:xfrm flipV="1">
            <a:off x="713232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22" name="Connector 21"/>
          <p:cNvCxnSpPr/>
          <p:nvPr/>
        </p:nvCxnSpPr>
        <p:spPr>
          <a:xfrm flipV="1">
            <a:off x="1133856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23" name="Connector 22"/>
          <p:cNvCxnSpPr/>
          <p:nvPr/>
        </p:nvCxnSpPr>
        <p:spPr>
          <a:xfrm flipV="1">
            <a:off x="1554480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24" name="Connector 23"/>
          <p:cNvCxnSpPr/>
          <p:nvPr/>
        </p:nvCxnSpPr>
        <p:spPr>
          <a:xfrm flipV="1">
            <a:off x="1975104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25" name="Connector 24"/>
          <p:cNvCxnSpPr/>
          <p:nvPr/>
        </p:nvCxnSpPr>
        <p:spPr>
          <a:xfrm flipV="1">
            <a:off x="2395728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26" name="Connector 25"/>
          <p:cNvCxnSpPr/>
          <p:nvPr/>
        </p:nvCxnSpPr>
        <p:spPr>
          <a:xfrm flipV="1">
            <a:off x="2816352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27" name="Connector 26"/>
          <p:cNvCxnSpPr/>
          <p:nvPr/>
        </p:nvCxnSpPr>
        <p:spPr>
          <a:xfrm flipV="1">
            <a:off x="3236976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28" name="Connector 27"/>
          <p:cNvCxnSpPr/>
          <p:nvPr/>
        </p:nvCxnSpPr>
        <p:spPr>
          <a:xfrm flipV="1">
            <a:off x="3657600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29" name="Connector 28"/>
          <p:cNvCxnSpPr/>
          <p:nvPr/>
        </p:nvCxnSpPr>
        <p:spPr>
          <a:xfrm flipV="1">
            <a:off x="4078224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30" name="Connector 29"/>
          <p:cNvCxnSpPr/>
          <p:nvPr/>
        </p:nvCxnSpPr>
        <p:spPr>
          <a:xfrm flipV="1">
            <a:off x="4498848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31" name="Connector 30"/>
          <p:cNvCxnSpPr/>
          <p:nvPr/>
        </p:nvCxnSpPr>
        <p:spPr>
          <a:xfrm flipV="1">
            <a:off x="4919472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5340096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33" name="Connector 32"/>
          <p:cNvCxnSpPr/>
          <p:nvPr/>
        </p:nvCxnSpPr>
        <p:spPr>
          <a:xfrm flipV="1">
            <a:off x="5760720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6181344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35" name="Connector 34"/>
          <p:cNvCxnSpPr/>
          <p:nvPr/>
        </p:nvCxnSpPr>
        <p:spPr>
          <a:xfrm flipV="1">
            <a:off x="6601968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36" name="Connector 35"/>
          <p:cNvCxnSpPr/>
          <p:nvPr/>
        </p:nvCxnSpPr>
        <p:spPr>
          <a:xfrm flipV="1">
            <a:off x="7022592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37" name="Connector 36"/>
          <p:cNvCxnSpPr/>
          <p:nvPr/>
        </p:nvCxnSpPr>
        <p:spPr>
          <a:xfrm flipV="1">
            <a:off x="7443216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38" name="Connector 37"/>
          <p:cNvCxnSpPr/>
          <p:nvPr/>
        </p:nvCxnSpPr>
        <p:spPr>
          <a:xfrm flipV="1">
            <a:off x="7863840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39" name="Connector 38"/>
          <p:cNvCxnSpPr/>
          <p:nvPr/>
        </p:nvCxnSpPr>
        <p:spPr>
          <a:xfrm flipV="1">
            <a:off x="8284464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40" name="Connector 39"/>
          <p:cNvCxnSpPr/>
          <p:nvPr/>
        </p:nvCxnSpPr>
        <p:spPr>
          <a:xfrm flipV="1">
            <a:off x="8705088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41" name="Connector 40"/>
          <p:cNvCxnSpPr/>
          <p:nvPr/>
        </p:nvCxnSpPr>
        <p:spPr>
          <a:xfrm flipV="1">
            <a:off x="9125712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42" name="Connector 41"/>
          <p:cNvCxnSpPr/>
          <p:nvPr/>
        </p:nvCxnSpPr>
        <p:spPr>
          <a:xfrm flipV="1">
            <a:off x="9546336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43" name="Connector 42"/>
          <p:cNvCxnSpPr/>
          <p:nvPr/>
        </p:nvCxnSpPr>
        <p:spPr>
          <a:xfrm flipV="1">
            <a:off x="9966960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44" name="Connector 43"/>
          <p:cNvCxnSpPr/>
          <p:nvPr/>
        </p:nvCxnSpPr>
        <p:spPr>
          <a:xfrm flipV="1">
            <a:off x="10387584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45" name="Connector 44"/>
          <p:cNvCxnSpPr/>
          <p:nvPr/>
        </p:nvCxnSpPr>
        <p:spPr>
          <a:xfrm flipV="1">
            <a:off x="10808208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46" name="Connector 45"/>
          <p:cNvCxnSpPr/>
          <p:nvPr/>
        </p:nvCxnSpPr>
        <p:spPr>
          <a:xfrm flipV="1">
            <a:off x="11228832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47" name="Connector 46"/>
          <p:cNvCxnSpPr/>
          <p:nvPr/>
        </p:nvCxnSpPr>
        <p:spPr>
          <a:xfrm flipV="1">
            <a:off x="11649456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48" name="Connector 47"/>
          <p:cNvCxnSpPr/>
          <p:nvPr/>
        </p:nvCxnSpPr>
        <p:spPr>
          <a:xfrm flipV="1">
            <a:off x="12070080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49" name="Connector 48"/>
          <p:cNvCxnSpPr/>
          <p:nvPr/>
        </p:nvCxnSpPr>
        <p:spPr>
          <a:xfrm flipV="1">
            <a:off x="12490704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sp>
        <p:nvSpPr>
          <p:cNvPr id="50" name="Rectangle 49"/>
          <p:cNvSpPr/>
          <p:nvPr/>
        </p:nvSpPr>
        <p:spPr>
          <a:xfrm>
            <a:off x="5120627" y="0"/>
            <a:ext cx="7071342" cy="6858000"/>
          </a:xfrm>
          <a:prstGeom prst="rect">
            <a:avLst/>
          </a:prstGeom>
          <a:gradFill flip="none" rotWithShape="1">
            <a:gsLst>
              <a:gs pos="0">
                <a:srgbClr val="3432C9">
                  <a:alpha val="0"/>
                </a:srgbClr>
              </a:gs>
              <a:gs pos="100000">
                <a:srgbClr val="3432C9">
                  <a:alpha val="32000"/>
                </a:srgbClr>
              </a:gs>
            </a:gsLst>
            <a:lin ang="0" scaled="0"/>
          </a:gra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cxnSp>
        <p:nvCxnSpPr>
          <p:cNvPr id="51" name="Connector 50"/>
          <p:cNvCxnSpPr/>
          <p:nvPr/>
        </p:nvCxnSpPr>
        <p:spPr>
          <a:xfrm>
            <a:off x="7132320" y="0"/>
            <a:ext cx="0" cy="6858000"/>
          </a:xfrm>
          <a:prstGeom prst="line">
            <a:avLst/>
          </a:prstGeom>
          <a:ln w="9525" cap="rnd">
            <a:solidFill>
              <a:srgbClr val="FFFFFF">
                <a:alpha val="18000"/>
              </a:srgbClr>
            </a:solidFill>
            <a:round/>
          </a:ln>
          <a:effectLst/>
        </p:spPr>
      </p:cxnSp>
      <p:sp>
        <p:nvSpPr>
          <p:cNvPr id="52" name="Rounded Rectangle 51"/>
          <p:cNvSpPr/>
          <p:nvPr/>
        </p:nvSpPr>
        <p:spPr>
          <a:xfrm>
            <a:off x="7726680" y="2084831"/>
            <a:ext cx="3246120" cy="2697480"/>
          </a:xfrm>
          <a:prstGeom prst="roundRect">
            <a:avLst>
              <a:gd name="adj" fmla="val 4500"/>
            </a:avLst>
          </a:prstGeom>
          <a:solidFill>
            <a:srgbClr val="FFFFFF">
              <a:alpha val="7000"/>
            </a:srgbClr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53" name="Rounded Rectangle 52"/>
          <p:cNvSpPr/>
          <p:nvPr/>
        </p:nvSpPr>
        <p:spPr>
          <a:xfrm>
            <a:off x="7726680" y="2084831"/>
            <a:ext cx="3246120" cy="2697480"/>
          </a:xfrm>
          <a:prstGeom prst="roundRect">
            <a:avLst>
              <a:gd name="adj" fmla="val 4500"/>
            </a:avLst>
          </a:prstGeom>
          <a:noFill/>
          <a:ln w="11430" cap="rnd">
            <a:solidFill>
              <a:srgbClr val="FFFFFF">
                <a:alpha val="30000"/>
              </a:srgbClr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54" name="Freeform 53"/>
          <p:cNvSpPr/>
          <p:nvPr/>
        </p:nvSpPr>
        <p:spPr>
          <a:xfrm>
            <a:off x="8069763" y="2484242"/>
            <a:ext cx="337962" cy="225308"/>
          </a:xfrm>
          <a:custGeom>
            <a:avLst/>
            <a:gdLst/>
            <a:ahLst/>
            <a:cxnLst/>
            <a:rect l="l" t="t" r="r" b="b"/>
            <a:pathLst>
              <a:path w="337962" h="225308">
                <a:moveTo>
                  <a:pt x="0" y="0"/>
                </a:moveTo>
                <a:lnTo>
                  <a:pt x="337962" y="0"/>
                </a:lnTo>
                <a:lnTo>
                  <a:pt x="337962" y="225308"/>
                </a:lnTo>
                <a:lnTo>
                  <a:pt x="0" y="225308"/>
                </a:lnTo>
                <a:close/>
              </a:path>
            </a:pathLst>
          </a:custGeom>
          <a:noFill/>
          <a:ln w="1587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118043" y="2524475"/>
            <a:ext cx="80467" cy="80467"/>
          </a:xfrm>
          <a:prstGeom prst="ellipse">
            <a:avLst/>
          </a:prstGeom>
          <a:noFill/>
          <a:ln w="14288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56" name="Freeform 55"/>
          <p:cNvSpPr/>
          <p:nvPr/>
        </p:nvSpPr>
        <p:spPr>
          <a:xfrm>
            <a:off x="8101566" y="2617013"/>
            <a:ext cx="113422" cy="29120"/>
          </a:xfrm>
          <a:custGeom>
            <a:avLst/>
            <a:gdLst/>
            <a:ahLst/>
            <a:cxnLst/>
            <a:rect l="l" t="t" r="r" b="b"/>
            <a:pathLst>
              <a:path w="113422" h="29120">
                <a:moveTo>
                  <a:pt x="0" y="29120"/>
                </a:moveTo>
                <a:lnTo>
                  <a:pt x="3315" y="23631"/>
                </a:lnTo>
                <a:lnTo>
                  <a:pt x="7613" y="18522"/>
                </a:lnTo>
                <a:lnTo>
                  <a:pt x="12814" y="13886"/>
                </a:lnTo>
                <a:lnTo>
                  <a:pt x="18822" y="9809"/>
                </a:lnTo>
                <a:lnTo>
                  <a:pt x="25528" y="6365"/>
                </a:lnTo>
                <a:lnTo>
                  <a:pt x="32807" y="3619"/>
                </a:lnTo>
                <a:lnTo>
                  <a:pt x="40526" y="1621"/>
                </a:lnTo>
                <a:lnTo>
                  <a:pt x="48544" y="407"/>
                </a:lnTo>
                <a:lnTo>
                  <a:pt x="56711" y="0"/>
                </a:lnTo>
                <a:lnTo>
                  <a:pt x="64878" y="407"/>
                </a:lnTo>
                <a:lnTo>
                  <a:pt x="72895" y="1621"/>
                </a:lnTo>
                <a:lnTo>
                  <a:pt x="80614" y="3619"/>
                </a:lnTo>
                <a:lnTo>
                  <a:pt x="87894" y="6365"/>
                </a:lnTo>
                <a:lnTo>
                  <a:pt x="94600" y="9809"/>
                </a:lnTo>
                <a:lnTo>
                  <a:pt x="100608" y="13886"/>
                </a:lnTo>
                <a:lnTo>
                  <a:pt x="105809" y="18522"/>
                </a:lnTo>
                <a:lnTo>
                  <a:pt x="110107" y="23631"/>
                </a:lnTo>
                <a:lnTo>
                  <a:pt x="113422" y="29120"/>
                </a:lnTo>
              </a:path>
            </a:pathLst>
          </a:custGeom>
          <a:noFill/>
          <a:ln w="13494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8246791" y="2548616"/>
            <a:ext cx="120701" cy="0"/>
          </a:xfrm>
          <a:custGeom>
            <a:avLst/>
            <a:gdLst/>
            <a:ahLst/>
            <a:cxnLst/>
            <a:rect l="l" t="t" r="r" b="b"/>
            <a:pathLst>
              <a:path w="120701" h="0">
                <a:moveTo>
                  <a:pt x="0" y="0"/>
                </a:moveTo>
                <a:lnTo>
                  <a:pt x="120701" y="0"/>
                </a:lnTo>
              </a:path>
            </a:pathLst>
          </a:custGeom>
          <a:noFill/>
          <a:ln w="11112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8246791" y="2596896"/>
            <a:ext cx="120701" cy="0"/>
          </a:xfrm>
          <a:custGeom>
            <a:avLst/>
            <a:gdLst/>
            <a:ahLst/>
            <a:cxnLst/>
            <a:rect l="l" t="t" r="r" b="b"/>
            <a:pathLst>
              <a:path w="120701" h="0">
                <a:moveTo>
                  <a:pt x="0" y="0"/>
                </a:moveTo>
                <a:lnTo>
                  <a:pt x="120701" y="0"/>
                </a:lnTo>
              </a:path>
            </a:pathLst>
          </a:custGeom>
          <a:noFill/>
          <a:ln w="11112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8246791" y="2645176"/>
            <a:ext cx="120701" cy="0"/>
          </a:xfrm>
          <a:custGeom>
            <a:avLst/>
            <a:gdLst/>
            <a:ahLst/>
            <a:cxnLst/>
            <a:rect l="l" t="t" r="r" b="b"/>
            <a:pathLst>
              <a:path w="120701" h="0">
                <a:moveTo>
                  <a:pt x="0" y="0"/>
                </a:moveTo>
                <a:lnTo>
                  <a:pt x="120701" y="0"/>
                </a:lnTo>
              </a:path>
            </a:pathLst>
          </a:custGeom>
          <a:noFill/>
          <a:ln w="11112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86216" y="2450591"/>
            <a:ext cx="20116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60" b="0" i="0">
                <a:solidFill>
                  <a:srgbClr val="FFFFFF"/>
                </a:solidFill>
                <a:latin typeface="Montserrat SemiBold"/>
              </a:rPr>
              <a:t>Conta Gov.br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37576" y="2907791"/>
            <a:ext cx="23774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60" b="0" i="0" spc="120" cap="all">
                <a:solidFill>
                  <a:srgbClr val="FFFFFF"/>
                </a:solidFill>
                <a:latin typeface="Montserrat"/>
              </a:rPr>
              <a:t>CPF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037576" y="3182112"/>
            <a:ext cx="2624328" cy="0"/>
          </a:xfrm>
          <a:prstGeom prst="line">
            <a:avLst/>
          </a:prstGeom>
          <a:ln w="12700" cap="rnd">
            <a:solidFill>
              <a:srgbClr val="FFFFFF">
                <a:alpha val="45000"/>
              </a:srgbClr>
            </a:solidFill>
            <a:round/>
          </a:ln>
          <a:effectLst/>
        </p:spPr>
      </p:cxnSp>
      <p:sp>
        <p:nvSpPr>
          <p:cNvPr id="63" name="TextBox 62"/>
          <p:cNvSpPr txBox="1"/>
          <p:nvPr/>
        </p:nvSpPr>
        <p:spPr>
          <a:xfrm>
            <a:off x="8037576" y="3474720"/>
            <a:ext cx="23774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760" b="0" i="0" spc="120" cap="all">
                <a:solidFill>
                  <a:srgbClr val="FFFFFF"/>
                </a:solidFill>
                <a:latin typeface="Montserrat"/>
              </a:rPr>
              <a:t>Senha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8037576" y="3749039"/>
            <a:ext cx="2624328" cy="0"/>
          </a:xfrm>
          <a:prstGeom prst="line">
            <a:avLst/>
          </a:prstGeom>
          <a:ln w="12700" cap="rnd">
            <a:solidFill>
              <a:srgbClr val="FFFFFF">
                <a:alpha val="45000"/>
              </a:srgbClr>
            </a:solidFill>
            <a:round/>
          </a:ln>
          <a:effectLst/>
        </p:spPr>
      </p:cxnSp>
      <p:sp>
        <p:nvSpPr>
          <p:cNvPr id="65" name="Rounded Rectangle 64"/>
          <p:cNvSpPr/>
          <p:nvPr/>
        </p:nvSpPr>
        <p:spPr>
          <a:xfrm>
            <a:off x="8037576" y="4224527"/>
            <a:ext cx="1389888" cy="365760"/>
          </a:xfrm>
          <a:prstGeom prst="roundRect">
            <a:avLst>
              <a:gd name="adj" fmla="val 22000"/>
            </a:avLst>
          </a:prstGeom>
          <a:solidFill>
            <a:srgbClr val="FFFFFF">
              <a:alpha val="92000"/>
            </a:srgbClr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8037576" y="4224527"/>
            <a:ext cx="1389888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940" b="0" i="0" spc="100" cap="all">
                <a:solidFill>
                  <a:srgbClr val="17165D"/>
                </a:solidFill>
                <a:latin typeface="Montserrat SemiBold"/>
              </a:rPr>
              <a:t>Entrar</a:t>
            </a:r>
          </a:p>
        </p:txBody>
      </p:sp>
      <p:sp>
        <p:nvSpPr>
          <p:cNvPr id="67" name="Freeform 66"/>
          <p:cNvSpPr/>
          <p:nvPr/>
        </p:nvSpPr>
        <p:spPr>
          <a:xfrm>
            <a:off x="10386852" y="4394241"/>
            <a:ext cx="184344" cy="144841"/>
          </a:xfrm>
          <a:custGeom>
            <a:avLst/>
            <a:gdLst/>
            <a:ahLst/>
            <a:cxnLst/>
            <a:rect l="l" t="t" r="r" b="b"/>
            <a:pathLst>
              <a:path w="184344" h="144841">
                <a:moveTo>
                  <a:pt x="0" y="0"/>
                </a:moveTo>
                <a:lnTo>
                  <a:pt x="184344" y="0"/>
                </a:lnTo>
                <a:lnTo>
                  <a:pt x="184344" y="144841"/>
                </a:lnTo>
                <a:lnTo>
                  <a:pt x="0" y="144841"/>
                </a:lnTo>
                <a:close/>
              </a:path>
            </a:pathLst>
          </a:custGeom>
          <a:noFill/>
          <a:ln w="1587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10423063" y="4338279"/>
            <a:ext cx="111922" cy="55962"/>
          </a:xfrm>
          <a:custGeom>
            <a:avLst/>
            <a:gdLst/>
            <a:ahLst/>
            <a:cxnLst/>
            <a:rect l="l" t="t" r="r" b="b"/>
            <a:pathLst>
              <a:path w="111922" h="55962">
                <a:moveTo>
                  <a:pt x="0" y="55962"/>
                </a:moveTo>
                <a:lnTo>
                  <a:pt x="478" y="48657"/>
                </a:lnTo>
                <a:lnTo>
                  <a:pt x="1907" y="41478"/>
                </a:lnTo>
                <a:lnTo>
                  <a:pt x="4260" y="34546"/>
                </a:lnTo>
                <a:lnTo>
                  <a:pt x="7497" y="27981"/>
                </a:lnTo>
                <a:lnTo>
                  <a:pt x="11564" y="21895"/>
                </a:lnTo>
                <a:lnTo>
                  <a:pt x="16390" y="16391"/>
                </a:lnTo>
                <a:lnTo>
                  <a:pt x="21894" y="11565"/>
                </a:lnTo>
                <a:lnTo>
                  <a:pt x="27980" y="7498"/>
                </a:lnTo>
                <a:lnTo>
                  <a:pt x="34546" y="4260"/>
                </a:lnTo>
                <a:lnTo>
                  <a:pt x="41477" y="1907"/>
                </a:lnTo>
                <a:lnTo>
                  <a:pt x="48657" y="479"/>
                </a:lnTo>
                <a:lnTo>
                  <a:pt x="55961" y="0"/>
                </a:lnTo>
                <a:lnTo>
                  <a:pt x="63265" y="479"/>
                </a:lnTo>
                <a:lnTo>
                  <a:pt x="70445" y="1907"/>
                </a:lnTo>
                <a:lnTo>
                  <a:pt x="77376" y="4260"/>
                </a:lnTo>
                <a:lnTo>
                  <a:pt x="83942" y="7498"/>
                </a:lnTo>
                <a:lnTo>
                  <a:pt x="90028" y="11565"/>
                </a:lnTo>
                <a:lnTo>
                  <a:pt x="95532" y="16391"/>
                </a:lnTo>
                <a:lnTo>
                  <a:pt x="100358" y="21895"/>
                </a:lnTo>
                <a:lnTo>
                  <a:pt x="104425" y="27981"/>
                </a:lnTo>
                <a:lnTo>
                  <a:pt x="107662" y="34546"/>
                </a:lnTo>
                <a:lnTo>
                  <a:pt x="110015" y="41478"/>
                </a:lnTo>
                <a:lnTo>
                  <a:pt x="111444" y="48657"/>
                </a:lnTo>
                <a:lnTo>
                  <a:pt x="111922" y="55962"/>
                </a:lnTo>
              </a:path>
            </a:pathLst>
          </a:custGeom>
          <a:noFill/>
          <a:ln w="1587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455981" y="4430450"/>
            <a:ext cx="46085" cy="46085"/>
          </a:xfrm>
          <a:prstGeom prst="ellipse">
            <a:avLst/>
          </a:prstGeom>
          <a:noFill/>
          <a:ln w="1587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70" name="Freeform 69"/>
          <p:cNvSpPr/>
          <p:nvPr/>
        </p:nvSpPr>
        <p:spPr>
          <a:xfrm>
            <a:off x="10479024" y="4473245"/>
            <a:ext cx="0" cy="32918"/>
          </a:xfrm>
          <a:custGeom>
            <a:avLst/>
            <a:gdLst/>
            <a:ahLst/>
            <a:cxnLst/>
            <a:rect l="l" t="t" r="r" b="b"/>
            <a:pathLst>
              <a:path w="0" h="32918">
                <a:moveTo>
                  <a:pt x="0" y="0"/>
                </a:moveTo>
                <a:lnTo>
                  <a:pt x="0" y="32918"/>
                </a:lnTo>
              </a:path>
            </a:pathLst>
          </a:custGeom>
          <a:noFill/>
          <a:ln w="14288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10826133" y="963990"/>
            <a:ext cx="105366" cy="182499"/>
          </a:xfrm>
          <a:custGeom>
            <a:avLst/>
            <a:gdLst/>
            <a:ahLst/>
            <a:cxnLst/>
            <a:rect l="l" t="t" r="r" b="b"/>
            <a:pathLst>
              <a:path w="105366" h="182499">
                <a:moveTo>
                  <a:pt x="0" y="0"/>
                </a:moveTo>
                <a:lnTo>
                  <a:pt x="105366" y="182499"/>
                </a:lnTo>
              </a:path>
            </a:pathLst>
          </a:custGeom>
          <a:noFill/>
          <a:ln w="1587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10883731" y="1090197"/>
            <a:ext cx="47768" cy="56292"/>
          </a:xfrm>
          <a:custGeom>
            <a:avLst/>
            <a:gdLst/>
            <a:ahLst/>
            <a:cxnLst/>
            <a:rect l="l" t="t" r="r" b="b"/>
            <a:pathLst>
              <a:path w="47768" h="56292">
                <a:moveTo>
                  <a:pt x="47768" y="56292"/>
                </a:moveTo>
                <a:lnTo>
                  <a:pt x="0" y="26444"/>
                </a:lnTo>
                <a:lnTo>
                  <a:pt x="45802" y="0"/>
                </a:lnTo>
                <a:close/>
              </a:path>
            </a:pathLst>
          </a:custGeom>
          <a:solidFill>
            <a:srgbClr val="FFFFFF"/>
          </a:solidFill>
          <a:ln w="95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10735401" y="1202253"/>
            <a:ext cx="210732" cy="0"/>
          </a:xfrm>
          <a:custGeom>
            <a:avLst/>
            <a:gdLst/>
            <a:ahLst/>
            <a:cxnLst/>
            <a:rect l="l" t="t" r="r" b="b"/>
            <a:pathLst>
              <a:path w="210732" h="0">
                <a:moveTo>
                  <a:pt x="210732" y="0"/>
                </a:moveTo>
                <a:lnTo>
                  <a:pt x="0" y="0"/>
                </a:lnTo>
              </a:path>
            </a:pathLst>
          </a:custGeom>
          <a:noFill/>
          <a:ln w="1587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10735401" y="1175809"/>
            <a:ext cx="49733" cy="52888"/>
          </a:xfrm>
          <a:custGeom>
            <a:avLst/>
            <a:gdLst/>
            <a:ahLst/>
            <a:cxnLst/>
            <a:rect l="l" t="t" r="r" b="b"/>
            <a:pathLst>
              <a:path w="49733" h="52888">
                <a:moveTo>
                  <a:pt x="0" y="26444"/>
                </a:moveTo>
                <a:lnTo>
                  <a:pt x="49733" y="0"/>
                </a:lnTo>
                <a:lnTo>
                  <a:pt x="49733" y="52888"/>
                </a:lnTo>
                <a:close/>
              </a:path>
            </a:pathLst>
          </a:custGeom>
          <a:solidFill>
            <a:srgbClr val="FFFFFF"/>
          </a:solidFill>
          <a:ln w="95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10679791" y="1004545"/>
            <a:ext cx="105366" cy="182500"/>
          </a:xfrm>
          <a:custGeom>
            <a:avLst/>
            <a:gdLst/>
            <a:ahLst/>
            <a:cxnLst/>
            <a:rect l="l" t="t" r="r" b="b"/>
            <a:pathLst>
              <a:path w="105366" h="182500">
                <a:moveTo>
                  <a:pt x="0" y="182500"/>
                </a:moveTo>
                <a:lnTo>
                  <a:pt x="105366" y="0"/>
                </a:lnTo>
              </a:path>
            </a:pathLst>
          </a:custGeom>
          <a:noFill/>
          <a:ln w="1587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10737389" y="1004545"/>
            <a:ext cx="47768" cy="56293"/>
          </a:xfrm>
          <a:custGeom>
            <a:avLst/>
            <a:gdLst/>
            <a:ahLst/>
            <a:cxnLst/>
            <a:rect l="l" t="t" r="r" b="b"/>
            <a:pathLst>
              <a:path w="47768" h="56293">
                <a:moveTo>
                  <a:pt x="47768" y="0"/>
                </a:moveTo>
                <a:lnTo>
                  <a:pt x="45802" y="56293"/>
                </a:lnTo>
                <a:lnTo>
                  <a:pt x="0" y="29849"/>
                </a:lnTo>
                <a:close/>
              </a:path>
            </a:pathLst>
          </a:custGeom>
          <a:solidFill>
            <a:srgbClr val="FFFFFF"/>
          </a:solidFill>
          <a:ln w="95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777240" y="1327708"/>
            <a:ext cx="274320" cy="0"/>
          </a:xfrm>
          <a:prstGeom prst="line">
            <a:avLst/>
          </a:prstGeom>
          <a:ln w="20320" cap="rnd">
            <a:solidFill>
              <a:srgbClr val="FFFFFF"/>
            </a:solidFill>
            <a:round/>
          </a:ln>
          <a:effectLst/>
        </p:spPr>
      </p:cxnSp>
      <p:sp>
        <p:nvSpPr>
          <p:cNvPr id="78" name="TextBox 77"/>
          <p:cNvSpPr txBox="1"/>
          <p:nvPr/>
        </p:nvSpPr>
        <p:spPr>
          <a:xfrm>
            <a:off x="1197863" y="1239012"/>
            <a:ext cx="7315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 spc="190" cap="all">
                <a:solidFill>
                  <a:srgbClr val="FFFFFF"/>
                </a:solidFill>
                <a:latin typeface="Montserrat SemiBold"/>
              </a:rPr>
              <a:t>Comunicado aos clientes geradores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7240" y="1609344"/>
            <a:ext cx="6583680" cy="1371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200" b="0" i="0">
                <a:solidFill>
                  <a:srgbClr val="FFFFFF"/>
                </a:solidFill>
                <a:latin typeface="Montserrat Light"/>
              </a:rPr>
              <a:t>Nova forma de acesso ao
</a:t>
            </a:r>
            <a:r>
              <a:rPr sz="3200" b="0" i="0">
                <a:solidFill>
                  <a:srgbClr val="FFFFFF"/>
                </a:solidFill>
                <a:latin typeface="Montserrat SemiBold"/>
              </a:rPr>
              <a:t>MTR Nacional</a:t>
            </a:r>
            <a:r>
              <a:rPr sz="3200" b="0" i="0">
                <a:solidFill>
                  <a:srgbClr val="FFFFFF"/>
                </a:solidFill>
                <a:latin typeface="Montserrat Light"/>
              </a:rPr>
              <a:t>:
Login Único Gov.br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777240" y="3877056"/>
            <a:ext cx="960120" cy="0"/>
          </a:xfrm>
          <a:prstGeom prst="line">
            <a:avLst/>
          </a:prstGeom>
          <a:ln w="22860" cap="rnd">
            <a:solidFill>
              <a:srgbClr val="FFFFFF">
                <a:alpha val="75000"/>
              </a:srgbClr>
            </a:solidFill>
            <a:round/>
          </a:ln>
          <a:effectLst/>
        </p:spPr>
      </p:cxnSp>
      <p:sp>
        <p:nvSpPr>
          <p:cNvPr id="81" name="TextBox 80"/>
          <p:cNvSpPr txBox="1"/>
          <p:nvPr/>
        </p:nvSpPr>
        <p:spPr>
          <a:xfrm>
            <a:off x="777240" y="4114800"/>
            <a:ext cx="6035040" cy="914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FFFFFF"/>
                </a:solidFill>
                <a:latin typeface="Montserrat Light"/>
              </a:rPr>
              <a:t>O que mudou desde 1º de agosto de 2026 e como autorizar o nosso</a:t>
            </a: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FFFFFF"/>
                </a:solidFill>
                <a:latin typeface="Montserrat Light"/>
              </a:rPr>
              <a:t>acesso para continuarmos emitindo os seus MTRs sem interrupção.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77240" y="5358384"/>
            <a:ext cx="36576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 i="0" spc="150" cap="all">
                <a:solidFill>
                  <a:srgbClr val="FFFFFF"/>
                </a:solidFill>
                <a:latin typeface="Montserrat"/>
              </a:rPr>
              <a:t>Material preparado por</a:t>
            </a:r>
          </a:p>
        </p:txBody>
      </p:sp>
      <p:pic>
        <p:nvPicPr>
          <p:cNvPr id="83" name="Picture 8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32704"/>
            <a:ext cx="1866990" cy="38404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7757129" y="5742432"/>
            <a:ext cx="365760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60" b="0" i="0" spc="80">
                <a:solidFill>
                  <a:srgbClr val="FFFFFF"/>
                </a:solidFill>
                <a:latin typeface="Montserrat"/>
              </a:rPr>
              <a:t>Setembro de 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5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>
            <a:off x="777240" y="669340"/>
            <a:ext cx="274320" cy="0"/>
          </a:xfrm>
          <a:prstGeom prst="line">
            <a:avLst/>
          </a:prstGeom>
          <a:ln w="20320" cap="rnd">
            <a:solidFill>
              <a:srgbClr val="3432C9"/>
            </a:solidFill>
            <a:round/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1197863" y="580644"/>
            <a:ext cx="7315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90" cap="all">
                <a:solidFill>
                  <a:srgbClr val="3432C9"/>
                </a:solidFill>
                <a:latin typeface="Montserrat SemiBold"/>
              </a:rPr>
              <a:t>O que mudou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332720" cy="1371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550" b="0" i="0">
                <a:solidFill>
                  <a:srgbClr val="14142E"/>
                </a:solidFill>
                <a:latin typeface="Montserrat Light"/>
              </a:rPr>
              <a:t>O acesso ao MTR Nacional agora é </a:t>
            </a:r>
            <a:r>
              <a:rPr sz="2550" b="0" i="0">
                <a:solidFill>
                  <a:srgbClr val="14142E"/>
                </a:solidFill>
                <a:latin typeface="Montserrat SemiBold"/>
              </a:rPr>
              <a:t>pelo Gov.br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37489" cy="0"/>
          </a:xfrm>
          <a:prstGeom prst="line">
            <a:avLst/>
          </a:prstGeom>
          <a:ln w="9525" cap="rnd">
            <a:solidFill>
              <a:srgbClr val="DFE2F0"/>
            </a:solidFill>
            <a:round/>
          </a:ln>
          <a:effectLst/>
        </p:spPr>
      </p:cxnSp>
      <p:pic>
        <p:nvPicPr>
          <p:cNvPr id="7" name="Picture 6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345936"/>
            <a:ext cx="1133529" cy="2331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76969" y="6396228"/>
            <a:ext cx="4937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750" b="0" i="0" spc="50">
                <a:solidFill>
                  <a:srgbClr val="9A9DB0"/>
                </a:solidFill>
                <a:latin typeface="Montserrat"/>
              </a:rPr>
              <a:t>MTR Nacional  ·  Login Único Gov.br    |    02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73936"/>
            <a:ext cx="10637489" cy="603504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0" name="Freeform 9"/>
          <p:cNvSpPr/>
          <p:nvPr/>
        </p:nvSpPr>
        <p:spPr>
          <a:xfrm>
            <a:off x="1046074" y="1994855"/>
            <a:ext cx="248716" cy="198973"/>
          </a:xfrm>
          <a:custGeom>
            <a:avLst/>
            <a:gdLst/>
            <a:ahLst/>
            <a:cxnLst/>
            <a:rect l="l" t="t" r="r" b="b"/>
            <a:pathLst>
              <a:path w="248716" h="198973">
                <a:moveTo>
                  <a:pt x="0" y="0"/>
                </a:moveTo>
                <a:lnTo>
                  <a:pt x="248716" y="0"/>
                </a:lnTo>
                <a:lnTo>
                  <a:pt x="248716" y="198973"/>
                </a:lnTo>
                <a:lnTo>
                  <a:pt x="0" y="198973"/>
                </a:lnTo>
                <a:close/>
              </a:path>
            </a:pathLst>
          </a:custGeom>
          <a:noFill/>
          <a:ln w="1587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046074" y="2050816"/>
            <a:ext cx="248716" cy="0"/>
          </a:xfrm>
          <a:custGeom>
            <a:avLst/>
            <a:gdLst/>
            <a:ahLst/>
            <a:cxnLst/>
            <a:rect l="l" t="t" r="r" b="b"/>
            <a:pathLst>
              <a:path w="248716" h="0">
                <a:moveTo>
                  <a:pt x="0" y="0"/>
                </a:moveTo>
                <a:lnTo>
                  <a:pt x="248716" y="0"/>
                </a:lnTo>
              </a:path>
            </a:pathLst>
          </a:custGeom>
          <a:noFill/>
          <a:ln w="14288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08253" y="1963765"/>
            <a:ext cx="0" cy="55962"/>
          </a:xfrm>
          <a:custGeom>
            <a:avLst/>
            <a:gdLst/>
            <a:ahLst/>
            <a:cxnLst/>
            <a:rect l="l" t="t" r="r" b="b"/>
            <a:pathLst>
              <a:path w="0" h="55962">
                <a:moveTo>
                  <a:pt x="0" y="0"/>
                </a:moveTo>
                <a:lnTo>
                  <a:pt x="0" y="55962"/>
                </a:lnTo>
              </a:path>
            </a:pathLst>
          </a:custGeom>
          <a:noFill/>
          <a:ln w="1587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232611" y="1963765"/>
            <a:ext cx="0" cy="55962"/>
          </a:xfrm>
          <a:custGeom>
            <a:avLst/>
            <a:gdLst/>
            <a:ahLst/>
            <a:cxnLst/>
            <a:rect l="l" t="t" r="r" b="b"/>
            <a:pathLst>
              <a:path w="0" h="55962">
                <a:moveTo>
                  <a:pt x="0" y="0"/>
                </a:moveTo>
                <a:lnTo>
                  <a:pt x="0" y="55962"/>
                </a:lnTo>
              </a:path>
            </a:pathLst>
          </a:custGeom>
          <a:noFill/>
          <a:ln w="1587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7267" y="2085792"/>
            <a:ext cx="17099" cy="17099"/>
          </a:xfrm>
          <a:prstGeom prst="ellipse">
            <a:avLst/>
          </a:prstGeom>
          <a:solidFill>
            <a:srgbClr val="FFFFFF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1137010" y="2085792"/>
            <a:ext cx="17099" cy="17099"/>
          </a:xfrm>
          <a:prstGeom prst="ellipse">
            <a:avLst/>
          </a:prstGeom>
          <a:solidFill>
            <a:srgbClr val="FFFFFF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1186754" y="2085792"/>
            <a:ext cx="17099" cy="17099"/>
          </a:xfrm>
          <a:prstGeom prst="ellipse">
            <a:avLst/>
          </a:prstGeom>
          <a:solidFill>
            <a:srgbClr val="FFFFFF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1236497" y="2085792"/>
            <a:ext cx="17099" cy="17099"/>
          </a:xfrm>
          <a:prstGeom prst="ellipse">
            <a:avLst/>
          </a:prstGeom>
          <a:solidFill>
            <a:srgbClr val="FFFFFF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1087267" y="2135535"/>
            <a:ext cx="17099" cy="17099"/>
          </a:xfrm>
          <a:prstGeom prst="ellipse">
            <a:avLst/>
          </a:prstGeom>
          <a:solidFill>
            <a:srgbClr val="FFFFFF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1137010" y="2135535"/>
            <a:ext cx="17099" cy="17099"/>
          </a:xfrm>
          <a:prstGeom prst="ellipse">
            <a:avLst/>
          </a:prstGeom>
          <a:solidFill>
            <a:srgbClr val="FFFFFF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1186754" y="2135535"/>
            <a:ext cx="17099" cy="17099"/>
          </a:xfrm>
          <a:prstGeom prst="ellipse">
            <a:avLst/>
          </a:prstGeom>
          <a:solidFill>
            <a:srgbClr val="FFFFFF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236497" y="2135535"/>
            <a:ext cx="17099" cy="17099"/>
          </a:xfrm>
          <a:prstGeom prst="ellipse">
            <a:avLst/>
          </a:prstGeom>
          <a:solidFill>
            <a:srgbClr val="FFFFFF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472184" y="1773936"/>
            <a:ext cx="9723089" cy="6035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</a:pPr>
            <a:r>
              <a:rPr sz="1140" b="0" i="0">
                <a:solidFill>
                  <a:srgbClr val="FFFFFF"/>
                </a:solidFill>
                <a:latin typeface="Montserrat SemiBold"/>
              </a:rPr>
              <a:t>Desde 1º de agosto de 2026</a:t>
            </a:r>
            <a:r>
              <a:rPr sz="1140" b="0" i="0">
                <a:solidFill>
                  <a:srgbClr val="FFFFFF"/>
                </a:solidFill>
                <a:latin typeface="Montserrat"/>
              </a:rPr>
              <a:t>, o acesso ao MTR Nacional – SINIR é feito exclusivamente por meio do Login Único Gov.br.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615184"/>
            <a:ext cx="2487168" cy="2121408"/>
          </a:xfrm>
          <a:prstGeom prst="rect">
            <a:avLst/>
          </a:prstGeom>
          <a:solidFill>
            <a:srgbClr val="FFFFFF"/>
          </a:solidFill>
          <a:ln w="12700" cap="rnd">
            <a:solidFill>
              <a:srgbClr val="DFE2F0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77240" y="2615184"/>
            <a:ext cx="2487168" cy="50292"/>
          </a:xfrm>
          <a:prstGeom prst="rect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1043147" y="2917667"/>
            <a:ext cx="346008" cy="346008"/>
          </a:xfrm>
          <a:prstGeom prst="ellipse">
            <a:avLst/>
          </a:prstGeom>
          <a:noFill/>
          <a:ln w="15875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6" name="Freeform 25"/>
          <p:cNvSpPr/>
          <p:nvPr/>
        </p:nvSpPr>
        <p:spPr>
          <a:xfrm>
            <a:off x="1095451" y="2969971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0" y="241402"/>
                </a:moveTo>
                <a:lnTo>
                  <a:pt x="241402" y="0"/>
                </a:lnTo>
              </a:path>
            </a:pathLst>
          </a:custGeom>
          <a:noFill/>
          <a:ln w="15875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3" y="3474720"/>
            <a:ext cx="2011680" cy="53035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14142E"/>
                </a:solidFill>
                <a:latin typeface="Montserrat SemiBold"/>
              </a:rPr>
              <a:t>A senha antiga não vale mais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3" y="4023360"/>
            <a:ext cx="2011680" cy="6217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80" b="0" i="0">
                <a:solidFill>
                  <a:srgbClr val="6E7288"/>
                </a:solidFill>
                <a:latin typeface="Montserrat"/>
              </a:rPr>
              <a:t>O login com a senha gerada pelo próprio sistema MTR foi descontinuado.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88436" y="2615184"/>
            <a:ext cx="2487168" cy="2121408"/>
          </a:xfrm>
          <a:prstGeom prst="rect">
            <a:avLst/>
          </a:prstGeom>
          <a:solidFill>
            <a:srgbClr val="FFFFFF"/>
          </a:solidFill>
          <a:ln w="12700" cap="rnd">
            <a:solidFill>
              <a:srgbClr val="DFE2F0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3488436" y="2615184"/>
            <a:ext cx="2487168" cy="50292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1" name="Freeform 30"/>
          <p:cNvSpPr/>
          <p:nvPr/>
        </p:nvSpPr>
        <p:spPr>
          <a:xfrm>
            <a:off x="3758367" y="2978018"/>
            <a:ext cx="337962" cy="225308"/>
          </a:xfrm>
          <a:custGeom>
            <a:avLst/>
            <a:gdLst/>
            <a:ahLst/>
            <a:cxnLst/>
            <a:rect l="l" t="t" r="r" b="b"/>
            <a:pathLst>
              <a:path w="337962" h="225308">
                <a:moveTo>
                  <a:pt x="0" y="0"/>
                </a:moveTo>
                <a:lnTo>
                  <a:pt x="337962" y="0"/>
                </a:lnTo>
                <a:lnTo>
                  <a:pt x="337962" y="225308"/>
                </a:lnTo>
                <a:lnTo>
                  <a:pt x="0" y="225308"/>
                </a:lnTo>
                <a:close/>
              </a:path>
            </a:pathLst>
          </a:cu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06647" y="3018251"/>
            <a:ext cx="80467" cy="80467"/>
          </a:xfrm>
          <a:prstGeom prst="ellipse">
            <a:avLst/>
          </a:prstGeom>
          <a:noFill/>
          <a:ln w="14288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3" name="Freeform 32"/>
          <p:cNvSpPr/>
          <p:nvPr/>
        </p:nvSpPr>
        <p:spPr>
          <a:xfrm>
            <a:off x="3790170" y="3110789"/>
            <a:ext cx="113422" cy="29120"/>
          </a:xfrm>
          <a:custGeom>
            <a:avLst/>
            <a:gdLst/>
            <a:ahLst/>
            <a:cxnLst/>
            <a:rect l="l" t="t" r="r" b="b"/>
            <a:pathLst>
              <a:path w="113422" h="29120">
                <a:moveTo>
                  <a:pt x="0" y="29120"/>
                </a:moveTo>
                <a:lnTo>
                  <a:pt x="3315" y="23631"/>
                </a:lnTo>
                <a:lnTo>
                  <a:pt x="7613" y="18522"/>
                </a:lnTo>
                <a:lnTo>
                  <a:pt x="12814" y="13886"/>
                </a:lnTo>
                <a:lnTo>
                  <a:pt x="18822" y="9809"/>
                </a:lnTo>
                <a:lnTo>
                  <a:pt x="25528" y="6365"/>
                </a:lnTo>
                <a:lnTo>
                  <a:pt x="32807" y="3619"/>
                </a:lnTo>
                <a:lnTo>
                  <a:pt x="40526" y="1621"/>
                </a:lnTo>
                <a:lnTo>
                  <a:pt x="48544" y="407"/>
                </a:lnTo>
                <a:lnTo>
                  <a:pt x="56711" y="0"/>
                </a:lnTo>
                <a:lnTo>
                  <a:pt x="64878" y="407"/>
                </a:lnTo>
                <a:lnTo>
                  <a:pt x="72895" y="1621"/>
                </a:lnTo>
                <a:lnTo>
                  <a:pt x="80614" y="3619"/>
                </a:lnTo>
                <a:lnTo>
                  <a:pt x="87894" y="6365"/>
                </a:lnTo>
                <a:lnTo>
                  <a:pt x="94600" y="9809"/>
                </a:lnTo>
                <a:lnTo>
                  <a:pt x="100608" y="13886"/>
                </a:lnTo>
                <a:lnTo>
                  <a:pt x="105809" y="18522"/>
                </a:lnTo>
                <a:lnTo>
                  <a:pt x="110107" y="23631"/>
                </a:lnTo>
                <a:lnTo>
                  <a:pt x="113422" y="29120"/>
                </a:lnTo>
              </a:path>
            </a:pathLst>
          </a:custGeom>
          <a:noFill/>
          <a:ln w="13494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3935395" y="3042392"/>
            <a:ext cx="120701" cy="0"/>
          </a:xfrm>
          <a:custGeom>
            <a:avLst/>
            <a:gdLst/>
            <a:ahLst/>
            <a:cxnLst/>
            <a:rect l="l" t="t" r="r" b="b"/>
            <a:pathLst>
              <a:path w="120701" h="0">
                <a:moveTo>
                  <a:pt x="0" y="0"/>
                </a:moveTo>
                <a:lnTo>
                  <a:pt x="120701" y="0"/>
                </a:lnTo>
              </a:path>
            </a:pathLst>
          </a:custGeom>
          <a:noFill/>
          <a:ln w="1111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3935395" y="3090672"/>
            <a:ext cx="120701" cy="0"/>
          </a:xfrm>
          <a:custGeom>
            <a:avLst/>
            <a:gdLst/>
            <a:ahLst/>
            <a:cxnLst/>
            <a:rect l="l" t="t" r="r" b="b"/>
            <a:pathLst>
              <a:path w="120701" h="0">
                <a:moveTo>
                  <a:pt x="0" y="0"/>
                </a:moveTo>
                <a:lnTo>
                  <a:pt x="120701" y="0"/>
                </a:lnTo>
              </a:path>
            </a:pathLst>
          </a:custGeom>
          <a:noFill/>
          <a:ln w="1111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3935395" y="3138952"/>
            <a:ext cx="120701" cy="0"/>
          </a:xfrm>
          <a:custGeom>
            <a:avLst/>
            <a:gdLst/>
            <a:ahLst/>
            <a:cxnLst/>
            <a:rect l="l" t="t" r="r" b="b"/>
            <a:pathLst>
              <a:path w="120701" h="0">
                <a:moveTo>
                  <a:pt x="0" y="0"/>
                </a:moveTo>
                <a:lnTo>
                  <a:pt x="120701" y="0"/>
                </a:lnTo>
              </a:path>
            </a:pathLst>
          </a:custGeom>
          <a:noFill/>
          <a:ln w="1111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26180" y="3474720"/>
            <a:ext cx="2011680" cy="53035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14142E"/>
                </a:solidFill>
                <a:latin typeface="Montserrat SemiBold"/>
              </a:rPr>
              <a:t>O acesso é por CPF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26180" y="4023360"/>
            <a:ext cx="2011680" cy="6217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80" b="0" i="0">
                <a:solidFill>
                  <a:srgbClr val="6E7288"/>
                </a:solidFill>
                <a:latin typeface="Montserrat"/>
              </a:rPr>
              <a:t>Cada pessoa entra com a sua própria conta Gov.br e é identificada individualmente.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9632" y="2615184"/>
            <a:ext cx="2487168" cy="2121408"/>
          </a:xfrm>
          <a:prstGeom prst="rect">
            <a:avLst/>
          </a:prstGeom>
          <a:solidFill>
            <a:srgbClr val="FFFFFF"/>
          </a:solidFill>
          <a:ln w="12700" cap="rnd">
            <a:solidFill>
              <a:srgbClr val="DFE2F0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6199632" y="2615184"/>
            <a:ext cx="2487168" cy="50292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6529913" y="2957901"/>
            <a:ext cx="120700" cy="120700"/>
          </a:xfrm>
          <a:prstGeom prst="ellipse">
            <a:avLst/>
          </a:pr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2" name="Freeform 41"/>
          <p:cNvSpPr/>
          <p:nvPr/>
        </p:nvSpPr>
        <p:spPr>
          <a:xfrm>
            <a:off x="6489221" y="3114812"/>
            <a:ext cx="202086" cy="65605"/>
          </a:xfrm>
          <a:custGeom>
            <a:avLst/>
            <a:gdLst/>
            <a:ahLst/>
            <a:cxnLst/>
            <a:rect l="l" t="t" r="r" b="b"/>
            <a:pathLst>
              <a:path w="202086" h="65605">
                <a:moveTo>
                  <a:pt x="0" y="65605"/>
                </a:moveTo>
                <a:lnTo>
                  <a:pt x="3929" y="55617"/>
                </a:lnTo>
                <a:lnTo>
                  <a:pt x="9231" y="46094"/>
                </a:lnTo>
                <a:lnTo>
                  <a:pt x="15832" y="37171"/>
                </a:lnTo>
                <a:lnTo>
                  <a:pt x="23638" y="28974"/>
                </a:lnTo>
                <a:lnTo>
                  <a:pt x="32539" y="21620"/>
                </a:lnTo>
                <a:lnTo>
                  <a:pt x="42409" y="15211"/>
                </a:lnTo>
                <a:lnTo>
                  <a:pt x="53109" y="9840"/>
                </a:lnTo>
                <a:lnTo>
                  <a:pt x="64486" y="5581"/>
                </a:lnTo>
                <a:lnTo>
                  <a:pt x="76381" y="2495"/>
                </a:lnTo>
                <a:lnTo>
                  <a:pt x="88624" y="626"/>
                </a:lnTo>
                <a:lnTo>
                  <a:pt x="101043" y="0"/>
                </a:lnTo>
                <a:lnTo>
                  <a:pt x="113462" y="626"/>
                </a:lnTo>
                <a:lnTo>
                  <a:pt x="125705" y="2495"/>
                </a:lnTo>
                <a:lnTo>
                  <a:pt x="137599" y="5581"/>
                </a:lnTo>
                <a:lnTo>
                  <a:pt x="148977" y="9840"/>
                </a:lnTo>
                <a:lnTo>
                  <a:pt x="159676" y="15211"/>
                </a:lnTo>
                <a:lnTo>
                  <a:pt x="169546" y="21620"/>
                </a:lnTo>
                <a:lnTo>
                  <a:pt x="178447" y="28974"/>
                </a:lnTo>
                <a:lnTo>
                  <a:pt x="186253" y="37171"/>
                </a:lnTo>
                <a:lnTo>
                  <a:pt x="192854" y="46094"/>
                </a:lnTo>
                <a:lnTo>
                  <a:pt x="198157" y="55617"/>
                </a:lnTo>
                <a:lnTo>
                  <a:pt x="202086" y="65605"/>
                </a:lnTo>
              </a:path>
            </a:pathLst>
          </a:cu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6751198" y="3106765"/>
            <a:ext cx="0" cy="120701"/>
          </a:xfrm>
          <a:custGeom>
            <a:avLst/>
            <a:gdLst/>
            <a:ahLst/>
            <a:cxnLst/>
            <a:rect l="l" t="t" r="r" b="b"/>
            <a:pathLst>
              <a:path w="0" h="120701">
                <a:moveTo>
                  <a:pt x="0" y="0"/>
                </a:moveTo>
                <a:lnTo>
                  <a:pt x="0" y="120701"/>
                </a:lnTo>
              </a:path>
            </a:pathLst>
          </a:custGeom>
          <a:noFill/>
          <a:ln w="16669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6690848" y="3167116"/>
            <a:ext cx="120700" cy="0"/>
          </a:xfrm>
          <a:custGeom>
            <a:avLst/>
            <a:gdLst/>
            <a:ahLst/>
            <a:cxnLst/>
            <a:rect l="l" t="t" r="r" b="b"/>
            <a:pathLst>
              <a:path w="120700" h="0">
                <a:moveTo>
                  <a:pt x="0" y="0"/>
                </a:moveTo>
                <a:lnTo>
                  <a:pt x="120700" y="0"/>
                </a:lnTo>
              </a:path>
            </a:pathLst>
          </a:custGeom>
          <a:noFill/>
          <a:ln w="16669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37376" y="3474720"/>
            <a:ext cx="2011680" cy="53035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14142E"/>
                </a:solidFill>
                <a:latin typeface="Montserrat SemiBold"/>
              </a:rPr>
              <a:t>É preciso vínculo com a unidade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37376" y="4023360"/>
            <a:ext cx="2011680" cy="6217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80" b="0" i="0">
                <a:solidFill>
                  <a:srgbClr val="6E7288"/>
                </a:solidFill>
                <a:latin typeface="Montserrat"/>
              </a:rPr>
              <a:t>O CPF só emite se estiver vinculado e autorizado na unidade da empresa.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10828" y="2615184"/>
            <a:ext cx="2487168" cy="2121408"/>
          </a:xfrm>
          <a:prstGeom prst="rect">
            <a:avLst/>
          </a:prstGeom>
          <a:solidFill>
            <a:srgbClr val="FFFFFF"/>
          </a:solidFill>
          <a:ln w="12700" cap="rnd">
            <a:solidFill>
              <a:srgbClr val="DFE2F0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8910828" y="2615184"/>
            <a:ext cx="2487168" cy="50292"/>
          </a:xfrm>
          <a:prstGeom prst="rect">
            <a:avLst/>
          </a:prstGeom>
          <a:solidFill>
            <a:srgbClr val="12A87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9" name="Freeform 48"/>
          <p:cNvSpPr/>
          <p:nvPr/>
        </p:nvSpPr>
        <p:spPr>
          <a:xfrm>
            <a:off x="9212946" y="2921691"/>
            <a:ext cx="273588" cy="337962"/>
          </a:xfrm>
          <a:custGeom>
            <a:avLst/>
            <a:gdLst/>
            <a:ahLst/>
            <a:cxnLst/>
            <a:rect l="l" t="t" r="r" b="b"/>
            <a:pathLst>
              <a:path w="273588" h="337962">
                <a:moveTo>
                  <a:pt x="136794" y="0"/>
                </a:moveTo>
                <a:lnTo>
                  <a:pt x="273588" y="56327"/>
                </a:lnTo>
                <a:lnTo>
                  <a:pt x="273588" y="177028"/>
                </a:lnTo>
                <a:lnTo>
                  <a:pt x="136794" y="337962"/>
                </a:lnTo>
                <a:lnTo>
                  <a:pt x="0" y="177028"/>
                </a:lnTo>
                <a:lnTo>
                  <a:pt x="0" y="56327"/>
                </a:lnTo>
                <a:close/>
              </a:path>
            </a:pathLst>
          </a:custGeom>
          <a:noFill/>
          <a:ln w="15875" cap="rnd">
            <a:solidFill>
              <a:srgbClr val="12A87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9289390" y="3034345"/>
            <a:ext cx="128747" cy="96561"/>
          </a:xfrm>
          <a:custGeom>
            <a:avLst/>
            <a:gdLst/>
            <a:ahLst/>
            <a:cxnLst/>
            <a:rect l="l" t="t" r="r" b="b"/>
            <a:pathLst>
              <a:path w="128747" h="96561">
                <a:moveTo>
                  <a:pt x="0" y="48280"/>
                </a:moveTo>
                <a:lnTo>
                  <a:pt x="44257" y="96561"/>
                </a:lnTo>
                <a:lnTo>
                  <a:pt x="128747" y="0"/>
                </a:lnTo>
              </a:path>
            </a:pathLst>
          </a:custGeom>
          <a:noFill/>
          <a:ln w="17462" cap="rnd">
            <a:solidFill>
              <a:srgbClr val="12A87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8572" y="3474720"/>
            <a:ext cx="2011680" cy="53035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14142E"/>
                </a:solidFill>
                <a:latin typeface="Montserrat SemiBold"/>
              </a:rPr>
              <a:t>Mais rastreabilidade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8572" y="4023360"/>
            <a:ext cx="2011680" cy="6217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80" b="0" i="0">
                <a:solidFill>
                  <a:srgbClr val="6E7288"/>
                </a:solidFill>
                <a:latin typeface="Montserrat"/>
              </a:rPr>
              <a:t>Toda ação no sistema fica registrada no CPF de quem a executou.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7240" y="5029200"/>
            <a:ext cx="10637489" cy="566928"/>
          </a:xfrm>
          <a:prstGeom prst="rect">
            <a:avLst/>
          </a:prstGeom>
          <a:solidFill>
            <a:srgbClr val="F4F5FC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777240" y="5029200"/>
            <a:ext cx="32004" cy="566928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55" name="Freeform 54"/>
          <p:cNvSpPr/>
          <p:nvPr/>
        </p:nvSpPr>
        <p:spPr>
          <a:xfrm>
            <a:off x="1069848" y="5197450"/>
            <a:ext cx="159106" cy="230428"/>
          </a:xfrm>
          <a:custGeom>
            <a:avLst/>
            <a:gdLst/>
            <a:ahLst/>
            <a:cxnLst/>
            <a:rect l="l" t="t" r="r" b="b"/>
            <a:pathLst>
              <a:path w="159106" h="230428">
                <a:moveTo>
                  <a:pt x="0" y="0"/>
                </a:moveTo>
                <a:lnTo>
                  <a:pt x="115214" y="0"/>
                </a:lnTo>
                <a:lnTo>
                  <a:pt x="159106" y="49377"/>
                </a:lnTo>
                <a:lnTo>
                  <a:pt x="159106" y="230428"/>
                </a:lnTo>
                <a:lnTo>
                  <a:pt x="0" y="230428"/>
                </a:lnTo>
                <a:close/>
              </a:path>
            </a:pathLst>
          </a:cu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185062" y="5197450"/>
            <a:ext cx="43892" cy="49377"/>
          </a:xfrm>
          <a:custGeom>
            <a:avLst/>
            <a:gdLst/>
            <a:ahLst/>
            <a:cxnLst/>
            <a:rect l="l" t="t" r="r" b="b"/>
            <a:pathLst>
              <a:path w="43892" h="49377">
                <a:moveTo>
                  <a:pt x="0" y="0"/>
                </a:moveTo>
                <a:lnTo>
                  <a:pt x="0" y="49377"/>
                </a:lnTo>
                <a:lnTo>
                  <a:pt x="43892" y="49377"/>
                </a:lnTo>
              </a:path>
            </a:pathLst>
          </a:custGeom>
          <a:noFill/>
          <a:ln w="12700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100023" y="5290718"/>
            <a:ext cx="98755" cy="0"/>
          </a:xfrm>
          <a:custGeom>
            <a:avLst/>
            <a:gdLst/>
            <a:ahLst/>
            <a:cxnLst/>
            <a:rect l="l" t="t" r="r" b="b"/>
            <a:pathLst>
              <a:path w="98755" h="0">
                <a:moveTo>
                  <a:pt x="0" y="0"/>
                </a:moveTo>
                <a:lnTo>
                  <a:pt x="98755" y="0"/>
                </a:lnTo>
              </a:path>
            </a:pathLst>
          </a:custGeom>
          <a:noFill/>
          <a:ln w="1111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100023" y="5323637"/>
            <a:ext cx="98755" cy="0"/>
          </a:xfrm>
          <a:custGeom>
            <a:avLst/>
            <a:gdLst/>
            <a:ahLst/>
            <a:cxnLst/>
            <a:rect l="l" t="t" r="r" b="b"/>
            <a:pathLst>
              <a:path w="98755" h="0">
                <a:moveTo>
                  <a:pt x="0" y="0"/>
                </a:moveTo>
                <a:lnTo>
                  <a:pt x="98755" y="0"/>
                </a:lnTo>
              </a:path>
            </a:pathLst>
          </a:custGeom>
          <a:noFill/>
          <a:ln w="1111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1105510" y="5345582"/>
            <a:ext cx="90525" cy="54864"/>
          </a:xfrm>
          <a:custGeom>
            <a:avLst/>
            <a:gdLst/>
            <a:ahLst/>
            <a:cxnLst/>
            <a:rect l="l" t="t" r="r" b="b"/>
            <a:pathLst>
              <a:path w="90525" h="54864">
                <a:moveTo>
                  <a:pt x="0" y="27432"/>
                </a:moveTo>
                <a:lnTo>
                  <a:pt x="30175" y="54864"/>
                </a:lnTo>
                <a:lnTo>
                  <a:pt x="90525" y="0"/>
                </a:lnTo>
              </a:path>
            </a:pathLst>
          </a:custGeom>
          <a:noFill/>
          <a:ln w="1746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472184" y="5029200"/>
            <a:ext cx="9668225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3A3C55"/>
                </a:solidFill>
                <a:latin typeface="Montserrat"/>
              </a:rPr>
              <a:t>Nada muda nas suas obrigações ambientais: o MTR continua obrigatório a cada envio de carga. O que mudou foi apenas a forma de entrar no sistema.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" y="5742432"/>
            <a:ext cx="10637489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0" i="0">
                <a:solidFill>
                  <a:srgbClr val="9A9DB0"/>
                </a:solidFill>
                <a:latin typeface="Montserrat"/>
              </a:rPr>
              <a:t>Fonte: portal do SINIR (sinir.gov.br/sistemas/mtr) e comunicado oficial “Login Único (Gov.br) — Sistema MTR Nacional”.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5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>
            <a:off x="777240" y="669340"/>
            <a:ext cx="274320" cy="0"/>
          </a:xfrm>
          <a:prstGeom prst="line">
            <a:avLst/>
          </a:prstGeom>
          <a:ln w="20320" cap="rnd">
            <a:solidFill>
              <a:srgbClr val="3432C9"/>
            </a:solidFill>
            <a:round/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1197863" y="580644"/>
            <a:ext cx="7315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90" cap="all">
                <a:solidFill>
                  <a:srgbClr val="3432C9"/>
                </a:solidFill>
                <a:latin typeface="Montserrat SemiBold"/>
              </a:rPr>
              <a:t>Antes e depois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332720" cy="1371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550" b="0" i="0">
                <a:solidFill>
                  <a:srgbClr val="14142E"/>
                </a:solidFill>
                <a:latin typeface="Montserrat Light"/>
              </a:rPr>
              <a:t>O que exatamente mudou </a:t>
            </a:r>
            <a:r>
              <a:rPr sz="2550" b="0" i="0">
                <a:solidFill>
                  <a:srgbClr val="14142E"/>
                </a:solidFill>
                <a:latin typeface="Montserrat SemiBold"/>
              </a:rPr>
              <a:t>no login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37489" cy="0"/>
          </a:xfrm>
          <a:prstGeom prst="line">
            <a:avLst/>
          </a:prstGeom>
          <a:ln w="9525" cap="rnd">
            <a:solidFill>
              <a:srgbClr val="DFE2F0"/>
            </a:solidFill>
            <a:round/>
          </a:ln>
          <a:effectLst/>
        </p:spPr>
      </p:cxnSp>
      <p:pic>
        <p:nvPicPr>
          <p:cNvPr id="7" name="Picture 6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345936"/>
            <a:ext cx="1133529" cy="2331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76969" y="6396228"/>
            <a:ext cx="4937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750" b="0" i="0" spc="50">
                <a:solidFill>
                  <a:srgbClr val="9A9DB0"/>
                </a:solidFill>
                <a:latin typeface="Montserrat"/>
              </a:rPr>
              <a:t>MTR Nacional  ·  Login Único Gov.br    |   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3977639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40" b="0" i="0" spc="130" cap="all">
                <a:solidFill>
                  <a:srgbClr val="6E7288"/>
                </a:solidFill>
                <a:latin typeface="Montserrat SemiBold"/>
              </a:rPr>
              <a:t>Até 31 / 07 /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810512"/>
            <a:ext cx="4937759" cy="530352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611112" y="1810512"/>
            <a:ext cx="3977639" cy="53035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20" b="0" i="0" spc="130" cap="all">
                <a:solidFill>
                  <a:srgbClr val="FFFFFF"/>
                </a:solidFill>
                <a:latin typeface="Montserrat SemiBold"/>
              </a:rPr>
              <a:t>A partir de 01 / 08 / 2026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2340864"/>
            <a:ext cx="3977639" cy="0"/>
          </a:xfrm>
          <a:prstGeom prst="line">
            <a:avLst/>
          </a:prstGeom>
          <a:ln w="15240" cap="rnd">
            <a:solidFill>
              <a:srgbClr val="DFE2F0"/>
            </a:solidFill>
            <a:round/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777240" y="2487168"/>
            <a:ext cx="3703320" cy="5852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80" b="0" i="0">
                <a:solidFill>
                  <a:srgbClr val="6E7288"/>
                </a:solidFill>
                <a:latin typeface="Montserrat"/>
              </a:rPr>
              <a:t>CNPJ + CPF do usuário + senha do sistema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487168"/>
            <a:ext cx="4937759" cy="530352"/>
          </a:xfrm>
          <a:prstGeom prst="rect">
            <a:avLst/>
          </a:prstGeom>
          <a:solidFill>
            <a:srgbClr val="F4F5FC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355080" y="2487168"/>
            <a:ext cx="32004" cy="530352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611112" y="2487168"/>
            <a:ext cx="3977639" cy="53035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80" b="0" i="0">
                <a:solidFill>
                  <a:srgbClr val="14142E"/>
                </a:solidFill>
                <a:latin typeface="Montserrat SemiBold"/>
              </a:rPr>
              <a:t>CPF + senha da conta Gov.br</a:t>
            </a:r>
          </a:p>
        </p:txBody>
      </p:sp>
      <p:sp>
        <p:nvSpPr>
          <p:cNvPr id="17" name="Freeform 16"/>
          <p:cNvSpPr/>
          <p:nvPr/>
        </p:nvSpPr>
        <p:spPr>
          <a:xfrm>
            <a:off x="5010912" y="2752344"/>
            <a:ext cx="1161288" cy="0"/>
          </a:xfrm>
          <a:custGeom>
            <a:avLst/>
            <a:gdLst/>
            <a:ahLst/>
            <a:cxnLst/>
            <a:rect l="l" t="t" r="r" b="b"/>
            <a:pathLst>
              <a:path w="1161288" h="0">
                <a:moveTo>
                  <a:pt x="0" y="0"/>
                </a:moveTo>
                <a:lnTo>
                  <a:pt x="1161288" y="0"/>
                </a:lnTo>
              </a:path>
            </a:pathLst>
          </a:custGeom>
          <a:noFill/>
          <a:ln w="12700" cap="rnd">
            <a:solidFill>
              <a:srgbClr val="9A9DB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6115684" y="2722294"/>
            <a:ext cx="56516" cy="60100"/>
          </a:xfrm>
          <a:custGeom>
            <a:avLst/>
            <a:gdLst/>
            <a:ahLst/>
            <a:cxnLst/>
            <a:rect l="l" t="t" r="r" b="b"/>
            <a:pathLst>
              <a:path w="56516" h="60100">
                <a:moveTo>
                  <a:pt x="56516" y="30050"/>
                </a:moveTo>
                <a:lnTo>
                  <a:pt x="0" y="60100"/>
                </a:lnTo>
                <a:lnTo>
                  <a:pt x="0" y="0"/>
                </a:lnTo>
                <a:close/>
              </a:path>
            </a:pathLst>
          </a:custGeom>
          <a:solidFill>
            <a:srgbClr val="9A9DB0"/>
          </a:solidFill>
          <a:ln w="7620" cap="rnd">
            <a:solidFill>
              <a:srgbClr val="9A9DB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777240" y="3044952"/>
            <a:ext cx="3977639" cy="0"/>
          </a:xfrm>
          <a:prstGeom prst="line">
            <a:avLst/>
          </a:prstGeom>
          <a:ln w="12700" cap="rnd">
            <a:solidFill>
              <a:srgbClr val="EDEFF8"/>
            </a:solidFill>
            <a:round/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777240" y="3072384"/>
            <a:ext cx="3703320" cy="5852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80" b="0" i="0">
                <a:solidFill>
                  <a:srgbClr val="6E7288"/>
                </a:solidFill>
                <a:latin typeface="Montserrat"/>
              </a:rPr>
              <a:t>Senha gerada e enviada pelo próprio MTR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3072384"/>
            <a:ext cx="4937759" cy="530352"/>
          </a:xfrm>
          <a:prstGeom prst="rect">
            <a:avLst/>
          </a:prstGeom>
          <a:solidFill>
            <a:srgbClr val="EEF0F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355080" y="3072384"/>
            <a:ext cx="32004" cy="530352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611112" y="3072384"/>
            <a:ext cx="3977639" cy="53035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80" b="0" i="0">
                <a:solidFill>
                  <a:srgbClr val="14142E"/>
                </a:solidFill>
                <a:latin typeface="Montserrat SemiBold"/>
              </a:rPr>
              <a:t>Senha única da sua conta Gov.br</a:t>
            </a:r>
          </a:p>
        </p:txBody>
      </p:sp>
      <p:sp>
        <p:nvSpPr>
          <p:cNvPr id="24" name="Freeform 23"/>
          <p:cNvSpPr/>
          <p:nvPr/>
        </p:nvSpPr>
        <p:spPr>
          <a:xfrm>
            <a:off x="5010912" y="3337560"/>
            <a:ext cx="1161288" cy="0"/>
          </a:xfrm>
          <a:custGeom>
            <a:avLst/>
            <a:gdLst/>
            <a:ahLst/>
            <a:cxnLst/>
            <a:rect l="l" t="t" r="r" b="b"/>
            <a:pathLst>
              <a:path w="1161288" h="0">
                <a:moveTo>
                  <a:pt x="0" y="0"/>
                </a:moveTo>
                <a:lnTo>
                  <a:pt x="1161288" y="0"/>
                </a:lnTo>
              </a:path>
            </a:pathLst>
          </a:custGeom>
          <a:noFill/>
          <a:ln w="12700" cap="rnd">
            <a:solidFill>
              <a:srgbClr val="9A9DB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6115684" y="3307510"/>
            <a:ext cx="56516" cy="60100"/>
          </a:xfrm>
          <a:custGeom>
            <a:avLst/>
            <a:gdLst/>
            <a:ahLst/>
            <a:cxnLst/>
            <a:rect l="l" t="t" r="r" b="b"/>
            <a:pathLst>
              <a:path w="56516" h="60100">
                <a:moveTo>
                  <a:pt x="56516" y="30050"/>
                </a:moveTo>
                <a:lnTo>
                  <a:pt x="0" y="60100"/>
                </a:lnTo>
                <a:lnTo>
                  <a:pt x="0" y="0"/>
                </a:lnTo>
                <a:close/>
              </a:path>
            </a:pathLst>
          </a:custGeom>
          <a:solidFill>
            <a:srgbClr val="9A9DB0"/>
          </a:solidFill>
          <a:ln w="7620" cap="rnd">
            <a:solidFill>
              <a:srgbClr val="9A9DB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777240" y="3630168"/>
            <a:ext cx="3977639" cy="0"/>
          </a:xfrm>
          <a:prstGeom prst="line">
            <a:avLst/>
          </a:prstGeom>
          <a:ln w="12700" cap="rnd">
            <a:solidFill>
              <a:srgbClr val="EDEFF8"/>
            </a:solidFill>
            <a:round/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777240" y="3657600"/>
            <a:ext cx="3703320" cy="5852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80" b="0" i="0">
                <a:solidFill>
                  <a:srgbClr val="6E7288"/>
                </a:solidFill>
                <a:latin typeface="Montserrat"/>
              </a:rPr>
              <a:t>Uma senha usada por várias pessoas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3657600"/>
            <a:ext cx="4937759" cy="530352"/>
          </a:xfrm>
          <a:prstGeom prst="rect">
            <a:avLst/>
          </a:prstGeom>
          <a:solidFill>
            <a:srgbClr val="F4F5FC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355080" y="3657600"/>
            <a:ext cx="32004" cy="530352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611112" y="3657600"/>
            <a:ext cx="3977639" cy="53035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80" b="0" i="0">
                <a:solidFill>
                  <a:srgbClr val="14142E"/>
                </a:solidFill>
                <a:latin typeface="Montserrat SemiBold"/>
              </a:rPr>
              <a:t>Um acesso individual por pessoa</a:t>
            </a:r>
          </a:p>
        </p:txBody>
      </p:sp>
      <p:sp>
        <p:nvSpPr>
          <p:cNvPr id="31" name="Freeform 30"/>
          <p:cNvSpPr/>
          <p:nvPr/>
        </p:nvSpPr>
        <p:spPr>
          <a:xfrm>
            <a:off x="5010912" y="3922776"/>
            <a:ext cx="1161288" cy="0"/>
          </a:xfrm>
          <a:custGeom>
            <a:avLst/>
            <a:gdLst/>
            <a:ahLst/>
            <a:cxnLst/>
            <a:rect l="l" t="t" r="r" b="b"/>
            <a:pathLst>
              <a:path w="1161288" h="0">
                <a:moveTo>
                  <a:pt x="0" y="0"/>
                </a:moveTo>
                <a:lnTo>
                  <a:pt x="1161288" y="0"/>
                </a:lnTo>
              </a:path>
            </a:pathLst>
          </a:custGeom>
          <a:noFill/>
          <a:ln w="12700" cap="rnd">
            <a:solidFill>
              <a:srgbClr val="9A9DB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6115684" y="3892726"/>
            <a:ext cx="56516" cy="60100"/>
          </a:xfrm>
          <a:custGeom>
            <a:avLst/>
            <a:gdLst/>
            <a:ahLst/>
            <a:cxnLst/>
            <a:rect l="l" t="t" r="r" b="b"/>
            <a:pathLst>
              <a:path w="56516" h="60100">
                <a:moveTo>
                  <a:pt x="56516" y="30050"/>
                </a:moveTo>
                <a:lnTo>
                  <a:pt x="0" y="60100"/>
                </a:lnTo>
                <a:lnTo>
                  <a:pt x="0" y="0"/>
                </a:lnTo>
                <a:close/>
              </a:path>
            </a:pathLst>
          </a:custGeom>
          <a:solidFill>
            <a:srgbClr val="9A9DB0"/>
          </a:solidFill>
          <a:ln w="7620" cap="rnd">
            <a:solidFill>
              <a:srgbClr val="9A9DB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777240" y="4215383"/>
            <a:ext cx="3977639" cy="0"/>
          </a:xfrm>
          <a:prstGeom prst="line">
            <a:avLst/>
          </a:prstGeom>
          <a:ln w="12700" cap="rnd">
            <a:solidFill>
              <a:srgbClr val="EDEFF8"/>
            </a:solidFill>
            <a:round/>
          </a:ln>
          <a:effectLst/>
        </p:spPr>
      </p:cxnSp>
      <p:sp>
        <p:nvSpPr>
          <p:cNvPr id="34" name="TextBox 33"/>
          <p:cNvSpPr txBox="1"/>
          <p:nvPr/>
        </p:nvSpPr>
        <p:spPr>
          <a:xfrm>
            <a:off x="777240" y="4242816"/>
            <a:ext cx="3703320" cy="5852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80" b="0" i="0">
                <a:solidFill>
                  <a:srgbClr val="6E7288"/>
                </a:solidFill>
                <a:latin typeface="Montserrat"/>
              </a:rPr>
              <a:t>Terceiros entravam com a senha do cliente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4242816"/>
            <a:ext cx="4937759" cy="530352"/>
          </a:xfrm>
          <a:prstGeom prst="rect">
            <a:avLst/>
          </a:prstGeom>
          <a:solidFill>
            <a:srgbClr val="EEF0F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355080" y="4242816"/>
            <a:ext cx="32004" cy="530352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611112" y="4242816"/>
            <a:ext cx="3977639" cy="53035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80" b="0" i="0">
                <a:solidFill>
                  <a:srgbClr val="14142E"/>
                </a:solidFill>
                <a:latin typeface="Montserrat SemiBold"/>
              </a:rPr>
              <a:t>Terceiros precisam de vínculo autorizado</a:t>
            </a:r>
          </a:p>
        </p:txBody>
      </p:sp>
      <p:sp>
        <p:nvSpPr>
          <p:cNvPr id="38" name="Freeform 37"/>
          <p:cNvSpPr/>
          <p:nvPr/>
        </p:nvSpPr>
        <p:spPr>
          <a:xfrm>
            <a:off x="5010912" y="4507992"/>
            <a:ext cx="1161288" cy="0"/>
          </a:xfrm>
          <a:custGeom>
            <a:avLst/>
            <a:gdLst/>
            <a:ahLst/>
            <a:cxnLst/>
            <a:rect l="l" t="t" r="r" b="b"/>
            <a:pathLst>
              <a:path w="1161288" h="0">
                <a:moveTo>
                  <a:pt x="0" y="0"/>
                </a:moveTo>
                <a:lnTo>
                  <a:pt x="1161288" y="0"/>
                </a:lnTo>
              </a:path>
            </a:pathLst>
          </a:custGeom>
          <a:noFill/>
          <a:ln w="12700" cap="rnd">
            <a:solidFill>
              <a:srgbClr val="9A9DB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115684" y="4477942"/>
            <a:ext cx="56516" cy="60100"/>
          </a:xfrm>
          <a:custGeom>
            <a:avLst/>
            <a:gdLst/>
            <a:ahLst/>
            <a:cxnLst/>
            <a:rect l="l" t="t" r="r" b="b"/>
            <a:pathLst>
              <a:path w="56516" h="60100">
                <a:moveTo>
                  <a:pt x="56516" y="30050"/>
                </a:moveTo>
                <a:lnTo>
                  <a:pt x="0" y="60100"/>
                </a:lnTo>
                <a:lnTo>
                  <a:pt x="0" y="0"/>
                </a:lnTo>
                <a:close/>
              </a:path>
            </a:pathLst>
          </a:custGeom>
          <a:solidFill>
            <a:srgbClr val="9A9DB0"/>
          </a:solidFill>
          <a:ln w="7620" cap="rnd">
            <a:solidFill>
              <a:srgbClr val="9A9DB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777240" y="4800600"/>
            <a:ext cx="3977639" cy="0"/>
          </a:xfrm>
          <a:prstGeom prst="line">
            <a:avLst/>
          </a:prstGeom>
          <a:ln w="12700" cap="rnd">
            <a:solidFill>
              <a:srgbClr val="EDEFF8"/>
            </a:solidFill>
            <a:round/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777240" y="4828032"/>
            <a:ext cx="3703320" cy="58521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80" b="0" i="0">
                <a:solidFill>
                  <a:srgbClr val="6E7288"/>
                </a:solidFill>
                <a:latin typeface="Montserrat"/>
              </a:rPr>
              <a:t>Recuperação de senha pelo sistema MTR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5080" y="4828032"/>
            <a:ext cx="4937759" cy="530352"/>
          </a:xfrm>
          <a:prstGeom prst="rect">
            <a:avLst/>
          </a:prstGeom>
          <a:solidFill>
            <a:srgbClr val="F4F5FC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6355080" y="4828032"/>
            <a:ext cx="32004" cy="530352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611112" y="4828032"/>
            <a:ext cx="3977639" cy="53035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80" b="0" i="0">
                <a:solidFill>
                  <a:srgbClr val="14142E"/>
                </a:solidFill>
                <a:latin typeface="Montserrat SemiBold"/>
              </a:rPr>
              <a:t>Recuperação pelo próprio Gov.br</a:t>
            </a:r>
          </a:p>
        </p:txBody>
      </p:sp>
      <p:sp>
        <p:nvSpPr>
          <p:cNvPr id="45" name="Freeform 44"/>
          <p:cNvSpPr/>
          <p:nvPr/>
        </p:nvSpPr>
        <p:spPr>
          <a:xfrm>
            <a:off x="5010912" y="5093208"/>
            <a:ext cx="1161288" cy="0"/>
          </a:xfrm>
          <a:custGeom>
            <a:avLst/>
            <a:gdLst/>
            <a:ahLst/>
            <a:cxnLst/>
            <a:rect l="l" t="t" r="r" b="b"/>
            <a:pathLst>
              <a:path w="1161288" h="0">
                <a:moveTo>
                  <a:pt x="0" y="0"/>
                </a:moveTo>
                <a:lnTo>
                  <a:pt x="1161288" y="0"/>
                </a:lnTo>
              </a:path>
            </a:pathLst>
          </a:custGeom>
          <a:noFill/>
          <a:ln w="12700" cap="rnd">
            <a:solidFill>
              <a:srgbClr val="9A9DB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6115684" y="5063158"/>
            <a:ext cx="56516" cy="60100"/>
          </a:xfrm>
          <a:custGeom>
            <a:avLst/>
            <a:gdLst/>
            <a:ahLst/>
            <a:cxnLst/>
            <a:rect l="l" t="t" r="r" b="b"/>
            <a:pathLst>
              <a:path w="56516" h="60100">
                <a:moveTo>
                  <a:pt x="56516" y="30050"/>
                </a:moveTo>
                <a:lnTo>
                  <a:pt x="0" y="60100"/>
                </a:lnTo>
                <a:lnTo>
                  <a:pt x="0" y="0"/>
                </a:lnTo>
                <a:close/>
              </a:path>
            </a:pathLst>
          </a:custGeom>
          <a:solidFill>
            <a:srgbClr val="9A9DB0"/>
          </a:solidFill>
          <a:ln w="7620" cap="rnd">
            <a:solidFill>
              <a:srgbClr val="9A9DB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7240" y="5486400"/>
            <a:ext cx="10637489" cy="530352"/>
          </a:xfrm>
          <a:prstGeom prst="rect">
            <a:avLst/>
          </a:prstGeom>
          <a:solidFill>
            <a:srgbClr val="E7F6F1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777240" y="5486400"/>
            <a:ext cx="32004" cy="530352"/>
          </a:xfrm>
          <a:prstGeom prst="rect">
            <a:avLst/>
          </a:prstGeom>
          <a:solidFill>
            <a:srgbClr val="12A87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9" name="Freeform 48"/>
          <p:cNvSpPr/>
          <p:nvPr/>
        </p:nvSpPr>
        <p:spPr>
          <a:xfrm>
            <a:off x="1058875" y="5636362"/>
            <a:ext cx="186538" cy="230428"/>
          </a:xfrm>
          <a:custGeom>
            <a:avLst/>
            <a:gdLst/>
            <a:ahLst/>
            <a:cxnLst/>
            <a:rect l="l" t="t" r="r" b="b"/>
            <a:pathLst>
              <a:path w="186538" h="230428">
                <a:moveTo>
                  <a:pt x="93269" y="0"/>
                </a:moveTo>
                <a:lnTo>
                  <a:pt x="186538" y="38404"/>
                </a:lnTo>
                <a:lnTo>
                  <a:pt x="186538" y="120700"/>
                </a:lnTo>
                <a:lnTo>
                  <a:pt x="93269" y="230428"/>
                </a:lnTo>
                <a:lnTo>
                  <a:pt x="0" y="120700"/>
                </a:lnTo>
                <a:lnTo>
                  <a:pt x="0" y="38404"/>
                </a:lnTo>
                <a:close/>
              </a:path>
            </a:pathLst>
          </a:custGeom>
          <a:noFill/>
          <a:ln w="15875" cap="rnd">
            <a:solidFill>
              <a:srgbClr val="12A87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1110996" y="5713171"/>
            <a:ext cx="87782" cy="65837"/>
          </a:xfrm>
          <a:custGeom>
            <a:avLst/>
            <a:gdLst/>
            <a:ahLst/>
            <a:cxnLst/>
            <a:rect l="l" t="t" r="r" b="b"/>
            <a:pathLst>
              <a:path w="87782" h="65837">
                <a:moveTo>
                  <a:pt x="0" y="32919"/>
                </a:moveTo>
                <a:lnTo>
                  <a:pt x="30175" y="65837"/>
                </a:lnTo>
                <a:lnTo>
                  <a:pt x="87782" y="0"/>
                </a:lnTo>
              </a:path>
            </a:pathLst>
          </a:custGeom>
          <a:noFill/>
          <a:ln w="17462" cap="rnd">
            <a:solidFill>
              <a:srgbClr val="12A87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472184" y="5486400"/>
            <a:ext cx="9668225" cy="53035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3A3C55"/>
                </a:solidFill>
                <a:latin typeface="Montserrat"/>
              </a:rPr>
              <a:t>O cadastro da sua empresa e o histórico de MTRs continuam os mesmos. A mudança é na autenticação, não nos dados.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5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>
            <a:off x="777240" y="669340"/>
            <a:ext cx="274320" cy="0"/>
          </a:xfrm>
          <a:prstGeom prst="line">
            <a:avLst/>
          </a:prstGeom>
          <a:ln w="20320" cap="rnd">
            <a:solidFill>
              <a:srgbClr val="3432C9"/>
            </a:solidFill>
            <a:round/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1197863" y="580644"/>
            <a:ext cx="7315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90" cap="all">
                <a:solidFill>
                  <a:srgbClr val="3432C9"/>
                </a:solidFill>
                <a:latin typeface="Montserrat SemiBold"/>
              </a:rPr>
              <a:t>Por que isso afeta você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332720" cy="1371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550" b="0" i="0">
                <a:solidFill>
                  <a:srgbClr val="14142E"/>
                </a:solidFill>
                <a:latin typeface="Montserrat Light"/>
              </a:rPr>
              <a:t>O acesso é </a:t>
            </a:r>
            <a:r>
              <a:rPr sz="2550" b="0" i="0">
                <a:solidFill>
                  <a:srgbClr val="14142E"/>
                </a:solidFill>
                <a:latin typeface="Montserrat SemiBold"/>
              </a:rPr>
              <a:t>da pessoa</a:t>
            </a:r>
            <a:r>
              <a:rPr sz="2550" b="0" i="0">
                <a:solidFill>
                  <a:srgbClr val="14142E"/>
                </a:solidFill>
                <a:latin typeface="Montserrat Light"/>
              </a:rPr>
              <a:t>, não da empresa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37489" cy="0"/>
          </a:xfrm>
          <a:prstGeom prst="line">
            <a:avLst/>
          </a:prstGeom>
          <a:ln w="9525" cap="rnd">
            <a:solidFill>
              <a:srgbClr val="DFE2F0"/>
            </a:solidFill>
            <a:round/>
          </a:ln>
          <a:effectLst/>
        </p:spPr>
      </p:cxnSp>
      <p:pic>
        <p:nvPicPr>
          <p:cNvPr id="7" name="Picture 6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345936"/>
            <a:ext cx="1133529" cy="2331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76969" y="6396228"/>
            <a:ext cx="4937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750" b="0" i="0" spc="50">
                <a:solidFill>
                  <a:srgbClr val="9A9DB0"/>
                </a:solidFill>
                <a:latin typeface="Montserrat"/>
              </a:rPr>
              <a:t>MTR Nacional  ·  Login Único Gov.br    |   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10512"/>
            <a:ext cx="4983480" cy="78638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60" b="0" i="0">
                <a:solidFill>
                  <a:srgbClr val="6E7288"/>
                </a:solidFill>
                <a:latin typeface="Montserrat"/>
              </a:rPr>
              <a:t>Antes, quem tinha a senha da empresa entrava no sistema. Agora o sistema identifica a pessoa física pelo CPF e só libera as unidades às quais aquele CPF está vinculado.</a:t>
            </a:r>
          </a:p>
        </p:txBody>
      </p:sp>
      <p:sp>
        <p:nvSpPr>
          <p:cNvPr id="10" name="Oval 9"/>
          <p:cNvSpPr/>
          <p:nvPr/>
        </p:nvSpPr>
        <p:spPr>
          <a:xfrm>
            <a:off x="777239" y="2798064"/>
            <a:ext cx="530352" cy="530352"/>
          </a:xfrm>
          <a:prstGeom prst="ellipse">
            <a:avLst/>
          </a:prstGeom>
          <a:solidFill>
            <a:srgbClr val="FFFFFF"/>
          </a:solidFill>
          <a:ln w="15240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1" name="Freeform 10"/>
          <p:cNvSpPr/>
          <p:nvPr/>
        </p:nvSpPr>
        <p:spPr>
          <a:xfrm>
            <a:off x="919521" y="2981310"/>
            <a:ext cx="245790" cy="163860"/>
          </a:xfrm>
          <a:custGeom>
            <a:avLst/>
            <a:gdLst/>
            <a:ahLst/>
            <a:cxnLst/>
            <a:rect l="l" t="t" r="r" b="b"/>
            <a:pathLst>
              <a:path w="245790" h="163860">
                <a:moveTo>
                  <a:pt x="0" y="0"/>
                </a:moveTo>
                <a:lnTo>
                  <a:pt x="245790" y="0"/>
                </a:lnTo>
                <a:lnTo>
                  <a:pt x="245790" y="163860"/>
                </a:lnTo>
                <a:lnTo>
                  <a:pt x="0" y="163860"/>
                </a:lnTo>
                <a:close/>
              </a:path>
            </a:pathLst>
          </a:cu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54633" y="3010570"/>
            <a:ext cx="58521" cy="58521"/>
          </a:xfrm>
          <a:prstGeom prst="ellipse">
            <a:avLst/>
          </a:prstGeom>
          <a:noFill/>
          <a:ln w="14288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3" name="Freeform 12"/>
          <p:cNvSpPr/>
          <p:nvPr/>
        </p:nvSpPr>
        <p:spPr>
          <a:xfrm>
            <a:off x="942650" y="3077870"/>
            <a:ext cx="82489" cy="21179"/>
          </a:xfrm>
          <a:custGeom>
            <a:avLst/>
            <a:gdLst/>
            <a:ahLst/>
            <a:cxnLst/>
            <a:rect l="l" t="t" r="r" b="b"/>
            <a:pathLst>
              <a:path w="82489" h="21179">
                <a:moveTo>
                  <a:pt x="0" y="21179"/>
                </a:moveTo>
                <a:lnTo>
                  <a:pt x="2411" y="17187"/>
                </a:lnTo>
                <a:lnTo>
                  <a:pt x="5537" y="13471"/>
                </a:lnTo>
                <a:lnTo>
                  <a:pt x="9319" y="10099"/>
                </a:lnTo>
                <a:lnTo>
                  <a:pt x="13689" y="7134"/>
                </a:lnTo>
                <a:lnTo>
                  <a:pt x="18566" y="4630"/>
                </a:lnTo>
                <a:lnTo>
                  <a:pt x="23860" y="2633"/>
                </a:lnTo>
                <a:lnTo>
                  <a:pt x="29474" y="1179"/>
                </a:lnTo>
                <a:lnTo>
                  <a:pt x="35305" y="297"/>
                </a:lnTo>
                <a:lnTo>
                  <a:pt x="41244" y="0"/>
                </a:lnTo>
                <a:lnTo>
                  <a:pt x="47184" y="297"/>
                </a:lnTo>
                <a:lnTo>
                  <a:pt x="53015" y="1179"/>
                </a:lnTo>
                <a:lnTo>
                  <a:pt x="58629" y="2633"/>
                </a:lnTo>
                <a:lnTo>
                  <a:pt x="63923" y="4630"/>
                </a:lnTo>
                <a:lnTo>
                  <a:pt x="68800" y="7134"/>
                </a:lnTo>
                <a:lnTo>
                  <a:pt x="73170" y="10099"/>
                </a:lnTo>
                <a:lnTo>
                  <a:pt x="76952" y="13471"/>
                </a:lnTo>
                <a:lnTo>
                  <a:pt x="80078" y="17187"/>
                </a:lnTo>
                <a:lnTo>
                  <a:pt x="82489" y="21179"/>
                </a:lnTo>
              </a:path>
            </a:pathLst>
          </a:custGeom>
          <a:noFill/>
          <a:ln w="13494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048268" y="3028127"/>
            <a:ext cx="87783" cy="0"/>
          </a:xfrm>
          <a:custGeom>
            <a:avLst/>
            <a:gdLst/>
            <a:ahLst/>
            <a:cxnLst/>
            <a:rect l="l" t="t" r="r" b="b"/>
            <a:pathLst>
              <a:path w="87783" h="0">
                <a:moveTo>
                  <a:pt x="0" y="0"/>
                </a:moveTo>
                <a:lnTo>
                  <a:pt x="87783" y="0"/>
                </a:lnTo>
              </a:path>
            </a:pathLst>
          </a:custGeom>
          <a:noFill/>
          <a:ln w="1111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048268" y="3063240"/>
            <a:ext cx="87783" cy="0"/>
          </a:xfrm>
          <a:custGeom>
            <a:avLst/>
            <a:gdLst/>
            <a:ahLst/>
            <a:cxnLst/>
            <a:rect l="l" t="t" r="r" b="b"/>
            <a:pathLst>
              <a:path w="87783" h="0">
                <a:moveTo>
                  <a:pt x="0" y="0"/>
                </a:moveTo>
                <a:lnTo>
                  <a:pt x="87783" y="0"/>
                </a:lnTo>
              </a:path>
            </a:pathLst>
          </a:custGeom>
          <a:noFill/>
          <a:ln w="1111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048268" y="3098353"/>
            <a:ext cx="87783" cy="0"/>
          </a:xfrm>
          <a:custGeom>
            <a:avLst/>
            <a:gdLst/>
            <a:ahLst/>
            <a:cxnLst/>
            <a:rect l="l" t="t" r="r" b="b"/>
            <a:pathLst>
              <a:path w="87783" h="0">
                <a:moveTo>
                  <a:pt x="0" y="0"/>
                </a:moveTo>
                <a:lnTo>
                  <a:pt x="87783" y="0"/>
                </a:lnTo>
              </a:path>
            </a:pathLst>
          </a:custGeom>
          <a:noFill/>
          <a:ln w="1111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90472" y="2834640"/>
            <a:ext cx="420624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4142E"/>
                </a:solidFill>
                <a:latin typeface="Montserrat SemiBold"/>
              </a:rPr>
              <a:t>O CPF da pessoa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0472" y="3108960"/>
            <a:ext cx="420624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6E7288"/>
                </a:solidFill>
                <a:latin typeface="Montserrat"/>
              </a:rPr>
              <a:t>Conta Gov.br individual e pessoal</a:t>
            </a:r>
          </a:p>
        </p:txBody>
      </p:sp>
      <p:sp>
        <p:nvSpPr>
          <p:cNvPr id="19" name="Freeform 18"/>
          <p:cNvSpPr/>
          <p:nvPr/>
        </p:nvSpPr>
        <p:spPr>
          <a:xfrm>
            <a:off x="1042416" y="3401568"/>
            <a:ext cx="0" cy="256032"/>
          </a:xfrm>
          <a:custGeom>
            <a:avLst/>
            <a:gdLst/>
            <a:ahLst/>
            <a:cxnLst/>
            <a:rect l="l" t="t" r="r" b="b"/>
            <a:pathLst>
              <a:path w="0" h="256032">
                <a:moveTo>
                  <a:pt x="0" y="0"/>
                </a:moveTo>
                <a:lnTo>
                  <a:pt x="0" y="256032"/>
                </a:lnTo>
              </a:path>
            </a:pathLst>
          </a:custGeom>
          <a:noFill/>
          <a:ln w="12700" cap="rnd">
            <a:solidFill>
              <a:srgbClr val="9A9DB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012366" y="3601084"/>
            <a:ext cx="60100" cy="56516"/>
          </a:xfrm>
          <a:custGeom>
            <a:avLst/>
            <a:gdLst/>
            <a:ahLst/>
            <a:cxnLst/>
            <a:rect l="l" t="t" r="r" b="b"/>
            <a:pathLst>
              <a:path w="60100" h="56516">
                <a:moveTo>
                  <a:pt x="30050" y="56516"/>
                </a:moveTo>
                <a:lnTo>
                  <a:pt x="0" y="0"/>
                </a:lnTo>
                <a:lnTo>
                  <a:pt x="60100" y="0"/>
                </a:lnTo>
                <a:close/>
              </a:path>
            </a:pathLst>
          </a:custGeom>
          <a:solidFill>
            <a:srgbClr val="9A9DB0"/>
          </a:solidFill>
          <a:ln w="7620" cap="rnd">
            <a:solidFill>
              <a:srgbClr val="9A9DB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39" y="3730752"/>
            <a:ext cx="530352" cy="530352"/>
          </a:xfrm>
          <a:prstGeom prst="ellipse">
            <a:avLst/>
          </a:prstGeom>
          <a:solidFill>
            <a:srgbClr val="FFFFFF"/>
          </a:solidFill>
          <a:ln w="15240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963411" y="3899367"/>
            <a:ext cx="87782" cy="87782"/>
          </a:xfrm>
          <a:prstGeom prst="ellipse">
            <a:avLst/>
          </a:pr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3" name="Freeform 22"/>
          <p:cNvSpPr/>
          <p:nvPr/>
        </p:nvSpPr>
        <p:spPr>
          <a:xfrm>
            <a:off x="933817" y="4013484"/>
            <a:ext cx="146972" cy="47713"/>
          </a:xfrm>
          <a:custGeom>
            <a:avLst/>
            <a:gdLst/>
            <a:ahLst/>
            <a:cxnLst/>
            <a:rect l="l" t="t" r="r" b="b"/>
            <a:pathLst>
              <a:path w="146972" h="47713">
                <a:moveTo>
                  <a:pt x="0" y="47713"/>
                </a:moveTo>
                <a:lnTo>
                  <a:pt x="2858" y="40449"/>
                </a:lnTo>
                <a:lnTo>
                  <a:pt x="6714" y="33523"/>
                </a:lnTo>
                <a:lnTo>
                  <a:pt x="11515" y="27034"/>
                </a:lnTo>
                <a:lnTo>
                  <a:pt x="17192" y="21073"/>
                </a:lnTo>
                <a:lnTo>
                  <a:pt x="23665" y="15724"/>
                </a:lnTo>
                <a:lnTo>
                  <a:pt x="30844" y="11063"/>
                </a:lnTo>
                <a:lnTo>
                  <a:pt x="38625" y="7157"/>
                </a:lnTo>
                <a:lnTo>
                  <a:pt x="46899" y="4059"/>
                </a:lnTo>
                <a:lnTo>
                  <a:pt x="55550" y="1815"/>
                </a:lnTo>
                <a:lnTo>
                  <a:pt x="64454" y="456"/>
                </a:lnTo>
                <a:lnTo>
                  <a:pt x="73486" y="0"/>
                </a:lnTo>
                <a:lnTo>
                  <a:pt x="82518" y="456"/>
                </a:lnTo>
                <a:lnTo>
                  <a:pt x="91422" y="1815"/>
                </a:lnTo>
                <a:lnTo>
                  <a:pt x="100073" y="4059"/>
                </a:lnTo>
                <a:lnTo>
                  <a:pt x="108347" y="7157"/>
                </a:lnTo>
                <a:lnTo>
                  <a:pt x="116128" y="11063"/>
                </a:lnTo>
                <a:lnTo>
                  <a:pt x="123307" y="15724"/>
                </a:lnTo>
                <a:lnTo>
                  <a:pt x="129780" y="21073"/>
                </a:lnTo>
                <a:lnTo>
                  <a:pt x="135457" y="27034"/>
                </a:lnTo>
                <a:lnTo>
                  <a:pt x="140258" y="33523"/>
                </a:lnTo>
                <a:lnTo>
                  <a:pt x="144114" y="40449"/>
                </a:lnTo>
                <a:lnTo>
                  <a:pt x="146972" y="47713"/>
                </a:lnTo>
              </a:path>
            </a:pathLst>
          </a:cu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124346" y="4007632"/>
            <a:ext cx="0" cy="87783"/>
          </a:xfrm>
          <a:custGeom>
            <a:avLst/>
            <a:gdLst/>
            <a:ahLst/>
            <a:cxnLst/>
            <a:rect l="l" t="t" r="r" b="b"/>
            <a:pathLst>
              <a:path w="0" h="87783">
                <a:moveTo>
                  <a:pt x="0" y="0"/>
                </a:moveTo>
                <a:lnTo>
                  <a:pt x="0" y="87783"/>
                </a:lnTo>
              </a:path>
            </a:pathLst>
          </a:custGeom>
          <a:noFill/>
          <a:ln w="16669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1080455" y="4051524"/>
            <a:ext cx="87782" cy="0"/>
          </a:xfrm>
          <a:custGeom>
            <a:avLst/>
            <a:gdLst/>
            <a:ahLst/>
            <a:cxnLst/>
            <a:rect l="l" t="t" r="r" b="b"/>
            <a:pathLst>
              <a:path w="87782" h="0">
                <a:moveTo>
                  <a:pt x="0" y="0"/>
                </a:moveTo>
                <a:lnTo>
                  <a:pt x="87782" y="0"/>
                </a:lnTo>
              </a:path>
            </a:pathLst>
          </a:custGeom>
          <a:noFill/>
          <a:ln w="16669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90472" y="3767328"/>
            <a:ext cx="420624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4142E"/>
                </a:solidFill>
                <a:latin typeface="Montserrat SemiBold"/>
              </a:rPr>
              <a:t>O vínculo com a unidade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0472" y="4041648"/>
            <a:ext cx="420624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6E7288"/>
                </a:solidFill>
                <a:latin typeface="Montserrat"/>
              </a:rPr>
              <a:t>Autorizado pelo Administrador da empresa</a:t>
            </a:r>
          </a:p>
        </p:txBody>
      </p:sp>
      <p:sp>
        <p:nvSpPr>
          <p:cNvPr id="28" name="Freeform 27"/>
          <p:cNvSpPr/>
          <p:nvPr/>
        </p:nvSpPr>
        <p:spPr>
          <a:xfrm>
            <a:off x="1042416" y="4334256"/>
            <a:ext cx="0" cy="256032"/>
          </a:xfrm>
          <a:custGeom>
            <a:avLst/>
            <a:gdLst/>
            <a:ahLst/>
            <a:cxnLst/>
            <a:rect l="l" t="t" r="r" b="b"/>
            <a:pathLst>
              <a:path w="0" h="256032">
                <a:moveTo>
                  <a:pt x="0" y="0"/>
                </a:moveTo>
                <a:lnTo>
                  <a:pt x="0" y="256032"/>
                </a:lnTo>
              </a:path>
            </a:pathLst>
          </a:custGeom>
          <a:noFill/>
          <a:ln w="12700" cap="rnd">
            <a:solidFill>
              <a:srgbClr val="9A9DB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012366" y="4533772"/>
            <a:ext cx="60100" cy="56516"/>
          </a:xfrm>
          <a:custGeom>
            <a:avLst/>
            <a:gdLst/>
            <a:ahLst/>
            <a:cxnLst/>
            <a:rect l="l" t="t" r="r" b="b"/>
            <a:pathLst>
              <a:path w="60100" h="56516">
                <a:moveTo>
                  <a:pt x="30050" y="56516"/>
                </a:moveTo>
                <a:lnTo>
                  <a:pt x="0" y="0"/>
                </a:lnTo>
                <a:lnTo>
                  <a:pt x="60100" y="0"/>
                </a:lnTo>
                <a:close/>
              </a:path>
            </a:pathLst>
          </a:custGeom>
          <a:solidFill>
            <a:srgbClr val="9A9DB0"/>
          </a:solidFill>
          <a:ln w="7620" cap="rnd">
            <a:solidFill>
              <a:srgbClr val="9A9DB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7239" y="4663440"/>
            <a:ext cx="530352" cy="530352"/>
          </a:xfrm>
          <a:prstGeom prst="ellipse">
            <a:avLst/>
          </a:prstGeom>
          <a:solidFill>
            <a:srgbClr val="FFFFFF"/>
          </a:solidFill>
          <a:ln w="15240" cap="rnd">
            <a:solidFill>
              <a:srgbClr val="12A87B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1" name="Freeform 30"/>
          <p:cNvSpPr/>
          <p:nvPr/>
        </p:nvSpPr>
        <p:spPr>
          <a:xfrm>
            <a:off x="954634" y="4805721"/>
            <a:ext cx="169712" cy="245790"/>
          </a:xfrm>
          <a:custGeom>
            <a:avLst/>
            <a:gdLst/>
            <a:ahLst/>
            <a:cxnLst/>
            <a:rect l="l" t="t" r="r" b="b"/>
            <a:pathLst>
              <a:path w="169712" h="245790">
                <a:moveTo>
                  <a:pt x="0" y="0"/>
                </a:moveTo>
                <a:lnTo>
                  <a:pt x="122895" y="0"/>
                </a:lnTo>
                <a:lnTo>
                  <a:pt x="169712" y="52669"/>
                </a:lnTo>
                <a:lnTo>
                  <a:pt x="169712" y="245790"/>
                </a:lnTo>
                <a:lnTo>
                  <a:pt x="0" y="245790"/>
                </a:lnTo>
                <a:close/>
              </a:path>
            </a:pathLst>
          </a:custGeom>
          <a:noFill/>
          <a:ln w="15875" cap="rnd">
            <a:solidFill>
              <a:srgbClr val="12A87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077529" y="4805721"/>
            <a:ext cx="46817" cy="52669"/>
          </a:xfrm>
          <a:custGeom>
            <a:avLst/>
            <a:gdLst/>
            <a:ahLst/>
            <a:cxnLst/>
            <a:rect l="l" t="t" r="r" b="b"/>
            <a:pathLst>
              <a:path w="46817" h="52669">
                <a:moveTo>
                  <a:pt x="0" y="0"/>
                </a:moveTo>
                <a:lnTo>
                  <a:pt x="0" y="52669"/>
                </a:lnTo>
                <a:lnTo>
                  <a:pt x="46817" y="52669"/>
                </a:lnTo>
              </a:path>
            </a:pathLst>
          </a:custGeom>
          <a:noFill/>
          <a:ln w="12700" cap="rnd">
            <a:solidFill>
              <a:srgbClr val="12A87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986820" y="4905207"/>
            <a:ext cx="105339" cy="0"/>
          </a:xfrm>
          <a:custGeom>
            <a:avLst/>
            <a:gdLst/>
            <a:ahLst/>
            <a:cxnLst/>
            <a:rect l="l" t="t" r="r" b="b"/>
            <a:pathLst>
              <a:path w="105339" h="0">
                <a:moveTo>
                  <a:pt x="0" y="0"/>
                </a:moveTo>
                <a:lnTo>
                  <a:pt x="105339" y="0"/>
                </a:lnTo>
              </a:path>
            </a:pathLst>
          </a:custGeom>
          <a:noFill/>
          <a:ln w="11112" cap="rnd">
            <a:solidFill>
              <a:srgbClr val="12A87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986820" y="4940320"/>
            <a:ext cx="105339" cy="0"/>
          </a:xfrm>
          <a:custGeom>
            <a:avLst/>
            <a:gdLst/>
            <a:ahLst/>
            <a:cxnLst/>
            <a:rect l="l" t="t" r="r" b="b"/>
            <a:pathLst>
              <a:path w="105339" h="0">
                <a:moveTo>
                  <a:pt x="0" y="0"/>
                </a:moveTo>
                <a:lnTo>
                  <a:pt x="105339" y="0"/>
                </a:lnTo>
              </a:path>
            </a:pathLst>
          </a:custGeom>
          <a:noFill/>
          <a:ln w="11112" cap="rnd">
            <a:solidFill>
              <a:srgbClr val="12A87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992673" y="4963729"/>
            <a:ext cx="96560" cy="58522"/>
          </a:xfrm>
          <a:custGeom>
            <a:avLst/>
            <a:gdLst/>
            <a:ahLst/>
            <a:cxnLst/>
            <a:rect l="l" t="t" r="r" b="b"/>
            <a:pathLst>
              <a:path w="96560" h="58522">
                <a:moveTo>
                  <a:pt x="0" y="29261"/>
                </a:moveTo>
                <a:lnTo>
                  <a:pt x="32187" y="58522"/>
                </a:lnTo>
                <a:lnTo>
                  <a:pt x="96560" y="0"/>
                </a:lnTo>
              </a:path>
            </a:pathLst>
          </a:custGeom>
          <a:noFill/>
          <a:ln w="17462" cap="rnd">
            <a:solidFill>
              <a:srgbClr val="12A87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90472" y="4700016"/>
            <a:ext cx="420624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4142E"/>
                </a:solidFill>
                <a:latin typeface="Montserrat SemiBold"/>
              </a:rPr>
              <a:t>A emissão do MTR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90472" y="4974336"/>
            <a:ext cx="420624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6E7288"/>
                </a:solidFill>
                <a:latin typeface="Montserrat"/>
              </a:rPr>
              <a:t>Somente com vínculo ativo na unidade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80" y="1847088"/>
            <a:ext cx="5056632" cy="1737360"/>
          </a:xfrm>
          <a:prstGeom prst="rect">
            <a:avLst/>
          </a:prstGeom>
          <a:solidFill>
            <a:srgbClr val="F4F5FC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6355080" y="1847088"/>
            <a:ext cx="5056632" cy="50292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0" name="Freeform 39"/>
          <p:cNvSpPr/>
          <p:nvPr/>
        </p:nvSpPr>
        <p:spPr>
          <a:xfrm>
            <a:off x="6669634" y="2150669"/>
            <a:ext cx="248716" cy="307238"/>
          </a:xfrm>
          <a:custGeom>
            <a:avLst/>
            <a:gdLst/>
            <a:ahLst/>
            <a:cxnLst/>
            <a:rect l="l" t="t" r="r" b="b"/>
            <a:pathLst>
              <a:path w="248716" h="307238">
                <a:moveTo>
                  <a:pt x="124358" y="0"/>
                </a:moveTo>
                <a:lnTo>
                  <a:pt x="248716" y="51206"/>
                </a:lnTo>
                <a:lnTo>
                  <a:pt x="248716" y="160934"/>
                </a:lnTo>
                <a:lnTo>
                  <a:pt x="124358" y="307238"/>
                </a:lnTo>
                <a:lnTo>
                  <a:pt x="0" y="160934"/>
                </a:lnTo>
                <a:lnTo>
                  <a:pt x="0" y="51206"/>
                </a:lnTo>
                <a:close/>
              </a:path>
            </a:pathLst>
          </a:cu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6739128" y="2253082"/>
            <a:ext cx="117043" cy="87782"/>
          </a:xfrm>
          <a:custGeom>
            <a:avLst/>
            <a:gdLst/>
            <a:ahLst/>
            <a:cxnLst/>
            <a:rect l="l" t="t" r="r" b="b"/>
            <a:pathLst>
              <a:path w="117043" h="87782">
                <a:moveTo>
                  <a:pt x="0" y="43891"/>
                </a:moveTo>
                <a:lnTo>
                  <a:pt x="40234" y="87782"/>
                </a:lnTo>
                <a:lnTo>
                  <a:pt x="117043" y="0"/>
                </a:lnTo>
              </a:path>
            </a:pathLst>
          </a:custGeom>
          <a:noFill/>
          <a:ln w="1746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04888" y="2176272"/>
            <a:ext cx="4050791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40" b="0" i="0">
                <a:solidFill>
                  <a:srgbClr val="14142E"/>
                </a:solidFill>
                <a:latin typeface="Montserrat SemiBold"/>
              </a:rPr>
              <a:t>Usuário Administrador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11112" y="2633472"/>
            <a:ext cx="4544568" cy="84124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19" b="0" i="0">
                <a:solidFill>
                  <a:srgbClr val="6E7288"/>
                </a:solidFill>
                <a:latin typeface="Montserrat"/>
              </a:rPr>
              <a:t>Responsável pelo cadastro da empresa. Edita dados cadastrais, gerencia usuários, concede permissões e pode desativar acessos da unidade. Pode criar usuários Padrão e outros Administradores.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3730752"/>
            <a:ext cx="5056632" cy="1737360"/>
          </a:xfrm>
          <a:prstGeom prst="rect">
            <a:avLst/>
          </a:prstGeom>
          <a:solidFill>
            <a:srgbClr val="F4F5FC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6355080" y="3730752"/>
            <a:ext cx="5056632" cy="50292"/>
          </a:xfrm>
          <a:prstGeom prst="rect">
            <a:avLst/>
          </a:prstGeom>
          <a:solidFill>
            <a:srgbClr val="6E7288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6750100" y="4070908"/>
            <a:ext cx="87782" cy="87782"/>
          </a:xfrm>
          <a:prstGeom prst="ellipse">
            <a:avLst/>
          </a:prstGeom>
          <a:noFill/>
          <a:ln w="15875" cap="rnd">
            <a:solidFill>
              <a:srgbClr val="6E7288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7" name="Freeform 46"/>
          <p:cNvSpPr/>
          <p:nvPr/>
        </p:nvSpPr>
        <p:spPr>
          <a:xfrm>
            <a:off x="6696737" y="4231843"/>
            <a:ext cx="194510" cy="78584"/>
          </a:xfrm>
          <a:custGeom>
            <a:avLst/>
            <a:gdLst/>
            <a:ahLst/>
            <a:cxnLst/>
            <a:rect l="l" t="t" r="r" b="b"/>
            <a:pathLst>
              <a:path w="194510" h="78584">
                <a:moveTo>
                  <a:pt x="0" y="78584"/>
                </a:moveTo>
                <a:lnTo>
                  <a:pt x="2953" y="66861"/>
                </a:lnTo>
                <a:lnTo>
                  <a:pt x="7424" y="55593"/>
                </a:lnTo>
                <a:lnTo>
                  <a:pt x="13340" y="44960"/>
                </a:lnTo>
                <a:lnTo>
                  <a:pt x="20607" y="35134"/>
                </a:lnTo>
                <a:lnTo>
                  <a:pt x="29106" y="26272"/>
                </a:lnTo>
                <a:lnTo>
                  <a:pt x="38702" y="18519"/>
                </a:lnTo>
                <a:lnTo>
                  <a:pt x="49241" y="11997"/>
                </a:lnTo>
                <a:lnTo>
                  <a:pt x="60551" y="6812"/>
                </a:lnTo>
                <a:lnTo>
                  <a:pt x="72453" y="3048"/>
                </a:lnTo>
                <a:lnTo>
                  <a:pt x="84753" y="765"/>
                </a:lnTo>
                <a:lnTo>
                  <a:pt x="97255" y="0"/>
                </a:lnTo>
                <a:lnTo>
                  <a:pt x="109757" y="765"/>
                </a:lnTo>
                <a:lnTo>
                  <a:pt x="122057" y="3048"/>
                </a:lnTo>
                <a:lnTo>
                  <a:pt x="133959" y="6812"/>
                </a:lnTo>
                <a:lnTo>
                  <a:pt x="145269" y="11997"/>
                </a:lnTo>
                <a:lnTo>
                  <a:pt x="155808" y="18519"/>
                </a:lnTo>
                <a:lnTo>
                  <a:pt x="165404" y="26272"/>
                </a:lnTo>
                <a:lnTo>
                  <a:pt x="173903" y="35134"/>
                </a:lnTo>
                <a:lnTo>
                  <a:pt x="181170" y="44960"/>
                </a:lnTo>
                <a:lnTo>
                  <a:pt x="187086" y="55593"/>
                </a:lnTo>
                <a:lnTo>
                  <a:pt x="191557" y="66861"/>
                </a:lnTo>
                <a:lnTo>
                  <a:pt x="194510" y="78584"/>
                </a:lnTo>
              </a:path>
            </a:pathLst>
          </a:custGeom>
          <a:noFill/>
          <a:ln w="15875" cap="rnd">
            <a:solidFill>
              <a:srgbClr val="6E72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636715" y="4118457"/>
            <a:ext cx="65836" cy="65836"/>
          </a:xfrm>
          <a:prstGeom prst="ellipse">
            <a:avLst/>
          </a:prstGeom>
          <a:noFill/>
          <a:ln w="13494" cap="rnd">
            <a:solidFill>
              <a:srgbClr val="6E7288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9" name="Freeform 48"/>
          <p:cNvSpPr/>
          <p:nvPr/>
        </p:nvSpPr>
        <p:spPr>
          <a:xfrm>
            <a:off x="6609573" y="4275734"/>
            <a:ext cx="120121" cy="48797"/>
          </a:xfrm>
          <a:custGeom>
            <a:avLst/>
            <a:gdLst/>
            <a:ahLst/>
            <a:cxnLst/>
            <a:rect l="l" t="t" r="r" b="b"/>
            <a:pathLst>
              <a:path w="120121" h="48797">
                <a:moveTo>
                  <a:pt x="0" y="48797"/>
                </a:moveTo>
                <a:lnTo>
                  <a:pt x="2967" y="39761"/>
                </a:lnTo>
                <a:lnTo>
                  <a:pt x="7139" y="31274"/>
                </a:lnTo>
                <a:lnTo>
                  <a:pt x="12429" y="23518"/>
                </a:lnTo>
                <a:lnTo>
                  <a:pt x="18724" y="16655"/>
                </a:lnTo>
                <a:lnTo>
                  <a:pt x="25893" y="10831"/>
                </a:lnTo>
                <a:lnTo>
                  <a:pt x="33783" y="6169"/>
                </a:lnTo>
                <a:lnTo>
                  <a:pt x="42227" y="2766"/>
                </a:lnTo>
                <a:lnTo>
                  <a:pt x="51049" y="696"/>
                </a:lnTo>
                <a:lnTo>
                  <a:pt x="60061" y="0"/>
                </a:lnTo>
                <a:lnTo>
                  <a:pt x="69072" y="696"/>
                </a:lnTo>
                <a:lnTo>
                  <a:pt x="77894" y="2766"/>
                </a:lnTo>
                <a:lnTo>
                  <a:pt x="86339" y="6169"/>
                </a:lnTo>
                <a:lnTo>
                  <a:pt x="94229" y="10831"/>
                </a:lnTo>
                <a:lnTo>
                  <a:pt x="101397" y="16655"/>
                </a:lnTo>
                <a:lnTo>
                  <a:pt x="107693" y="23518"/>
                </a:lnTo>
                <a:lnTo>
                  <a:pt x="112982" y="31274"/>
                </a:lnTo>
                <a:lnTo>
                  <a:pt x="117155" y="39761"/>
                </a:lnTo>
                <a:lnTo>
                  <a:pt x="120121" y="48797"/>
                </a:lnTo>
              </a:path>
            </a:pathLst>
          </a:custGeom>
          <a:noFill/>
          <a:ln w="13494" cap="rnd">
            <a:solidFill>
              <a:srgbClr val="6E72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885432" y="4118457"/>
            <a:ext cx="65836" cy="65836"/>
          </a:xfrm>
          <a:prstGeom prst="ellipse">
            <a:avLst/>
          </a:prstGeom>
          <a:noFill/>
          <a:ln w="13494" cap="rnd">
            <a:solidFill>
              <a:srgbClr val="6E7288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51" name="Freeform 50"/>
          <p:cNvSpPr/>
          <p:nvPr/>
        </p:nvSpPr>
        <p:spPr>
          <a:xfrm>
            <a:off x="6858290" y="4275734"/>
            <a:ext cx="120121" cy="48797"/>
          </a:xfrm>
          <a:custGeom>
            <a:avLst/>
            <a:gdLst/>
            <a:ahLst/>
            <a:cxnLst/>
            <a:rect l="l" t="t" r="r" b="b"/>
            <a:pathLst>
              <a:path w="120121" h="48797">
                <a:moveTo>
                  <a:pt x="0" y="48797"/>
                </a:moveTo>
                <a:lnTo>
                  <a:pt x="2966" y="39761"/>
                </a:lnTo>
                <a:lnTo>
                  <a:pt x="7139" y="31274"/>
                </a:lnTo>
                <a:lnTo>
                  <a:pt x="12428" y="23518"/>
                </a:lnTo>
                <a:lnTo>
                  <a:pt x="18724" y="16655"/>
                </a:lnTo>
                <a:lnTo>
                  <a:pt x="25892" y="10831"/>
                </a:lnTo>
                <a:lnTo>
                  <a:pt x="33782" y="6169"/>
                </a:lnTo>
                <a:lnTo>
                  <a:pt x="42227" y="2766"/>
                </a:lnTo>
                <a:lnTo>
                  <a:pt x="51049" y="696"/>
                </a:lnTo>
                <a:lnTo>
                  <a:pt x="60060" y="0"/>
                </a:lnTo>
                <a:lnTo>
                  <a:pt x="69072" y="696"/>
                </a:lnTo>
                <a:lnTo>
                  <a:pt x="77894" y="2766"/>
                </a:lnTo>
                <a:lnTo>
                  <a:pt x="86338" y="6169"/>
                </a:lnTo>
                <a:lnTo>
                  <a:pt x="94228" y="10831"/>
                </a:lnTo>
                <a:lnTo>
                  <a:pt x="101397" y="16655"/>
                </a:lnTo>
                <a:lnTo>
                  <a:pt x="107692" y="23518"/>
                </a:lnTo>
                <a:lnTo>
                  <a:pt x="112982" y="31274"/>
                </a:lnTo>
                <a:lnTo>
                  <a:pt x="117154" y="39761"/>
                </a:lnTo>
                <a:lnTo>
                  <a:pt x="120121" y="48797"/>
                </a:lnTo>
              </a:path>
            </a:pathLst>
          </a:custGeom>
          <a:noFill/>
          <a:ln w="13494" cap="rnd">
            <a:solidFill>
              <a:srgbClr val="6E72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04888" y="4059936"/>
            <a:ext cx="4050791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40" b="0" i="0">
                <a:solidFill>
                  <a:srgbClr val="14142E"/>
                </a:solidFill>
                <a:latin typeface="Montserrat SemiBold"/>
              </a:rPr>
              <a:t>Usuário Padrão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11112" y="4517136"/>
            <a:ext cx="4544568" cy="84124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19" b="0" i="0">
                <a:solidFill>
                  <a:srgbClr val="6E7288"/>
                </a:solidFill>
                <a:latin typeface="Montserrat"/>
              </a:rPr>
              <a:t>Acessa o sistema pela unidade à qual está vinculado, mas não acessa os menus de edição dos dados da empresa nem dos usuários da unidade.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724144"/>
            <a:ext cx="10637489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0" i="0">
                <a:solidFill>
                  <a:srgbClr val="9A9DB0"/>
                </a:solidFill>
                <a:latin typeface="Montserrat"/>
              </a:rPr>
              <a:t>Fonte: comunicado oficial do SINIR sobre os tipos de usuário do Sistema MTR (Usuário Administrador e Usuário Padrão).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5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>
            <a:off x="777240" y="669340"/>
            <a:ext cx="274320" cy="0"/>
          </a:xfrm>
          <a:prstGeom prst="line">
            <a:avLst/>
          </a:prstGeom>
          <a:ln w="20320" cap="rnd">
            <a:solidFill>
              <a:srgbClr val="3432C9"/>
            </a:solidFill>
            <a:round/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1197863" y="580644"/>
            <a:ext cx="7315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90" cap="all">
                <a:solidFill>
                  <a:srgbClr val="3432C9"/>
                </a:solidFill>
                <a:latin typeface="Montserrat SemiBold"/>
              </a:rPr>
              <a:t>Impacto na nossa operação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332720" cy="1371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550" b="0" i="0">
                <a:solidFill>
                  <a:srgbClr val="14142E"/>
                </a:solidFill>
                <a:latin typeface="Montserrat Light"/>
              </a:rPr>
              <a:t>Por que </a:t>
            </a:r>
            <a:r>
              <a:rPr sz="2550" b="0" i="0">
                <a:solidFill>
                  <a:srgbClr val="14142E"/>
                </a:solidFill>
                <a:latin typeface="Montserrat SemiBold"/>
              </a:rPr>
              <a:t>não conseguimos mais emitir</a:t>
            </a:r>
            <a:r>
              <a:rPr sz="2550" b="0" i="0">
                <a:solidFill>
                  <a:srgbClr val="14142E"/>
                </a:solidFill>
                <a:latin typeface="Montserrat Light"/>
              </a:rPr>
              <a:t> no seu lugar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37489" cy="0"/>
          </a:xfrm>
          <a:prstGeom prst="line">
            <a:avLst/>
          </a:prstGeom>
          <a:ln w="9525" cap="rnd">
            <a:solidFill>
              <a:srgbClr val="DFE2F0"/>
            </a:solidFill>
            <a:round/>
          </a:ln>
          <a:effectLst/>
        </p:spPr>
      </p:cxnSp>
      <p:pic>
        <p:nvPicPr>
          <p:cNvPr id="7" name="Picture 6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345936"/>
            <a:ext cx="1133529" cy="2331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76969" y="6396228"/>
            <a:ext cx="4937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750" b="0" i="0" spc="50">
                <a:solidFill>
                  <a:srgbClr val="9A9DB0"/>
                </a:solidFill>
                <a:latin typeface="Montserrat"/>
              </a:rPr>
              <a:t>MTR Nacional  ·  Login Único Gov.br    |   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10512"/>
            <a:ext cx="4983480" cy="11887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60" b="0" i="0">
                <a:solidFill>
                  <a:srgbClr val="6E7288"/>
                </a:solidFill>
                <a:latin typeface="Montserrat"/>
              </a:rPr>
              <a:t>Até 31/07/2026 nós emitíamos o MTR usando o acesso da sua empresa. Com o Login Único, o nosso acesso passou a ser o CPF do nosso responsável — e ele identifica a Nunes &amp; Lucato como transportadora, na nossa própria unidade.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148309"/>
            <a:ext cx="69494" cy="69494"/>
          </a:xfrm>
          <a:prstGeom prst="ellipse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5606" y="3108960"/>
            <a:ext cx="4663440" cy="50520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0" i="0">
                <a:solidFill>
                  <a:srgbClr val="3A3C55"/>
                </a:solidFill>
                <a:latin typeface="Montserrat"/>
              </a:rPr>
              <a:t>O nosso login não alcança a unidade do gerador.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431011"/>
            <a:ext cx="69494" cy="69494"/>
          </a:xfrm>
          <a:prstGeom prst="ellipse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65606" y="3391662"/>
            <a:ext cx="4663440" cy="50520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0" i="0">
                <a:solidFill>
                  <a:srgbClr val="3A3C55"/>
                </a:solidFill>
                <a:latin typeface="Montserrat"/>
              </a:rPr>
              <a:t>Sem vínculo autorizado, o sistema não exibe a sua empresa.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713713"/>
            <a:ext cx="69494" cy="69494"/>
          </a:xfrm>
          <a:prstGeom prst="ellipse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5606" y="3674364"/>
            <a:ext cx="4663440" cy="50520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0" i="0">
                <a:solidFill>
                  <a:srgbClr val="3A3C55"/>
                </a:solidFill>
                <a:latin typeface="Montserrat"/>
              </a:rPr>
              <a:t>Não há como emitir MTR em nome de quem não nos autorizou.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626864"/>
            <a:ext cx="4846320" cy="566928"/>
          </a:xfrm>
          <a:prstGeom prst="rect">
            <a:avLst/>
          </a:prstGeom>
          <a:solidFill>
            <a:srgbClr val="FCEDE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77240" y="4626864"/>
            <a:ext cx="32004" cy="566928"/>
          </a:xfrm>
          <a:prstGeom prst="rect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8" name="Freeform 17"/>
          <p:cNvSpPr/>
          <p:nvPr/>
        </p:nvSpPr>
        <p:spPr>
          <a:xfrm>
            <a:off x="1034186" y="4800600"/>
            <a:ext cx="235916" cy="208483"/>
          </a:xfrm>
          <a:custGeom>
            <a:avLst/>
            <a:gdLst/>
            <a:ahLst/>
            <a:cxnLst/>
            <a:rect l="l" t="t" r="r" b="b"/>
            <a:pathLst>
              <a:path w="235916" h="208483">
                <a:moveTo>
                  <a:pt x="117958" y="0"/>
                </a:moveTo>
                <a:lnTo>
                  <a:pt x="235916" y="208483"/>
                </a:lnTo>
                <a:lnTo>
                  <a:pt x="0" y="208483"/>
                </a:lnTo>
                <a:close/>
              </a:path>
            </a:pathLst>
          </a:custGeom>
          <a:noFill/>
          <a:ln w="15875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152144" y="4877410"/>
            <a:ext cx="0" cy="65836"/>
          </a:xfrm>
          <a:custGeom>
            <a:avLst/>
            <a:gdLst/>
            <a:ahLst/>
            <a:cxnLst/>
            <a:rect l="l" t="t" r="r" b="b"/>
            <a:pathLst>
              <a:path w="0" h="65836">
                <a:moveTo>
                  <a:pt x="0" y="0"/>
                </a:moveTo>
                <a:lnTo>
                  <a:pt x="0" y="65836"/>
                </a:lnTo>
              </a:path>
            </a:pathLst>
          </a:custGeom>
          <a:noFill/>
          <a:ln w="18256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1856" y="4964506"/>
            <a:ext cx="20574" cy="20574"/>
          </a:xfrm>
          <a:prstGeom prst="ellipse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472184" y="4626864"/>
            <a:ext cx="3877056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3A3C55"/>
                </a:solidFill>
                <a:latin typeface="Montserrat"/>
              </a:rPr>
              <a:t>Isso não é uma restrição da Nunes &amp; Lucato: é uma regra do próprio sistema MTR Nacional.</a:t>
            </a:r>
          </a:p>
        </p:txBody>
      </p:sp>
      <p:pic>
        <p:nvPicPr>
          <p:cNvPr id="22" name="Picture 21" descr="mtr_perf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920240"/>
            <a:ext cx="5056632" cy="751271"/>
          </a:xfrm>
          <a:prstGeom prst="rect">
            <a:avLst/>
          </a:prstGeom>
          <a:effectLst/>
        </p:spPr>
      </p:pic>
      <p:sp>
        <p:nvSpPr>
          <p:cNvPr id="23" name="Rectangle 22"/>
          <p:cNvSpPr/>
          <p:nvPr/>
        </p:nvSpPr>
        <p:spPr>
          <a:xfrm>
            <a:off x="6355080" y="1920240"/>
            <a:ext cx="5056632" cy="751271"/>
          </a:xfrm>
          <a:prstGeom prst="rect">
            <a:avLst/>
          </a:prstGeom>
          <a:noFill/>
          <a:ln w="11430" cap="rnd">
            <a:solidFill>
              <a:srgbClr val="DFE2F0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355080" y="2744663"/>
            <a:ext cx="5056632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 spc="30">
                <a:solidFill>
                  <a:srgbClr val="9A9DB0"/>
                </a:solidFill>
                <a:latin typeface="Montserrat"/>
              </a:rPr>
              <a:t>Cabeçalho da nossa conta no MTR Nacional: empresa, usuário e perfil.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5646" y="2401053"/>
            <a:ext cx="2831713" cy="240406"/>
          </a:xfrm>
          <a:prstGeom prst="rect">
            <a:avLst/>
          </a:prstGeom>
          <a:noFill/>
          <a:ln w="24130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355080" y="3127248"/>
            <a:ext cx="5056632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60" b="0" i="0">
                <a:solidFill>
                  <a:srgbClr val="3A3C55"/>
                </a:solidFill>
                <a:latin typeface="Montserrat"/>
              </a:rPr>
              <a:t>O nosso perfil no sistema é de Transportador. Ele nos permite emitir MTR nas unidades em que estamos autorizados — e só nelas.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3877056"/>
            <a:ext cx="5056632" cy="1700784"/>
          </a:xfrm>
          <a:prstGeom prst="rect">
            <a:avLst/>
          </a:prstGeom>
          <a:solidFill>
            <a:srgbClr val="F4F5FC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355080" y="3877056"/>
            <a:ext cx="5056632" cy="50292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9" name="Freeform 28"/>
          <p:cNvSpPr/>
          <p:nvPr/>
        </p:nvSpPr>
        <p:spPr>
          <a:xfrm>
            <a:off x="6617696" y="4208069"/>
            <a:ext cx="136794" cy="105704"/>
          </a:xfrm>
          <a:custGeom>
            <a:avLst/>
            <a:gdLst/>
            <a:ahLst/>
            <a:cxnLst/>
            <a:rect l="l" t="t" r="r" b="b"/>
            <a:pathLst>
              <a:path w="136794" h="105704">
                <a:moveTo>
                  <a:pt x="0" y="0"/>
                </a:moveTo>
                <a:lnTo>
                  <a:pt x="136794" y="0"/>
                </a:lnTo>
                <a:lnTo>
                  <a:pt x="136794" y="105704"/>
                </a:lnTo>
                <a:lnTo>
                  <a:pt x="0" y="105704"/>
                </a:lnTo>
                <a:close/>
              </a:path>
            </a:pathLst>
          </a:cu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6754490" y="4245376"/>
            <a:ext cx="105705" cy="68397"/>
          </a:xfrm>
          <a:custGeom>
            <a:avLst/>
            <a:gdLst/>
            <a:ahLst/>
            <a:cxnLst/>
            <a:rect l="l" t="t" r="r" b="b"/>
            <a:pathLst>
              <a:path w="105705" h="68397">
                <a:moveTo>
                  <a:pt x="0" y="0"/>
                </a:moveTo>
                <a:lnTo>
                  <a:pt x="62179" y="0"/>
                </a:lnTo>
                <a:lnTo>
                  <a:pt x="105705" y="40417"/>
                </a:lnTo>
                <a:lnTo>
                  <a:pt x="105705" y="68397"/>
                </a:lnTo>
                <a:lnTo>
                  <a:pt x="0" y="68397"/>
                </a:lnTo>
                <a:close/>
              </a:path>
            </a:pathLst>
          </a:cu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6617696" y="4313773"/>
            <a:ext cx="242499" cy="0"/>
          </a:xfrm>
          <a:custGeom>
            <a:avLst/>
            <a:gdLst/>
            <a:ahLst/>
            <a:cxnLst/>
            <a:rect l="l" t="t" r="r" b="b"/>
            <a:pathLst>
              <a:path w="242499" h="0">
                <a:moveTo>
                  <a:pt x="0" y="0"/>
                </a:moveTo>
                <a:lnTo>
                  <a:pt x="242499" y="0"/>
                </a:lnTo>
              </a:path>
            </a:pathLst>
          </a:cu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50339" y="4313773"/>
            <a:ext cx="46634" cy="46634"/>
          </a:xfrm>
          <a:prstGeom prst="ellipse">
            <a:avLst/>
          </a:pr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6793351" y="4313773"/>
            <a:ext cx="46634" cy="46634"/>
          </a:xfrm>
          <a:prstGeom prst="ellipse">
            <a:avLst/>
          </a:pr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050024" y="4133088"/>
            <a:ext cx="4123944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40" b="0" i="0">
                <a:solidFill>
                  <a:srgbClr val="14142E"/>
                </a:solidFill>
                <a:latin typeface="Montserrat SemiBold"/>
              </a:rPr>
              <a:t>O que isso significa na prática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92824" y="4572000"/>
            <a:ext cx="2022652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6E7288"/>
                </a:solidFill>
                <a:latin typeface="Montserrat Medium"/>
              </a:rPr>
              <a:t>Coleta sem MTR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15476" y="4572000"/>
            <a:ext cx="2558491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14142E"/>
                </a:solidFill>
                <a:latin typeface="Montserrat SemiBold"/>
              </a:rPr>
              <a:t>não pode circular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92824" y="4864608"/>
            <a:ext cx="2022652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6E7288"/>
                </a:solidFill>
                <a:latin typeface="Montserrat Medium"/>
              </a:rPr>
              <a:t>MTR emitido por nós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15476" y="4864608"/>
            <a:ext cx="2558491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14142E"/>
                </a:solidFill>
                <a:latin typeface="Montserrat SemiBold"/>
              </a:rPr>
              <a:t>só com autorização sua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92824" y="5157216"/>
            <a:ext cx="2022652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6E7288"/>
                </a:solidFill>
                <a:latin typeface="Montserrat Medium"/>
              </a:rPr>
              <a:t>Autorização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15476" y="5157216"/>
            <a:ext cx="2558491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14142E"/>
                </a:solidFill>
                <a:latin typeface="Montserrat SemiBold"/>
              </a:rPr>
              <a:t>leva minutos, uma única vez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5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>
            <a:off x="777240" y="669340"/>
            <a:ext cx="274320" cy="0"/>
          </a:xfrm>
          <a:prstGeom prst="line">
            <a:avLst/>
          </a:prstGeom>
          <a:ln w="20320" cap="rnd">
            <a:solidFill>
              <a:srgbClr val="3432C9"/>
            </a:solidFill>
            <a:round/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1197863" y="580644"/>
            <a:ext cx="7315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90" cap="all">
                <a:solidFill>
                  <a:srgbClr val="3432C9"/>
                </a:solidFill>
                <a:latin typeface="Montserrat SemiBold"/>
              </a:rPr>
              <a:t>A solução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332720" cy="1371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550" b="0" i="0">
                <a:solidFill>
                  <a:srgbClr val="14142E"/>
                </a:solidFill>
                <a:latin typeface="Montserrat Light"/>
              </a:rPr>
              <a:t>Você autoriza o nosso CPF </a:t>
            </a:r>
            <a:r>
              <a:rPr sz="2550" b="0" i="0">
                <a:solidFill>
                  <a:srgbClr val="14142E"/>
                </a:solidFill>
                <a:latin typeface="Montserrat SemiBold"/>
              </a:rPr>
              <a:t>na sua unidade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37489" cy="0"/>
          </a:xfrm>
          <a:prstGeom prst="line">
            <a:avLst/>
          </a:prstGeom>
          <a:ln w="9525" cap="rnd">
            <a:solidFill>
              <a:srgbClr val="DFE2F0"/>
            </a:solidFill>
            <a:round/>
          </a:ln>
          <a:effectLst/>
        </p:spPr>
      </p:cxnSp>
      <p:pic>
        <p:nvPicPr>
          <p:cNvPr id="7" name="Picture 6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345936"/>
            <a:ext cx="1133529" cy="2331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76969" y="6396228"/>
            <a:ext cx="4937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750" b="0" i="0" spc="50">
                <a:solidFill>
                  <a:srgbClr val="9A9DB0"/>
                </a:solidFill>
                <a:latin typeface="Montserrat"/>
              </a:rPr>
              <a:t>MTR Nacional  ·  Login Único Gov.br    |    06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65376"/>
            <a:ext cx="3392424" cy="2048256"/>
          </a:xfrm>
          <a:prstGeom prst="rect">
            <a:avLst/>
          </a:prstGeom>
          <a:solidFill>
            <a:srgbClr val="FFFFFF"/>
          </a:solidFill>
          <a:ln w="12700" cap="rnd">
            <a:solidFill>
              <a:srgbClr val="DFE2F0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7240" y="1865376"/>
            <a:ext cx="3392424" cy="50292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33271" y="2121408"/>
            <a:ext cx="109728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3432C9"/>
                </a:solidFill>
                <a:latin typeface="Montserrat Light"/>
              </a:rPr>
              <a:t>01</a:t>
            </a:r>
          </a:p>
        </p:txBody>
      </p:sp>
      <p:sp>
        <p:nvSpPr>
          <p:cNvPr id="12" name="Freeform 11"/>
          <p:cNvSpPr/>
          <p:nvPr/>
        </p:nvSpPr>
        <p:spPr>
          <a:xfrm>
            <a:off x="3453506" y="2250521"/>
            <a:ext cx="353324" cy="235550"/>
          </a:xfrm>
          <a:custGeom>
            <a:avLst/>
            <a:gdLst/>
            <a:ahLst/>
            <a:cxnLst/>
            <a:rect l="l" t="t" r="r" b="b"/>
            <a:pathLst>
              <a:path w="353324" h="235550">
                <a:moveTo>
                  <a:pt x="0" y="0"/>
                </a:moveTo>
                <a:lnTo>
                  <a:pt x="353324" y="0"/>
                </a:lnTo>
                <a:lnTo>
                  <a:pt x="353324" y="235550"/>
                </a:lnTo>
                <a:lnTo>
                  <a:pt x="0" y="235550"/>
                </a:lnTo>
                <a:close/>
              </a:path>
            </a:pathLst>
          </a:cu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03980" y="2292583"/>
            <a:ext cx="84124" cy="84124"/>
          </a:xfrm>
          <a:prstGeom prst="ellipse">
            <a:avLst/>
          </a:prstGeom>
          <a:noFill/>
          <a:ln w="14288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4" name="Freeform 13"/>
          <p:cNvSpPr/>
          <p:nvPr/>
        </p:nvSpPr>
        <p:spPr>
          <a:xfrm>
            <a:off x="3486755" y="2389327"/>
            <a:ext cx="118577" cy="30444"/>
          </a:xfrm>
          <a:custGeom>
            <a:avLst/>
            <a:gdLst/>
            <a:ahLst/>
            <a:cxnLst/>
            <a:rect l="l" t="t" r="r" b="b"/>
            <a:pathLst>
              <a:path w="118577" h="30444">
                <a:moveTo>
                  <a:pt x="0" y="30444"/>
                </a:moveTo>
                <a:lnTo>
                  <a:pt x="3465" y="24706"/>
                </a:lnTo>
                <a:lnTo>
                  <a:pt x="7958" y="19364"/>
                </a:lnTo>
                <a:lnTo>
                  <a:pt x="13396" y="14517"/>
                </a:lnTo>
                <a:lnTo>
                  <a:pt x="19677" y="10255"/>
                </a:lnTo>
                <a:lnTo>
                  <a:pt x="26688" y="6655"/>
                </a:lnTo>
                <a:lnTo>
                  <a:pt x="34298" y="3784"/>
                </a:lnTo>
                <a:lnTo>
                  <a:pt x="42368" y="1695"/>
                </a:lnTo>
                <a:lnTo>
                  <a:pt x="50750" y="426"/>
                </a:lnTo>
                <a:lnTo>
                  <a:pt x="59288" y="0"/>
                </a:lnTo>
                <a:lnTo>
                  <a:pt x="67827" y="426"/>
                </a:lnTo>
                <a:lnTo>
                  <a:pt x="76208" y="1695"/>
                </a:lnTo>
                <a:lnTo>
                  <a:pt x="84278" y="3784"/>
                </a:lnTo>
                <a:lnTo>
                  <a:pt x="91889" y="6655"/>
                </a:lnTo>
                <a:lnTo>
                  <a:pt x="98899" y="10255"/>
                </a:lnTo>
                <a:lnTo>
                  <a:pt x="105181" y="14517"/>
                </a:lnTo>
                <a:lnTo>
                  <a:pt x="110618" y="19364"/>
                </a:lnTo>
                <a:lnTo>
                  <a:pt x="115111" y="24706"/>
                </a:lnTo>
                <a:lnTo>
                  <a:pt x="118577" y="30444"/>
                </a:lnTo>
              </a:path>
            </a:pathLst>
          </a:custGeom>
          <a:noFill/>
          <a:ln w="13494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3638580" y="2317821"/>
            <a:ext cx="126188" cy="0"/>
          </a:xfrm>
          <a:custGeom>
            <a:avLst/>
            <a:gdLst/>
            <a:ahLst/>
            <a:cxnLst/>
            <a:rect l="l" t="t" r="r" b="b"/>
            <a:pathLst>
              <a:path w="126188" h="0">
                <a:moveTo>
                  <a:pt x="0" y="0"/>
                </a:moveTo>
                <a:lnTo>
                  <a:pt x="126188" y="0"/>
                </a:lnTo>
              </a:path>
            </a:pathLst>
          </a:custGeom>
          <a:noFill/>
          <a:ln w="1111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3638580" y="2368296"/>
            <a:ext cx="126188" cy="0"/>
          </a:xfrm>
          <a:custGeom>
            <a:avLst/>
            <a:gdLst/>
            <a:ahLst/>
            <a:cxnLst/>
            <a:rect l="l" t="t" r="r" b="b"/>
            <a:pathLst>
              <a:path w="126188" h="0">
                <a:moveTo>
                  <a:pt x="0" y="0"/>
                </a:moveTo>
                <a:lnTo>
                  <a:pt x="126188" y="0"/>
                </a:lnTo>
              </a:path>
            </a:pathLst>
          </a:custGeom>
          <a:noFill/>
          <a:ln w="1111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3638580" y="2418771"/>
            <a:ext cx="126188" cy="0"/>
          </a:xfrm>
          <a:custGeom>
            <a:avLst/>
            <a:gdLst/>
            <a:ahLst/>
            <a:cxnLst/>
            <a:rect l="l" t="t" r="r" b="b"/>
            <a:pathLst>
              <a:path w="126188" h="0">
                <a:moveTo>
                  <a:pt x="0" y="0"/>
                </a:moveTo>
                <a:lnTo>
                  <a:pt x="126188" y="0"/>
                </a:lnTo>
              </a:path>
            </a:pathLst>
          </a:custGeom>
          <a:noFill/>
          <a:ln w="1111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1" y="2834640"/>
            <a:ext cx="2880360" cy="51206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40" b="0" i="0">
                <a:solidFill>
                  <a:srgbClr val="14142E"/>
                </a:solidFill>
                <a:latin typeface="Montserrat SemiBold"/>
              </a:rPr>
              <a:t>Você recebe os nossos dados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1" y="3328416"/>
            <a:ext cx="2880360" cy="51206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6E7288"/>
                </a:solidFill>
                <a:latin typeface="Montserrat"/>
              </a:rPr>
              <a:t>Nome, CPF e e-mail da nossa responsável estão no card abaixo.</a:t>
            </a:r>
          </a:p>
        </p:txBody>
      </p:sp>
      <p:sp>
        <p:nvSpPr>
          <p:cNvPr id="20" name="Freeform 19"/>
          <p:cNvSpPr/>
          <p:nvPr/>
        </p:nvSpPr>
        <p:spPr>
          <a:xfrm>
            <a:off x="4206240" y="2889504"/>
            <a:ext cx="164592" cy="0"/>
          </a:xfrm>
          <a:custGeom>
            <a:avLst/>
            <a:gdLst/>
            <a:ahLst/>
            <a:cxnLst/>
            <a:rect l="l" t="t" r="r" b="b"/>
            <a:pathLst>
              <a:path w="164592" h="0">
                <a:moveTo>
                  <a:pt x="0" y="0"/>
                </a:moveTo>
                <a:lnTo>
                  <a:pt x="164592" y="0"/>
                </a:lnTo>
              </a:path>
            </a:pathLst>
          </a:custGeom>
          <a:noFill/>
          <a:ln w="12700" cap="rnd">
            <a:solidFill>
              <a:srgbClr val="9A9DB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4314316" y="2859454"/>
            <a:ext cx="56516" cy="60100"/>
          </a:xfrm>
          <a:custGeom>
            <a:avLst/>
            <a:gdLst/>
            <a:ahLst/>
            <a:cxnLst/>
            <a:rect l="l" t="t" r="r" b="b"/>
            <a:pathLst>
              <a:path w="56516" h="60100">
                <a:moveTo>
                  <a:pt x="56516" y="30050"/>
                </a:moveTo>
                <a:lnTo>
                  <a:pt x="0" y="60100"/>
                </a:lnTo>
                <a:lnTo>
                  <a:pt x="0" y="0"/>
                </a:lnTo>
                <a:close/>
              </a:path>
            </a:pathLst>
          </a:custGeom>
          <a:solidFill>
            <a:srgbClr val="9A9DB0"/>
          </a:solidFill>
          <a:ln w="7620" cap="rnd">
            <a:solidFill>
              <a:srgbClr val="9A9DB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07407" y="1865376"/>
            <a:ext cx="3392424" cy="2048256"/>
          </a:xfrm>
          <a:prstGeom prst="rect">
            <a:avLst/>
          </a:prstGeom>
          <a:solidFill>
            <a:srgbClr val="FFFFFF"/>
          </a:solidFill>
          <a:ln w="12700" cap="rnd">
            <a:solidFill>
              <a:srgbClr val="DFE2F0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407407" y="1865376"/>
            <a:ext cx="3392424" cy="50292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663440" y="2121408"/>
            <a:ext cx="109728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3432C9"/>
                </a:solidFill>
                <a:latin typeface="Montserrat Light"/>
              </a:rPr>
              <a:t>02</a:t>
            </a:r>
          </a:p>
        </p:txBody>
      </p:sp>
      <p:sp>
        <p:nvSpPr>
          <p:cNvPr id="25" name="Oval 24"/>
          <p:cNvSpPr/>
          <p:nvPr/>
        </p:nvSpPr>
        <p:spPr>
          <a:xfrm>
            <a:off x="7146767" y="2229490"/>
            <a:ext cx="126187" cy="126187"/>
          </a:xfrm>
          <a:prstGeom prst="ellipse">
            <a:avLst/>
          </a:pr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6" name="Freeform 25"/>
          <p:cNvSpPr/>
          <p:nvPr/>
        </p:nvSpPr>
        <p:spPr>
          <a:xfrm>
            <a:off x="7104225" y="2393533"/>
            <a:ext cx="211272" cy="68587"/>
          </a:xfrm>
          <a:custGeom>
            <a:avLst/>
            <a:gdLst/>
            <a:ahLst/>
            <a:cxnLst/>
            <a:rect l="l" t="t" r="r" b="b"/>
            <a:pathLst>
              <a:path w="211272" h="68587">
                <a:moveTo>
                  <a:pt x="0" y="68587"/>
                </a:moveTo>
                <a:lnTo>
                  <a:pt x="4108" y="58145"/>
                </a:lnTo>
                <a:lnTo>
                  <a:pt x="9651" y="48189"/>
                </a:lnTo>
                <a:lnTo>
                  <a:pt x="16552" y="38861"/>
                </a:lnTo>
                <a:lnTo>
                  <a:pt x="24713" y="30292"/>
                </a:lnTo>
                <a:lnTo>
                  <a:pt x="34019" y="22603"/>
                </a:lnTo>
                <a:lnTo>
                  <a:pt x="44338" y="15903"/>
                </a:lnTo>
                <a:lnTo>
                  <a:pt x="55523" y="10287"/>
                </a:lnTo>
                <a:lnTo>
                  <a:pt x="67418" y="5835"/>
                </a:lnTo>
                <a:lnTo>
                  <a:pt x="79853" y="2609"/>
                </a:lnTo>
                <a:lnTo>
                  <a:pt x="92653" y="655"/>
                </a:lnTo>
                <a:lnTo>
                  <a:pt x="105636" y="0"/>
                </a:lnTo>
                <a:lnTo>
                  <a:pt x="118620" y="655"/>
                </a:lnTo>
                <a:lnTo>
                  <a:pt x="131419" y="2609"/>
                </a:lnTo>
                <a:lnTo>
                  <a:pt x="143854" y="5835"/>
                </a:lnTo>
                <a:lnTo>
                  <a:pt x="155749" y="10287"/>
                </a:lnTo>
                <a:lnTo>
                  <a:pt x="166934" y="15903"/>
                </a:lnTo>
                <a:lnTo>
                  <a:pt x="177253" y="22603"/>
                </a:lnTo>
                <a:lnTo>
                  <a:pt x="186559" y="30292"/>
                </a:lnTo>
                <a:lnTo>
                  <a:pt x="194720" y="38861"/>
                </a:lnTo>
                <a:lnTo>
                  <a:pt x="201621" y="48189"/>
                </a:lnTo>
                <a:lnTo>
                  <a:pt x="207165" y="58145"/>
                </a:lnTo>
                <a:lnTo>
                  <a:pt x="211272" y="68587"/>
                </a:lnTo>
              </a:path>
            </a:pathLst>
          </a:cu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7378111" y="2385121"/>
            <a:ext cx="0" cy="126187"/>
          </a:xfrm>
          <a:custGeom>
            <a:avLst/>
            <a:gdLst/>
            <a:ahLst/>
            <a:cxnLst/>
            <a:rect l="l" t="t" r="r" b="b"/>
            <a:pathLst>
              <a:path w="0" h="126187">
                <a:moveTo>
                  <a:pt x="0" y="0"/>
                </a:moveTo>
                <a:lnTo>
                  <a:pt x="0" y="126187"/>
                </a:lnTo>
              </a:path>
            </a:pathLst>
          </a:custGeom>
          <a:noFill/>
          <a:ln w="16669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7315017" y="2448215"/>
            <a:ext cx="126187" cy="0"/>
          </a:xfrm>
          <a:custGeom>
            <a:avLst/>
            <a:gdLst/>
            <a:ahLst/>
            <a:cxnLst/>
            <a:rect l="l" t="t" r="r" b="b"/>
            <a:pathLst>
              <a:path w="126187" h="0">
                <a:moveTo>
                  <a:pt x="0" y="0"/>
                </a:moveTo>
                <a:lnTo>
                  <a:pt x="126187" y="0"/>
                </a:lnTo>
              </a:path>
            </a:pathLst>
          </a:custGeom>
          <a:noFill/>
          <a:ln w="16669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2834640"/>
            <a:ext cx="2880360" cy="51206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40" b="0" i="0">
                <a:solidFill>
                  <a:srgbClr val="14142E"/>
                </a:solidFill>
                <a:latin typeface="Montserrat SemiBold"/>
              </a:rPr>
              <a:t>Seu Administrador autoriza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3328416"/>
            <a:ext cx="2880360" cy="51206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6E7288"/>
                </a:solidFill>
                <a:latin typeface="Montserrat"/>
              </a:rPr>
              <a:t>Cadastro direto no sistema ou aprovação da nossa solicitação.</a:t>
            </a:r>
          </a:p>
        </p:txBody>
      </p:sp>
      <p:sp>
        <p:nvSpPr>
          <p:cNvPr id="31" name="Freeform 30"/>
          <p:cNvSpPr/>
          <p:nvPr/>
        </p:nvSpPr>
        <p:spPr>
          <a:xfrm>
            <a:off x="7836408" y="2889504"/>
            <a:ext cx="164592" cy="0"/>
          </a:xfrm>
          <a:custGeom>
            <a:avLst/>
            <a:gdLst/>
            <a:ahLst/>
            <a:cxnLst/>
            <a:rect l="l" t="t" r="r" b="b"/>
            <a:pathLst>
              <a:path w="164592" h="0">
                <a:moveTo>
                  <a:pt x="0" y="0"/>
                </a:moveTo>
                <a:lnTo>
                  <a:pt x="164592" y="0"/>
                </a:lnTo>
              </a:path>
            </a:pathLst>
          </a:custGeom>
          <a:noFill/>
          <a:ln w="12700" cap="rnd">
            <a:solidFill>
              <a:srgbClr val="9A9DB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7944484" y="2859454"/>
            <a:ext cx="56516" cy="60100"/>
          </a:xfrm>
          <a:custGeom>
            <a:avLst/>
            <a:gdLst/>
            <a:ahLst/>
            <a:cxnLst/>
            <a:rect l="l" t="t" r="r" b="b"/>
            <a:pathLst>
              <a:path w="56516" h="60100">
                <a:moveTo>
                  <a:pt x="56516" y="30050"/>
                </a:moveTo>
                <a:lnTo>
                  <a:pt x="0" y="60100"/>
                </a:lnTo>
                <a:lnTo>
                  <a:pt x="0" y="0"/>
                </a:lnTo>
                <a:close/>
              </a:path>
            </a:pathLst>
          </a:custGeom>
          <a:solidFill>
            <a:srgbClr val="9A9DB0"/>
          </a:solidFill>
          <a:ln w="7620" cap="rnd">
            <a:solidFill>
              <a:srgbClr val="9A9DB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37575" y="1865376"/>
            <a:ext cx="3392424" cy="2048256"/>
          </a:xfrm>
          <a:prstGeom prst="rect">
            <a:avLst/>
          </a:prstGeom>
          <a:solidFill>
            <a:srgbClr val="FFFFFF"/>
          </a:solidFill>
          <a:ln w="12700" cap="rnd">
            <a:solidFill>
              <a:srgbClr val="DFE2F0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8037575" y="1865376"/>
            <a:ext cx="3392424" cy="50292"/>
          </a:xfrm>
          <a:prstGeom prst="rect">
            <a:avLst/>
          </a:prstGeom>
          <a:solidFill>
            <a:srgbClr val="12A87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293607" y="2121408"/>
            <a:ext cx="109728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12A87B"/>
                </a:solidFill>
                <a:latin typeface="Montserrat Light"/>
              </a:rPr>
              <a:t>03</a:t>
            </a:r>
          </a:p>
        </p:txBody>
      </p:sp>
      <p:sp>
        <p:nvSpPr>
          <p:cNvPr id="36" name="Oval 35"/>
          <p:cNvSpPr/>
          <p:nvPr/>
        </p:nvSpPr>
        <p:spPr>
          <a:xfrm>
            <a:off x="10776935" y="2229490"/>
            <a:ext cx="126187" cy="126187"/>
          </a:xfrm>
          <a:prstGeom prst="ellipse">
            <a:avLst/>
          </a:prstGeom>
          <a:noFill/>
          <a:ln w="15875" cap="rnd">
            <a:solidFill>
              <a:srgbClr val="12A87B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7" name="Freeform 36"/>
          <p:cNvSpPr/>
          <p:nvPr/>
        </p:nvSpPr>
        <p:spPr>
          <a:xfrm>
            <a:off x="10734393" y="2393533"/>
            <a:ext cx="211272" cy="68587"/>
          </a:xfrm>
          <a:custGeom>
            <a:avLst/>
            <a:gdLst/>
            <a:ahLst/>
            <a:cxnLst/>
            <a:rect l="l" t="t" r="r" b="b"/>
            <a:pathLst>
              <a:path w="211272" h="68587">
                <a:moveTo>
                  <a:pt x="0" y="68587"/>
                </a:moveTo>
                <a:lnTo>
                  <a:pt x="4108" y="58145"/>
                </a:lnTo>
                <a:lnTo>
                  <a:pt x="9651" y="48189"/>
                </a:lnTo>
                <a:lnTo>
                  <a:pt x="16552" y="38861"/>
                </a:lnTo>
                <a:lnTo>
                  <a:pt x="24713" y="30292"/>
                </a:lnTo>
                <a:lnTo>
                  <a:pt x="34019" y="22603"/>
                </a:lnTo>
                <a:lnTo>
                  <a:pt x="44338" y="15903"/>
                </a:lnTo>
                <a:lnTo>
                  <a:pt x="55523" y="10287"/>
                </a:lnTo>
                <a:lnTo>
                  <a:pt x="67418" y="5835"/>
                </a:lnTo>
                <a:lnTo>
                  <a:pt x="79853" y="2609"/>
                </a:lnTo>
                <a:lnTo>
                  <a:pt x="92653" y="655"/>
                </a:lnTo>
                <a:lnTo>
                  <a:pt x="105636" y="0"/>
                </a:lnTo>
                <a:lnTo>
                  <a:pt x="118620" y="655"/>
                </a:lnTo>
                <a:lnTo>
                  <a:pt x="131419" y="2609"/>
                </a:lnTo>
                <a:lnTo>
                  <a:pt x="143854" y="5835"/>
                </a:lnTo>
                <a:lnTo>
                  <a:pt x="155749" y="10287"/>
                </a:lnTo>
                <a:lnTo>
                  <a:pt x="166934" y="15903"/>
                </a:lnTo>
                <a:lnTo>
                  <a:pt x="177253" y="22603"/>
                </a:lnTo>
                <a:lnTo>
                  <a:pt x="186559" y="30292"/>
                </a:lnTo>
                <a:lnTo>
                  <a:pt x="194720" y="38861"/>
                </a:lnTo>
                <a:lnTo>
                  <a:pt x="201621" y="48189"/>
                </a:lnTo>
                <a:lnTo>
                  <a:pt x="207165" y="58145"/>
                </a:lnTo>
                <a:lnTo>
                  <a:pt x="211272" y="68587"/>
                </a:lnTo>
              </a:path>
            </a:pathLst>
          </a:custGeom>
          <a:noFill/>
          <a:ln w="15875" cap="rnd">
            <a:solidFill>
              <a:srgbClr val="12A87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0949391" y="2393533"/>
            <a:ext cx="126188" cy="92538"/>
          </a:xfrm>
          <a:custGeom>
            <a:avLst/>
            <a:gdLst/>
            <a:ahLst/>
            <a:cxnLst/>
            <a:rect l="l" t="t" r="r" b="b"/>
            <a:pathLst>
              <a:path w="126188" h="92538">
                <a:moveTo>
                  <a:pt x="0" y="50475"/>
                </a:moveTo>
                <a:lnTo>
                  <a:pt x="42063" y="92538"/>
                </a:lnTo>
                <a:lnTo>
                  <a:pt x="126188" y="0"/>
                </a:lnTo>
              </a:path>
            </a:pathLst>
          </a:custGeom>
          <a:noFill/>
          <a:ln w="18256" cap="rnd">
            <a:solidFill>
              <a:srgbClr val="12A87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93607" y="2834640"/>
            <a:ext cx="2880360" cy="51206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40" b="0" i="0">
                <a:solidFill>
                  <a:srgbClr val="14142E"/>
                </a:solidFill>
                <a:latin typeface="Montserrat SemiBold"/>
              </a:rPr>
              <a:t>Voltamos a emitir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3607" y="3328416"/>
            <a:ext cx="2880360" cy="51206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6E7288"/>
                </a:solidFill>
                <a:latin typeface="Montserrat"/>
              </a:rPr>
              <a:t>A emissão volta ao normal, sem mudança na sua rotina.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187952"/>
            <a:ext cx="5175504" cy="1737360"/>
          </a:xfrm>
          <a:prstGeom prst="rect">
            <a:avLst/>
          </a:prstGeom>
          <a:solidFill>
            <a:srgbClr val="F4F5FC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777240" y="4187952"/>
            <a:ext cx="5175504" cy="50292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1133124" y="4481657"/>
            <a:ext cx="74615" cy="74615"/>
          </a:xfrm>
          <a:prstGeom prst="ellipse">
            <a:avLst/>
          </a:pr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4" name="Freeform 43"/>
          <p:cNvSpPr/>
          <p:nvPr/>
        </p:nvSpPr>
        <p:spPr>
          <a:xfrm>
            <a:off x="1087765" y="4618452"/>
            <a:ext cx="165334" cy="66796"/>
          </a:xfrm>
          <a:custGeom>
            <a:avLst/>
            <a:gdLst/>
            <a:ahLst/>
            <a:cxnLst/>
            <a:rect l="l" t="t" r="r" b="b"/>
            <a:pathLst>
              <a:path w="165334" h="66796">
                <a:moveTo>
                  <a:pt x="0" y="66796"/>
                </a:moveTo>
                <a:lnTo>
                  <a:pt x="2511" y="56832"/>
                </a:lnTo>
                <a:lnTo>
                  <a:pt x="6311" y="47253"/>
                </a:lnTo>
                <a:lnTo>
                  <a:pt x="11339" y="38215"/>
                </a:lnTo>
                <a:lnTo>
                  <a:pt x="17516" y="29863"/>
                </a:lnTo>
                <a:lnTo>
                  <a:pt x="24740" y="22331"/>
                </a:lnTo>
                <a:lnTo>
                  <a:pt x="32897" y="15740"/>
                </a:lnTo>
                <a:lnTo>
                  <a:pt x="41855" y="10197"/>
                </a:lnTo>
                <a:lnTo>
                  <a:pt x="51469" y="5790"/>
                </a:lnTo>
                <a:lnTo>
                  <a:pt x="61585" y="2590"/>
                </a:lnTo>
                <a:lnTo>
                  <a:pt x="72041" y="650"/>
                </a:lnTo>
                <a:lnTo>
                  <a:pt x="82667" y="0"/>
                </a:lnTo>
                <a:lnTo>
                  <a:pt x="93293" y="650"/>
                </a:lnTo>
                <a:lnTo>
                  <a:pt x="103749" y="2590"/>
                </a:lnTo>
                <a:lnTo>
                  <a:pt x="113865" y="5790"/>
                </a:lnTo>
                <a:lnTo>
                  <a:pt x="123479" y="10197"/>
                </a:lnTo>
                <a:lnTo>
                  <a:pt x="132437" y="15740"/>
                </a:lnTo>
                <a:lnTo>
                  <a:pt x="140594" y="22331"/>
                </a:lnTo>
                <a:lnTo>
                  <a:pt x="147818" y="29863"/>
                </a:lnTo>
                <a:lnTo>
                  <a:pt x="153995" y="38215"/>
                </a:lnTo>
                <a:lnTo>
                  <a:pt x="159023" y="47253"/>
                </a:lnTo>
                <a:lnTo>
                  <a:pt x="162823" y="56832"/>
                </a:lnTo>
                <a:lnTo>
                  <a:pt x="165334" y="66796"/>
                </a:lnTo>
              </a:path>
            </a:pathLst>
          </a:cu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36746" y="4522073"/>
            <a:ext cx="55961" cy="55961"/>
          </a:xfrm>
          <a:prstGeom prst="ellipse">
            <a:avLst/>
          </a:prstGeom>
          <a:noFill/>
          <a:ln w="13494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6" name="Freeform 45"/>
          <p:cNvSpPr/>
          <p:nvPr/>
        </p:nvSpPr>
        <p:spPr>
          <a:xfrm>
            <a:off x="1013676" y="4655759"/>
            <a:ext cx="102103" cy="41477"/>
          </a:xfrm>
          <a:custGeom>
            <a:avLst/>
            <a:gdLst/>
            <a:ahLst/>
            <a:cxnLst/>
            <a:rect l="l" t="t" r="r" b="b"/>
            <a:pathLst>
              <a:path w="102103" h="41477">
                <a:moveTo>
                  <a:pt x="0" y="41477"/>
                </a:moveTo>
                <a:lnTo>
                  <a:pt x="2522" y="33796"/>
                </a:lnTo>
                <a:lnTo>
                  <a:pt x="6068" y="26583"/>
                </a:lnTo>
                <a:lnTo>
                  <a:pt x="10564" y="19990"/>
                </a:lnTo>
                <a:lnTo>
                  <a:pt x="15915" y="14157"/>
                </a:lnTo>
                <a:lnTo>
                  <a:pt x="22009" y="9206"/>
                </a:lnTo>
                <a:lnTo>
                  <a:pt x="28715" y="5243"/>
                </a:lnTo>
                <a:lnTo>
                  <a:pt x="35893" y="2351"/>
                </a:lnTo>
                <a:lnTo>
                  <a:pt x="43391" y="591"/>
                </a:lnTo>
                <a:lnTo>
                  <a:pt x="51051" y="0"/>
                </a:lnTo>
                <a:lnTo>
                  <a:pt x="58711" y="591"/>
                </a:lnTo>
                <a:lnTo>
                  <a:pt x="66210" y="2351"/>
                </a:lnTo>
                <a:lnTo>
                  <a:pt x="73388" y="5243"/>
                </a:lnTo>
                <a:lnTo>
                  <a:pt x="80094" y="9206"/>
                </a:lnTo>
                <a:lnTo>
                  <a:pt x="86187" y="14157"/>
                </a:lnTo>
                <a:lnTo>
                  <a:pt x="91539" y="19990"/>
                </a:lnTo>
                <a:lnTo>
                  <a:pt x="96035" y="26583"/>
                </a:lnTo>
                <a:lnTo>
                  <a:pt x="99581" y="33796"/>
                </a:lnTo>
                <a:lnTo>
                  <a:pt x="102103" y="41477"/>
                </a:lnTo>
              </a:path>
            </a:pathLst>
          </a:custGeom>
          <a:noFill/>
          <a:ln w="13494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248156" y="4522073"/>
            <a:ext cx="55961" cy="55961"/>
          </a:xfrm>
          <a:prstGeom prst="ellipse">
            <a:avLst/>
          </a:prstGeom>
          <a:noFill/>
          <a:ln w="13494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8" name="Freeform 47"/>
          <p:cNvSpPr/>
          <p:nvPr/>
        </p:nvSpPr>
        <p:spPr>
          <a:xfrm>
            <a:off x="1225085" y="4655759"/>
            <a:ext cx="102103" cy="41477"/>
          </a:xfrm>
          <a:custGeom>
            <a:avLst/>
            <a:gdLst/>
            <a:ahLst/>
            <a:cxnLst/>
            <a:rect l="l" t="t" r="r" b="b"/>
            <a:pathLst>
              <a:path w="102103" h="41477">
                <a:moveTo>
                  <a:pt x="0" y="41477"/>
                </a:moveTo>
                <a:lnTo>
                  <a:pt x="2522" y="33796"/>
                </a:lnTo>
                <a:lnTo>
                  <a:pt x="6068" y="26583"/>
                </a:lnTo>
                <a:lnTo>
                  <a:pt x="10564" y="19990"/>
                </a:lnTo>
                <a:lnTo>
                  <a:pt x="15916" y="14157"/>
                </a:lnTo>
                <a:lnTo>
                  <a:pt x="22009" y="9206"/>
                </a:lnTo>
                <a:lnTo>
                  <a:pt x="28715" y="5243"/>
                </a:lnTo>
                <a:lnTo>
                  <a:pt x="35893" y="2351"/>
                </a:lnTo>
                <a:lnTo>
                  <a:pt x="43392" y="591"/>
                </a:lnTo>
                <a:lnTo>
                  <a:pt x="51052" y="0"/>
                </a:lnTo>
                <a:lnTo>
                  <a:pt x="58712" y="591"/>
                </a:lnTo>
                <a:lnTo>
                  <a:pt x="66210" y="2351"/>
                </a:lnTo>
                <a:lnTo>
                  <a:pt x="73388" y="5243"/>
                </a:lnTo>
                <a:lnTo>
                  <a:pt x="80094" y="9206"/>
                </a:lnTo>
                <a:lnTo>
                  <a:pt x="86188" y="14157"/>
                </a:lnTo>
                <a:lnTo>
                  <a:pt x="91539" y="19990"/>
                </a:lnTo>
                <a:lnTo>
                  <a:pt x="96035" y="26583"/>
                </a:lnTo>
                <a:lnTo>
                  <a:pt x="99581" y="33796"/>
                </a:lnTo>
                <a:lnTo>
                  <a:pt x="102103" y="41477"/>
                </a:lnTo>
              </a:path>
            </a:pathLst>
          </a:custGeom>
          <a:noFill/>
          <a:ln w="13494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72184" y="4443984"/>
            <a:ext cx="4242816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40" b="0" i="0">
                <a:solidFill>
                  <a:srgbClr val="14142E"/>
                </a:solidFill>
                <a:latin typeface="Montserrat SemiBold"/>
              </a:rPr>
              <a:t>Dados da nossa responsável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4983" y="4882896"/>
            <a:ext cx="2070201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6E7288"/>
                </a:solidFill>
                <a:latin typeface="Montserrat Medium"/>
              </a:rPr>
              <a:t>Nome completo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85185" y="4882896"/>
            <a:ext cx="2629814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14142E"/>
                </a:solidFill>
                <a:latin typeface="Montserrat SemiBold"/>
              </a:rPr>
              <a:t>Ana Paola Nunes Lucato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4983" y="5175504"/>
            <a:ext cx="2070201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6E7288"/>
                </a:solidFill>
                <a:latin typeface="Montserrat Medium"/>
              </a:rPr>
              <a:t>CPF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85185" y="5175504"/>
            <a:ext cx="2629814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14142E"/>
                </a:solidFill>
                <a:latin typeface="Montserrat SemiBold"/>
              </a:rPr>
              <a:t>142.803.138-30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4983" y="5468112"/>
            <a:ext cx="2070201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6E7288"/>
                </a:solidFill>
                <a:latin typeface="Montserrat Medium"/>
              </a:rPr>
              <a:t>E-mail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85185" y="5468112"/>
            <a:ext cx="2629814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14142E"/>
                </a:solidFill>
                <a:latin typeface="Montserrat SemiBold"/>
              </a:rPr>
              <a:t>anapnuneslucato@gmail.com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36208" y="4187952"/>
            <a:ext cx="5175504" cy="1737360"/>
          </a:xfrm>
          <a:prstGeom prst="rect">
            <a:avLst/>
          </a:prstGeom>
          <a:solidFill>
            <a:srgbClr val="E7F6F1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6236208" y="4187952"/>
            <a:ext cx="32004" cy="1737360"/>
          </a:xfrm>
          <a:prstGeom prst="rect">
            <a:avLst/>
          </a:prstGeom>
          <a:solidFill>
            <a:srgbClr val="12A87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58" name="Freeform 57"/>
          <p:cNvSpPr/>
          <p:nvPr/>
        </p:nvSpPr>
        <p:spPr>
          <a:xfrm>
            <a:off x="6517843" y="4941418"/>
            <a:ext cx="186538" cy="230428"/>
          </a:xfrm>
          <a:custGeom>
            <a:avLst/>
            <a:gdLst/>
            <a:ahLst/>
            <a:cxnLst/>
            <a:rect l="l" t="t" r="r" b="b"/>
            <a:pathLst>
              <a:path w="186538" h="230428">
                <a:moveTo>
                  <a:pt x="93269" y="0"/>
                </a:moveTo>
                <a:lnTo>
                  <a:pt x="186538" y="38404"/>
                </a:lnTo>
                <a:lnTo>
                  <a:pt x="186538" y="120700"/>
                </a:lnTo>
                <a:lnTo>
                  <a:pt x="93269" y="230428"/>
                </a:lnTo>
                <a:lnTo>
                  <a:pt x="0" y="120700"/>
                </a:lnTo>
                <a:lnTo>
                  <a:pt x="0" y="38404"/>
                </a:lnTo>
                <a:close/>
              </a:path>
            </a:pathLst>
          </a:custGeom>
          <a:noFill/>
          <a:ln w="15875" cap="rnd">
            <a:solidFill>
              <a:srgbClr val="12A87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6569964" y="5018227"/>
            <a:ext cx="87782" cy="65837"/>
          </a:xfrm>
          <a:custGeom>
            <a:avLst/>
            <a:gdLst/>
            <a:ahLst/>
            <a:cxnLst/>
            <a:rect l="l" t="t" r="r" b="b"/>
            <a:pathLst>
              <a:path w="87782" h="65837">
                <a:moveTo>
                  <a:pt x="0" y="32919"/>
                </a:moveTo>
                <a:lnTo>
                  <a:pt x="30175" y="65837"/>
                </a:lnTo>
                <a:lnTo>
                  <a:pt x="87782" y="0"/>
                </a:lnTo>
              </a:path>
            </a:pathLst>
          </a:custGeom>
          <a:noFill/>
          <a:ln w="17462" cap="rnd">
            <a:solidFill>
              <a:srgbClr val="12A87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31152" y="4187952"/>
            <a:ext cx="4206240" cy="17373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19" b="0" i="0">
                <a:solidFill>
                  <a:srgbClr val="3A3C55"/>
                </a:solidFill>
                <a:latin typeface="Montserrat"/>
              </a:rPr>
              <a:t>Nenhuma senha pessoal é compartilhada neste caminho. Cada MTR emitido fica registrado no CPF de quem o emitiu, o que aumenta a sua rastreabilidade e a nossa.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5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>
            <a:off x="777240" y="669340"/>
            <a:ext cx="274320" cy="0"/>
          </a:xfrm>
          <a:prstGeom prst="line">
            <a:avLst/>
          </a:prstGeom>
          <a:ln w="20320" cap="rnd">
            <a:solidFill>
              <a:srgbClr val="3432C9"/>
            </a:solidFill>
            <a:round/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1197863" y="580644"/>
            <a:ext cx="7315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90" cap="all">
                <a:solidFill>
                  <a:srgbClr val="3432C9"/>
                </a:solidFill>
                <a:latin typeface="Montserrat SemiBold"/>
              </a:rPr>
              <a:t>As duas rotas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332720" cy="1371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550" b="0" i="0">
                <a:solidFill>
                  <a:srgbClr val="14142E"/>
                </a:solidFill>
                <a:latin typeface="Montserrat Light"/>
              </a:rPr>
              <a:t>Escolha </a:t>
            </a:r>
            <a:r>
              <a:rPr sz="2550" b="0" i="0">
                <a:solidFill>
                  <a:srgbClr val="14142E"/>
                </a:solidFill>
                <a:latin typeface="Montserrat SemiBold"/>
              </a:rPr>
              <a:t>como prefere autorizar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37489" cy="0"/>
          </a:xfrm>
          <a:prstGeom prst="line">
            <a:avLst/>
          </a:prstGeom>
          <a:ln w="9525" cap="rnd">
            <a:solidFill>
              <a:srgbClr val="DFE2F0"/>
            </a:solidFill>
            <a:round/>
          </a:ln>
          <a:effectLst/>
        </p:spPr>
      </p:cxnSp>
      <p:pic>
        <p:nvPicPr>
          <p:cNvPr id="7" name="Picture 6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345936"/>
            <a:ext cx="1133529" cy="2331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76969" y="6396228"/>
            <a:ext cx="4937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750" b="0" i="0" spc="50">
                <a:solidFill>
                  <a:srgbClr val="9A9DB0"/>
                </a:solidFill>
                <a:latin typeface="Montserrat"/>
              </a:rPr>
              <a:t>MTR Nacional  ·  Login Único Gov.br    |    07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5172440" cy="3310128"/>
          </a:xfrm>
          <a:prstGeom prst="rect">
            <a:avLst/>
          </a:prstGeom>
          <a:solidFill>
            <a:srgbClr val="FFFFFF"/>
          </a:solidFill>
          <a:ln w="12700" cap="rnd">
            <a:solidFill>
              <a:srgbClr val="DFE2F0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5172440" cy="50292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06241" y="2212665"/>
            <a:ext cx="143012" cy="143012"/>
          </a:xfrm>
          <a:prstGeom prst="ellipse">
            <a:avLst/>
          </a:pr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1150406" y="2256830"/>
            <a:ext cx="54681" cy="54681"/>
          </a:xfrm>
          <a:prstGeom prst="ellipse">
            <a:avLst/>
          </a:prstGeom>
          <a:noFill/>
          <a:ln w="12700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3" name="Freeform 12"/>
          <p:cNvSpPr/>
          <p:nvPr/>
        </p:nvSpPr>
        <p:spPr>
          <a:xfrm>
            <a:off x="1257666" y="2284171"/>
            <a:ext cx="29443" cy="0"/>
          </a:xfrm>
          <a:custGeom>
            <a:avLst/>
            <a:gdLst/>
            <a:ahLst/>
            <a:cxnLst/>
            <a:rect l="l" t="t" r="r" b="b"/>
            <a:pathLst>
              <a:path w="29443" h="0">
                <a:moveTo>
                  <a:pt x="0" y="0"/>
                </a:moveTo>
                <a:lnTo>
                  <a:pt x="29443" y="0"/>
                </a:lnTo>
              </a:path>
            </a:pathLst>
          </a:custGeom>
          <a:noFill/>
          <a:ln w="13494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217706" y="2353383"/>
            <a:ext cx="14722" cy="25499"/>
          </a:xfrm>
          <a:custGeom>
            <a:avLst/>
            <a:gdLst/>
            <a:ahLst/>
            <a:cxnLst/>
            <a:rect l="l" t="t" r="r" b="b"/>
            <a:pathLst>
              <a:path w="14722" h="25499">
                <a:moveTo>
                  <a:pt x="0" y="0"/>
                </a:moveTo>
                <a:lnTo>
                  <a:pt x="14722" y="25499"/>
                </a:lnTo>
              </a:path>
            </a:pathLst>
          </a:custGeom>
          <a:noFill/>
          <a:ln w="13494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23066" y="2353383"/>
            <a:ext cx="14722" cy="25499"/>
          </a:xfrm>
          <a:custGeom>
            <a:avLst/>
            <a:gdLst/>
            <a:ahLst/>
            <a:cxnLst/>
            <a:rect l="l" t="t" r="r" b="b"/>
            <a:pathLst>
              <a:path w="14722" h="25499">
                <a:moveTo>
                  <a:pt x="14722" y="0"/>
                </a:moveTo>
                <a:lnTo>
                  <a:pt x="0" y="25499"/>
                </a:lnTo>
              </a:path>
            </a:pathLst>
          </a:custGeom>
          <a:noFill/>
          <a:ln w="13494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068385" y="2284171"/>
            <a:ext cx="29444" cy="0"/>
          </a:xfrm>
          <a:custGeom>
            <a:avLst/>
            <a:gdLst/>
            <a:ahLst/>
            <a:cxnLst/>
            <a:rect l="l" t="t" r="r" b="b"/>
            <a:pathLst>
              <a:path w="29444" h="0">
                <a:moveTo>
                  <a:pt x="29444" y="0"/>
                </a:moveTo>
                <a:lnTo>
                  <a:pt x="0" y="0"/>
                </a:lnTo>
              </a:path>
            </a:pathLst>
          </a:custGeom>
          <a:noFill/>
          <a:ln w="13494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23066" y="2189461"/>
            <a:ext cx="14722" cy="25499"/>
          </a:xfrm>
          <a:custGeom>
            <a:avLst/>
            <a:gdLst/>
            <a:ahLst/>
            <a:cxnLst/>
            <a:rect l="l" t="t" r="r" b="b"/>
            <a:pathLst>
              <a:path w="14722" h="25499">
                <a:moveTo>
                  <a:pt x="14722" y="25499"/>
                </a:moveTo>
                <a:lnTo>
                  <a:pt x="0" y="0"/>
                </a:lnTo>
              </a:path>
            </a:pathLst>
          </a:custGeom>
          <a:noFill/>
          <a:ln w="13494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217706" y="2189461"/>
            <a:ext cx="14722" cy="25499"/>
          </a:xfrm>
          <a:custGeom>
            <a:avLst/>
            <a:gdLst/>
            <a:ahLst/>
            <a:cxnLst/>
            <a:rect l="l" t="t" r="r" b="b"/>
            <a:pathLst>
              <a:path w="14722" h="25499">
                <a:moveTo>
                  <a:pt x="0" y="25499"/>
                </a:moveTo>
                <a:lnTo>
                  <a:pt x="14722" y="0"/>
                </a:lnTo>
              </a:path>
            </a:pathLst>
          </a:custGeom>
          <a:noFill/>
          <a:ln w="13494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245047" y="2418771"/>
            <a:ext cx="201900" cy="0"/>
          </a:xfrm>
          <a:custGeom>
            <a:avLst/>
            <a:gdLst/>
            <a:ahLst/>
            <a:cxnLst/>
            <a:rect l="l" t="t" r="r" b="b"/>
            <a:pathLst>
              <a:path w="201900" h="0">
                <a:moveTo>
                  <a:pt x="0" y="0"/>
                </a:moveTo>
                <a:lnTo>
                  <a:pt x="201900" y="0"/>
                </a:lnTo>
              </a:path>
            </a:pathLst>
          </a:custGeom>
          <a:noFill/>
          <a:ln w="13494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245047" y="2477658"/>
            <a:ext cx="143012" cy="0"/>
          </a:xfrm>
          <a:custGeom>
            <a:avLst/>
            <a:gdLst/>
            <a:ahLst/>
            <a:cxnLst/>
            <a:rect l="l" t="t" r="r" b="b"/>
            <a:pathLst>
              <a:path w="143012" h="0">
                <a:moveTo>
                  <a:pt x="0" y="0"/>
                </a:moveTo>
                <a:lnTo>
                  <a:pt x="143012" y="0"/>
                </a:lnTo>
              </a:path>
            </a:pathLst>
          </a:custGeom>
          <a:noFill/>
          <a:ln w="13494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245047" y="2536546"/>
            <a:ext cx="84125" cy="0"/>
          </a:xfrm>
          <a:custGeom>
            <a:avLst/>
            <a:gdLst/>
            <a:ahLst/>
            <a:cxnLst/>
            <a:rect l="l" t="t" r="r" b="b"/>
            <a:pathLst>
              <a:path w="84125" h="0">
                <a:moveTo>
                  <a:pt x="0" y="0"/>
                </a:moveTo>
                <a:lnTo>
                  <a:pt x="84125" y="0"/>
                </a:lnTo>
              </a:path>
            </a:pathLst>
          </a:custGeom>
          <a:noFill/>
          <a:ln w="13494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18488" y="2176272"/>
            <a:ext cx="201168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i="0" spc="150" cap="all">
                <a:solidFill>
                  <a:srgbClr val="3432C9"/>
                </a:solidFill>
                <a:latin typeface="Montserrat SemiBold"/>
              </a:rPr>
              <a:t>Rota 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6912" y="2139696"/>
            <a:ext cx="1298448" cy="256032"/>
          </a:xfrm>
          <a:prstGeom prst="roundRect">
            <a:avLst>
              <a:gd name="adj" fmla="val 50000"/>
            </a:avLst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376912" y="2199132"/>
            <a:ext cx="1298448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720" b="0" i="0" spc="120" cap="all">
                <a:solidFill>
                  <a:srgbClr val="FFFFFF"/>
                </a:solidFill>
                <a:latin typeface="Montserrat SemiBold"/>
              </a:rPr>
              <a:t>Mais rápida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2724912"/>
            <a:ext cx="4623800" cy="6400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0" i="0">
                <a:solidFill>
                  <a:srgbClr val="14142E"/>
                </a:solidFill>
                <a:latin typeface="Montserrat Light"/>
              </a:rPr>
              <a:t>Você cadastra o nosso CPF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51560" y="3419856"/>
            <a:ext cx="4623800" cy="0"/>
          </a:xfrm>
          <a:prstGeom prst="line">
            <a:avLst/>
          </a:prstGeom>
          <a:ln w="12700" cap="rnd">
            <a:solidFill>
              <a:srgbClr val="DFE2F0"/>
            </a:solidFill>
            <a:round/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1051560" y="3602736"/>
            <a:ext cx="17373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E7288"/>
                </a:solidFill>
                <a:latin typeface="Montserrat Medium"/>
              </a:rPr>
              <a:t>Quem executa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25496" y="3602736"/>
            <a:ext cx="2849864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14142E"/>
                </a:solidFill>
                <a:latin typeface="Montserrat SemiBold"/>
              </a:rPr>
              <a:t>o Administrador da sua unidade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3950208"/>
            <a:ext cx="17373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E7288"/>
                </a:solidFill>
                <a:latin typeface="Montserrat Medium"/>
              </a:rPr>
              <a:t>Quanto tempo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25496" y="3950208"/>
            <a:ext cx="2849864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14142E"/>
                </a:solidFill>
                <a:latin typeface="Montserrat SemiBold"/>
              </a:rPr>
              <a:t>poucos minutos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297680"/>
            <a:ext cx="17373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E7288"/>
                </a:solidFill>
                <a:latin typeface="Montserrat Medium"/>
              </a:rPr>
              <a:t>O que precisa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25496" y="4297680"/>
            <a:ext cx="2849864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14142E"/>
                </a:solidFill>
                <a:latin typeface="Montserrat SemiBold"/>
              </a:rPr>
              <a:t>os dados do slide 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645152"/>
            <a:ext cx="17373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E7288"/>
                </a:solidFill>
                <a:latin typeface="Montserrat Medium"/>
              </a:rPr>
              <a:t>Passo a passo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25496" y="4645152"/>
            <a:ext cx="2849864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14142E"/>
                </a:solidFill>
                <a:latin typeface="Montserrat SemiBold"/>
              </a:rPr>
              <a:t>slides 8 a 12, com as telas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42288" y="1847088"/>
            <a:ext cx="5172440" cy="3310128"/>
          </a:xfrm>
          <a:prstGeom prst="rect">
            <a:avLst/>
          </a:prstGeom>
          <a:solidFill>
            <a:srgbClr val="FFFFFF"/>
          </a:solidFill>
          <a:ln w="12700" cap="rnd">
            <a:solidFill>
              <a:srgbClr val="DFE2F0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242288" y="1847088"/>
            <a:ext cx="5172440" cy="50292"/>
          </a:xfrm>
          <a:prstGeom prst="rect">
            <a:avLst/>
          </a:prstGeom>
          <a:solidFill>
            <a:srgbClr val="12A87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6613352" y="2229490"/>
            <a:ext cx="126187" cy="126187"/>
          </a:xfrm>
          <a:prstGeom prst="ellipse">
            <a:avLst/>
          </a:prstGeom>
          <a:noFill/>
          <a:ln w="15875" cap="rnd">
            <a:solidFill>
              <a:srgbClr val="12A87B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8" name="Freeform 37"/>
          <p:cNvSpPr/>
          <p:nvPr/>
        </p:nvSpPr>
        <p:spPr>
          <a:xfrm>
            <a:off x="6570810" y="2393533"/>
            <a:ext cx="211272" cy="68587"/>
          </a:xfrm>
          <a:custGeom>
            <a:avLst/>
            <a:gdLst/>
            <a:ahLst/>
            <a:cxnLst/>
            <a:rect l="l" t="t" r="r" b="b"/>
            <a:pathLst>
              <a:path w="211272" h="68587">
                <a:moveTo>
                  <a:pt x="0" y="68587"/>
                </a:moveTo>
                <a:lnTo>
                  <a:pt x="4107" y="58145"/>
                </a:lnTo>
                <a:lnTo>
                  <a:pt x="9651" y="48189"/>
                </a:lnTo>
                <a:lnTo>
                  <a:pt x="16552" y="38861"/>
                </a:lnTo>
                <a:lnTo>
                  <a:pt x="24713" y="30292"/>
                </a:lnTo>
                <a:lnTo>
                  <a:pt x="34019" y="22603"/>
                </a:lnTo>
                <a:lnTo>
                  <a:pt x="44338" y="15903"/>
                </a:lnTo>
                <a:lnTo>
                  <a:pt x="55523" y="10287"/>
                </a:lnTo>
                <a:lnTo>
                  <a:pt x="67418" y="5835"/>
                </a:lnTo>
                <a:lnTo>
                  <a:pt x="79853" y="2609"/>
                </a:lnTo>
                <a:lnTo>
                  <a:pt x="92652" y="655"/>
                </a:lnTo>
                <a:lnTo>
                  <a:pt x="105636" y="0"/>
                </a:lnTo>
                <a:lnTo>
                  <a:pt x="118619" y="655"/>
                </a:lnTo>
                <a:lnTo>
                  <a:pt x="131419" y="2609"/>
                </a:lnTo>
                <a:lnTo>
                  <a:pt x="143854" y="5835"/>
                </a:lnTo>
                <a:lnTo>
                  <a:pt x="155749" y="10287"/>
                </a:lnTo>
                <a:lnTo>
                  <a:pt x="166934" y="15903"/>
                </a:lnTo>
                <a:lnTo>
                  <a:pt x="177253" y="22603"/>
                </a:lnTo>
                <a:lnTo>
                  <a:pt x="186559" y="30292"/>
                </a:lnTo>
                <a:lnTo>
                  <a:pt x="194720" y="38861"/>
                </a:lnTo>
                <a:lnTo>
                  <a:pt x="201621" y="48189"/>
                </a:lnTo>
                <a:lnTo>
                  <a:pt x="207164" y="58145"/>
                </a:lnTo>
                <a:lnTo>
                  <a:pt x="211272" y="68587"/>
                </a:lnTo>
              </a:path>
            </a:pathLst>
          </a:custGeom>
          <a:noFill/>
          <a:ln w="15875" cap="rnd">
            <a:solidFill>
              <a:srgbClr val="12A87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785808" y="2393533"/>
            <a:ext cx="126187" cy="92538"/>
          </a:xfrm>
          <a:custGeom>
            <a:avLst/>
            <a:gdLst/>
            <a:ahLst/>
            <a:cxnLst/>
            <a:rect l="l" t="t" r="r" b="b"/>
            <a:pathLst>
              <a:path w="126187" h="92538">
                <a:moveTo>
                  <a:pt x="0" y="50475"/>
                </a:moveTo>
                <a:lnTo>
                  <a:pt x="42063" y="92538"/>
                </a:lnTo>
                <a:lnTo>
                  <a:pt x="126187" y="0"/>
                </a:lnTo>
              </a:path>
            </a:pathLst>
          </a:custGeom>
          <a:noFill/>
          <a:ln w="18256" cap="rnd">
            <a:solidFill>
              <a:srgbClr val="12A87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83536" y="2176272"/>
            <a:ext cx="201168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60" b="0" i="0" spc="150" cap="all">
                <a:solidFill>
                  <a:srgbClr val="12A87B"/>
                </a:solidFill>
                <a:latin typeface="Montserrat SemiBold"/>
              </a:rPr>
              <a:t>Rota B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41961" y="2139696"/>
            <a:ext cx="1298448" cy="256032"/>
          </a:xfrm>
          <a:prstGeom prst="roundRect">
            <a:avLst>
              <a:gd name="adj" fmla="val 50000"/>
            </a:avLst>
          </a:prstGeom>
          <a:solidFill>
            <a:srgbClr val="12A87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841961" y="2199132"/>
            <a:ext cx="1298448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720" b="0" i="0" spc="120" cap="all">
                <a:solidFill>
                  <a:srgbClr val="FFFFFF"/>
                </a:solidFill>
                <a:latin typeface="Montserrat SemiBold"/>
              </a:rPr>
              <a:t>Menos trabalho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6608" y="2724912"/>
            <a:ext cx="4623800" cy="6400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0" i="0">
                <a:solidFill>
                  <a:srgbClr val="14142E"/>
                </a:solidFill>
                <a:latin typeface="Montserrat Light"/>
              </a:rPr>
              <a:t>Nós solicitamos, você aprova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516608" y="3419856"/>
            <a:ext cx="4623801" cy="0"/>
          </a:xfrm>
          <a:prstGeom prst="line">
            <a:avLst/>
          </a:prstGeom>
          <a:ln w="12700" cap="rnd">
            <a:solidFill>
              <a:srgbClr val="DFE2F0"/>
            </a:solidFill>
            <a:round/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6516608" y="3602736"/>
            <a:ext cx="17373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E7288"/>
                </a:solidFill>
                <a:latin typeface="Montserrat Medium"/>
              </a:rPr>
              <a:t>Quem executa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90544" y="3602736"/>
            <a:ext cx="2849864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14142E"/>
                </a:solidFill>
                <a:latin typeface="Montserrat SemiBold"/>
              </a:rPr>
              <a:t>nossa equipe faz o pedido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6608" y="3950208"/>
            <a:ext cx="17373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E7288"/>
                </a:solidFill>
                <a:latin typeface="Montserrat Medium"/>
              </a:rPr>
              <a:t>Seu papel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90544" y="3950208"/>
            <a:ext cx="2849864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14142E"/>
                </a:solidFill>
                <a:latin typeface="Montserrat SemiBold"/>
              </a:rPr>
              <a:t>apenas aprovar a solicitação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16608" y="4297680"/>
            <a:ext cx="17373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E7288"/>
                </a:solidFill>
                <a:latin typeface="Montserrat Medium"/>
              </a:rPr>
              <a:t>O que precisa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90544" y="4297680"/>
            <a:ext cx="2849864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14142E"/>
                </a:solidFill>
                <a:latin typeface="Montserrat SemiBold"/>
              </a:rPr>
              <a:t>nada de antemão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16608" y="4645152"/>
            <a:ext cx="17373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E7288"/>
                </a:solidFill>
                <a:latin typeface="Montserrat Medium"/>
              </a:rPr>
              <a:t>Passo a passo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90544" y="4645152"/>
            <a:ext cx="2849864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14142E"/>
                </a:solidFill>
                <a:latin typeface="Montserrat SemiBold"/>
              </a:rPr>
              <a:t>slides 13 a 15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7240" y="5376672"/>
            <a:ext cx="10637489" cy="640080"/>
          </a:xfrm>
          <a:prstGeom prst="rect">
            <a:avLst/>
          </a:prstGeom>
          <a:solidFill>
            <a:srgbClr val="F4F5FC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777240" y="5376672"/>
            <a:ext cx="32004" cy="640080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55" name="Freeform 54"/>
          <p:cNvSpPr/>
          <p:nvPr/>
        </p:nvSpPr>
        <p:spPr>
          <a:xfrm>
            <a:off x="1085122" y="5597957"/>
            <a:ext cx="134044" cy="159105"/>
          </a:xfrm>
          <a:custGeom>
            <a:avLst/>
            <a:gdLst/>
            <a:ahLst/>
            <a:cxnLst/>
            <a:rect l="l" t="t" r="r" b="b"/>
            <a:pathLst>
              <a:path w="134044" h="159105">
                <a:moveTo>
                  <a:pt x="0" y="46929"/>
                </a:moveTo>
                <a:lnTo>
                  <a:pt x="2381" y="41181"/>
                </a:lnTo>
                <a:lnTo>
                  <a:pt x="5254" y="35661"/>
                </a:lnTo>
                <a:lnTo>
                  <a:pt x="8597" y="30414"/>
                </a:lnTo>
                <a:lnTo>
                  <a:pt x="12385" y="25477"/>
                </a:lnTo>
                <a:lnTo>
                  <a:pt x="16589" y="20890"/>
                </a:lnTo>
                <a:lnTo>
                  <a:pt x="21176" y="16686"/>
                </a:lnTo>
                <a:lnTo>
                  <a:pt x="26113" y="12898"/>
                </a:lnTo>
                <a:lnTo>
                  <a:pt x="31360" y="9555"/>
                </a:lnTo>
                <a:lnTo>
                  <a:pt x="36880" y="6682"/>
                </a:lnTo>
                <a:lnTo>
                  <a:pt x="42628" y="4301"/>
                </a:lnTo>
                <a:lnTo>
                  <a:pt x="48562" y="2430"/>
                </a:lnTo>
                <a:lnTo>
                  <a:pt x="54637" y="1083"/>
                </a:lnTo>
                <a:lnTo>
                  <a:pt x="60806" y="271"/>
                </a:lnTo>
                <a:lnTo>
                  <a:pt x="67022" y="0"/>
                </a:lnTo>
                <a:lnTo>
                  <a:pt x="73238" y="271"/>
                </a:lnTo>
                <a:lnTo>
                  <a:pt x="79407" y="1083"/>
                </a:lnTo>
                <a:lnTo>
                  <a:pt x="85482" y="2430"/>
                </a:lnTo>
                <a:lnTo>
                  <a:pt x="91416" y="4301"/>
                </a:lnTo>
                <a:lnTo>
                  <a:pt x="97164" y="6682"/>
                </a:lnTo>
                <a:lnTo>
                  <a:pt x="102684" y="9555"/>
                </a:lnTo>
                <a:lnTo>
                  <a:pt x="107931" y="12898"/>
                </a:lnTo>
                <a:lnTo>
                  <a:pt x="112868" y="16686"/>
                </a:lnTo>
                <a:lnTo>
                  <a:pt x="117455" y="20890"/>
                </a:lnTo>
                <a:lnTo>
                  <a:pt x="121659" y="25477"/>
                </a:lnTo>
                <a:lnTo>
                  <a:pt x="125447" y="30414"/>
                </a:lnTo>
                <a:lnTo>
                  <a:pt x="128790" y="35661"/>
                </a:lnTo>
                <a:lnTo>
                  <a:pt x="131663" y="41181"/>
                </a:lnTo>
                <a:lnTo>
                  <a:pt x="134044" y="46929"/>
                </a:lnTo>
                <a:lnTo>
                  <a:pt x="94454" y="131673"/>
                </a:lnTo>
                <a:lnTo>
                  <a:pt x="94454" y="159105"/>
                </a:lnTo>
                <a:lnTo>
                  <a:pt x="39590" y="159105"/>
                </a:lnTo>
                <a:lnTo>
                  <a:pt x="39590" y="131673"/>
                </a:lnTo>
                <a:close/>
              </a:path>
            </a:pathLst>
          </a:cu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127455" y="5773522"/>
            <a:ext cx="49378" cy="0"/>
          </a:xfrm>
          <a:custGeom>
            <a:avLst/>
            <a:gdLst/>
            <a:ahLst/>
            <a:cxnLst/>
            <a:rect l="l" t="t" r="r" b="b"/>
            <a:pathLst>
              <a:path w="49378" h="0">
                <a:moveTo>
                  <a:pt x="0" y="0"/>
                </a:moveTo>
                <a:lnTo>
                  <a:pt x="49378" y="0"/>
                </a:lnTo>
              </a:path>
            </a:pathLst>
          </a:custGeom>
          <a:noFill/>
          <a:ln w="12700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135685" y="5795467"/>
            <a:ext cx="32918" cy="0"/>
          </a:xfrm>
          <a:custGeom>
            <a:avLst/>
            <a:gdLst/>
            <a:ahLst/>
            <a:cxnLst/>
            <a:rect l="l" t="t" r="r" b="b"/>
            <a:pathLst>
              <a:path w="32918" h="0">
                <a:moveTo>
                  <a:pt x="0" y="0"/>
                </a:moveTo>
                <a:lnTo>
                  <a:pt x="32918" y="0"/>
                </a:lnTo>
              </a:path>
            </a:pathLst>
          </a:custGeom>
          <a:noFill/>
          <a:ln w="12700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152144" y="5652821"/>
            <a:ext cx="0" cy="65837"/>
          </a:xfrm>
          <a:custGeom>
            <a:avLst/>
            <a:gdLst/>
            <a:ahLst/>
            <a:cxnLst/>
            <a:rect l="l" t="t" r="r" b="b"/>
            <a:pathLst>
              <a:path w="0" h="65837">
                <a:moveTo>
                  <a:pt x="0" y="65837"/>
                </a:moveTo>
                <a:lnTo>
                  <a:pt x="0" y="0"/>
                </a:lnTo>
              </a:path>
            </a:pathLst>
          </a:custGeom>
          <a:noFill/>
          <a:ln w="1111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1152144" y="5650078"/>
            <a:ext cx="30175" cy="30175"/>
          </a:xfrm>
          <a:custGeom>
            <a:avLst/>
            <a:gdLst/>
            <a:ahLst/>
            <a:cxnLst/>
            <a:rect l="l" t="t" r="r" b="b"/>
            <a:pathLst>
              <a:path w="30175" h="30175">
                <a:moveTo>
                  <a:pt x="0" y="30175"/>
                </a:moveTo>
                <a:lnTo>
                  <a:pt x="30175" y="0"/>
                </a:lnTo>
              </a:path>
            </a:pathLst>
          </a:custGeom>
          <a:noFill/>
          <a:ln w="1111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121969" y="5650078"/>
            <a:ext cx="30175" cy="30175"/>
          </a:xfrm>
          <a:custGeom>
            <a:avLst/>
            <a:gdLst/>
            <a:ahLst/>
            <a:cxnLst/>
            <a:rect l="l" t="t" r="r" b="b"/>
            <a:pathLst>
              <a:path w="30175" h="30175">
                <a:moveTo>
                  <a:pt x="30175" y="30175"/>
                </a:moveTo>
                <a:lnTo>
                  <a:pt x="0" y="0"/>
                </a:lnTo>
              </a:path>
            </a:pathLst>
          </a:custGeom>
          <a:noFill/>
          <a:ln w="1111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472184" y="5376672"/>
            <a:ext cx="9668225" cy="6400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3A3C55"/>
                </a:solidFill>
                <a:latin typeface="Montserrat"/>
              </a:rPr>
              <a:t>As duas rotas levam ao mesmo resultado. Escolha a que for mais prática para a sua equipe — e, se preferir, comece pela Rota B: nós damos o primeiro passo.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5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>
            <a:off x="777240" y="669340"/>
            <a:ext cx="274320" cy="0"/>
          </a:xfrm>
          <a:prstGeom prst="line">
            <a:avLst/>
          </a:prstGeom>
          <a:ln w="20320" cap="rnd">
            <a:solidFill>
              <a:srgbClr val="3432C9"/>
            </a:solidFill>
            <a:round/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1197863" y="580644"/>
            <a:ext cx="7315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90" cap="all">
                <a:solidFill>
                  <a:srgbClr val="3432C9"/>
                </a:solidFill>
                <a:latin typeface="Montserrat SemiBold"/>
              </a:rPr>
              <a:t>Rota A  ·  Passo 1 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332720" cy="1371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550" b="0" i="0">
                <a:solidFill>
                  <a:srgbClr val="14142E"/>
                </a:solidFill>
                <a:latin typeface="Montserrat Light"/>
              </a:rPr>
              <a:t>Entre no MTR Nacional pelo </a:t>
            </a:r>
            <a:r>
              <a:rPr sz="2550" b="0" i="0">
                <a:solidFill>
                  <a:srgbClr val="14142E"/>
                </a:solidFill>
                <a:latin typeface="Montserrat SemiBold"/>
              </a:rPr>
              <a:t>Gov.br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37489" cy="0"/>
          </a:xfrm>
          <a:prstGeom prst="line">
            <a:avLst/>
          </a:prstGeom>
          <a:ln w="9525" cap="rnd">
            <a:solidFill>
              <a:srgbClr val="DFE2F0"/>
            </a:solidFill>
            <a:round/>
          </a:ln>
          <a:effectLst/>
        </p:spPr>
      </p:cxnSp>
      <p:pic>
        <p:nvPicPr>
          <p:cNvPr id="7" name="Picture 6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345936"/>
            <a:ext cx="1133529" cy="2331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76969" y="6396228"/>
            <a:ext cx="4937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750" b="0" i="0" spc="50">
                <a:solidFill>
                  <a:srgbClr val="9A9DB0"/>
                </a:solidFill>
                <a:latin typeface="Montserrat"/>
              </a:rPr>
              <a:t>MTR Nacional  ·  Login Único Gov.br    |    08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828800"/>
            <a:ext cx="274320" cy="274320"/>
          </a:xfrm>
          <a:prstGeom prst="ellipse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Montserrat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1" y="1847088"/>
            <a:ext cx="2944368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4142E"/>
                </a:solidFill>
                <a:latin typeface="Montserrat SemiBold"/>
              </a:rPr>
              <a:t>Abra mtr.sinir.gov.br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1" y="2103120"/>
            <a:ext cx="2944368" cy="4754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80" b="0" i="0">
                <a:solidFill>
                  <a:srgbClr val="6E7288"/>
                </a:solidFill>
                <a:latin typeface="Montserrat"/>
              </a:rPr>
              <a:t>Ignore os campos CNPJ, CPF e Senha: são do login antigo.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615184"/>
            <a:ext cx="274320" cy="274320"/>
          </a:xfrm>
          <a:prstGeom prst="ellipse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2615184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Montserrat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1" y="2633472"/>
            <a:ext cx="2944368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4142E"/>
                </a:solidFill>
                <a:latin typeface="Montserrat SemiBold"/>
              </a:rPr>
              <a:t>Clique em “Entrar com GOV.BR”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1" y="2889504"/>
            <a:ext cx="2944368" cy="4754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80" b="0" i="0">
                <a:solidFill>
                  <a:srgbClr val="6E7288"/>
                </a:solidFill>
                <a:latin typeface="Montserrat"/>
              </a:rPr>
              <a:t>É o único caminho de acesso desde 01/08/2026.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401568"/>
            <a:ext cx="274320" cy="274320"/>
          </a:xfrm>
          <a:prstGeom prst="ellipse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3401568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Montserrat Semi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1" y="3419856"/>
            <a:ext cx="2944368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4142E"/>
                </a:solidFill>
                <a:latin typeface="Montserrat SemiBold"/>
              </a:rPr>
              <a:t>Informe o CPF e a senha Gov.br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1" y="3675888"/>
            <a:ext cx="2944368" cy="4754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80" b="0" i="0">
                <a:solidFill>
                  <a:srgbClr val="6E7288"/>
                </a:solidFill>
                <a:latin typeface="Montserrat"/>
              </a:rPr>
              <a:t>Do responsável pela empresa, não a senha antiga do MTR.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187951"/>
            <a:ext cx="274320" cy="274320"/>
          </a:xfrm>
          <a:prstGeom prst="ellipse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4187951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Montserrat SemiBol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1" y="4206240"/>
            <a:ext cx="2944368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4142E"/>
                </a:solidFill>
                <a:latin typeface="Montserrat SemiBold"/>
              </a:rPr>
              <a:t>Selecione a sua unidade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1" y="4462272"/>
            <a:ext cx="2944368" cy="4754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80" b="0" i="0">
                <a:solidFill>
                  <a:srgbClr val="6E7288"/>
                </a:solidFill>
                <a:latin typeface="Montserrat"/>
              </a:rPr>
              <a:t>Clique no ícone da coluna “Selecionar”.</a:t>
            </a:r>
          </a:p>
        </p:txBody>
      </p:sp>
      <p:pic>
        <p:nvPicPr>
          <p:cNvPr id="25" name="Picture 24" descr="guia_fig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192" y="1847088"/>
            <a:ext cx="6606912" cy="3246120"/>
          </a:xfrm>
          <a:prstGeom prst="rect">
            <a:avLst/>
          </a:prstGeom>
          <a:effectLst/>
        </p:spPr>
      </p:pic>
      <p:sp>
        <p:nvSpPr>
          <p:cNvPr id="26" name="Rectangle 25"/>
          <p:cNvSpPr/>
          <p:nvPr/>
        </p:nvSpPr>
        <p:spPr>
          <a:xfrm>
            <a:off x="4676192" y="1847088"/>
            <a:ext cx="6606912" cy="3246120"/>
          </a:xfrm>
          <a:prstGeom prst="rect">
            <a:avLst/>
          </a:prstGeom>
          <a:noFill/>
          <a:ln w="11430" cap="rnd">
            <a:solidFill>
              <a:srgbClr val="DFE2F0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676192" y="5166360"/>
            <a:ext cx="6606912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 spc="30">
                <a:solidFill>
                  <a:srgbClr val="9A9DB0"/>
                </a:solidFill>
                <a:latin typeface="Montserrat"/>
              </a:rPr>
              <a:t>Figura 1 — tela inicial do MTR Nacional. O destaque marca o botão “Entrar com GOV.BR”.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25666" y="4281677"/>
            <a:ext cx="766401" cy="168798"/>
          </a:xfrm>
          <a:prstGeom prst="rect">
            <a:avLst/>
          </a:prstGeom>
          <a:noFill/>
          <a:ln w="24130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9306941" y="4062953"/>
            <a:ext cx="237744" cy="237744"/>
          </a:xfrm>
          <a:prstGeom prst="ellipse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306941" y="4062953"/>
            <a:ext cx="237744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 i="0">
                <a:solidFill>
                  <a:srgbClr val="FFFFFF"/>
                </a:solidFill>
                <a:latin typeface="Montserrat SemiBold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486400"/>
            <a:ext cx="10637489" cy="457200"/>
          </a:xfrm>
          <a:prstGeom prst="rect">
            <a:avLst/>
          </a:prstGeom>
          <a:solidFill>
            <a:srgbClr val="F4F5FC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77240" y="5486400"/>
            <a:ext cx="32004" cy="457200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3" name="Freeform 32"/>
          <p:cNvSpPr/>
          <p:nvPr/>
        </p:nvSpPr>
        <p:spPr>
          <a:xfrm>
            <a:off x="1085122" y="5616245"/>
            <a:ext cx="134044" cy="159105"/>
          </a:xfrm>
          <a:custGeom>
            <a:avLst/>
            <a:gdLst/>
            <a:ahLst/>
            <a:cxnLst/>
            <a:rect l="l" t="t" r="r" b="b"/>
            <a:pathLst>
              <a:path w="134044" h="159105">
                <a:moveTo>
                  <a:pt x="0" y="46929"/>
                </a:moveTo>
                <a:lnTo>
                  <a:pt x="2381" y="41181"/>
                </a:lnTo>
                <a:lnTo>
                  <a:pt x="5254" y="35661"/>
                </a:lnTo>
                <a:lnTo>
                  <a:pt x="8597" y="30414"/>
                </a:lnTo>
                <a:lnTo>
                  <a:pt x="12385" y="25477"/>
                </a:lnTo>
                <a:lnTo>
                  <a:pt x="16589" y="20890"/>
                </a:lnTo>
                <a:lnTo>
                  <a:pt x="21176" y="16686"/>
                </a:lnTo>
                <a:lnTo>
                  <a:pt x="26113" y="12898"/>
                </a:lnTo>
                <a:lnTo>
                  <a:pt x="31360" y="9555"/>
                </a:lnTo>
                <a:lnTo>
                  <a:pt x="36880" y="6682"/>
                </a:lnTo>
                <a:lnTo>
                  <a:pt x="42628" y="4301"/>
                </a:lnTo>
                <a:lnTo>
                  <a:pt x="48562" y="2430"/>
                </a:lnTo>
                <a:lnTo>
                  <a:pt x="54637" y="1083"/>
                </a:lnTo>
                <a:lnTo>
                  <a:pt x="60806" y="271"/>
                </a:lnTo>
                <a:lnTo>
                  <a:pt x="67022" y="0"/>
                </a:lnTo>
                <a:lnTo>
                  <a:pt x="73238" y="271"/>
                </a:lnTo>
                <a:lnTo>
                  <a:pt x="79407" y="1083"/>
                </a:lnTo>
                <a:lnTo>
                  <a:pt x="85482" y="2430"/>
                </a:lnTo>
                <a:lnTo>
                  <a:pt x="91416" y="4301"/>
                </a:lnTo>
                <a:lnTo>
                  <a:pt x="97164" y="6682"/>
                </a:lnTo>
                <a:lnTo>
                  <a:pt x="102684" y="9555"/>
                </a:lnTo>
                <a:lnTo>
                  <a:pt x="107931" y="12898"/>
                </a:lnTo>
                <a:lnTo>
                  <a:pt x="112868" y="16686"/>
                </a:lnTo>
                <a:lnTo>
                  <a:pt x="117455" y="20890"/>
                </a:lnTo>
                <a:lnTo>
                  <a:pt x="121659" y="25477"/>
                </a:lnTo>
                <a:lnTo>
                  <a:pt x="125447" y="30414"/>
                </a:lnTo>
                <a:lnTo>
                  <a:pt x="128790" y="35661"/>
                </a:lnTo>
                <a:lnTo>
                  <a:pt x="131663" y="41181"/>
                </a:lnTo>
                <a:lnTo>
                  <a:pt x="134044" y="46929"/>
                </a:lnTo>
                <a:lnTo>
                  <a:pt x="94454" y="131673"/>
                </a:lnTo>
                <a:lnTo>
                  <a:pt x="94454" y="159105"/>
                </a:lnTo>
                <a:lnTo>
                  <a:pt x="39590" y="159105"/>
                </a:lnTo>
                <a:lnTo>
                  <a:pt x="39590" y="131673"/>
                </a:lnTo>
                <a:close/>
              </a:path>
            </a:pathLst>
          </a:cu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1127455" y="5791810"/>
            <a:ext cx="49378" cy="0"/>
          </a:xfrm>
          <a:custGeom>
            <a:avLst/>
            <a:gdLst/>
            <a:ahLst/>
            <a:cxnLst/>
            <a:rect l="l" t="t" r="r" b="b"/>
            <a:pathLst>
              <a:path w="49378" h="0">
                <a:moveTo>
                  <a:pt x="0" y="0"/>
                </a:moveTo>
                <a:lnTo>
                  <a:pt x="49378" y="0"/>
                </a:lnTo>
              </a:path>
            </a:pathLst>
          </a:custGeom>
          <a:noFill/>
          <a:ln w="12700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1135685" y="5813755"/>
            <a:ext cx="32918" cy="0"/>
          </a:xfrm>
          <a:custGeom>
            <a:avLst/>
            <a:gdLst/>
            <a:ahLst/>
            <a:cxnLst/>
            <a:rect l="l" t="t" r="r" b="b"/>
            <a:pathLst>
              <a:path w="32918" h="0">
                <a:moveTo>
                  <a:pt x="0" y="0"/>
                </a:moveTo>
                <a:lnTo>
                  <a:pt x="32918" y="0"/>
                </a:lnTo>
              </a:path>
            </a:pathLst>
          </a:custGeom>
          <a:noFill/>
          <a:ln w="12700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1152144" y="5671109"/>
            <a:ext cx="0" cy="65837"/>
          </a:xfrm>
          <a:custGeom>
            <a:avLst/>
            <a:gdLst/>
            <a:ahLst/>
            <a:cxnLst/>
            <a:rect l="l" t="t" r="r" b="b"/>
            <a:pathLst>
              <a:path w="0" h="65837">
                <a:moveTo>
                  <a:pt x="0" y="65837"/>
                </a:moveTo>
                <a:lnTo>
                  <a:pt x="0" y="0"/>
                </a:lnTo>
              </a:path>
            </a:pathLst>
          </a:custGeom>
          <a:noFill/>
          <a:ln w="1111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152144" y="5668366"/>
            <a:ext cx="30175" cy="30175"/>
          </a:xfrm>
          <a:custGeom>
            <a:avLst/>
            <a:gdLst/>
            <a:ahLst/>
            <a:cxnLst/>
            <a:rect l="l" t="t" r="r" b="b"/>
            <a:pathLst>
              <a:path w="30175" h="30175">
                <a:moveTo>
                  <a:pt x="0" y="30175"/>
                </a:moveTo>
                <a:lnTo>
                  <a:pt x="30175" y="0"/>
                </a:lnTo>
              </a:path>
            </a:pathLst>
          </a:custGeom>
          <a:noFill/>
          <a:ln w="1111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121969" y="5668366"/>
            <a:ext cx="30175" cy="30175"/>
          </a:xfrm>
          <a:custGeom>
            <a:avLst/>
            <a:gdLst/>
            <a:ahLst/>
            <a:cxnLst/>
            <a:rect l="l" t="t" r="r" b="b"/>
            <a:pathLst>
              <a:path w="30175" h="30175">
                <a:moveTo>
                  <a:pt x="30175" y="30175"/>
                </a:moveTo>
                <a:lnTo>
                  <a:pt x="0" y="0"/>
                </a:lnTo>
              </a:path>
            </a:pathLst>
          </a:custGeom>
          <a:noFill/>
          <a:ln w="1111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72184" y="5486400"/>
            <a:ext cx="9668225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3A3C55"/>
                </a:solidFill>
                <a:latin typeface="Montserrat"/>
              </a:rPr>
              <a:t>Sem conta Gov.br ainda? Crie em gov.br antes. Atenção: e-mails Outlook, Hotmail e Live não são aceitos no cadastro no momento.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943600"/>
            <a:ext cx="10637489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0" i="0">
                <a:solidFill>
                  <a:srgbClr val="9A9DB0"/>
                </a:solidFill>
                <a:latin typeface="Montserrat"/>
              </a:rPr>
              <a:t>Figura do Guia Rápido “Login Único GOV.BR — MTR Nacional/Sinir”, MMA/SINIR, v. 1.0, 05/01/2026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5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>
            <a:off x="777240" y="669340"/>
            <a:ext cx="274320" cy="0"/>
          </a:xfrm>
          <a:prstGeom prst="line">
            <a:avLst/>
          </a:prstGeom>
          <a:ln w="20320" cap="rnd">
            <a:solidFill>
              <a:srgbClr val="3432C9"/>
            </a:solidFill>
            <a:round/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1197863" y="580644"/>
            <a:ext cx="7315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90" cap="all">
                <a:solidFill>
                  <a:srgbClr val="3432C9"/>
                </a:solidFill>
                <a:latin typeface="Montserrat SemiBold"/>
              </a:rPr>
              <a:t>Rota A  ·  Passo 2 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332720" cy="1371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550" b="0" i="0">
                <a:solidFill>
                  <a:srgbClr val="14142E"/>
                </a:solidFill>
                <a:latin typeface="Montserrat Light"/>
              </a:rPr>
              <a:t>Abra </a:t>
            </a:r>
            <a:r>
              <a:rPr sz="2550" b="0" i="0">
                <a:solidFill>
                  <a:srgbClr val="14142E"/>
                </a:solidFill>
                <a:latin typeface="Montserrat SemiBold"/>
              </a:rPr>
              <a:t>Configurações › Meus Usuários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37489" cy="0"/>
          </a:xfrm>
          <a:prstGeom prst="line">
            <a:avLst/>
          </a:prstGeom>
          <a:ln w="9525" cap="rnd">
            <a:solidFill>
              <a:srgbClr val="DFE2F0"/>
            </a:solidFill>
            <a:round/>
          </a:ln>
          <a:effectLst/>
        </p:spPr>
      </p:cxnSp>
      <p:pic>
        <p:nvPicPr>
          <p:cNvPr id="7" name="Picture 6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345936"/>
            <a:ext cx="1133529" cy="2331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76969" y="6396228"/>
            <a:ext cx="4937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750" b="0" i="0" spc="50">
                <a:solidFill>
                  <a:srgbClr val="9A9DB0"/>
                </a:solidFill>
                <a:latin typeface="Montserrat"/>
              </a:rPr>
              <a:t>MTR Nacional  ·  Login Único Gov.br    |    09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73936"/>
            <a:ext cx="10637489" cy="530352"/>
          </a:xfrm>
          <a:prstGeom prst="rect">
            <a:avLst/>
          </a:prstGeom>
          <a:solidFill>
            <a:srgbClr val="F4F5FC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7240" y="1773936"/>
            <a:ext cx="32004" cy="530352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050645" y="1937613"/>
            <a:ext cx="93268" cy="93268"/>
          </a:xfrm>
          <a:prstGeom prst="ellipse">
            <a:avLst/>
          </a:pr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1079449" y="1966417"/>
            <a:ext cx="35661" cy="35661"/>
          </a:xfrm>
          <a:prstGeom prst="ellipse">
            <a:avLst/>
          </a:prstGeom>
          <a:noFill/>
          <a:ln w="12700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3" name="Freeform 12"/>
          <p:cNvSpPr/>
          <p:nvPr/>
        </p:nvSpPr>
        <p:spPr>
          <a:xfrm>
            <a:off x="1149401" y="1984248"/>
            <a:ext cx="19202" cy="0"/>
          </a:xfrm>
          <a:custGeom>
            <a:avLst/>
            <a:gdLst/>
            <a:ahLst/>
            <a:cxnLst/>
            <a:rect l="l" t="t" r="r" b="b"/>
            <a:pathLst>
              <a:path w="19202" h="0">
                <a:moveTo>
                  <a:pt x="0" y="0"/>
                </a:moveTo>
                <a:lnTo>
                  <a:pt x="19202" y="0"/>
                </a:lnTo>
              </a:path>
            </a:pathLst>
          </a:custGeom>
          <a:noFill/>
          <a:ln w="13494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23340" y="2029386"/>
            <a:ext cx="9602" cy="16630"/>
          </a:xfrm>
          <a:custGeom>
            <a:avLst/>
            <a:gdLst/>
            <a:ahLst/>
            <a:cxnLst/>
            <a:rect l="l" t="t" r="r" b="b"/>
            <a:pathLst>
              <a:path w="9602" h="16630">
                <a:moveTo>
                  <a:pt x="0" y="0"/>
                </a:moveTo>
                <a:lnTo>
                  <a:pt x="9602" y="16630"/>
                </a:lnTo>
              </a:path>
            </a:pathLst>
          </a:custGeom>
          <a:noFill/>
          <a:ln w="13494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061618" y="2029386"/>
            <a:ext cx="9602" cy="16630"/>
          </a:xfrm>
          <a:custGeom>
            <a:avLst/>
            <a:gdLst/>
            <a:ahLst/>
            <a:cxnLst/>
            <a:rect l="l" t="t" r="r" b="b"/>
            <a:pathLst>
              <a:path w="9602" h="16630">
                <a:moveTo>
                  <a:pt x="9602" y="0"/>
                </a:moveTo>
                <a:lnTo>
                  <a:pt x="0" y="16630"/>
                </a:lnTo>
              </a:path>
            </a:pathLst>
          </a:custGeom>
          <a:noFill/>
          <a:ln w="13494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025957" y="1984248"/>
            <a:ext cx="19202" cy="0"/>
          </a:xfrm>
          <a:custGeom>
            <a:avLst/>
            <a:gdLst/>
            <a:ahLst/>
            <a:cxnLst/>
            <a:rect l="l" t="t" r="r" b="b"/>
            <a:pathLst>
              <a:path w="19202" h="0">
                <a:moveTo>
                  <a:pt x="19202" y="0"/>
                </a:moveTo>
                <a:lnTo>
                  <a:pt x="0" y="0"/>
                </a:lnTo>
              </a:path>
            </a:pathLst>
          </a:custGeom>
          <a:noFill/>
          <a:ln w="13494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061618" y="1922480"/>
            <a:ext cx="9602" cy="16630"/>
          </a:xfrm>
          <a:custGeom>
            <a:avLst/>
            <a:gdLst/>
            <a:ahLst/>
            <a:cxnLst/>
            <a:rect l="l" t="t" r="r" b="b"/>
            <a:pathLst>
              <a:path w="9602" h="16630">
                <a:moveTo>
                  <a:pt x="9602" y="16630"/>
                </a:moveTo>
                <a:lnTo>
                  <a:pt x="0" y="0"/>
                </a:lnTo>
              </a:path>
            </a:pathLst>
          </a:custGeom>
          <a:noFill/>
          <a:ln w="13494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123340" y="1922480"/>
            <a:ext cx="9602" cy="16630"/>
          </a:xfrm>
          <a:custGeom>
            <a:avLst/>
            <a:gdLst/>
            <a:ahLst/>
            <a:cxnLst/>
            <a:rect l="l" t="t" r="r" b="b"/>
            <a:pathLst>
              <a:path w="9602" h="16630">
                <a:moveTo>
                  <a:pt x="0" y="16630"/>
                </a:moveTo>
                <a:lnTo>
                  <a:pt x="9602" y="0"/>
                </a:lnTo>
              </a:path>
            </a:pathLst>
          </a:custGeom>
          <a:noFill/>
          <a:ln w="13494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141171" y="2072030"/>
            <a:ext cx="131674" cy="0"/>
          </a:xfrm>
          <a:custGeom>
            <a:avLst/>
            <a:gdLst/>
            <a:ahLst/>
            <a:cxnLst/>
            <a:rect l="l" t="t" r="r" b="b"/>
            <a:pathLst>
              <a:path w="131674" h="0">
                <a:moveTo>
                  <a:pt x="0" y="0"/>
                </a:moveTo>
                <a:lnTo>
                  <a:pt x="131674" y="0"/>
                </a:lnTo>
              </a:path>
            </a:pathLst>
          </a:custGeom>
          <a:noFill/>
          <a:ln w="13494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141171" y="2110435"/>
            <a:ext cx="93269" cy="0"/>
          </a:xfrm>
          <a:custGeom>
            <a:avLst/>
            <a:gdLst/>
            <a:ahLst/>
            <a:cxnLst/>
            <a:rect l="l" t="t" r="r" b="b"/>
            <a:pathLst>
              <a:path w="93269" h="0">
                <a:moveTo>
                  <a:pt x="0" y="0"/>
                </a:moveTo>
                <a:lnTo>
                  <a:pt x="93269" y="0"/>
                </a:lnTo>
              </a:path>
            </a:pathLst>
          </a:custGeom>
          <a:noFill/>
          <a:ln w="13494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141171" y="2148840"/>
            <a:ext cx="54864" cy="0"/>
          </a:xfrm>
          <a:custGeom>
            <a:avLst/>
            <a:gdLst/>
            <a:ahLst/>
            <a:cxnLst/>
            <a:rect l="l" t="t" r="r" b="b"/>
            <a:pathLst>
              <a:path w="54864" h="0">
                <a:moveTo>
                  <a:pt x="0" y="0"/>
                </a:moveTo>
                <a:lnTo>
                  <a:pt x="54864" y="0"/>
                </a:lnTo>
              </a:path>
            </a:pathLst>
          </a:custGeom>
          <a:noFill/>
          <a:ln w="13494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72184" y="1773936"/>
            <a:ext cx="9668225" cy="53035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3A3C55"/>
                </a:solidFill>
                <a:latin typeface="Montserrat"/>
              </a:rPr>
              <a:t>No menu principal, abra Configurações e clique em Meus Usuários. A tela Gerenciar Usuários lista quem tem acesso à unidade e traz o botão Adicionar Usuário.</a:t>
            </a:r>
          </a:p>
        </p:txBody>
      </p:sp>
      <p:pic>
        <p:nvPicPr>
          <p:cNvPr id="23" name="Picture 22" descr="mtr_men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87168"/>
            <a:ext cx="3913632" cy="1956816"/>
          </a:xfrm>
          <a:prstGeom prst="rect">
            <a:avLst/>
          </a:prstGeom>
          <a:effectLst/>
        </p:spPr>
      </p:pic>
      <p:sp>
        <p:nvSpPr>
          <p:cNvPr id="24" name="Rectangle 23"/>
          <p:cNvSpPr/>
          <p:nvPr/>
        </p:nvSpPr>
        <p:spPr>
          <a:xfrm>
            <a:off x="777240" y="2487168"/>
            <a:ext cx="3913632" cy="1956816"/>
          </a:xfrm>
          <a:prstGeom prst="rect">
            <a:avLst/>
          </a:prstGeom>
          <a:noFill/>
          <a:ln w="11430" cap="rnd">
            <a:solidFill>
              <a:srgbClr val="DFE2F0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2452274" y="2534131"/>
            <a:ext cx="892308" cy="250472"/>
          </a:xfrm>
          <a:prstGeom prst="rect">
            <a:avLst/>
          </a:prstGeom>
          <a:noFill/>
          <a:ln w="24130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3325563" y="2487168"/>
            <a:ext cx="237744" cy="237744"/>
          </a:xfrm>
          <a:prstGeom prst="ellipse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325563" y="2487168"/>
            <a:ext cx="237744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 i="0">
                <a:solidFill>
                  <a:srgbClr val="FFFFFF"/>
                </a:solidFill>
                <a:latin typeface="Montserrat SemiBold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0101" y="3391216"/>
            <a:ext cx="743590" cy="176113"/>
          </a:xfrm>
          <a:prstGeom prst="rect">
            <a:avLst/>
          </a:prstGeom>
          <a:noFill/>
          <a:ln w="24130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3184672" y="3172492"/>
            <a:ext cx="237744" cy="237744"/>
          </a:xfrm>
          <a:prstGeom prst="ellipse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184672" y="3172492"/>
            <a:ext cx="237744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 i="0">
                <a:solidFill>
                  <a:srgbClr val="FFFFFF"/>
                </a:solidFill>
                <a:latin typeface="Montserrat SemiBold"/>
              </a:rPr>
              <a:t>2</a:t>
            </a:r>
          </a:p>
        </p:txBody>
      </p:sp>
      <p:pic>
        <p:nvPicPr>
          <p:cNvPr id="31" name="Picture 30" descr="mtr_gerenci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2487168"/>
            <a:ext cx="6412961" cy="1791557"/>
          </a:xfrm>
          <a:prstGeom prst="rect">
            <a:avLst/>
          </a:prstGeom>
          <a:effectLst/>
        </p:spPr>
      </p:pic>
      <p:sp>
        <p:nvSpPr>
          <p:cNvPr id="32" name="Rectangle 31"/>
          <p:cNvSpPr/>
          <p:nvPr/>
        </p:nvSpPr>
        <p:spPr>
          <a:xfrm>
            <a:off x="5001768" y="2487168"/>
            <a:ext cx="6412961" cy="1791557"/>
          </a:xfrm>
          <a:prstGeom prst="rect">
            <a:avLst/>
          </a:prstGeom>
          <a:noFill/>
          <a:ln w="11430" cap="rnd">
            <a:solidFill>
              <a:srgbClr val="DFE2F0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578934" y="2956556"/>
            <a:ext cx="782381" cy="202445"/>
          </a:xfrm>
          <a:prstGeom prst="rect">
            <a:avLst/>
          </a:prstGeom>
          <a:noFill/>
          <a:ln w="24130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6342296" y="2737831"/>
            <a:ext cx="237744" cy="237744"/>
          </a:xfrm>
          <a:prstGeom prst="ellipse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342296" y="2737831"/>
            <a:ext cx="237744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 i="0">
                <a:solidFill>
                  <a:srgbClr val="FFFFFF"/>
                </a:solidFill>
                <a:latin typeface="Montserrat SemiBold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4517136"/>
            <a:ext cx="3913632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 spc="30">
                <a:solidFill>
                  <a:srgbClr val="9A9DB0"/>
                </a:solidFill>
                <a:latin typeface="Montserrat"/>
              </a:rPr>
              <a:t>Menu Configurações aberto: 1 o menu, 2 Meus Usuários.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01768" y="4517136"/>
            <a:ext cx="6412961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 spc="30">
                <a:solidFill>
                  <a:srgbClr val="9A9DB0"/>
                </a:solidFill>
                <a:latin typeface="Montserrat"/>
              </a:rPr>
              <a:t>Tela Gerenciar Usuários: 3 o botão Adicionar Usuário e a lista de quem já tem acesso.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4937760"/>
            <a:ext cx="10637489" cy="530352"/>
          </a:xfrm>
          <a:prstGeom prst="rect">
            <a:avLst/>
          </a:prstGeom>
          <a:solidFill>
            <a:srgbClr val="FDF4E3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77240" y="4937760"/>
            <a:ext cx="32004" cy="530352"/>
          </a:xfrm>
          <a:prstGeom prst="rect">
            <a:avLst/>
          </a:prstGeom>
          <a:solidFill>
            <a:srgbClr val="B08535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0" name="Freeform 39"/>
          <p:cNvSpPr/>
          <p:nvPr/>
        </p:nvSpPr>
        <p:spPr>
          <a:xfrm>
            <a:off x="1034186" y="5093208"/>
            <a:ext cx="235916" cy="208483"/>
          </a:xfrm>
          <a:custGeom>
            <a:avLst/>
            <a:gdLst/>
            <a:ahLst/>
            <a:cxnLst/>
            <a:rect l="l" t="t" r="r" b="b"/>
            <a:pathLst>
              <a:path w="235916" h="208483">
                <a:moveTo>
                  <a:pt x="117958" y="0"/>
                </a:moveTo>
                <a:lnTo>
                  <a:pt x="235916" y="208483"/>
                </a:lnTo>
                <a:lnTo>
                  <a:pt x="0" y="208483"/>
                </a:lnTo>
                <a:close/>
              </a:path>
            </a:pathLst>
          </a:custGeom>
          <a:noFill/>
          <a:ln w="15875" cap="rnd">
            <a:solidFill>
              <a:srgbClr val="B0853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1152144" y="5170018"/>
            <a:ext cx="0" cy="65836"/>
          </a:xfrm>
          <a:custGeom>
            <a:avLst/>
            <a:gdLst/>
            <a:ahLst/>
            <a:cxnLst/>
            <a:rect l="l" t="t" r="r" b="b"/>
            <a:pathLst>
              <a:path w="0" h="65836">
                <a:moveTo>
                  <a:pt x="0" y="0"/>
                </a:moveTo>
                <a:lnTo>
                  <a:pt x="0" y="65836"/>
                </a:lnTo>
              </a:path>
            </a:pathLst>
          </a:custGeom>
          <a:noFill/>
          <a:ln w="18256" cap="rnd">
            <a:solidFill>
              <a:srgbClr val="B0853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41856" y="5257114"/>
            <a:ext cx="20574" cy="20574"/>
          </a:xfrm>
          <a:prstGeom prst="ellipse">
            <a:avLst/>
          </a:prstGeom>
          <a:solidFill>
            <a:srgbClr val="B08535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472184" y="4937760"/>
            <a:ext cx="9668225" cy="53035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3A3C55"/>
                </a:solidFill>
                <a:latin typeface="Montserrat"/>
              </a:rPr>
              <a:t>Não encontrou o menu Configurações? Então esse login não é Administrador da unidade. Procure quem cadastrou a empresa no MTR, ou fale com a gente.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504688"/>
            <a:ext cx="10637489" cy="384048"/>
          </a:xfrm>
          <a:prstGeom prst="rect">
            <a:avLst/>
          </a:prstGeom>
          <a:solidFill>
            <a:srgbClr val="F4F5FC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777240" y="5504688"/>
            <a:ext cx="32004" cy="384048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6" name="Freeform 45"/>
          <p:cNvSpPr/>
          <p:nvPr/>
        </p:nvSpPr>
        <p:spPr>
          <a:xfrm>
            <a:off x="1085122" y="5597957"/>
            <a:ext cx="134044" cy="159105"/>
          </a:xfrm>
          <a:custGeom>
            <a:avLst/>
            <a:gdLst/>
            <a:ahLst/>
            <a:cxnLst/>
            <a:rect l="l" t="t" r="r" b="b"/>
            <a:pathLst>
              <a:path w="134044" h="159105">
                <a:moveTo>
                  <a:pt x="0" y="46929"/>
                </a:moveTo>
                <a:lnTo>
                  <a:pt x="2381" y="41181"/>
                </a:lnTo>
                <a:lnTo>
                  <a:pt x="5254" y="35661"/>
                </a:lnTo>
                <a:lnTo>
                  <a:pt x="8597" y="30414"/>
                </a:lnTo>
                <a:lnTo>
                  <a:pt x="12385" y="25477"/>
                </a:lnTo>
                <a:lnTo>
                  <a:pt x="16589" y="20890"/>
                </a:lnTo>
                <a:lnTo>
                  <a:pt x="21176" y="16686"/>
                </a:lnTo>
                <a:lnTo>
                  <a:pt x="26113" y="12898"/>
                </a:lnTo>
                <a:lnTo>
                  <a:pt x="31360" y="9555"/>
                </a:lnTo>
                <a:lnTo>
                  <a:pt x="36880" y="6682"/>
                </a:lnTo>
                <a:lnTo>
                  <a:pt x="42628" y="4301"/>
                </a:lnTo>
                <a:lnTo>
                  <a:pt x="48562" y="2430"/>
                </a:lnTo>
                <a:lnTo>
                  <a:pt x="54637" y="1083"/>
                </a:lnTo>
                <a:lnTo>
                  <a:pt x="60806" y="271"/>
                </a:lnTo>
                <a:lnTo>
                  <a:pt x="67022" y="0"/>
                </a:lnTo>
                <a:lnTo>
                  <a:pt x="73238" y="271"/>
                </a:lnTo>
                <a:lnTo>
                  <a:pt x="79407" y="1083"/>
                </a:lnTo>
                <a:lnTo>
                  <a:pt x="85482" y="2430"/>
                </a:lnTo>
                <a:lnTo>
                  <a:pt x="91416" y="4301"/>
                </a:lnTo>
                <a:lnTo>
                  <a:pt x="97164" y="6682"/>
                </a:lnTo>
                <a:lnTo>
                  <a:pt x="102684" y="9555"/>
                </a:lnTo>
                <a:lnTo>
                  <a:pt x="107931" y="12898"/>
                </a:lnTo>
                <a:lnTo>
                  <a:pt x="112868" y="16686"/>
                </a:lnTo>
                <a:lnTo>
                  <a:pt x="117455" y="20890"/>
                </a:lnTo>
                <a:lnTo>
                  <a:pt x="121659" y="25477"/>
                </a:lnTo>
                <a:lnTo>
                  <a:pt x="125447" y="30414"/>
                </a:lnTo>
                <a:lnTo>
                  <a:pt x="128790" y="35661"/>
                </a:lnTo>
                <a:lnTo>
                  <a:pt x="131663" y="41181"/>
                </a:lnTo>
                <a:lnTo>
                  <a:pt x="134044" y="46929"/>
                </a:lnTo>
                <a:lnTo>
                  <a:pt x="94454" y="131673"/>
                </a:lnTo>
                <a:lnTo>
                  <a:pt x="94454" y="159105"/>
                </a:lnTo>
                <a:lnTo>
                  <a:pt x="39590" y="159105"/>
                </a:lnTo>
                <a:lnTo>
                  <a:pt x="39590" y="131673"/>
                </a:lnTo>
                <a:close/>
              </a:path>
            </a:pathLst>
          </a:cu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127455" y="5773522"/>
            <a:ext cx="49378" cy="0"/>
          </a:xfrm>
          <a:custGeom>
            <a:avLst/>
            <a:gdLst/>
            <a:ahLst/>
            <a:cxnLst/>
            <a:rect l="l" t="t" r="r" b="b"/>
            <a:pathLst>
              <a:path w="49378" h="0">
                <a:moveTo>
                  <a:pt x="0" y="0"/>
                </a:moveTo>
                <a:lnTo>
                  <a:pt x="49378" y="0"/>
                </a:lnTo>
              </a:path>
            </a:pathLst>
          </a:custGeom>
          <a:noFill/>
          <a:ln w="12700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1135685" y="5795467"/>
            <a:ext cx="32918" cy="0"/>
          </a:xfrm>
          <a:custGeom>
            <a:avLst/>
            <a:gdLst/>
            <a:ahLst/>
            <a:cxnLst/>
            <a:rect l="l" t="t" r="r" b="b"/>
            <a:pathLst>
              <a:path w="32918" h="0">
                <a:moveTo>
                  <a:pt x="0" y="0"/>
                </a:moveTo>
                <a:lnTo>
                  <a:pt x="32918" y="0"/>
                </a:lnTo>
              </a:path>
            </a:pathLst>
          </a:custGeom>
          <a:noFill/>
          <a:ln w="12700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1152144" y="5652821"/>
            <a:ext cx="0" cy="65837"/>
          </a:xfrm>
          <a:custGeom>
            <a:avLst/>
            <a:gdLst/>
            <a:ahLst/>
            <a:cxnLst/>
            <a:rect l="l" t="t" r="r" b="b"/>
            <a:pathLst>
              <a:path w="0" h="65837">
                <a:moveTo>
                  <a:pt x="0" y="65837"/>
                </a:moveTo>
                <a:lnTo>
                  <a:pt x="0" y="0"/>
                </a:lnTo>
              </a:path>
            </a:pathLst>
          </a:custGeom>
          <a:noFill/>
          <a:ln w="1111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1152144" y="5650078"/>
            <a:ext cx="30175" cy="30175"/>
          </a:xfrm>
          <a:custGeom>
            <a:avLst/>
            <a:gdLst/>
            <a:ahLst/>
            <a:cxnLst/>
            <a:rect l="l" t="t" r="r" b="b"/>
            <a:pathLst>
              <a:path w="30175" h="30175">
                <a:moveTo>
                  <a:pt x="0" y="30175"/>
                </a:moveTo>
                <a:lnTo>
                  <a:pt x="30175" y="0"/>
                </a:lnTo>
              </a:path>
            </a:pathLst>
          </a:custGeom>
          <a:noFill/>
          <a:ln w="1111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121969" y="5650078"/>
            <a:ext cx="30175" cy="30175"/>
          </a:xfrm>
          <a:custGeom>
            <a:avLst/>
            <a:gdLst/>
            <a:ahLst/>
            <a:cxnLst/>
            <a:rect l="l" t="t" r="r" b="b"/>
            <a:pathLst>
              <a:path w="30175" h="30175">
                <a:moveTo>
                  <a:pt x="30175" y="30175"/>
                </a:moveTo>
                <a:lnTo>
                  <a:pt x="0" y="0"/>
                </a:lnTo>
              </a:path>
            </a:pathLst>
          </a:custGeom>
          <a:noFill/>
          <a:ln w="1111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72184" y="5504688"/>
            <a:ext cx="9668225" cy="38404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19" b="0" i="0">
                <a:solidFill>
                  <a:srgbClr val="3A3C55"/>
                </a:solidFill>
                <a:latin typeface="Montserrat"/>
              </a:rPr>
              <a:t>O mesmo caminho serve para aprovar uma solicitação da Rota B.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" y="5961888"/>
            <a:ext cx="10637489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0" i="0">
                <a:solidFill>
                  <a:srgbClr val="9A9DB0"/>
                </a:solidFill>
                <a:latin typeface="Montserrat"/>
              </a:rPr>
              <a:t>Prints próprios da Nunes &amp; Lucato — MTR Nacional.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5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>
            <a:off x="777240" y="669340"/>
            <a:ext cx="274320" cy="0"/>
          </a:xfrm>
          <a:prstGeom prst="line">
            <a:avLst/>
          </a:prstGeom>
          <a:ln w="20320" cap="rnd">
            <a:solidFill>
              <a:srgbClr val="3432C9"/>
            </a:solidFill>
            <a:round/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1197863" y="580644"/>
            <a:ext cx="7315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90" cap="all">
                <a:solidFill>
                  <a:srgbClr val="3432C9"/>
                </a:solidFill>
                <a:latin typeface="Montserrat SemiBold"/>
              </a:rPr>
              <a:t>Rota A  ·  Passo 3 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332720" cy="1371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550" b="0" i="0">
                <a:solidFill>
                  <a:srgbClr val="14142E"/>
                </a:solidFill>
                <a:latin typeface="Montserrat Light"/>
              </a:rPr>
              <a:t>Preencha os campos </a:t>
            </a:r>
            <a:r>
              <a:rPr sz="2550" b="0" i="0">
                <a:solidFill>
                  <a:srgbClr val="14142E"/>
                </a:solidFill>
                <a:latin typeface="Montserrat SemiBold"/>
              </a:rPr>
              <a:t>obrigatórios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37489" cy="0"/>
          </a:xfrm>
          <a:prstGeom prst="line">
            <a:avLst/>
          </a:prstGeom>
          <a:ln w="9525" cap="rnd">
            <a:solidFill>
              <a:srgbClr val="DFE2F0"/>
            </a:solidFill>
            <a:round/>
          </a:ln>
          <a:effectLst/>
        </p:spPr>
      </p:cxnSp>
      <p:pic>
        <p:nvPicPr>
          <p:cNvPr id="7" name="Picture 6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345936"/>
            <a:ext cx="1133529" cy="2331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76969" y="6396228"/>
            <a:ext cx="4937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750" b="0" i="0" spc="50">
                <a:solidFill>
                  <a:srgbClr val="9A9DB0"/>
                </a:solidFill>
                <a:latin typeface="Montserrat"/>
              </a:rPr>
              <a:t>MTR Nacional  ·  Login Único Gov.br    |   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5577840" cy="2212848"/>
          </a:xfrm>
          <a:prstGeom prst="rect">
            <a:avLst/>
          </a:prstGeom>
          <a:solidFill>
            <a:srgbClr val="F4F5FC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5577840" cy="50292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1" name="Freeform 10"/>
          <p:cNvSpPr/>
          <p:nvPr/>
        </p:nvSpPr>
        <p:spPr>
          <a:xfrm>
            <a:off x="1039856" y="2153229"/>
            <a:ext cx="261152" cy="174102"/>
          </a:xfrm>
          <a:custGeom>
            <a:avLst/>
            <a:gdLst/>
            <a:ahLst/>
            <a:cxnLst/>
            <a:rect l="l" t="t" r="r" b="b"/>
            <a:pathLst>
              <a:path w="261152" h="174102">
                <a:moveTo>
                  <a:pt x="0" y="0"/>
                </a:moveTo>
                <a:lnTo>
                  <a:pt x="261152" y="0"/>
                </a:lnTo>
                <a:lnTo>
                  <a:pt x="261152" y="174102"/>
                </a:lnTo>
                <a:lnTo>
                  <a:pt x="0" y="174102"/>
                </a:lnTo>
                <a:close/>
              </a:path>
            </a:pathLst>
          </a:cu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7163" y="2184318"/>
            <a:ext cx="62179" cy="62179"/>
          </a:xfrm>
          <a:prstGeom prst="ellipse">
            <a:avLst/>
          </a:prstGeom>
          <a:noFill/>
          <a:ln w="14288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3" name="Freeform 12"/>
          <p:cNvSpPr/>
          <p:nvPr/>
        </p:nvSpPr>
        <p:spPr>
          <a:xfrm>
            <a:off x="1064431" y="2255825"/>
            <a:ext cx="87644" cy="22502"/>
          </a:xfrm>
          <a:custGeom>
            <a:avLst/>
            <a:gdLst/>
            <a:ahLst/>
            <a:cxnLst/>
            <a:rect l="l" t="t" r="r" b="b"/>
            <a:pathLst>
              <a:path w="87644" h="22502">
                <a:moveTo>
                  <a:pt x="0" y="22502"/>
                </a:moveTo>
                <a:lnTo>
                  <a:pt x="2561" y="18260"/>
                </a:lnTo>
                <a:lnTo>
                  <a:pt x="5882" y="14312"/>
                </a:lnTo>
                <a:lnTo>
                  <a:pt x="9901" y="10730"/>
                </a:lnTo>
                <a:lnTo>
                  <a:pt x="14544" y="7579"/>
                </a:lnTo>
                <a:lnTo>
                  <a:pt x="19726" y="4919"/>
                </a:lnTo>
                <a:lnTo>
                  <a:pt x="25351" y="2797"/>
                </a:lnTo>
                <a:lnTo>
                  <a:pt x="31316" y="1252"/>
                </a:lnTo>
                <a:lnTo>
                  <a:pt x="37511" y="314"/>
                </a:lnTo>
                <a:lnTo>
                  <a:pt x="43822" y="0"/>
                </a:lnTo>
                <a:lnTo>
                  <a:pt x="50133" y="314"/>
                </a:lnTo>
                <a:lnTo>
                  <a:pt x="56328" y="1252"/>
                </a:lnTo>
                <a:lnTo>
                  <a:pt x="62293" y="2797"/>
                </a:lnTo>
                <a:lnTo>
                  <a:pt x="67918" y="4919"/>
                </a:lnTo>
                <a:lnTo>
                  <a:pt x="73099" y="7579"/>
                </a:lnTo>
                <a:lnTo>
                  <a:pt x="77742" y="10730"/>
                </a:lnTo>
                <a:lnTo>
                  <a:pt x="81761" y="14312"/>
                </a:lnTo>
                <a:lnTo>
                  <a:pt x="85082" y="18260"/>
                </a:lnTo>
                <a:lnTo>
                  <a:pt x="87644" y="22502"/>
                </a:lnTo>
              </a:path>
            </a:pathLst>
          </a:custGeom>
          <a:noFill/>
          <a:ln w="13494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6650" y="2202972"/>
            <a:ext cx="93269" cy="0"/>
          </a:xfrm>
          <a:custGeom>
            <a:avLst/>
            <a:gdLst/>
            <a:ahLst/>
            <a:cxnLst/>
            <a:rect l="l" t="t" r="r" b="b"/>
            <a:pathLst>
              <a:path w="93269" h="0">
                <a:moveTo>
                  <a:pt x="0" y="0"/>
                </a:moveTo>
                <a:lnTo>
                  <a:pt x="93269" y="0"/>
                </a:lnTo>
              </a:path>
            </a:pathLst>
          </a:custGeom>
          <a:noFill/>
          <a:ln w="1111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76650" y="2240280"/>
            <a:ext cx="93269" cy="0"/>
          </a:xfrm>
          <a:custGeom>
            <a:avLst/>
            <a:gdLst/>
            <a:ahLst/>
            <a:cxnLst/>
            <a:rect l="l" t="t" r="r" b="b"/>
            <a:pathLst>
              <a:path w="93269" h="0">
                <a:moveTo>
                  <a:pt x="0" y="0"/>
                </a:moveTo>
                <a:lnTo>
                  <a:pt x="93269" y="0"/>
                </a:lnTo>
              </a:path>
            </a:pathLst>
          </a:custGeom>
          <a:noFill/>
          <a:ln w="1111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176650" y="2277588"/>
            <a:ext cx="93269" cy="0"/>
          </a:xfrm>
          <a:custGeom>
            <a:avLst/>
            <a:gdLst/>
            <a:ahLst/>
            <a:cxnLst/>
            <a:rect l="l" t="t" r="r" b="b"/>
            <a:pathLst>
              <a:path w="93269" h="0">
                <a:moveTo>
                  <a:pt x="0" y="0"/>
                </a:moveTo>
                <a:lnTo>
                  <a:pt x="93269" y="0"/>
                </a:lnTo>
              </a:path>
            </a:pathLst>
          </a:custGeom>
          <a:noFill/>
          <a:ln w="1111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72184" y="2103120"/>
            <a:ext cx="4645152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40" b="0" i="0">
                <a:solidFill>
                  <a:srgbClr val="14142E"/>
                </a:solidFill>
                <a:latin typeface="Montserrat SemiBold"/>
              </a:rPr>
              <a:t>Copie exatamente estes dados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3" y="2523744"/>
            <a:ext cx="2231136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6E7288"/>
                </a:solidFill>
                <a:latin typeface="Montserrat Medium"/>
              </a:rPr>
              <a:t>Nome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2523744"/>
            <a:ext cx="287121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14142E"/>
                </a:solidFill>
                <a:latin typeface="Montserrat SemiBold"/>
              </a:rPr>
              <a:t>Ana Paola Nunes Lucato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2816351"/>
            <a:ext cx="2231136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6E7288"/>
                </a:solidFill>
                <a:latin typeface="Montserrat Medium"/>
              </a:rPr>
              <a:t>CPF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2816351"/>
            <a:ext cx="287121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14142E"/>
                </a:solidFill>
                <a:latin typeface="Montserrat SemiBold"/>
              </a:rPr>
              <a:t>142.803.138-30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3" y="3108959"/>
            <a:ext cx="2231136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6E7288"/>
                </a:solidFill>
                <a:latin typeface="Montserrat Medium"/>
              </a:rPr>
              <a:t>Cargo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3108959"/>
            <a:ext cx="287121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14142E"/>
                </a:solidFill>
                <a:latin typeface="Montserrat SemiBold"/>
              </a:rPr>
              <a:t>sócia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3" y="3401567"/>
            <a:ext cx="2231136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6E7288"/>
                </a:solidFill>
                <a:latin typeface="Montserrat Medium"/>
              </a:rPr>
              <a:t>Celular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401567"/>
            <a:ext cx="287121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14142E"/>
                </a:solidFill>
                <a:latin typeface="Montserrat SemiBold"/>
              </a:rPr>
              <a:t>[INSERIR CELULAR]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3" y="3694175"/>
            <a:ext cx="2231136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6E7288"/>
                </a:solidFill>
                <a:latin typeface="Montserrat Medium"/>
              </a:rPr>
              <a:t>Email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3694175"/>
            <a:ext cx="2871215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40" b="0" i="0">
                <a:solidFill>
                  <a:srgbClr val="14142E"/>
                </a:solidFill>
                <a:latin typeface="Montserrat SemiBold"/>
              </a:rPr>
              <a:t>anapnuneslucato@gmail.com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224528"/>
            <a:ext cx="5577840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19" b="0" i="0" spc="140" cap="all">
                <a:solidFill>
                  <a:srgbClr val="6E7288"/>
                </a:solidFill>
                <a:latin typeface="Montserrat SemiBold"/>
              </a:rPr>
              <a:t>Campos opcionais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498848"/>
            <a:ext cx="557784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60" b="0" i="0">
                <a:solidFill>
                  <a:srgbClr val="3A3C55"/>
                </a:solidFill>
                <a:latin typeface="Montserrat"/>
              </a:rPr>
              <a:t>Departamento, Telefone e Ramal podem ficar em branco.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937760"/>
            <a:ext cx="5577840" cy="658368"/>
          </a:xfrm>
          <a:prstGeom prst="rect">
            <a:avLst/>
          </a:prstGeom>
          <a:solidFill>
            <a:srgbClr val="FCEDE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777240" y="4937760"/>
            <a:ext cx="32004" cy="658368"/>
          </a:xfrm>
          <a:prstGeom prst="rect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2" name="Freeform 31"/>
          <p:cNvSpPr/>
          <p:nvPr/>
        </p:nvSpPr>
        <p:spPr>
          <a:xfrm>
            <a:off x="1034186" y="5157216"/>
            <a:ext cx="235916" cy="208483"/>
          </a:xfrm>
          <a:custGeom>
            <a:avLst/>
            <a:gdLst/>
            <a:ahLst/>
            <a:cxnLst/>
            <a:rect l="l" t="t" r="r" b="b"/>
            <a:pathLst>
              <a:path w="235916" h="208483">
                <a:moveTo>
                  <a:pt x="117958" y="0"/>
                </a:moveTo>
                <a:lnTo>
                  <a:pt x="235916" y="208483"/>
                </a:lnTo>
                <a:lnTo>
                  <a:pt x="0" y="208483"/>
                </a:lnTo>
                <a:close/>
              </a:path>
            </a:pathLst>
          </a:custGeom>
          <a:noFill/>
          <a:ln w="15875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152144" y="5234026"/>
            <a:ext cx="0" cy="65836"/>
          </a:xfrm>
          <a:custGeom>
            <a:avLst/>
            <a:gdLst/>
            <a:ahLst/>
            <a:cxnLst/>
            <a:rect l="l" t="t" r="r" b="b"/>
            <a:pathLst>
              <a:path w="0" h="65836">
                <a:moveTo>
                  <a:pt x="0" y="0"/>
                </a:moveTo>
                <a:lnTo>
                  <a:pt x="0" y="65836"/>
                </a:lnTo>
              </a:path>
            </a:pathLst>
          </a:custGeom>
          <a:noFill/>
          <a:ln w="18256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41856" y="5321122"/>
            <a:ext cx="20574" cy="20574"/>
          </a:xfrm>
          <a:prstGeom prst="ellipse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472184" y="4937760"/>
            <a:ext cx="4608576" cy="6583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3A3C55"/>
                </a:solidFill>
                <a:latin typeface="Montserrat"/>
              </a:rPr>
              <a:t>O CPF é o que liga a conta Gov.br dela à sua unidade: um dígito errado impede o vínculo. Os campos marcados com asterisco são obrigatórios.</a:t>
            </a:r>
          </a:p>
        </p:txBody>
      </p:sp>
      <p:pic>
        <p:nvPicPr>
          <p:cNvPr id="36" name="Picture 35" descr="mtr_form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1847088"/>
            <a:ext cx="4812761" cy="3306157"/>
          </a:xfrm>
          <a:prstGeom prst="rect">
            <a:avLst/>
          </a:prstGeom>
          <a:effectLst/>
        </p:spPr>
      </p:pic>
      <p:sp>
        <p:nvSpPr>
          <p:cNvPr id="37" name="Rectangle 36"/>
          <p:cNvSpPr/>
          <p:nvPr/>
        </p:nvSpPr>
        <p:spPr>
          <a:xfrm>
            <a:off x="6601968" y="1847088"/>
            <a:ext cx="4812761" cy="3306157"/>
          </a:xfrm>
          <a:prstGeom prst="rect">
            <a:avLst/>
          </a:prstGeom>
          <a:noFill/>
          <a:ln w="11430" cap="rnd">
            <a:solidFill>
              <a:srgbClr val="DFE2F0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707848" y="2628333"/>
            <a:ext cx="4499932" cy="218206"/>
          </a:xfrm>
          <a:prstGeom prst="rect">
            <a:avLst/>
          </a:prstGeom>
          <a:noFill/>
          <a:ln w="24130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6601968" y="2409608"/>
            <a:ext cx="237744" cy="237744"/>
          </a:xfrm>
          <a:prstGeom prst="ellipse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601968" y="2409608"/>
            <a:ext cx="237744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 i="0">
                <a:solidFill>
                  <a:srgbClr val="FFFFFF"/>
                </a:solidFill>
                <a:latin typeface="Montserrat SemiBold"/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07848" y="3081607"/>
            <a:ext cx="4499932" cy="218206"/>
          </a:xfrm>
          <a:prstGeom prst="rect">
            <a:avLst/>
          </a:prstGeom>
          <a:noFill/>
          <a:ln w="24130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6601968" y="2862882"/>
            <a:ext cx="237744" cy="237744"/>
          </a:xfrm>
          <a:prstGeom prst="ellipse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601968" y="2862882"/>
            <a:ext cx="237744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 i="0">
                <a:solidFill>
                  <a:srgbClr val="FFFFFF"/>
                </a:solidFill>
                <a:latin typeface="Montserrat SemiBold"/>
              </a:rPr>
              <a:t>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07848" y="3534881"/>
            <a:ext cx="4499932" cy="218206"/>
          </a:xfrm>
          <a:prstGeom prst="rect">
            <a:avLst/>
          </a:prstGeom>
          <a:noFill/>
          <a:ln w="24130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6601968" y="3316157"/>
            <a:ext cx="237744" cy="237744"/>
          </a:xfrm>
          <a:prstGeom prst="ellipse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601968" y="3316157"/>
            <a:ext cx="237744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 i="0">
                <a:solidFill>
                  <a:srgbClr val="FFFFFF"/>
                </a:solidFill>
                <a:latin typeface="Montserrat SemiBold"/>
              </a:rPr>
              <a:t>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07848" y="4441760"/>
            <a:ext cx="4499932" cy="218206"/>
          </a:xfrm>
          <a:prstGeom prst="rect">
            <a:avLst/>
          </a:prstGeom>
          <a:noFill/>
          <a:ln w="24130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6601968" y="4223036"/>
            <a:ext cx="237744" cy="237744"/>
          </a:xfrm>
          <a:prstGeom prst="ellipse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601968" y="4223036"/>
            <a:ext cx="237744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 i="0">
                <a:solidFill>
                  <a:srgbClr val="FFFFFF"/>
                </a:solidFill>
                <a:latin typeface="Montserrat SemiBold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01968" y="5226397"/>
            <a:ext cx="4812761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 spc="30">
                <a:solidFill>
                  <a:srgbClr val="9A9DB0"/>
                </a:solidFill>
                <a:latin typeface="Montserrat"/>
              </a:rPr>
              <a:t>Janela Adicionar/Editar Usuário: 1 Nome, 2 CPF, 3 Cargo, 4 Celular.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888736"/>
            <a:ext cx="10637489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0" i="0">
                <a:solidFill>
                  <a:srgbClr val="9A9DB0"/>
                </a:solidFill>
                <a:latin typeface="Montserrat"/>
              </a:rPr>
              <a:t>Print próprio da Nunes &amp; Lucato — MTR Nacional.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5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>
            <a:off x="777240" y="669340"/>
            <a:ext cx="274320" cy="0"/>
          </a:xfrm>
          <a:prstGeom prst="line">
            <a:avLst/>
          </a:prstGeom>
          <a:ln w="20320" cap="rnd">
            <a:solidFill>
              <a:srgbClr val="3432C9"/>
            </a:solidFill>
            <a:round/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1197863" y="580644"/>
            <a:ext cx="7315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90" cap="all">
                <a:solidFill>
                  <a:srgbClr val="3432C9"/>
                </a:solidFill>
                <a:latin typeface="Montserrat SemiBold"/>
              </a:rPr>
              <a:t>Rota A  ·  Passo 4 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332720" cy="1371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550" b="0" i="0">
                <a:solidFill>
                  <a:srgbClr val="14142E"/>
                </a:solidFill>
                <a:latin typeface="Montserrat Light"/>
              </a:rPr>
              <a:t>Deixe </a:t>
            </a:r>
            <a:r>
              <a:rPr sz="2550" b="0" i="0">
                <a:solidFill>
                  <a:srgbClr val="14142E"/>
                </a:solidFill>
                <a:latin typeface="Montserrat SemiBold"/>
              </a:rPr>
              <a:t>Ativo</a:t>
            </a:r>
            <a:r>
              <a:rPr sz="2550" b="0" i="0">
                <a:solidFill>
                  <a:srgbClr val="14142E"/>
                </a:solidFill>
                <a:latin typeface="Montserrat Light"/>
              </a:rPr>
              <a:t>, escolha o </a:t>
            </a:r>
            <a:r>
              <a:rPr sz="2550" b="0" i="0">
                <a:solidFill>
                  <a:srgbClr val="14142E"/>
                </a:solidFill>
                <a:latin typeface="Montserrat SemiBold"/>
              </a:rPr>
              <a:t>tipo</a:t>
            </a:r>
            <a:r>
              <a:rPr sz="2550" b="0" i="0">
                <a:solidFill>
                  <a:srgbClr val="14142E"/>
                </a:solidFill>
                <a:latin typeface="Montserrat Light"/>
              </a:rPr>
              <a:t> e salve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37489" cy="0"/>
          </a:xfrm>
          <a:prstGeom prst="line">
            <a:avLst/>
          </a:prstGeom>
          <a:ln w="9525" cap="rnd">
            <a:solidFill>
              <a:srgbClr val="DFE2F0"/>
            </a:solidFill>
            <a:round/>
          </a:ln>
          <a:effectLst/>
        </p:spPr>
      </p:cxnSp>
      <p:pic>
        <p:nvPicPr>
          <p:cNvPr id="7" name="Picture 6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345936"/>
            <a:ext cx="1133529" cy="2331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76969" y="6396228"/>
            <a:ext cx="4937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750" b="0" i="0" spc="50">
                <a:solidFill>
                  <a:srgbClr val="9A9DB0"/>
                </a:solidFill>
                <a:latin typeface="Montserrat"/>
              </a:rPr>
              <a:t>MTR Nacional  ·  Login Único Gov.br    |   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73936"/>
            <a:ext cx="10637489" cy="530352"/>
          </a:xfrm>
          <a:prstGeom prst="rect">
            <a:avLst/>
          </a:prstGeom>
          <a:solidFill>
            <a:srgbClr val="F4F5FC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7240" y="1773936"/>
            <a:ext cx="32004" cy="530352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078077" y="1948586"/>
            <a:ext cx="82296" cy="82296"/>
          </a:xfrm>
          <a:prstGeom prst="ellipse">
            <a:avLst/>
          </a:pr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2" name="Freeform 11"/>
          <p:cNvSpPr/>
          <p:nvPr/>
        </p:nvSpPr>
        <p:spPr>
          <a:xfrm>
            <a:off x="1050333" y="2055571"/>
            <a:ext cx="137786" cy="44731"/>
          </a:xfrm>
          <a:custGeom>
            <a:avLst/>
            <a:gdLst/>
            <a:ahLst/>
            <a:cxnLst/>
            <a:rect l="l" t="t" r="r" b="b"/>
            <a:pathLst>
              <a:path w="137786" h="44731">
                <a:moveTo>
                  <a:pt x="0" y="44731"/>
                </a:moveTo>
                <a:lnTo>
                  <a:pt x="2678" y="37921"/>
                </a:lnTo>
                <a:lnTo>
                  <a:pt x="6294" y="31428"/>
                </a:lnTo>
                <a:lnTo>
                  <a:pt x="10794" y="25344"/>
                </a:lnTo>
                <a:lnTo>
                  <a:pt x="16117" y="19755"/>
                </a:lnTo>
                <a:lnTo>
                  <a:pt x="22186" y="14741"/>
                </a:lnTo>
                <a:lnTo>
                  <a:pt x="28915" y="10371"/>
                </a:lnTo>
                <a:lnTo>
                  <a:pt x="36210" y="6709"/>
                </a:lnTo>
                <a:lnTo>
                  <a:pt x="43968" y="3805"/>
                </a:lnTo>
                <a:lnTo>
                  <a:pt x="52078" y="1701"/>
                </a:lnTo>
                <a:lnTo>
                  <a:pt x="60425" y="427"/>
                </a:lnTo>
                <a:lnTo>
                  <a:pt x="68893" y="0"/>
                </a:lnTo>
                <a:lnTo>
                  <a:pt x="77360" y="427"/>
                </a:lnTo>
                <a:lnTo>
                  <a:pt x="85708" y="1701"/>
                </a:lnTo>
                <a:lnTo>
                  <a:pt x="93818" y="3805"/>
                </a:lnTo>
                <a:lnTo>
                  <a:pt x="101575" y="6709"/>
                </a:lnTo>
                <a:lnTo>
                  <a:pt x="108870" y="10371"/>
                </a:lnTo>
                <a:lnTo>
                  <a:pt x="115599" y="14741"/>
                </a:lnTo>
                <a:lnTo>
                  <a:pt x="121668" y="19755"/>
                </a:lnTo>
                <a:lnTo>
                  <a:pt x="126991" y="25344"/>
                </a:lnTo>
                <a:lnTo>
                  <a:pt x="131491" y="31428"/>
                </a:lnTo>
                <a:lnTo>
                  <a:pt x="135107" y="37921"/>
                </a:lnTo>
                <a:lnTo>
                  <a:pt x="137786" y="44731"/>
                </a:lnTo>
              </a:path>
            </a:pathLst>
          </a:cu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228954" y="2050085"/>
            <a:ext cx="0" cy="82296"/>
          </a:xfrm>
          <a:custGeom>
            <a:avLst/>
            <a:gdLst/>
            <a:ahLst/>
            <a:cxnLst/>
            <a:rect l="l" t="t" r="r" b="b"/>
            <a:pathLst>
              <a:path w="0" h="82296">
                <a:moveTo>
                  <a:pt x="0" y="0"/>
                </a:moveTo>
                <a:lnTo>
                  <a:pt x="0" y="82296"/>
                </a:lnTo>
              </a:path>
            </a:pathLst>
          </a:custGeom>
          <a:noFill/>
          <a:ln w="16669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87806" y="2091233"/>
            <a:ext cx="82296" cy="0"/>
          </a:xfrm>
          <a:custGeom>
            <a:avLst/>
            <a:gdLst/>
            <a:ahLst/>
            <a:cxnLst/>
            <a:rect l="l" t="t" r="r" b="b"/>
            <a:pathLst>
              <a:path w="82296" h="0">
                <a:moveTo>
                  <a:pt x="0" y="0"/>
                </a:moveTo>
                <a:lnTo>
                  <a:pt x="82296" y="0"/>
                </a:lnTo>
              </a:path>
            </a:pathLst>
          </a:custGeom>
          <a:noFill/>
          <a:ln w="16669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72184" y="1773936"/>
            <a:ext cx="9668225" cy="53035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3A3C55"/>
                </a:solidFill>
                <a:latin typeface="Montserrat"/>
              </a:rPr>
              <a:t>No fim do formulário há três chaves e o botão Salvar. É aqui que você define se a nossa responsável entra como Usuário Padrão ou Usuário Administrador.</a:t>
            </a:r>
          </a:p>
        </p:txBody>
      </p:sp>
      <p:pic>
        <p:nvPicPr>
          <p:cNvPr id="16" name="Picture 15" descr="mtr_togg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68880"/>
            <a:ext cx="7498079" cy="1296660"/>
          </a:xfrm>
          <a:prstGeom prst="rect">
            <a:avLst/>
          </a:prstGeom>
          <a:effectLst/>
        </p:spPr>
      </p:pic>
      <p:sp>
        <p:nvSpPr>
          <p:cNvPr id="17" name="Rectangle 16"/>
          <p:cNvSpPr/>
          <p:nvPr/>
        </p:nvSpPr>
        <p:spPr>
          <a:xfrm>
            <a:off x="777240" y="2468880"/>
            <a:ext cx="7498079" cy="1296660"/>
          </a:xfrm>
          <a:prstGeom prst="rect">
            <a:avLst/>
          </a:prstGeom>
          <a:noFill/>
          <a:ln w="11430" cap="rnd">
            <a:solidFill>
              <a:srgbClr val="DFE2F0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89711" y="2637445"/>
            <a:ext cx="1162202" cy="394184"/>
          </a:xfrm>
          <a:prstGeom prst="rect">
            <a:avLst/>
          </a:prstGeom>
          <a:noFill/>
          <a:ln w="24130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2468880"/>
            <a:ext cx="237744" cy="237744"/>
          </a:xfrm>
          <a:prstGeom prst="ellipse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7240" y="2468880"/>
            <a:ext cx="237744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 i="0">
                <a:solidFill>
                  <a:srgbClr val="FFFFFF"/>
                </a:solidFill>
                <a:latin typeface="Montserrat SemiBold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55585" y="2581689"/>
            <a:ext cx="3551840" cy="619803"/>
          </a:xfrm>
          <a:prstGeom prst="rect">
            <a:avLst/>
          </a:prstGeom>
          <a:noFill/>
          <a:ln w="24130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5888406" y="2468880"/>
            <a:ext cx="237744" cy="237744"/>
          </a:xfrm>
          <a:prstGeom prst="ellipse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888406" y="2468880"/>
            <a:ext cx="237744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 i="0">
                <a:solidFill>
                  <a:srgbClr val="FFFFFF"/>
                </a:solidFill>
                <a:latin typeface="Montserrat SemiBold"/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3954" y="3246876"/>
            <a:ext cx="1252179" cy="383811"/>
          </a:xfrm>
          <a:prstGeom prst="rect">
            <a:avLst/>
          </a:prstGeom>
          <a:noFill/>
          <a:ln w="24130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077114" y="3527796"/>
            <a:ext cx="237744" cy="237744"/>
          </a:xfrm>
          <a:prstGeom prst="ellipse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077114" y="3527796"/>
            <a:ext cx="237744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 i="0">
                <a:solidFill>
                  <a:srgbClr val="FFFFFF"/>
                </a:solidFill>
                <a:latin typeface="Montserrat SemiBold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838692"/>
            <a:ext cx="7498079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 spc="30">
                <a:solidFill>
                  <a:srgbClr val="9A9DB0"/>
                </a:solidFill>
                <a:latin typeface="Montserrat"/>
              </a:rPr>
              <a:t>1 chave Ativo · 2 Usuário Padrão ou Usuário Administrador · 3 botão Salvar.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0" y="2468880"/>
            <a:ext cx="2910809" cy="1572768"/>
          </a:xfrm>
          <a:prstGeom prst="rect">
            <a:avLst/>
          </a:prstGeom>
          <a:solidFill>
            <a:srgbClr val="F4F5FC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8503920" y="2468880"/>
            <a:ext cx="2910809" cy="50292"/>
          </a:xfrm>
          <a:prstGeom prst="rect">
            <a:avLst/>
          </a:prstGeom>
          <a:solidFill>
            <a:srgbClr val="6E7288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8782080" y="2747040"/>
            <a:ext cx="105704" cy="105704"/>
          </a:xfrm>
          <a:prstGeom prst="ellipse">
            <a:avLst/>
          </a:prstGeom>
          <a:noFill/>
          <a:ln w="15875" cap="rnd">
            <a:solidFill>
              <a:srgbClr val="6E7288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8814724" y="2779684"/>
            <a:ext cx="40416" cy="40416"/>
          </a:xfrm>
          <a:prstGeom prst="ellipse">
            <a:avLst/>
          </a:prstGeom>
          <a:noFill/>
          <a:ln w="12700" cap="rnd">
            <a:solidFill>
              <a:srgbClr val="6E7288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2" name="Freeform 31"/>
          <p:cNvSpPr/>
          <p:nvPr/>
        </p:nvSpPr>
        <p:spPr>
          <a:xfrm>
            <a:off x="8872240" y="2837200"/>
            <a:ext cx="136795" cy="136795"/>
          </a:xfrm>
          <a:custGeom>
            <a:avLst/>
            <a:gdLst/>
            <a:ahLst/>
            <a:cxnLst/>
            <a:rect l="l" t="t" r="r" b="b"/>
            <a:pathLst>
              <a:path w="136795" h="136795">
                <a:moveTo>
                  <a:pt x="0" y="0"/>
                </a:moveTo>
                <a:lnTo>
                  <a:pt x="136795" y="136795"/>
                </a:lnTo>
              </a:path>
            </a:pathLst>
          </a:custGeom>
          <a:noFill/>
          <a:ln w="15875" cap="rnd">
            <a:solidFill>
              <a:srgbClr val="6E72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8921984" y="2924251"/>
            <a:ext cx="37307" cy="37308"/>
          </a:xfrm>
          <a:custGeom>
            <a:avLst/>
            <a:gdLst/>
            <a:ahLst/>
            <a:cxnLst/>
            <a:rect l="l" t="t" r="r" b="b"/>
            <a:pathLst>
              <a:path w="37307" h="37308">
                <a:moveTo>
                  <a:pt x="37307" y="0"/>
                </a:moveTo>
                <a:lnTo>
                  <a:pt x="0" y="37308"/>
                </a:lnTo>
              </a:path>
            </a:pathLst>
          </a:custGeom>
          <a:noFill/>
          <a:ln w="13494" cap="rnd">
            <a:solidFill>
              <a:srgbClr val="6E72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8953073" y="2955341"/>
            <a:ext cx="37308" cy="37307"/>
          </a:xfrm>
          <a:custGeom>
            <a:avLst/>
            <a:gdLst/>
            <a:ahLst/>
            <a:cxnLst/>
            <a:rect l="l" t="t" r="r" b="b"/>
            <a:pathLst>
              <a:path w="37308" h="37307">
                <a:moveTo>
                  <a:pt x="37308" y="0"/>
                </a:moveTo>
                <a:lnTo>
                  <a:pt x="0" y="37307"/>
                </a:lnTo>
              </a:path>
            </a:pathLst>
          </a:custGeom>
          <a:noFill/>
          <a:ln w="13494" cap="rnd">
            <a:solidFill>
              <a:srgbClr val="6E72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98864" y="2724912"/>
            <a:ext cx="1978121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40" b="0" i="0">
                <a:solidFill>
                  <a:srgbClr val="14142E"/>
                </a:solidFill>
                <a:latin typeface="Montserrat SemiBold"/>
              </a:rPr>
              <a:t>A terceira chave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41664" y="3127248"/>
            <a:ext cx="1164323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6E7288"/>
                </a:solidFill>
                <a:latin typeface="Montserrat Medium"/>
              </a:rPr>
              <a:t>O que 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05987" y="3127248"/>
            <a:ext cx="1270997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14142E"/>
                </a:solidFill>
                <a:latin typeface="Montserrat SemiBold"/>
              </a:rPr>
              <a:t>token de 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41664" y="3401568"/>
            <a:ext cx="1164323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6E7288"/>
                </a:solidFill>
                <a:latin typeface="Montserrat Medium"/>
              </a:rPr>
              <a:t>Precisamos?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05987" y="3401568"/>
            <a:ext cx="1270997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14142E"/>
                </a:solidFill>
                <a:latin typeface="Montserrat SemiBold"/>
              </a:rPr>
              <a:t>não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41664" y="3675887"/>
            <a:ext cx="1164323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6E7288"/>
                </a:solidFill>
                <a:latin typeface="Montserrat Medium"/>
              </a:rPr>
              <a:t>Deixe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05987" y="3675887"/>
            <a:ext cx="1270997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14142E"/>
                </a:solidFill>
                <a:latin typeface="Montserrat SemiBold"/>
              </a:rPr>
              <a:t>desligada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4315968"/>
            <a:ext cx="5172440" cy="1426464"/>
          </a:xfrm>
          <a:prstGeom prst="rect">
            <a:avLst/>
          </a:prstGeom>
          <a:solidFill>
            <a:srgbClr val="FFFFFF"/>
          </a:solidFill>
          <a:ln w="12700" cap="rnd">
            <a:solidFill>
              <a:srgbClr val="DFE2F0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777240" y="4315968"/>
            <a:ext cx="5172440" cy="50292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4" name="Freeform 43"/>
          <p:cNvSpPr/>
          <p:nvPr/>
        </p:nvSpPr>
        <p:spPr>
          <a:xfrm>
            <a:off x="1085941" y="4580047"/>
            <a:ext cx="223846" cy="276514"/>
          </a:xfrm>
          <a:custGeom>
            <a:avLst/>
            <a:gdLst/>
            <a:ahLst/>
            <a:cxnLst/>
            <a:rect l="l" t="t" r="r" b="b"/>
            <a:pathLst>
              <a:path w="223846" h="276514">
                <a:moveTo>
                  <a:pt x="111923" y="0"/>
                </a:moveTo>
                <a:lnTo>
                  <a:pt x="223846" y="46085"/>
                </a:lnTo>
                <a:lnTo>
                  <a:pt x="223846" y="144841"/>
                </a:lnTo>
                <a:lnTo>
                  <a:pt x="111923" y="276514"/>
                </a:lnTo>
                <a:lnTo>
                  <a:pt x="0" y="144841"/>
                </a:lnTo>
                <a:lnTo>
                  <a:pt x="0" y="46085"/>
                </a:lnTo>
                <a:close/>
              </a:path>
            </a:pathLst>
          </a:cu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1148486" y="4672218"/>
            <a:ext cx="105339" cy="79004"/>
          </a:xfrm>
          <a:custGeom>
            <a:avLst/>
            <a:gdLst/>
            <a:ahLst/>
            <a:cxnLst/>
            <a:rect l="l" t="t" r="r" b="b"/>
            <a:pathLst>
              <a:path w="105339" h="79004">
                <a:moveTo>
                  <a:pt x="0" y="39502"/>
                </a:moveTo>
                <a:lnTo>
                  <a:pt x="36211" y="79004"/>
                </a:lnTo>
                <a:lnTo>
                  <a:pt x="105339" y="0"/>
                </a:lnTo>
              </a:path>
            </a:pathLst>
          </a:custGeom>
          <a:noFill/>
          <a:ln w="1746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651232" y="4553712"/>
            <a:ext cx="1024128" cy="237744"/>
          </a:xfrm>
          <a:prstGeom prst="roundRect">
            <a:avLst>
              <a:gd name="adj" fmla="val 50000"/>
            </a:avLst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651232" y="4605908"/>
            <a:ext cx="1024128" cy="1422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700" b="0" i="0" spc="120" cap="all">
                <a:solidFill>
                  <a:srgbClr val="FFFFFF"/>
                </a:solidFill>
                <a:latin typeface="Montserrat SemiBold"/>
              </a:rPr>
              <a:t>Sugerido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72184" y="4590288"/>
            <a:ext cx="3069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4142E"/>
                </a:solidFill>
                <a:latin typeface="Montserrat SemiBold"/>
              </a:rPr>
              <a:t>Usuário Administrador</a:t>
            </a:r>
          </a:p>
        </p:txBody>
      </p:sp>
      <p:sp>
        <p:nvSpPr>
          <p:cNvPr id="49" name="Oval 48"/>
          <p:cNvSpPr/>
          <p:nvPr/>
        </p:nvSpPr>
        <p:spPr>
          <a:xfrm>
            <a:off x="1033271" y="5059228"/>
            <a:ext cx="69494" cy="69494"/>
          </a:xfrm>
          <a:prstGeom prst="ellipse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221638" y="5029200"/>
            <a:ext cx="4422632" cy="44165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19" b="0" i="0">
                <a:solidFill>
                  <a:srgbClr val="3A3C55"/>
                </a:solidFill>
                <a:latin typeface="Montserrat"/>
              </a:rPr>
              <a:t>Cuidamos também da gestão de acessos da unidade.</a:t>
            </a:r>
          </a:p>
        </p:txBody>
      </p:sp>
      <p:sp>
        <p:nvSpPr>
          <p:cNvPr id="51" name="Oval 50"/>
          <p:cNvSpPr/>
          <p:nvPr/>
        </p:nvSpPr>
        <p:spPr>
          <a:xfrm>
            <a:off x="1033271" y="5282647"/>
            <a:ext cx="69494" cy="69494"/>
          </a:xfrm>
          <a:prstGeom prst="ellipse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1221638" y="5252618"/>
            <a:ext cx="4422632" cy="44165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19" b="0" i="0">
                <a:solidFill>
                  <a:srgbClr val="3A3C55"/>
                </a:solidFill>
                <a:latin typeface="Montserrat"/>
              </a:rPr>
              <a:t>Você continua Administrador: o seu acesso não muda.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42288" y="4315968"/>
            <a:ext cx="5172440" cy="1426464"/>
          </a:xfrm>
          <a:prstGeom prst="rect">
            <a:avLst/>
          </a:prstGeom>
          <a:solidFill>
            <a:srgbClr val="FFFFFF"/>
          </a:solidFill>
          <a:ln w="12700" cap="rnd">
            <a:solidFill>
              <a:srgbClr val="DFE2F0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6242288" y="4315968"/>
            <a:ext cx="5172440" cy="50292"/>
          </a:xfrm>
          <a:prstGeom prst="rect">
            <a:avLst/>
          </a:prstGeom>
          <a:solidFill>
            <a:srgbClr val="6E7288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6623410" y="4612965"/>
            <a:ext cx="79004" cy="79004"/>
          </a:xfrm>
          <a:prstGeom prst="ellipse">
            <a:avLst/>
          </a:prstGeom>
          <a:noFill/>
          <a:ln w="15875" cap="rnd">
            <a:solidFill>
              <a:srgbClr val="6E7288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56" name="Freeform 55"/>
          <p:cNvSpPr/>
          <p:nvPr/>
        </p:nvSpPr>
        <p:spPr>
          <a:xfrm>
            <a:off x="6575383" y="4757806"/>
            <a:ext cx="175059" cy="70726"/>
          </a:xfrm>
          <a:custGeom>
            <a:avLst/>
            <a:gdLst/>
            <a:ahLst/>
            <a:cxnLst/>
            <a:rect l="l" t="t" r="r" b="b"/>
            <a:pathLst>
              <a:path w="175059" h="70726">
                <a:moveTo>
                  <a:pt x="0" y="70726"/>
                </a:moveTo>
                <a:lnTo>
                  <a:pt x="2658" y="60175"/>
                </a:lnTo>
                <a:lnTo>
                  <a:pt x="6682" y="50033"/>
                </a:lnTo>
                <a:lnTo>
                  <a:pt x="12006" y="40464"/>
                </a:lnTo>
                <a:lnTo>
                  <a:pt x="18546" y="31620"/>
                </a:lnTo>
                <a:lnTo>
                  <a:pt x="26196" y="23645"/>
                </a:lnTo>
                <a:lnTo>
                  <a:pt x="34832" y="16667"/>
                </a:lnTo>
                <a:lnTo>
                  <a:pt x="44317" y="10797"/>
                </a:lnTo>
                <a:lnTo>
                  <a:pt x="54497" y="6131"/>
                </a:lnTo>
                <a:lnTo>
                  <a:pt x="65208" y="2743"/>
                </a:lnTo>
                <a:lnTo>
                  <a:pt x="76278" y="689"/>
                </a:lnTo>
                <a:lnTo>
                  <a:pt x="87530" y="0"/>
                </a:lnTo>
                <a:lnTo>
                  <a:pt x="98781" y="689"/>
                </a:lnTo>
                <a:lnTo>
                  <a:pt x="109852" y="2743"/>
                </a:lnTo>
                <a:lnTo>
                  <a:pt x="120563" y="6131"/>
                </a:lnTo>
                <a:lnTo>
                  <a:pt x="130743" y="10797"/>
                </a:lnTo>
                <a:lnTo>
                  <a:pt x="140227" y="16667"/>
                </a:lnTo>
                <a:lnTo>
                  <a:pt x="148864" y="23645"/>
                </a:lnTo>
                <a:lnTo>
                  <a:pt x="156513" y="31620"/>
                </a:lnTo>
                <a:lnTo>
                  <a:pt x="163053" y="40464"/>
                </a:lnTo>
                <a:lnTo>
                  <a:pt x="168378" y="50033"/>
                </a:lnTo>
                <a:lnTo>
                  <a:pt x="172401" y="60175"/>
                </a:lnTo>
                <a:lnTo>
                  <a:pt x="175059" y="70726"/>
                </a:lnTo>
              </a:path>
            </a:pathLst>
          </a:custGeom>
          <a:noFill/>
          <a:ln w="15875" cap="rnd">
            <a:solidFill>
              <a:srgbClr val="6E72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521363" y="4655759"/>
            <a:ext cx="59253" cy="59253"/>
          </a:xfrm>
          <a:prstGeom prst="ellipse">
            <a:avLst/>
          </a:prstGeom>
          <a:noFill/>
          <a:ln w="13494" cap="rnd">
            <a:solidFill>
              <a:srgbClr val="6E7288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58" name="Freeform 57"/>
          <p:cNvSpPr/>
          <p:nvPr/>
        </p:nvSpPr>
        <p:spPr>
          <a:xfrm>
            <a:off x="6496936" y="4797308"/>
            <a:ext cx="108109" cy="43917"/>
          </a:xfrm>
          <a:custGeom>
            <a:avLst/>
            <a:gdLst/>
            <a:ahLst/>
            <a:cxnLst/>
            <a:rect l="l" t="t" r="r" b="b"/>
            <a:pathLst>
              <a:path w="108109" h="43917">
                <a:moveTo>
                  <a:pt x="0" y="43917"/>
                </a:moveTo>
                <a:lnTo>
                  <a:pt x="2670" y="35784"/>
                </a:lnTo>
                <a:lnTo>
                  <a:pt x="6425" y="28147"/>
                </a:lnTo>
                <a:lnTo>
                  <a:pt x="11185" y="21166"/>
                </a:lnTo>
                <a:lnTo>
                  <a:pt x="16851" y="14990"/>
                </a:lnTo>
                <a:lnTo>
                  <a:pt x="23303" y="9748"/>
                </a:lnTo>
                <a:lnTo>
                  <a:pt x="30404" y="5552"/>
                </a:lnTo>
                <a:lnTo>
                  <a:pt x="38004" y="2489"/>
                </a:lnTo>
                <a:lnTo>
                  <a:pt x="45944" y="626"/>
                </a:lnTo>
                <a:lnTo>
                  <a:pt x="54054" y="0"/>
                </a:lnTo>
                <a:lnTo>
                  <a:pt x="62165" y="626"/>
                </a:lnTo>
                <a:lnTo>
                  <a:pt x="70104" y="2489"/>
                </a:lnTo>
                <a:lnTo>
                  <a:pt x="77704" y="5552"/>
                </a:lnTo>
                <a:lnTo>
                  <a:pt x="84805" y="9748"/>
                </a:lnTo>
                <a:lnTo>
                  <a:pt x="91257" y="14990"/>
                </a:lnTo>
                <a:lnTo>
                  <a:pt x="96923" y="21166"/>
                </a:lnTo>
                <a:lnTo>
                  <a:pt x="101684" y="28147"/>
                </a:lnTo>
                <a:lnTo>
                  <a:pt x="105439" y="35784"/>
                </a:lnTo>
                <a:lnTo>
                  <a:pt x="108109" y="43917"/>
                </a:lnTo>
              </a:path>
            </a:pathLst>
          </a:custGeom>
          <a:noFill/>
          <a:ln w="13494" cap="rnd">
            <a:solidFill>
              <a:srgbClr val="6E72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745208" y="4655759"/>
            <a:ext cx="59253" cy="59253"/>
          </a:xfrm>
          <a:prstGeom prst="ellipse">
            <a:avLst/>
          </a:prstGeom>
          <a:noFill/>
          <a:ln w="13494" cap="rnd">
            <a:solidFill>
              <a:srgbClr val="6E7288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60" name="Freeform 59"/>
          <p:cNvSpPr/>
          <p:nvPr/>
        </p:nvSpPr>
        <p:spPr>
          <a:xfrm>
            <a:off x="6720781" y="4797308"/>
            <a:ext cx="108109" cy="43917"/>
          </a:xfrm>
          <a:custGeom>
            <a:avLst/>
            <a:gdLst/>
            <a:ahLst/>
            <a:cxnLst/>
            <a:rect l="l" t="t" r="r" b="b"/>
            <a:pathLst>
              <a:path w="108109" h="43917">
                <a:moveTo>
                  <a:pt x="0" y="43917"/>
                </a:moveTo>
                <a:lnTo>
                  <a:pt x="2670" y="35784"/>
                </a:lnTo>
                <a:lnTo>
                  <a:pt x="6425" y="28147"/>
                </a:lnTo>
                <a:lnTo>
                  <a:pt x="11185" y="21166"/>
                </a:lnTo>
                <a:lnTo>
                  <a:pt x="16851" y="14990"/>
                </a:lnTo>
                <a:lnTo>
                  <a:pt x="23303" y="9748"/>
                </a:lnTo>
                <a:lnTo>
                  <a:pt x="30404" y="5552"/>
                </a:lnTo>
                <a:lnTo>
                  <a:pt x="38004" y="2489"/>
                </a:lnTo>
                <a:lnTo>
                  <a:pt x="45944" y="626"/>
                </a:lnTo>
                <a:lnTo>
                  <a:pt x="54054" y="0"/>
                </a:lnTo>
                <a:lnTo>
                  <a:pt x="62165" y="626"/>
                </a:lnTo>
                <a:lnTo>
                  <a:pt x="70104" y="2489"/>
                </a:lnTo>
                <a:lnTo>
                  <a:pt x="77705" y="5552"/>
                </a:lnTo>
                <a:lnTo>
                  <a:pt x="84806" y="9748"/>
                </a:lnTo>
                <a:lnTo>
                  <a:pt x="91257" y="14990"/>
                </a:lnTo>
                <a:lnTo>
                  <a:pt x="96923" y="21166"/>
                </a:lnTo>
                <a:lnTo>
                  <a:pt x="101684" y="28147"/>
                </a:lnTo>
                <a:lnTo>
                  <a:pt x="105439" y="35784"/>
                </a:lnTo>
                <a:lnTo>
                  <a:pt x="108109" y="43917"/>
                </a:lnTo>
              </a:path>
            </a:pathLst>
          </a:custGeom>
          <a:noFill/>
          <a:ln w="13494" cap="rnd">
            <a:solidFill>
              <a:srgbClr val="6E7288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0116281" y="4553712"/>
            <a:ext cx="1024128" cy="237744"/>
          </a:xfrm>
          <a:prstGeom prst="roundRect">
            <a:avLst>
              <a:gd name="adj" fmla="val 50000"/>
            </a:avLst>
          </a:prstGeom>
          <a:solidFill>
            <a:srgbClr val="6E7288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10116281" y="4605908"/>
            <a:ext cx="1024128" cy="1422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700" b="0" i="0" spc="120" cap="all">
                <a:solidFill>
                  <a:srgbClr val="FFFFFF"/>
                </a:solidFill>
                <a:latin typeface="Montserrat SemiBold"/>
              </a:rPr>
              <a:t>Mais restrito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37232" y="4590288"/>
            <a:ext cx="3069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4142E"/>
                </a:solidFill>
                <a:latin typeface="Montserrat SemiBold"/>
              </a:rPr>
              <a:t>Usuário Padrão</a:t>
            </a:r>
          </a:p>
        </p:txBody>
      </p:sp>
      <p:sp>
        <p:nvSpPr>
          <p:cNvPr id="64" name="Oval 63"/>
          <p:cNvSpPr/>
          <p:nvPr/>
        </p:nvSpPr>
        <p:spPr>
          <a:xfrm>
            <a:off x="6498320" y="5059228"/>
            <a:ext cx="69494" cy="69494"/>
          </a:xfrm>
          <a:prstGeom prst="ellipse">
            <a:avLst/>
          </a:prstGeom>
          <a:solidFill>
            <a:srgbClr val="6E7288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6686687" y="5029200"/>
            <a:ext cx="4422632" cy="44165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19" b="0" i="0">
                <a:solidFill>
                  <a:srgbClr val="3A3C55"/>
                </a:solidFill>
                <a:latin typeface="Montserrat"/>
              </a:rPr>
              <a:t>Sem acesso aos dados cadastrais nem aos usuários.</a:t>
            </a:r>
          </a:p>
        </p:txBody>
      </p:sp>
      <p:sp>
        <p:nvSpPr>
          <p:cNvPr id="66" name="Oval 65"/>
          <p:cNvSpPr/>
          <p:nvPr/>
        </p:nvSpPr>
        <p:spPr>
          <a:xfrm>
            <a:off x="6498320" y="5282647"/>
            <a:ext cx="69494" cy="69494"/>
          </a:xfrm>
          <a:prstGeom prst="ellipse">
            <a:avLst/>
          </a:prstGeom>
          <a:solidFill>
            <a:srgbClr val="6E7288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6686687" y="5252618"/>
            <a:ext cx="4422632" cy="44165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19" b="0" i="0">
                <a:solidFill>
                  <a:srgbClr val="3A3C55"/>
                </a:solidFill>
                <a:latin typeface="Montserrat"/>
              </a:rPr>
              <a:t>Suficiente para a rotina de emissão. [CONFIRMAR]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7240" y="5888736"/>
            <a:ext cx="10637489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0" i="0">
                <a:solidFill>
                  <a:srgbClr val="9A9DB0"/>
                </a:solidFill>
                <a:latin typeface="Montserrat"/>
              </a:rPr>
              <a:t>Print próprio da Nunes &amp; Lucato. [CONFIRMAR — se o perfil Padrão basta para emitir MTR na sua unidade]  O tipo pode ser trocado depois, a qualquer momento.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5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>
            <a:off x="777240" y="669340"/>
            <a:ext cx="274320" cy="0"/>
          </a:xfrm>
          <a:prstGeom prst="line">
            <a:avLst/>
          </a:prstGeom>
          <a:ln w="20320" cap="rnd">
            <a:solidFill>
              <a:srgbClr val="3432C9"/>
            </a:solidFill>
            <a:round/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1197863" y="580644"/>
            <a:ext cx="7315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90" cap="all">
                <a:solidFill>
                  <a:srgbClr val="3432C9"/>
                </a:solidFill>
                <a:latin typeface="Montserrat SemiBold"/>
              </a:rPr>
              <a:t>Rota A  ·  Conclusão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332720" cy="1371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550" b="0" i="0">
                <a:solidFill>
                  <a:srgbClr val="14142E"/>
                </a:solidFill>
                <a:latin typeface="Montserrat Light"/>
              </a:rPr>
              <a:t>Confira a lista e </a:t>
            </a:r>
            <a:r>
              <a:rPr sz="2550" b="0" i="0">
                <a:solidFill>
                  <a:srgbClr val="14142E"/>
                </a:solidFill>
                <a:latin typeface="Montserrat SemiBold"/>
              </a:rPr>
              <a:t>saiba como revogar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37489" cy="0"/>
          </a:xfrm>
          <a:prstGeom prst="line">
            <a:avLst/>
          </a:prstGeom>
          <a:ln w="9525" cap="rnd">
            <a:solidFill>
              <a:srgbClr val="DFE2F0"/>
            </a:solidFill>
            <a:round/>
          </a:ln>
          <a:effectLst/>
        </p:spPr>
      </p:cxnSp>
      <p:pic>
        <p:nvPicPr>
          <p:cNvPr id="7" name="Picture 6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345936"/>
            <a:ext cx="1133529" cy="2331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76969" y="6396228"/>
            <a:ext cx="4937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750" b="0" i="0" spc="50">
                <a:solidFill>
                  <a:srgbClr val="9A9DB0"/>
                </a:solidFill>
                <a:latin typeface="Montserrat"/>
              </a:rPr>
              <a:t>MTR Nacional  ·  Login Único Gov.br    |   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73936"/>
            <a:ext cx="10637489" cy="530352"/>
          </a:xfrm>
          <a:prstGeom prst="rect">
            <a:avLst/>
          </a:prstGeom>
          <a:solidFill>
            <a:srgbClr val="E7F6F1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7240" y="1773936"/>
            <a:ext cx="32004" cy="530352"/>
          </a:xfrm>
          <a:prstGeom prst="rect">
            <a:avLst/>
          </a:prstGeom>
          <a:solidFill>
            <a:srgbClr val="12A87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078077" y="1948586"/>
            <a:ext cx="82296" cy="82296"/>
          </a:xfrm>
          <a:prstGeom prst="ellipse">
            <a:avLst/>
          </a:prstGeom>
          <a:noFill/>
          <a:ln w="15875" cap="rnd">
            <a:solidFill>
              <a:srgbClr val="12A87B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2" name="Freeform 11"/>
          <p:cNvSpPr/>
          <p:nvPr/>
        </p:nvSpPr>
        <p:spPr>
          <a:xfrm>
            <a:off x="1050333" y="2055571"/>
            <a:ext cx="137786" cy="44731"/>
          </a:xfrm>
          <a:custGeom>
            <a:avLst/>
            <a:gdLst/>
            <a:ahLst/>
            <a:cxnLst/>
            <a:rect l="l" t="t" r="r" b="b"/>
            <a:pathLst>
              <a:path w="137786" h="44731">
                <a:moveTo>
                  <a:pt x="0" y="44731"/>
                </a:moveTo>
                <a:lnTo>
                  <a:pt x="2678" y="37921"/>
                </a:lnTo>
                <a:lnTo>
                  <a:pt x="6294" y="31428"/>
                </a:lnTo>
                <a:lnTo>
                  <a:pt x="10794" y="25344"/>
                </a:lnTo>
                <a:lnTo>
                  <a:pt x="16117" y="19755"/>
                </a:lnTo>
                <a:lnTo>
                  <a:pt x="22186" y="14741"/>
                </a:lnTo>
                <a:lnTo>
                  <a:pt x="28915" y="10371"/>
                </a:lnTo>
                <a:lnTo>
                  <a:pt x="36210" y="6709"/>
                </a:lnTo>
                <a:lnTo>
                  <a:pt x="43968" y="3805"/>
                </a:lnTo>
                <a:lnTo>
                  <a:pt x="52078" y="1701"/>
                </a:lnTo>
                <a:lnTo>
                  <a:pt x="60425" y="427"/>
                </a:lnTo>
                <a:lnTo>
                  <a:pt x="68893" y="0"/>
                </a:lnTo>
                <a:lnTo>
                  <a:pt x="77360" y="427"/>
                </a:lnTo>
                <a:lnTo>
                  <a:pt x="85708" y="1701"/>
                </a:lnTo>
                <a:lnTo>
                  <a:pt x="93818" y="3805"/>
                </a:lnTo>
                <a:lnTo>
                  <a:pt x="101575" y="6709"/>
                </a:lnTo>
                <a:lnTo>
                  <a:pt x="108870" y="10371"/>
                </a:lnTo>
                <a:lnTo>
                  <a:pt x="115599" y="14741"/>
                </a:lnTo>
                <a:lnTo>
                  <a:pt x="121668" y="19755"/>
                </a:lnTo>
                <a:lnTo>
                  <a:pt x="126991" y="25344"/>
                </a:lnTo>
                <a:lnTo>
                  <a:pt x="131491" y="31428"/>
                </a:lnTo>
                <a:lnTo>
                  <a:pt x="135107" y="37921"/>
                </a:lnTo>
                <a:lnTo>
                  <a:pt x="137786" y="44731"/>
                </a:lnTo>
              </a:path>
            </a:pathLst>
          </a:custGeom>
          <a:noFill/>
          <a:ln w="15875" cap="rnd">
            <a:solidFill>
              <a:srgbClr val="12A87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90549" y="2055571"/>
            <a:ext cx="82296" cy="60351"/>
          </a:xfrm>
          <a:custGeom>
            <a:avLst/>
            <a:gdLst/>
            <a:ahLst/>
            <a:cxnLst/>
            <a:rect l="l" t="t" r="r" b="b"/>
            <a:pathLst>
              <a:path w="82296" h="60351">
                <a:moveTo>
                  <a:pt x="0" y="32919"/>
                </a:moveTo>
                <a:lnTo>
                  <a:pt x="27432" y="60351"/>
                </a:lnTo>
                <a:lnTo>
                  <a:pt x="82296" y="0"/>
                </a:lnTo>
              </a:path>
            </a:pathLst>
          </a:custGeom>
          <a:noFill/>
          <a:ln w="18256" cap="rnd">
            <a:solidFill>
              <a:srgbClr val="12A87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72184" y="1773936"/>
            <a:ext cx="9668225" cy="53035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3A3C55"/>
                </a:solidFill>
                <a:latin typeface="Montserrat"/>
              </a:rPr>
              <a:t>Depois de salvar, a nossa responsável passa a aparecer em Usuários Cadastrados. Confira as colunas Tipo e Situação — e nos avise.</a:t>
            </a:r>
          </a:p>
        </p:txBody>
      </p:sp>
      <p:pic>
        <p:nvPicPr>
          <p:cNvPr id="15" name="Picture 14" descr="mtr_lin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50592"/>
            <a:ext cx="10637489" cy="1241040"/>
          </a:xfrm>
          <a:prstGeom prst="rect">
            <a:avLst/>
          </a:prstGeom>
          <a:effectLst/>
        </p:spPr>
      </p:pic>
      <p:sp>
        <p:nvSpPr>
          <p:cNvPr id="16" name="Rectangle 15"/>
          <p:cNvSpPr/>
          <p:nvPr/>
        </p:nvSpPr>
        <p:spPr>
          <a:xfrm>
            <a:off x="777240" y="2450592"/>
            <a:ext cx="10637489" cy="1241040"/>
          </a:xfrm>
          <a:prstGeom prst="rect">
            <a:avLst/>
          </a:prstGeom>
          <a:noFill/>
          <a:ln w="11430" cap="rnd">
            <a:solidFill>
              <a:srgbClr val="DFE2F0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747986" y="2456797"/>
            <a:ext cx="1231821" cy="924575"/>
          </a:xfrm>
          <a:prstGeom prst="rect">
            <a:avLst/>
          </a:prstGeom>
          <a:noFill/>
          <a:ln w="24130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960788" y="3362352"/>
            <a:ext cx="237744" cy="237744"/>
          </a:xfrm>
          <a:prstGeom prst="ellipse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960788" y="3362352"/>
            <a:ext cx="237744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 i="0">
                <a:solidFill>
                  <a:srgbClr val="FFFFFF"/>
                </a:solidFill>
                <a:latin typeface="Montserrat SemiBold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05262" y="2456797"/>
            <a:ext cx="615910" cy="924575"/>
          </a:xfrm>
          <a:prstGeom prst="rect">
            <a:avLst/>
          </a:prstGeom>
          <a:noFill/>
          <a:ln w="24130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0602153" y="3362352"/>
            <a:ext cx="237744" cy="237744"/>
          </a:xfrm>
          <a:prstGeom prst="ellipse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602153" y="3362352"/>
            <a:ext cx="237744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 i="0">
                <a:solidFill>
                  <a:srgbClr val="FFFFFF"/>
                </a:solidFill>
                <a:latin typeface="Montserrat SemiBold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21172" y="2456797"/>
            <a:ext cx="512726" cy="924575"/>
          </a:xfrm>
          <a:prstGeom prst="rect">
            <a:avLst/>
          </a:prstGeom>
          <a:noFill/>
          <a:ln w="24130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11114880" y="3362352"/>
            <a:ext cx="237744" cy="237744"/>
          </a:xfrm>
          <a:prstGeom prst="ellipse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1114880" y="3362352"/>
            <a:ext cx="237744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 i="0">
                <a:solidFill>
                  <a:srgbClr val="FFFFFF"/>
                </a:solidFill>
                <a:latin typeface="Montserrat SemiBold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764784"/>
            <a:ext cx="10637489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 spc="30">
                <a:solidFill>
                  <a:srgbClr val="9A9DB0"/>
                </a:solidFill>
                <a:latin typeface="Montserrat"/>
              </a:rPr>
              <a:t>Lista de usuários cadastrados: 1 coluna Tipo · 2 coluna Situação · 3 ícone de edição, em Ações.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187952"/>
            <a:ext cx="5172440" cy="1188720"/>
          </a:xfrm>
          <a:prstGeom prst="rect">
            <a:avLst/>
          </a:prstGeom>
          <a:solidFill>
            <a:srgbClr val="F4F5FC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77240" y="4187952"/>
            <a:ext cx="5172440" cy="50292"/>
          </a:xfrm>
          <a:prstGeom prst="rect">
            <a:avLst/>
          </a:prstGeom>
          <a:solidFill>
            <a:srgbClr val="12A87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1104778" y="4460260"/>
            <a:ext cx="93268" cy="93268"/>
          </a:xfrm>
          <a:prstGeom prst="ellipse">
            <a:avLst/>
          </a:prstGeom>
          <a:noFill/>
          <a:ln w="15875" cap="rnd">
            <a:solidFill>
              <a:srgbClr val="12A87B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0" name="Freeform 29"/>
          <p:cNvSpPr/>
          <p:nvPr/>
        </p:nvSpPr>
        <p:spPr>
          <a:xfrm>
            <a:off x="1073334" y="4581510"/>
            <a:ext cx="156157" cy="50694"/>
          </a:xfrm>
          <a:custGeom>
            <a:avLst/>
            <a:gdLst/>
            <a:ahLst/>
            <a:cxnLst/>
            <a:rect l="l" t="t" r="r" b="b"/>
            <a:pathLst>
              <a:path w="156157" h="50694">
                <a:moveTo>
                  <a:pt x="0" y="50694"/>
                </a:moveTo>
                <a:lnTo>
                  <a:pt x="3036" y="42976"/>
                </a:lnTo>
                <a:lnTo>
                  <a:pt x="7133" y="35618"/>
                </a:lnTo>
                <a:lnTo>
                  <a:pt x="12234" y="28723"/>
                </a:lnTo>
                <a:lnTo>
                  <a:pt x="18266" y="22389"/>
                </a:lnTo>
                <a:lnTo>
                  <a:pt x="25144" y="16706"/>
                </a:lnTo>
                <a:lnTo>
                  <a:pt x="32771" y="11754"/>
                </a:lnTo>
                <a:lnTo>
                  <a:pt x="41039" y="7603"/>
                </a:lnTo>
                <a:lnTo>
                  <a:pt x="49830" y="4312"/>
                </a:lnTo>
                <a:lnTo>
                  <a:pt x="59021" y="1928"/>
                </a:lnTo>
                <a:lnTo>
                  <a:pt x="68482" y="483"/>
                </a:lnTo>
                <a:lnTo>
                  <a:pt x="78078" y="0"/>
                </a:lnTo>
                <a:lnTo>
                  <a:pt x="87675" y="483"/>
                </a:lnTo>
                <a:lnTo>
                  <a:pt x="97136" y="1928"/>
                </a:lnTo>
                <a:lnTo>
                  <a:pt x="106327" y="4312"/>
                </a:lnTo>
                <a:lnTo>
                  <a:pt x="115118" y="7603"/>
                </a:lnTo>
                <a:lnTo>
                  <a:pt x="123386" y="11754"/>
                </a:lnTo>
                <a:lnTo>
                  <a:pt x="131013" y="16706"/>
                </a:lnTo>
                <a:lnTo>
                  <a:pt x="137891" y="22389"/>
                </a:lnTo>
                <a:lnTo>
                  <a:pt x="143923" y="28723"/>
                </a:lnTo>
                <a:lnTo>
                  <a:pt x="149024" y="35618"/>
                </a:lnTo>
                <a:lnTo>
                  <a:pt x="153121" y="42976"/>
                </a:lnTo>
                <a:lnTo>
                  <a:pt x="156157" y="50694"/>
                </a:lnTo>
              </a:path>
            </a:pathLst>
          </a:custGeom>
          <a:noFill/>
          <a:ln w="15875" cap="rnd">
            <a:solidFill>
              <a:srgbClr val="12A87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232245" y="4581510"/>
            <a:ext cx="93269" cy="68397"/>
          </a:xfrm>
          <a:custGeom>
            <a:avLst/>
            <a:gdLst/>
            <a:ahLst/>
            <a:cxnLst/>
            <a:rect l="l" t="t" r="r" b="b"/>
            <a:pathLst>
              <a:path w="93269" h="68397">
                <a:moveTo>
                  <a:pt x="0" y="37307"/>
                </a:moveTo>
                <a:lnTo>
                  <a:pt x="31090" y="68397"/>
                </a:lnTo>
                <a:lnTo>
                  <a:pt x="93269" y="0"/>
                </a:lnTo>
              </a:path>
            </a:pathLst>
          </a:custGeom>
          <a:noFill/>
          <a:ln w="18256" cap="rnd">
            <a:solidFill>
              <a:srgbClr val="12A87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53895" y="4443984"/>
            <a:ext cx="425804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40" b="0" i="0">
                <a:solidFill>
                  <a:srgbClr val="14142E"/>
                </a:solidFill>
                <a:latin typeface="Montserrat SemiBold"/>
              </a:rPr>
              <a:t>Confira antes de fechar</a:t>
            </a:r>
          </a:p>
        </p:txBody>
      </p:sp>
      <p:sp>
        <p:nvSpPr>
          <p:cNvPr id="33" name="Oval 32"/>
          <p:cNvSpPr/>
          <p:nvPr/>
        </p:nvSpPr>
        <p:spPr>
          <a:xfrm>
            <a:off x="1033271" y="4839772"/>
            <a:ext cx="69494" cy="69494"/>
          </a:xfrm>
          <a:prstGeom prst="ellipse">
            <a:avLst/>
          </a:prstGeom>
          <a:solidFill>
            <a:srgbClr val="12A87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221638" y="4809744"/>
            <a:ext cx="4422632" cy="44165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19" b="0" i="0">
                <a:solidFill>
                  <a:srgbClr val="3A3C55"/>
                </a:solidFill>
                <a:latin typeface="Montserrat"/>
              </a:rPr>
              <a:t>Situação: Ativo.</a:t>
            </a:r>
          </a:p>
        </p:txBody>
      </p:sp>
      <p:sp>
        <p:nvSpPr>
          <p:cNvPr id="35" name="Oval 34"/>
          <p:cNvSpPr/>
          <p:nvPr/>
        </p:nvSpPr>
        <p:spPr>
          <a:xfrm>
            <a:off x="1033271" y="5063191"/>
            <a:ext cx="69494" cy="69494"/>
          </a:xfrm>
          <a:prstGeom prst="ellipse">
            <a:avLst/>
          </a:prstGeom>
          <a:solidFill>
            <a:srgbClr val="12A87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221638" y="5033162"/>
            <a:ext cx="4422632" cy="44165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19" b="0" i="0">
                <a:solidFill>
                  <a:srgbClr val="3A3C55"/>
                </a:solidFill>
                <a:latin typeface="Montserrat"/>
              </a:rPr>
              <a:t>Tipo: conforme você escolheu no passo 4.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42288" y="4187952"/>
            <a:ext cx="5172440" cy="1188720"/>
          </a:xfrm>
          <a:prstGeom prst="rect">
            <a:avLst/>
          </a:prstGeom>
          <a:solidFill>
            <a:srgbClr val="F4F5FC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242288" y="4187952"/>
            <a:ext cx="5172440" cy="50292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9" name="Freeform 38"/>
          <p:cNvSpPr/>
          <p:nvPr/>
        </p:nvSpPr>
        <p:spPr>
          <a:xfrm>
            <a:off x="6548064" y="4432280"/>
            <a:ext cx="211409" cy="261152"/>
          </a:xfrm>
          <a:custGeom>
            <a:avLst/>
            <a:gdLst/>
            <a:ahLst/>
            <a:cxnLst/>
            <a:rect l="l" t="t" r="r" b="b"/>
            <a:pathLst>
              <a:path w="211409" h="261152">
                <a:moveTo>
                  <a:pt x="105705" y="0"/>
                </a:moveTo>
                <a:lnTo>
                  <a:pt x="211409" y="43525"/>
                </a:lnTo>
                <a:lnTo>
                  <a:pt x="211409" y="136794"/>
                </a:lnTo>
                <a:lnTo>
                  <a:pt x="105705" y="261152"/>
                </a:lnTo>
                <a:lnTo>
                  <a:pt x="0" y="136794"/>
                </a:lnTo>
                <a:lnTo>
                  <a:pt x="0" y="43525"/>
                </a:lnTo>
                <a:close/>
              </a:path>
            </a:pathLst>
          </a:cu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6607134" y="4519331"/>
            <a:ext cx="99487" cy="74615"/>
          </a:xfrm>
          <a:custGeom>
            <a:avLst/>
            <a:gdLst/>
            <a:ahLst/>
            <a:cxnLst/>
            <a:rect l="l" t="t" r="r" b="b"/>
            <a:pathLst>
              <a:path w="99487" h="74615">
                <a:moveTo>
                  <a:pt x="0" y="37307"/>
                </a:moveTo>
                <a:lnTo>
                  <a:pt x="34199" y="74615"/>
                </a:lnTo>
                <a:lnTo>
                  <a:pt x="99487" y="0"/>
                </a:lnTo>
              </a:path>
            </a:pathLst>
          </a:custGeom>
          <a:noFill/>
          <a:ln w="1746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18944" y="4443984"/>
            <a:ext cx="425804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40" b="0" i="0">
                <a:solidFill>
                  <a:srgbClr val="14142E"/>
                </a:solidFill>
                <a:latin typeface="Montserrat SemiBold"/>
              </a:rPr>
              <a:t>Para revogar depois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8320" y="4809744"/>
            <a:ext cx="4660376" cy="51206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19" b="0" i="0">
                <a:solidFill>
                  <a:srgbClr val="3A3C55"/>
                </a:solidFill>
                <a:latin typeface="Montserrat"/>
              </a:rPr>
              <a:t>Mesmo caminho, clique no ícone de edição e desligue a chave Ativo. Reversível a qualquer momento, sem depender de nós.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468112"/>
            <a:ext cx="10637489" cy="420624"/>
          </a:xfrm>
          <a:prstGeom prst="rect">
            <a:avLst/>
          </a:prstGeom>
          <a:solidFill>
            <a:srgbClr val="FDF4E3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77240" y="5468112"/>
            <a:ext cx="32004" cy="420624"/>
          </a:xfrm>
          <a:prstGeom prst="rect">
            <a:avLst/>
          </a:prstGeom>
          <a:solidFill>
            <a:srgbClr val="B08535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5" name="Freeform 44"/>
          <p:cNvSpPr/>
          <p:nvPr/>
        </p:nvSpPr>
        <p:spPr>
          <a:xfrm>
            <a:off x="1034186" y="5568696"/>
            <a:ext cx="235916" cy="208483"/>
          </a:xfrm>
          <a:custGeom>
            <a:avLst/>
            <a:gdLst/>
            <a:ahLst/>
            <a:cxnLst/>
            <a:rect l="l" t="t" r="r" b="b"/>
            <a:pathLst>
              <a:path w="235916" h="208483">
                <a:moveTo>
                  <a:pt x="117958" y="0"/>
                </a:moveTo>
                <a:lnTo>
                  <a:pt x="235916" y="208483"/>
                </a:lnTo>
                <a:lnTo>
                  <a:pt x="0" y="208483"/>
                </a:lnTo>
                <a:close/>
              </a:path>
            </a:pathLst>
          </a:custGeom>
          <a:noFill/>
          <a:ln w="15875" cap="rnd">
            <a:solidFill>
              <a:srgbClr val="B0853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1152144" y="5645506"/>
            <a:ext cx="0" cy="65836"/>
          </a:xfrm>
          <a:custGeom>
            <a:avLst/>
            <a:gdLst/>
            <a:ahLst/>
            <a:cxnLst/>
            <a:rect l="l" t="t" r="r" b="b"/>
            <a:pathLst>
              <a:path w="0" h="65836">
                <a:moveTo>
                  <a:pt x="0" y="0"/>
                </a:moveTo>
                <a:lnTo>
                  <a:pt x="0" y="65836"/>
                </a:lnTo>
              </a:path>
            </a:pathLst>
          </a:custGeom>
          <a:noFill/>
          <a:ln w="18256" cap="rnd">
            <a:solidFill>
              <a:srgbClr val="B0853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41856" y="5732602"/>
            <a:ext cx="20574" cy="20574"/>
          </a:xfrm>
          <a:prstGeom prst="ellipse">
            <a:avLst/>
          </a:prstGeom>
          <a:solidFill>
            <a:srgbClr val="B08535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472184" y="5468112"/>
            <a:ext cx="9668225" cy="42062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19" b="0" i="0">
                <a:solidFill>
                  <a:srgbClr val="3A3C55"/>
                </a:solidFill>
                <a:latin typeface="Montserrat"/>
              </a:rPr>
              <a:t>Regra do sistema: um Administrador só pode ser inativado se houver outro Administrador cadastrado na unidade.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5943600"/>
            <a:ext cx="10637489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0" i="0">
                <a:solidFill>
                  <a:srgbClr val="9A9DB0"/>
                </a:solidFill>
                <a:latin typeface="Montserrat"/>
              </a:rPr>
              <a:t>Print próprio da Nunes &amp; Lucato — MTR Nacional.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5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>
            <a:off x="777240" y="669340"/>
            <a:ext cx="274320" cy="0"/>
          </a:xfrm>
          <a:prstGeom prst="line">
            <a:avLst/>
          </a:prstGeom>
          <a:ln w="20320" cap="rnd">
            <a:solidFill>
              <a:srgbClr val="3432C9"/>
            </a:solidFill>
            <a:round/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1197863" y="580644"/>
            <a:ext cx="7315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90" cap="all">
                <a:solidFill>
                  <a:srgbClr val="3432C9"/>
                </a:solidFill>
                <a:latin typeface="Montserrat SemiBold"/>
              </a:rPr>
              <a:t>Rota B  ·  Passo 1 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332720" cy="1371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550" b="0" i="0">
                <a:solidFill>
                  <a:srgbClr val="14142E"/>
                </a:solidFill>
                <a:latin typeface="Montserrat Light"/>
              </a:rPr>
              <a:t>Nós entramos e o sistema avisa que </a:t>
            </a:r>
            <a:r>
              <a:rPr sz="2550" b="0" i="0">
                <a:solidFill>
                  <a:srgbClr val="14142E"/>
                </a:solidFill>
                <a:latin typeface="Montserrat SemiBold"/>
              </a:rPr>
              <a:t>falta o vínculo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37489" cy="0"/>
          </a:xfrm>
          <a:prstGeom prst="line">
            <a:avLst/>
          </a:prstGeom>
          <a:ln w="9525" cap="rnd">
            <a:solidFill>
              <a:srgbClr val="DFE2F0"/>
            </a:solidFill>
            <a:round/>
          </a:ln>
          <a:effectLst/>
        </p:spPr>
      </p:cxnSp>
      <p:pic>
        <p:nvPicPr>
          <p:cNvPr id="7" name="Picture 6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345936"/>
            <a:ext cx="1133529" cy="2331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76969" y="6396228"/>
            <a:ext cx="4937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750" b="0" i="0" spc="50">
                <a:solidFill>
                  <a:srgbClr val="9A9DB0"/>
                </a:solidFill>
                <a:latin typeface="Montserrat"/>
              </a:rPr>
              <a:t>MTR Nacional  ·  Login Único Gov.br    |   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10512"/>
            <a:ext cx="10637489" cy="548640"/>
          </a:xfrm>
          <a:prstGeom prst="rect">
            <a:avLst/>
          </a:prstGeom>
          <a:solidFill>
            <a:srgbClr val="F4F5FC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7240" y="1810512"/>
            <a:ext cx="32004" cy="548640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1" name="Freeform 10"/>
          <p:cNvSpPr/>
          <p:nvPr/>
        </p:nvSpPr>
        <p:spPr>
          <a:xfrm>
            <a:off x="1069848" y="1997050"/>
            <a:ext cx="164592" cy="202996"/>
          </a:xfrm>
          <a:custGeom>
            <a:avLst/>
            <a:gdLst/>
            <a:ahLst/>
            <a:cxnLst/>
            <a:rect l="l" t="t" r="r" b="b"/>
            <a:pathLst>
              <a:path w="164592" h="202996">
                <a:moveTo>
                  <a:pt x="0" y="0"/>
                </a:moveTo>
                <a:lnTo>
                  <a:pt x="164592" y="0"/>
                </a:lnTo>
                <a:lnTo>
                  <a:pt x="164592" y="202996"/>
                </a:lnTo>
                <a:lnTo>
                  <a:pt x="0" y="202996"/>
                </a:lnTo>
                <a:close/>
              </a:path>
            </a:pathLst>
          </a:cu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19226" y="1969618"/>
            <a:ext cx="65836" cy="49377"/>
          </a:xfrm>
          <a:custGeom>
            <a:avLst/>
            <a:gdLst/>
            <a:ahLst/>
            <a:cxnLst/>
            <a:rect l="l" t="t" r="r" b="b"/>
            <a:pathLst>
              <a:path w="65836" h="49377">
                <a:moveTo>
                  <a:pt x="0" y="0"/>
                </a:moveTo>
                <a:lnTo>
                  <a:pt x="65836" y="0"/>
                </a:lnTo>
                <a:lnTo>
                  <a:pt x="65836" y="49377"/>
                </a:lnTo>
                <a:lnTo>
                  <a:pt x="0" y="49377"/>
                </a:lnTo>
                <a:close/>
              </a:path>
            </a:pathLst>
          </a:cu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02766" y="2073859"/>
            <a:ext cx="98756" cy="0"/>
          </a:xfrm>
          <a:custGeom>
            <a:avLst/>
            <a:gdLst/>
            <a:ahLst/>
            <a:cxnLst/>
            <a:rect l="l" t="t" r="r" b="b"/>
            <a:pathLst>
              <a:path w="98756" h="0">
                <a:moveTo>
                  <a:pt x="0" y="0"/>
                </a:moveTo>
                <a:lnTo>
                  <a:pt x="98756" y="0"/>
                </a:lnTo>
              </a:path>
            </a:pathLst>
          </a:custGeom>
          <a:noFill/>
          <a:ln w="1111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02766" y="2112264"/>
            <a:ext cx="98756" cy="0"/>
          </a:xfrm>
          <a:custGeom>
            <a:avLst/>
            <a:gdLst/>
            <a:ahLst/>
            <a:cxnLst/>
            <a:rect l="l" t="t" r="r" b="b"/>
            <a:pathLst>
              <a:path w="98756" h="0">
                <a:moveTo>
                  <a:pt x="0" y="0"/>
                </a:moveTo>
                <a:lnTo>
                  <a:pt x="98756" y="0"/>
                </a:lnTo>
              </a:path>
            </a:pathLst>
          </a:custGeom>
          <a:noFill/>
          <a:ln w="1111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02766" y="2150669"/>
            <a:ext cx="98756" cy="0"/>
          </a:xfrm>
          <a:custGeom>
            <a:avLst/>
            <a:gdLst/>
            <a:ahLst/>
            <a:cxnLst/>
            <a:rect l="l" t="t" r="r" b="b"/>
            <a:pathLst>
              <a:path w="98756" h="0">
                <a:moveTo>
                  <a:pt x="0" y="0"/>
                </a:moveTo>
                <a:lnTo>
                  <a:pt x="98756" y="0"/>
                </a:lnTo>
              </a:path>
            </a:pathLst>
          </a:custGeom>
          <a:noFill/>
          <a:ln w="1111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72184" y="1810512"/>
            <a:ext cx="9668225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3A3C55"/>
                </a:solidFill>
                <a:latin typeface="Montserrat"/>
              </a:rPr>
              <a:t>Nossa responsável entra no MTR Nacional com o CPF dela. Como ela ainda não está vinculada à sua unidade, o sistema exibe o aviso e oferece o botão “Pesquisar CPF/CNPJ”.</a:t>
            </a:r>
          </a:p>
        </p:txBody>
      </p:sp>
      <p:pic>
        <p:nvPicPr>
          <p:cNvPr id="17" name="Picture 16" descr="guia_fi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697" y="2560320"/>
            <a:ext cx="4787526" cy="2212848"/>
          </a:xfrm>
          <a:prstGeom prst="rect">
            <a:avLst/>
          </a:prstGeom>
          <a:effectLst/>
        </p:spPr>
      </p:pic>
      <p:sp>
        <p:nvSpPr>
          <p:cNvPr id="18" name="Rectangle 17"/>
          <p:cNvSpPr/>
          <p:nvPr/>
        </p:nvSpPr>
        <p:spPr>
          <a:xfrm>
            <a:off x="969697" y="2560320"/>
            <a:ext cx="4787526" cy="2212848"/>
          </a:xfrm>
          <a:prstGeom prst="rect">
            <a:avLst/>
          </a:prstGeom>
          <a:noFill/>
          <a:ln w="11430" cap="rnd">
            <a:solidFill>
              <a:srgbClr val="DFE2F0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697" y="4846320"/>
            <a:ext cx="4787526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 spc="30">
                <a:solidFill>
                  <a:srgbClr val="9A9DB0"/>
                </a:solidFill>
                <a:latin typeface="Montserrat"/>
              </a:rPr>
              <a:t>Figura 6 — aviso de CPF sem vínculo com nenhum empreendimento.</a:t>
            </a:r>
          </a:p>
        </p:txBody>
      </p:sp>
      <p:pic>
        <p:nvPicPr>
          <p:cNvPr id="20" name="Picture 19" descr="guia_fig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416" y="2560320"/>
            <a:ext cx="4420184" cy="2212848"/>
          </a:xfrm>
          <a:prstGeom prst="rect">
            <a:avLst/>
          </a:prstGeom>
          <a:effectLst/>
        </p:spPr>
      </p:pic>
      <p:sp>
        <p:nvSpPr>
          <p:cNvPr id="21" name="Rectangle 20"/>
          <p:cNvSpPr/>
          <p:nvPr/>
        </p:nvSpPr>
        <p:spPr>
          <a:xfrm>
            <a:off x="6618416" y="2560320"/>
            <a:ext cx="4420184" cy="2212848"/>
          </a:xfrm>
          <a:prstGeom prst="rect">
            <a:avLst/>
          </a:prstGeom>
          <a:noFill/>
          <a:ln w="11430" cap="rnd">
            <a:solidFill>
              <a:srgbClr val="DFE2F0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618416" y="4846320"/>
            <a:ext cx="4420184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 spc="30">
                <a:solidFill>
                  <a:srgbClr val="9A9DB0"/>
                </a:solidFill>
                <a:latin typeface="Montserrat"/>
              </a:rPr>
              <a:t>Figura 7 — destaque no botão “Pesquisar CPF/CNPJ”.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75416" y="3011740"/>
            <a:ext cx="400468" cy="128345"/>
          </a:xfrm>
          <a:prstGeom prst="rect">
            <a:avLst/>
          </a:prstGeom>
          <a:noFill/>
          <a:ln w="24130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456692" y="2793016"/>
            <a:ext cx="237744" cy="237744"/>
          </a:xfrm>
          <a:prstGeom prst="ellipse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456692" y="2793016"/>
            <a:ext cx="237744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 i="0">
                <a:solidFill>
                  <a:srgbClr val="FFFFFF"/>
                </a:solidFill>
                <a:latin typeface="Montserrat SemiBold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212080"/>
            <a:ext cx="10637489" cy="475488"/>
          </a:xfrm>
          <a:prstGeom prst="rect">
            <a:avLst/>
          </a:prstGeom>
          <a:solidFill>
            <a:srgbClr val="F4F5FC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77240" y="5212080"/>
            <a:ext cx="32004" cy="475488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8" name="Freeform 27"/>
          <p:cNvSpPr/>
          <p:nvPr/>
        </p:nvSpPr>
        <p:spPr>
          <a:xfrm>
            <a:off x="1085122" y="5351069"/>
            <a:ext cx="134044" cy="159105"/>
          </a:xfrm>
          <a:custGeom>
            <a:avLst/>
            <a:gdLst/>
            <a:ahLst/>
            <a:cxnLst/>
            <a:rect l="l" t="t" r="r" b="b"/>
            <a:pathLst>
              <a:path w="134044" h="159105">
                <a:moveTo>
                  <a:pt x="0" y="46929"/>
                </a:moveTo>
                <a:lnTo>
                  <a:pt x="2381" y="41181"/>
                </a:lnTo>
                <a:lnTo>
                  <a:pt x="5254" y="35661"/>
                </a:lnTo>
                <a:lnTo>
                  <a:pt x="8597" y="30414"/>
                </a:lnTo>
                <a:lnTo>
                  <a:pt x="12385" y="25477"/>
                </a:lnTo>
                <a:lnTo>
                  <a:pt x="16589" y="20890"/>
                </a:lnTo>
                <a:lnTo>
                  <a:pt x="21176" y="16686"/>
                </a:lnTo>
                <a:lnTo>
                  <a:pt x="26113" y="12898"/>
                </a:lnTo>
                <a:lnTo>
                  <a:pt x="31360" y="9555"/>
                </a:lnTo>
                <a:lnTo>
                  <a:pt x="36880" y="6682"/>
                </a:lnTo>
                <a:lnTo>
                  <a:pt x="42628" y="4301"/>
                </a:lnTo>
                <a:lnTo>
                  <a:pt x="48562" y="2430"/>
                </a:lnTo>
                <a:lnTo>
                  <a:pt x="54637" y="1083"/>
                </a:lnTo>
                <a:lnTo>
                  <a:pt x="60806" y="271"/>
                </a:lnTo>
                <a:lnTo>
                  <a:pt x="67022" y="0"/>
                </a:lnTo>
                <a:lnTo>
                  <a:pt x="73238" y="271"/>
                </a:lnTo>
                <a:lnTo>
                  <a:pt x="79407" y="1083"/>
                </a:lnTo>
                <a:lnTo>
                  <a:pt x="85482" y="2430"/>
                </a:lnTo>
                <a:lnTo>
                  <a:pt x="91416" y="4301"/>
                </a:lnTo>
                <a:lnTo>
                  <a:pt x="97164" y="6682"/>
                </a:lnTo>
                <a:lnTo>
                  <a:pt x="102684" y="9555"/>
                </a:lnTo>
                <a:lnTo>
                  <a:pt x="107931" y="12898"/>
                </a:lnTo>
                <a:lnTo>
                  <a:pt x="112868" y="16686"/>
                </a:lnTo>
                <a:lnTo>
                  <a:pt x="117455" y="20890"/>
                </a:lnTo>
                <a:lnTo>
                  <a:pt x="121659" y="25477"/>
                </a:lnTo>
                <a:lnTo>
                  <a:pt x="125447" y="30414"/>
                </a:lnTo>
                <a:lnTo>
                  <a:pt x="128790" y="35661"/>
                </a:lnTo>
                <a:lnTo>
                  <a:pt x="131663" y="41181"/>
                </a:lnTo>
                <a:lnTo>
                  <a:pt x="134044" y="46929"/>
                </a:lnTo>
                <a:lnTo>
                  <a:pt x="94454" y="131673"/>
                </a:lnTo>
                <a:lnTo>
                  <a:pt x="94454" y="159105"/>
                </a:lnTo>
                <a:lnTo>
                  <a:pt x="39590" y="159105"/>
                </a:lnTo>
                <a:lnTo>
                  <a:pt x="39590" y="131673"/>
                </a:lnTo>
                <a:close/>
              </a:path>
            </a:pathLst>
          </a:cu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127455" y="5526634"/>
            <a:ext cx="49378" cy="0"/>
          </a:xfrm>
          <a:custGeom>
            <a:avLst/>
            <a:gdLst/>
            <a:ahLst/>
            <a:cxnLst/>
            <a:rect l="l" t="t" r="r" b="b"/>
            <a:pathLst>
              <a:path w="49378" h="0">
                <a:moveTo>
                  <a:pt x="0" y="0"/>
                </a:moveTo>
                <a:lnTo>
                  <a:pt x="49378" y="0"/>
                </a:lnTo>
              </a:path>
            </a:pathLst>
          </a:custGeom>
          <a:noFill/>
          <a:ln w="12700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135685" y="5548579"/>
            <a:ext cx="32918" cy="0"/>
          </a:xfrm>
          <a:custGeom>
            <a:avLst/>
            <a:gdLst/>
            <a:ahLst/>
            <a:cxnLst/>
            <a:rect l="l" t="t" r="r" b="b"/>
            <a:pathLst>
              <a:path w="32918" h="0">
                <a:moveTo>
                  <a:pt x="0" y="0"/>
                </a:moveTo>
                <a:lnTo>
                  <a:pt x="32918" y="0"/>
                </a:lnTo>
              </a:path>
            </a:pathLst>
          </a:custGeom>
          <a:noFill/>
          <a:ln w="12700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152144" y="5405933"/>
            <a:ext cx="0" cy="65837"/>
          </a:xfrm>
          <a:custGeom>
            <a:avLst/>
            <a:gdLst/>
            <a:ahLst/>
            <a:cxnLst/>
            <a:rect l="l" t="t" r="r" b="b"/>
            <a:pathLst>
              <a:path w="0" h="65837">
                <a:moveTo>
                  <a:pt x="0" y="65837"/>
                </a:moveTo>
                <a:lnTo>
                  <a:pt x="0" y="0"/>
                </a:lnTo>
              </a:path>
            </a:pathLst>
          </a:custGeom>
          <a:noFill/>
          <a:ln w="1111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152144" y="5403190"/>
            <a:ext cx="30175" cy="30175"/>
          </a:xfrm>
          <a:custGeom>
            <a:avLst/>
            <a:gdLst/>
            <a:ahLst/>
            <a:cxnLst/>
            <a:rect l="l" t="t" r="r" b="b"/>
            <a:pathLst>
              <a:path w="30175" h="30175">
                <a:moveTo>
                  <a:pt x="0" y="30175"/>
                </a:moveTo>
                <a:lnTo>
                  <a:pt x="30175" y="0"/>
                </a:lnTo>
              </a:path>
            </a:pathLst>
          </a:custGeom>
          <a:noFill/>
          <a:ln w="1111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121969" y="5403190"/>
            <a:ext cx="30175" cy="30175"/>
          </a:xfrm>
          <a:custGeom>
            <a:avLst/>
            <a:gdLst/>
            <a:ahLst/>
            <a:cxnLst/>
            <a:rect l="l" t="t" r="r" b="b"/>
            <a:pathLst>
              <a:path w="30175" h="30175">
                <a:moveTo>
                  <a:pt x="30175" y="30175"/>
                </a:moveTo>
                <a:lnTo>
                  <a:pt x="0" y="0"/>
                </a:lnTo>
              </a:path>
            </a:pathLst>
          </a:custGeom>
          <a:noFill/>
          <a:ln w="1111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72184" y="5212080"/>
            <a:ext cx="9668225" cy="4754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3A3C55"/>
                </a:solidFill>
                <a:latin typeface="Montserrat"/>
              </a:rPr>
              <a:t>Este passo é da nossa equipe. Se o sistema não aceitar a solicitação, confira em Configurações › Ativar solicitações usuário se a sua unidade recebe pedidos de acesso. [CONFIRMAR]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760720"/>
            <a:ext cx="10637489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0" i="0">
                <a:solidFill>
                  <a:srgbClr val="9A9DB0"/>
                </a:solidFill>
                <a:latin typeface="Montserrat"/>
              </a:rPr>
              <a:t>Figura do Guia Rápido “Login Único GOV.BR — MTR Nacional/Sinir”, MMA/SINIR, v. 1.0, 05/01/2026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5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>
            <a:off x="777240" y="669340"/>
            <a:ext cx="274320" cy="0"/>
          </a:xfrm>
          <a:prstGeom prst="line">
            <a:avLst/>
          </a:prstGeom>
          <a:ln w="20320" cap="rnd">
            <a:solidFill>
              <a:srgbClr val="3432C9"/>
            </a:solidFill>
            <a:round/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1197863" y="580644"/>
            <a:ext cx="7315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90" cap="all">
                <a:solidFill>
                  <a:srgbClr val="3432C9"/>
                </a:solidFill>
                <a:latin typeface="Montserrat SemiBold"/>
              </a:rPr>
              <a:t>Rota B  ·  Passo 2 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332720" cy="1371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550" b="0" i="0">
                <a:solidFill>
                  <a:srgbClr val="14142E"/>
                </a:solidFill>
                <a:latin typeface="Montserrat Light"/>
              </a:rPr>
              <a:t>Localizamos a sua empresa e </a:t>
            </a:r>
            <a:r>
              <a:rPr sz="2550" b="0" i="0">
                <a:solidFill>
                  <a:srgbClr val="14142E"/>
                </a:solidFill>
                <a:latin typeface="Montserrat SemiBold"/>
              </a:rPr>
              <a:t>solicitamos o acesso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37489" cy="0"/>
          </a:xfrm>
          <a:prstGeom prst="line">
            <a:avLst/>
          </a:prstGeom>
          <a:ln w="9525" cap="rnd">
            <a:solidFill>
              <a:srgbClr val="DFE2F0"/>
            </a:solidFill>
            <a:round/>
          </a:ln>
          <a:effectLst/>
        </p:spPr>
      </p:cxnSp>
      <p:pic>
        <p:nvPicPr>
          <p:cNvPr id="7" name="Picture 6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345936"/>
            <a:ext cx="1133529" cy="2331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76969" y="6396228"/>
            <a:ext cx="4937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750" b="0" i="0" spc="50">
                <a:solidFill>
                  <a:srgbClr val="9A9DB0"/>
                </a:solidFill>
                <a:latin typeface="Montserrat"/>
              </a:rPr>
              <a:t>MTR Nacional  ·  Login Único Gov.br    |   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10512"/>
            <a:ext cx="10637489" cy="548640"/>
          </a:xfrm>
          <a:prstGeom prst="rect">
            <a:avLst/>
          </a:prstGeom>
          <a:solidFill>
            <a:srgbClr val="F4F5FC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7240" y="1810512"/>
            <a:ext cx="32004" cy="548640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1" name="Freeform 10"/>
          <p:cNvSpPr/>
          <p:nvPr/>
        </p:nvSpPr>
        <p:spPr>
          <a:xfrm>
            <a:off x="1069848" y="1997050"/>
            <a:ext cx="164592" cy="202996"/>
          </a:xfrm>
          <a:custGeom>
            <a:avLst/>
            <a:gdLst/>
            <a:ahLst/>
            <a:cxnLst/>
            <a:rect l="l" t="t" r="r" b="b"/>
            <a:pathLst>
              <a:path w="164592" h="202996">
                <a:moveTo>
                  <a:pt x="0" y="0"/>
                </a:moveTo>
                <a:lnTo>
                  <a:pt x="164592" y="0"/>
                </a:lnTo>
                <a:lnTo>
                  <a:pt x="164592" y="202996"/>
                </a:lnTo>
                <a:lnTo>
                  <a:pt x="0" y="202996"/>
                </a:lnTo>
                <a:close/>
              </a:path>
            </a:pathLst>
          </a:cu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19226" y="1969618"/>
            <a:ext cx="65836" cy="49377"/>
          </a:xfrm>
          <a:custGeom>
            <a:avLst/>
            <a:gdLst/>
            <a:ahLst/>
            <a:cxnLst/>
            <a:rect l="l" t="t" r="r" b="b"/>
            <a:pathLst>
              <a:path w="65836" h="49377">
                <a:moveTo>
                  <a:pt x="0" y="0"/>
                </a:moveTo>
                <a:lnTo>
                  <a:pt x="65836" y="0"/>
                </a:lnTo>
                <a:lnTo>
                  <a:pt x="65836" y="49377"/>
                </a:lnTo>
                <a:lnTo>
                  <a:pt x="0" y="49377"/>
                </a:lnTo>
                <a:close/>
              </a:path>
            </a:pathLst>
          </a:cu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02766" y="2073859"/>
            <a:ext cx="98756" cy="0"/>
          </a:xfrm>
          <a:custGeom>
            <a:avLst/>
            <a:gdLst/>
            <a:ahLst/>
            <a:cxnLst/>
            <a:rect l="l" t="t" r="r" b="b"/>
            <a:pathLst>
              <a:path w="98756" h="0">
                <a:moveTo>
                  <a:pt x="0" y="0"/>
                </a:moveTo>
                <a:lnTo>
                  <a:pt x="98756" y="0"/>
                </a:lnTo>
              </a:path>
            </a:pathLst>
          </a:custGeom>
          <a:noFill/>
          <a:ln w="1111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02766" y="2112264"/>
            <a:ext cx="98756" cy="0"/>
          </a:xfrm>
          <a:custGeom>
            <a:avLst/>
            <a:gdLst/>
            <a:ahLst/>
            <a:cxnLst/>
            <a:rect l="l" t="t" r="r" b="b"/>
            <a:pathLst>
              <a:path w="98756" h="0">
                <a:moveTo>
                  <a:pt x="0" y="0"/>
                </a:moveTo>
                <a:lnTo>
                  <a:pt x="98756" y="0"/>
                </a:lnTo>
              </a:path>
            </a:pathLst>
          </a:custGeom>
          <a:noFill/>
          <a:ln w="1111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02766" y="2150669"/>
            <a:ext cx="98756" cy="0"/>
          </a:xfrm>
          <a:custGeom>
            <a:avLst/>
            <a:gdLst/>
            <a:ahLst/>
            <a:cxnLst/>
            <a:rect l="l" t="t" r="r" b="b"/>
            <a:pathLst>
              <a:path w="98756" h="0">
                <a:moveTo>
                  <a:pt x="0" y="0"/>
                </a:moveTo>
                <a:lnTo>
                  <a:pt x="98756" y="0"/>
                </a:lnTo>
              </a:path>
            </a:pathLst>
          </a:custGeom>
          <a:noFill/>
          <a:ln w="1111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72184" y="1810512"/>
            <a:ext cx="9668225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3A3C55"/>
                </a:solidFill>
                <a:latin typeface="Montserrat"/>
              </a:rPr>
              <a:t>Buscamos a sua empresa pelo CNPJ. Na coluna “Solicitar acesso”, selecionamos a unidade e preenchemos os dados cadastrais da nossa responsável. Ainda é tudo do nosso lado.</a:t>
            </a:r>
          </a:p>
        </p:txBody>
      </p:sp>
      <p:pic>
        <p:nvPicPr>
          <p:cNvPr id="17" name="Picture 16" descr="guia_fig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612" y="2560320"/>
            <a:ext cx="4425696" cy="2212848"/>
          </a:xfrm>
          <a:prstGeom prst="rect">
            <a:avLst/>
          </a:prstGeom>
          <a:effectLst/>
        </p:spPr>
      </p:pic>
      <p:sp>
        <p:nvSpPr>
          <p:cNvPr id="18" name="Rectangle 17"/>
          <p:cNvSpPr/>
          <p:nvPr/>
        </p:nvSpPr>
        <p:spPr>
          <a:xfrm>
            <a:off x="1150612" y="2560320"/>
            <a:ext cx="4425696" cy="2212848"/>
          </a:xfrm>
          <a:prstGeom prst="rect">
            <a:avLst/>
          </a:prstGeom>
          <a:noFill/>
          <a:ln w="11430" cap="rnd">
            <a:solidFill>
              <a:srgbClr val="DFE2F0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50612" y="4846320"/>
            <a:ext cx="4425696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 spc="30">
                <a:solidFill>
                  <a:srgbClr val="9A9DB0"/>
                </a:solidFill>
                <a:latin typeface="Montserrat"/>
              </a:rPr>
              <a:t>Figura 8 — coluna “Solicitar acesso”.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2856" y="3140086"/>
            <a:ext cx="318650" cy="1504736"/>
          </a:xfrm>
          <a:prstGeom prst="rect">
            <a:avLst/>
          </a:prstGeom>
          <a:noFill/>
          <a:ln w="24130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4592487" y="2921361"/>
            <a:ext cx="237744" cy="237744"/>
          </a:xfrm>
          <a:prstGeom prst="ellipse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592487" y="2921361"/>
            <a:ext cx="237744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 i="0">
                <a:solidFill>
                  <a:srgbClr val="FFFFFF"/>
                </a:solidFill>
                <a:latin typeface="Montserrat SemiBold"/>
              </a:rPr>
              <a:t>1</a:t>
            </a:r>
          </a:p>
        </p:txBody>
      </p:sp>
      <p:pic>
        <p:nvPicPr>
          <p:cNvPr id="23" name="Picture 22" descr="guia_fig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998" y="2560320"/>
            <a:ext cx="4785021" cy="2212848"/>
          </a:xfrm>
          <a:prstGeom prst="rect">
            <a:avLst/>
          </a:prstGeom>
          <a:effectLst/>
        </p:spPr>
      </p:pic>
      <p:sp>
        <p:nvSpPr>
          <p:cNvPr id="24" name="Rectangle 23"/>
          <p:cNvSpPr/>
          <p:nvPr/>
        </p:nvSpPr>
        <p:spPr>
          <a:xfrm>
            <a:off x="6435998" y="2560320"/>
            <a:ext cx="4785021" cy="2212848"/>
          </a:xfrm>
          <a:prstGeom prst="rect">
            <a:avLst/>
          </a:prstGeom>
          <a:noFill/>
          <a:ln w="11430" cap="rnd">
            <a:solidFill>
              <a:srgbClr val="DFE2F0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35998" y="4846320"/>
            <a:ext cx="4785021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 spc="30">
                <a:solidFill>
                  <a:srgbClr val="9A9DB0"/>
                </a:solidFill>
                <a:latin typeface="Montserrat"/>
              </a:rPr>
              <a:t>Figura 9 — janela “Dados Cadastrais” e botão “Enviar”.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83086" y="4051779"/>
            <a:ext cx="224896" cy="115068"/>
          </a:xfrm>
          <a:prstGeom prst="rect">
            <a:avLst/>
          </a:prstGeom>
          <a:noFill/>
          <a:ln w="24130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9064361" y="3833055"/>
            <a:ext cx="237744" cy="237744"/>
          </a:xfrm>
          <a:prstGeom prst="ellipse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64361" y="3833055"/>
            <a:ext cx="237744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0" i="0">
                <a:solidFill>
                  <a:srgbClr val="FFFFFF"/>
                </a:solidFill>
                <a:latin typeface="Montserrat SemiBold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5212080"/>
            <a:ext cx="10637489" cy="475488"/>
          </a:xfrm>
          <a:prstGeom prst="rect">
            <a:avLst/>
          </a:prstGeom>
          <a:solidFill>
            <a:srgbClr val="E7F6F1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777240" y="5212080"/>
            <a:ext cx="32004" cy="475488"/>
          </a:xfrm>
          <a:prstGeom prst="rect">
            <a:avLst/>
          </a:prstGeom>
          <a:solidFill>
            <a:srgbClr val="12A87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1" name="Freeform 30"/>
          <p:cNvSpPr/>
          <p:nvPr/>
        </p:nvSpPr>
        <p:spPr>
          <a:xfrm>
            <a:off x="1047902" y="5373014"/>
            <a:ext cx="197511" cy="159106"/>
          </a:xfrm>
          <a:custGeom>
            <a:avLst/>
            <a:gdLst/>
            <a:ahLst/>
            <a:cxnLst/>
            <a:rect l="l" t="t" r="r" b="b"/>
            <a:pathLst>
              <a:path w="197511" h="159106">
                <a:moveTo>
                  <a:pt x="0" y="159106"/>
                </a:moveTo>
                <a:lnTo>
                  <a:pt x="65837" y="159106"/>
                </a:lnTo>
                <a:lnTo>
                  <a:pt x="65837" y="65837"/>
                </a:lnTo>
                <a:lnTo>
                  <a:pt x="142647" y="65837"/>
                </a:lnTo>
                <a:lnTo>
                  <a:pt x="142647" y="0"/>
                </a:lnTo>
                <a:lnTo>
                  <a:pt x="197511" y="0"/>
                </a:lnTo>
              </a:path>
            </a:pathLst>
          </a:custGeom>
          <a:noFill/>
          <a:ln w="15875" cap="rnd">
            <a:solidFill>
              <a:srgbClr val="12A87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235871" y="5356272"/>
            <a:ext cx="31487" cy="33485"/>
          </a:xfrm>
          <a:custGeom>
            <a:avLst/>
            <a:gdLst/>
            <a:ahLst/>
            <a:cxnLst/>
            <a:rect l="l" t="t" r="r" b="b"/>
            <a:pathLst>
              <a:path w="31487" h="33485">
                <a:moveTo>
                  <a:pt x="31487" y="16742"/>
                </a:moveTo>
                <a:lnTo>
                  <a:pt x="0" y="33485"/>
                </a:lnTo>
                <a:lnTo>
                  <a:pt x="0" y="0"/>
                </a:lnTo>
                <a:close/>
              </a:path>
            </a:pathLst>
          </a:custGeom>
          <a:solidFill>
            <a:srgbClr val="12A87B"/>
          </a:solidFill>
          <a:ln w="9525" cap="rnd">
            <a:solidFill>
              <a:srgbClr val="12A87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8700" y="5512917"/>
            <a:ext cx="38404" cy="38404"/>
          </a:xfrm>
          <a:prstGeom prst="ellipse">
            <a:avLst/>
          </a:prstGeom>
          <a:solidFill>
            <a:srgbClr val="FFFFFF"/>
          </a:solidFill>
          <a:ln w="15875" cap="rnd">
            <a:solidFill>
              <a:srgbClr val="12A87B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472184" y="5212080"/>
            <a:ext cx="9668225" cy="4754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3A3C55"/>
                </a:solidFill>
                <a:latin typeface="Montserrat"/>
              </a:rPr>
              <a:t>Depois do envio, a solicitação fica pendente de aprovação. A sua unidade pode nos contatar por e-mail ou telefone antes de aprovar.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760720"/>
            <a:ext cx="10637489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0" i="0">
                <a:solidFill>
                  <a:srgbClr val="9A9DB0"/>
                </a:solidFill>
                <a:latin typeface="Montserrat"/>
              </a:rPr>
              <a:t>Figura do Guia Rápido “Login Único GOV.BR — MTR Nacional/Sinir”, MMA/SINIR, v. 1.0, 05/01/2026  ·  Figuras 8 e 9.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5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>
            <a:off x="777240" y="669340"/>
            <a:ext cx="274320" cy="0"/>
          </a:xfrm>
          <a:prstGeom prst="line">
            <a:avLst/>
          </a:prstGeom>
          <a:ln w="20320" cap="rnd">
            <a:solidFill>
              <a:srgbClr val="3432C9"/>
            </a:solidFill>
            <a:round/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1197863" y="580644"/>
            <a:ext cx="7315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90" cap="all">
                <a:solidFill>
                  <a:srgbClr val="3432C9"/>
                </a:solidFill>
                <a:latin typeface="Montserrat SemiBold"/>
              </a:rPr>
              <a:t>Rota B  ·  Passo 3 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332720" cy="1371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550" b="0" i="0">
                <a:solidFill>
                  <a:srgbClr val="14142E"/>
                </a:solidFill>
                <a:latin typeface="Montserrat Light"/>
              </a:rPr>
              <a:t>Seu Administrador </a:t>
            </a:r>
            <a:r>
              <a:rPr sz="2550" b="0" i="0">
                <a:solidFill>
                  <a:srgbClr val="14142E"/>
                </a:solidFill>
                <a:latin typeface="Montserrat SemiBold"/>
              </a:rPr>
              <a:t>aprova a solicitação</a:t>
            </a:r>
            <a:r>
              <a:rPr sz="2550" b="0" i="0">
                <a:solidFill>
                  <a:srgbClr val="14142E"/>
                </a:solidFill>
                <a:latin typeface="Montserrat Light"/>
              </a:rPr>
              <a:t> — e pronto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37489" cy="0"/>
          </a:xfrm>
          <a:prstGeom prst="line">
            <a:avLst/>
          </a:prstGeom>
          <a:ln w="9525" cap="rnd">
            <a:solidFill>
              <a:srgbClr val="DFE2F0"/>
            </a:solidFill>
            <a:round/>
          </a:ln>
          <a:effectLst/>
        </p:spPr>
      </p:cxnSp>
      <p:pic>
        <p:nvPicPr>
          <p:cNvPr id="7" name="Picture 6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345936"/>
            <a:ext cx="1133529" cy="2331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76969" y="6396228"/>
            <a:ext cx="4937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750" b="0" i="0" spc="50">
                <a:solidFill>
                  <a:srgbClr val="9A9DB0"/>
                </a:solidFill>
                <a:latin typeface="Montserrat"/>
              </a:rPr>
              <a:t>MTR Nacional  ·  Login Único Gov.br    |    15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828800"/>
            <a:ext cx="274320" cy="274320"/>
          </a:xfrm>
          <a:prstGeom prst="ellipse">
            <a:avLst/>
          </a:prstGeom>
          <a:solidFill>
            <a:srgbClr val="12A87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Montserrat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1" y="1847088"/>
            <a:ext cx="4498848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4142E"/>
                </a:solidFill>
                <a:latin typeface="Montserrat SemiBold"/>
              </a:rPr>
              <a:t>A solicitação chega para o Administrador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1" y="2103120"/>
            <a:ext cx="4498848" cy="4754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80" b="0" i="0">
                <a:solidFill>
                  <a:srgbClr val="6E7288"/>
                </a:solidFill>
                <a:latin typeface="Montserrat"/>
              </a:rPr>
              <a:t>É quem cadastrou a sua empresa no MTR Nacional.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2688336"/>
            <a:ext cx="274320" cy="274320"/>
          </a:xfrm>
          <a:prstGeom prst="ellipse">
            <a:avLst/>
          </a:prstGeom>
          <a:solidFill>
            <a:srgbClr val="12A87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2688336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Montserrat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1" y="2706624"/>
            <a:ext cx="4498848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4142E"/>
                </a:solidFill>
                <a:latin typeface="Montserrat SemiBold"/>
              </a:rPr>
              <a:t>Ele entra no Gerenciador de Usuários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1" y="2962656"/>
            <a:ext cx="4498848" cy="4754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80" b="0" i="0">
                <a:solidFill>
                  <a:srgbClr val="6E7288"/>
                </a:solidFill>
                <a:latin typeface="Montserrat"/>
              </a:rPr>
              <a:t>Configurações › Meus Usuários › Gerenciador de Usuários.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547872"/>
            <a:ext cx="274320" cy="274320"/>
          </a:xfrm>
          <a:prstGeom prst="ellipse">
            <a:avLst/>
          </a:prstGeom>
          <a:solidFill>
            <a:srgbClr val="12A87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3547872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Montserrat Semi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1" y="3566160"/>
            <a:ext cx="4498848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4142E"/>
                </a:solidFill>
                <a:latin typeface="Montserrat SemiBold"/>
              </a:rPr>
              <a:t>Confere o nome e o CPF da solicitante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1" y="3822191"/>
            <a:ext cx="4498848" cy="4754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80" b="0" i="0">
                <a:solidFill>
                  <a:srgbClr val="6E7288"/>
                </a:solidFill>
                <a:latin typeface="Montserrat"/>
              </a:rPr>
              <a:t>Ana Paola Nunes Lucato · 142.803.138-30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407407"/>
            <a:ext cx="274320" cy="274320"/>
          </a:xfrm>
          <a:prstGeom prst="ellipse">
            <a:avLst/>
          </a:prstGeom>
          <a:solidFill>
            <a:srgbClr val="12A87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4407407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Montserrat SemiBol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1" y="4425696"/>
            <a:ext cx="4498848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4142E"/>
                </a:solidFill>
                <a:latin typeface="Montserrat SemiBold"/>
              </a:rPr>
              <a:t>Aprova e deixa o usuário “Ativo”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1" y="4681728"/>
            <a:ext cx="4498848" cy="4754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80" b="0" i="0">
                <a:solidFill>
                  <a:srgbClr val="6E7288"/>
                </a:solidFill>
                <a:latin typeface="Montserrat"/>
              </a:rPr>
              <a:t>O acesso é liberado e a emissão volta ao normal.</a:t>
            </a:r>
          </a:p>
        </p:txBody>
      </p:sp>
      <p:pic>
        <p:nvPicPr>
          <p:cNvPr id="25" name="Picture 24" descr="guia_fig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47088"/>
            <a:ext cx="5056632" cy="2189730"/>
          </a:xfrm>
          <a:prstGeom prst="rect">
            <a:avLst/>
          </a:prstGeom>
          <a:effectLst/>
        </p:spPr>
      </p:pic>
      <p:sp>
        <p:nvSpPr>
          <p:cNvPr id="26" name="Rectangle 25"/>
          <p:cNvSpPr/>
          <p:nvPr/>
        </p:nvSpPr>
        <p:spPr>
          <a:xfrm>
            <a:off x="6355080" y="1847088"/>
            <a:ext cx="5056632" cy="2189730"/>
          </a:xfrm>
          <a:prstGeom prst="rect">
            <a:avLst/>
          </a:prstGeom>
          <a:noFill/>
          <a:ln w="11430" cap="rnd">
            <a:solidFill>
              <a:srgbClr val="DFE2F0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355080" y="4109970"/>
            <a:ext cx="5056632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 spc="30">
                <a:solidFill>
                  <a:srgbClr val="9A9DB0"/>
                </a:solidFill>
                <a:latin typeface="Montserrat"/>
              </a:rPr>
              <a:t>Figura 10 — confirmação de que a solicitação foi enviada e aguarda aprovação.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4626864"/>
            <a:ext cx="5056632" cy="512064"/>
          </a:xfrm>
          <a:prstGeom prst="rect">
            <a:avLst/>
          </a:prstGeom>
          <a:solidFill>
            <a:srgbClr val="F4F5FC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355080" y="4626864"/>
            <a:ext cx="32004" cy="512064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0" name="Freeform 29"/>
          <p:cNvSpPr/>
          <p:nvPr/>
        </p:nvSpPr>
        <p:spPr>
          <a:xfrm>
            <a:off x="6662962" y="4784141"/>
            <a:ext cx="134044" cy="159105"/>
          </a:xfrm>
          <a:custGeom>
            <a:avLst/>
            <a:gdLst/>
            <a:ahLst/>
            <a:cxnLst/>
            <a:rect l="l" t="t" r="r" b="b"/>
            <a:pathLst>
              <a:path w="134044" h="159105">
                <a:moveTo>
                  <a:pt x="0" y="46929"/>
                </a:moveTo>
                <a:lnTo>
                  <a:pt x="2381" y="41181"/>
                </a:lnTo>
                <a:lnTo>
                  <a:pt x="5254" y="35661"/>
                </a:lnTo>
                <a:lnTo>
                  <a:pt x="8597" y="30414"/>
                </a:lnTo>
                <a:lnTo>
                  <a:pt x="12385" y="25477"/>
                </a:lnTo>
                <a:lnTo>
                  <a:pt x="16589" y="20890"/>
                </a:lnTo>
                <a:lnTo>
                  <a:pt x="21176" y="16686"/>
                </a:lnTo>
                <a:lnTo>
                  <a:pt x="26113" y="12898"/>
                </a:lnTo>
                <a:lnTo>
                  <a:pt x="31360" y="9555"/>
                </a:lnTo>
                <a:lnTo>
                  <a:pt x="36880" y="6682"/>
                </a:lnTo>
                <a:lnTo>
                  <a:pt x="42628" y="4301"/>
                </a:lnTo>
                <a:lnTo>
                  <a:pt x="48562" y="2430"/>
                </a:lnTo>
                <a:lnTo>
                  <a:pt x="54637" y="1083"/>
                </a:lnTo>
                <a:lnTo>
                  <a:pt x="60806" y="271"/>
                </a:lnTo>
                <a:lnTo>
                  <a:pt x="67022" y="0"/>
                </a:lnTo>
                <a:lnTo>
                  <a:pt x="73238" y="271"/>
                </a:lnTo>
                <a:lnTo>
                  <a:pt x="79407" y="1083"/>
                </a:lnTo>
                <a:lnTo>
                  <a:pt x="85482" y="2430"/>
                </a:lnTo>
                <a:lnTo>
                  <a:pt x="91416" y="4301"/>
                </a:lnTo>
                <a:lnTo>
                  <a:pt x="97164" y="6682"/>
                </a:lnTo>
                <a:lnTo>
                  <a:pt x="102684" y="9555"/>
                </a:lnTo>
                <a:lnTo>
                  <a:pt x="107931" y="12898"/>
                </a:lnTo>
                <a:lnTo>
                  <a:pt x="112868" y="16686"/>
                </a:lnTo>
                <a:lnTo>
                  <a:pt x="117455" y="20890"/>
                </a:lnTo>
                <a:lnTo>
                  <a:pt x="121659" y="25477"/>
                </a:lnTo>
                <a:lnTo>
                  <a:pt x="125447" y="30414"/>
                </a:lnTo>
                <a:lnTo>
                  <a:pt x="128790" y="35661"/>
                </a:lnTo>
                <a:lnTo>
                  <a:pt x="131663" y="41181"/>
                </a:lnTo>
                <a:lnTo>
                  <a:pt x="134044" y="46929"/>
                </a:lnTo>
                <a:lnTo>
                  <a:pt x="94454" y="131673"/>
                </a:lnTo>
                <a:lnTo>
                  <a:pt x="94454" y="159105"/>
                </a:lnTo>
                <a:lnTo>
                  <a:pt x="39590" y="159105"/>
                </a:lnTo>
                <a:lnTo>
                  <a:pt x="39590" y="131673"/>
                </a:lnTo>
                <a:close/>
              </a:path>
            </a:pathLst>
          </a:cu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6705295" y="4959706"/>
            <a:ext cx="49378" cy="0"/>
          </a:xfrm>
          <a:custGeom>
            <a:avLst/>
            <a:gdLst/>
            <a:ahLst/>
            <a:cxnLst/>
            <a:rect l="l" t="t" r="r" b="b"/>
            <a:pathLst>
              <a:path w="49378" h="0">
                <a:moveTo>
                  <a:pt x="0" y="0"/>
                </a:moveTo>
                <a:lnTo>
                  <a:pt x="49378" y="0"/>
                </a:lnTo>
              </a:path>
            </a:pathLst>
          </a:custGeom>
          <a:noFill/>
          <a:ln w="12700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6713525" y="4981651"/>
            <a:ext cx="32918" cy="0"/>
          </a:xfrm>
          <a:custGeom>
            <a:avLst/>
            <a:gdLst/>
            <a:ahLst/>
            <a:cxnLst/>
            <a:rect l="l" t="t" r="r" b="b"/>
            <a:pathLst>
              <a:path w="32918" h="0">
                <a:moveTo>
                  <a:pt x="0" y="0"/>
                </a:moveTo>
                <a:lnTo>
                  <a:pt x="32918" y="0"/>
                </a:lnTo>
              </a:path>
            </a:pathLst>
          </a:custGeom>
          <a:noFill/>
          <a:ln w="12700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6729984" y="4839005"/>
            <a:ext cx="0" cy="65837"/>
          </a:xfrm>
          <a:custGeom>
            <a:avLst/>
            <a:gdLst/>
            <a:ahLst/>
            <a:cxnLst/>
            <a:rect l="l" t="t" r="r" b="b"/>
            <a:pathLst>
              <a:path w="0" h="65837">
                <a:moveTo>
                  <a:pt x="0" y="65837"/>
                </a:moveTo>
                <a:lnTo>
                  <a:pt x="0" y="0"/>
                </a:lnTo>
              </a:path>
            </a:pathLst>
          </a:custGeom>
          <a:noFill/>
          <a:ln w="1111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6729984" y="4836262"/>
            <a:ext cx="30175" cy="30175"/>
          </a:xfrm>
          <a:custGeom>
            <a:avLst/>
            <a:gdLst/>
            <a:ahLst/>
            <a:cxnLst/>
            <a:rect l="l" t="t" r="r" b="b"/>
            <a:pathLst>
              <a:path w="30175" h="30175">
                <a:moveTo>
                  <a:pt x="0" y="30175"/>
                </a:moveTo>
                <a:lnTo>
                  <a:pt x="30175" y="0"/>
                </a:lnTo>
              </a:path>
            </a:pathLst>
          </a:custGeom>
          <a:noFill/>
          <a:ln w="1111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699809" y="4836262"/>
            <a:ext cx="30175" cy="30175"/>
          </a:xfrm>
          <a:custGeom>
            <a:avLst/>
            <a:gdLst/>
            <a:ahLst/>
            <a:cxnLst/>
            <a:rect l="l" t="t" r="r" b="b"/>
            <a:pathLst>
              <a:path w="30175" h="30175">
                <a:moveTo>
                  <a:pt x="30175" y="30175"/>
                </a:moveTo>
                <a:lnTo>
                  <a:pt x="0" y="0"/>
                </a:lnTo>
              </a:path>
            </a:pathLst>
          </a:custGeom>
          <a:noFill/>
          <a:ln w="1111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50024" y="4626864"/>
            <a:ext cx="4087368" cy="51206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19" b="0" i="0">
                <a:solidFill>
                  <a:srgbClr val="3A3C55"/>
                </a:solidFill>
                <a:latin typeface="Montserrat"/>
              </a:rPr>
              <a:t>Se preferir, o Administrador pode simplesmente nos cadastrar direto, pela Rota A (slides 8 a 12). O resultado é o mesmo.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394960"/>
            <a:ext cx="10637489" cy="512064"/>
          </a:xfrm>
          <a:prstGeom prst="rect">
            <a:avLst/>
          </a:prstGeom>
          <a:solidFill>
            <a:srgbClr val="E7F6F1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777240" y="5394960"/>
            <a:ext cx="32004" cy="512064"/>
          </a:xfrm>
          <a:prstGeom prst="rect">
            <a:avLst/>
          </a:prstGeom>
          <a:solidFill>
            <a:srgbClr val="12A87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1078077" y="5560466"/>
            <a:ext cx="82296" cy="82296"/>
          </a:xfrm>
          <a:prstGeom prst="ellipse">
            <a:avLst/>
          </a:prstGeom>
          <a:noFill/>
          <a:ln w="15875" cap="rnd">
            <a:solidFill>
              <a:srgbClr val="12A87B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0" name="Freeform 39"/>
          <p:cNvSpPr/>
          <p:nvPr/>
        </p:nvSpPr>
        <p:spPr>
          <a:xfrm>
            <a:off x="1050333" y="5667451"/>
            <a:ext cx="137786" cy="44731"/>
          </a:xfrm>
          <a:custGeom>
            <a:avLst/>
            <a:gdLst/>
            <a:ahLst/>
            <a:cxnLst/>
            <a:rect l="l" t="t" r="r" b="b"/>
            <a:pathLst>
              <a:path w="137786" h="44731">
                <a:moveTo>
                  <a:pt x="0" y="44731"/>
                </a:moveTo>
                <a:lnTo>
                  <a:pt x="2678" y="37921"/>
                </a:lnTo>
                <a:lnTo>
                  <a:pt x="6294" y="31428"/>
                </a:lnTo>
                <a:lnTo>
                  <a:pt x="10794" y="25344"/>
                </a:lnTo>
                <a:lnTo>
                  <a:pt x="16117" y="19755"/>
                </a:lnTo>
                <a:lnTo>
                  <a:pt x="22186" y="14741"/>
                </a:lnTo>
                <a:lnTo>
                  <a:pt x="28915" y="10371"/>
                </a:lnTo>
                <a:lnTo>
                  <a:pt x="36210" y="6709"/>
                </a:lnTo>
                <a:lnTo>
                  <a:pt x="43968" y="3805"/>
                </a:lnTo>
                <a:lnTo>
                  <a:pt x="52078" y="1701"/>
                </a:lnTo>
                <a:lnTo>
                  <a:pt x="60425" y="427"/>
                </a:lnTo>
                <a:lnTo>
                  <a:pt x="68893" y="0"/>
                </a:lnTo>
                <a:lnTo>
                  <a:pt x="77360" y="427"/>
                </a:lnTo>
                <a:lnTo>
                  <a:pt x="85708" y="1701"/>
                </a:lnTo>
                <a:lnTo>
                  <a:pt x="93818" y="3805"/>
                </a:lnTo>
                <a:lnTo>
                  <a:pt x="101575" y="6709"/>
                </a:lnTo>
                <a:lnTo>
                  <a:pt x="108870" y="10371"/>
                </a:lnTo>
                <a:lnTo>
                  <a:pt x="115599" y="14741"/>
                </a:lnTo>
                <a:lnTo>
                  <a:pt x="121668" y="19755"/>
                </a:lnTo>
                <a:lnTo>
                  <a:pt x="126991" y="25344"/>
                </a:lnTo>
                <a:lnTo>
                  <a:pt x="131491" y="31428"/>
                </a:lnTo>
                <a:lnTo>
                  <a:pt x="135107" y="37921"/>
                </a:lnTo>
                <a:lnTo>
                  <a:pt x="137786" y="44731"/>
                </a:lnTo>
              </a:path>
            </a:pathLst>
          </a:custGeom>
          <a:noFill/>
          <a:ln w="15875" cap="rnd">
            <a:solidFill>
              <a:srgbClr val="12A87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1190549" y="5667451"/>
            <a:ext cx="82296" cy="60351"/>
          </a:xfrm>
          <a:custGeom>
            <a:avLst/>
            <a:gdLst/>
            <a:ahLst/>
            <a:cxnLst/>
            <a:rect l="l" t="t" r="r" b="b"/>
            <a:pathLst>
              <a:path w="82296" h="60351">
                <a:moveTo>
                  <a:pt x="0" y="32919"/>
                </a:moveTo>
                <a:lnTo>
                  <a:pt x="27432" y="60351"/>
                </a:lnTo>
                <a:lnTo>
                  <a:pt x="82296" y="0"/>
                </a:lnTo>
              </a:path>
            </a:pathLst>
          </a:custGeom>
          <a:noFill/>
          <a:ln w="18256" cap="rnd">
            <a:solidFill>
              <a:srgbClr val="12A87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72184" y="5394960"/>
            <a:ext cx="9668225" cy="51206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3A3C55"/>
                </a:solidFill>
                <a:latin typeface="Montserrat"/>
              </a:rPr>
              <a:t>Aprovado o acesso, nos avise: testamos na hora e retomamos a emissão dos seus MTRs.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943600"/>
            <a:ext cx="10637489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0" i="0">
                <a:solidFill>
                  <a:srgbClr val="9A9DB0"/>
                </a:solidFill>
                <a:latin typeface="Montserrat"/>
              </a:rPr>
              <a:t>Figura do Guia Rápido “Login Único GOV.BR — MTR Nacional/Sinir”, MMA/SINIR, v. 1.0, 05/01/2026  ·  Figura 10.  [PRINT PENDENTE — tela de aprovação da solicitação]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5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>
            <a:off x="777240" y="669340"/>
            <a:ext cx="274320" cy="0"/>
          </a:xfrm>
          <a:prstGeom prst="line">
            <a:avLst/>
          </a:prstGeom>
          <a:ln w="20320" cap="rnd">
            <a:solidFill>
              <a:srgbClr val="3432C9"/>
            </a:solidFill>
            <a:round/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1197863" y="580644"/>
            <a:ext cx="7315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90" cap="all">
                <a:solidFill>
                  <a:srgbClr val="3432C9"/>
                </a:solidFill>
                <a:latin typeface="Montserrat SemiBold"/>
              </a:rPr>
              <a:t>Caso especial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332720" cy="1371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550" b="0" i="0">
                <a:solidFill>
                  <a:srgbClr val="14142E"/>
                </a:solidFill>
                <a:latin typeface="Montserrat Light"/>
              </a:rPr>
              <a:t>Se a sua empresa </a:t>
            </a:r>
            <a:r>
              <a:rPr sz="2550" b="0" i="0">
                <a:solidFill>
                  <a:srgbClr val="14142E"/>
                </a:solidFill>
                <a:latin typeface="Montserrat SemiBold"/>
              </a:rPr>
              <a:t>ainda não existe no MTR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37489" cy="0"/>
          </a:xfrm>
          <a:prstGeom prst="line">
            <a:avLst/>
          </a:prstGeom>
          <a:ln w="9525" cap="rnd">
            <a:solidFill>
              <a:srgbClr val="DFE2F0"/>
            </a:solidFill>
            <a:round/>
          </a:ln>
          <a:effectLst/>
        </p:spPr>
      </p:cxnSp>
      <p:pic>
        <p:nvPicPr>
          <p:cNvPr id="7" name="Picture 6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345936"/>
            <a:ext cx="1133529" cy="2331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76969" y="6396228"/>
            <a:ext cx="4937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750" b="0" i="0" spc="50">
                <a:solidFill>
                  <a:srgbClr val="9A9DB0"/>
                </a:solidFill>
                <a:latin typeface="Montserrat"/>
              </a:rPr>
              <a:t>MTR Nacional  ·  Login Único Gov.br    |    16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10512"/>
            <a:ext cx="10637489" cy="548640"/>
          </a:xfrm>
          <a:prstGeom prst="rect">
            <a:avLst/>
          </a:prstGeom>
          <a:solidFill>
            <a:srgbClr val="FDF4E3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7240" y="1810512"/>
            <a:ext cx="32004" cy="548640"/>
          </a:xfrm>
          <a:prstGeom prst="rect">
            <a:avLst/>
          </a:prstGeom>
          <a:solidFill>
            <a:srgbClr val="B08535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1" name="Freeform 10"/>
          <p:cNvSpPr/>
          <p:nvPr/>
        </p:nvSpPr>
        <p:spPr>
          <a:xfrm>
            <a:off x="1034186" y="1975104"/>
            <a:ext cx="235916" cy="208483"/>
          </a:xfrm>
          <a:custGeom>
            <a:avLst/>
            <a:gdLst/>
            <a:ahLst/>
            <a:cxnLst/>
            <a:rect l="l" t="t" r="r" b="b"/>
            <a:pathLst>
              <a:path w="235916" h="208483">
                <a:moveTo>
                  <a:pt x="117958" y="0"/>
                </a:moveTo>
                <a:lnTo>
                  <a:pt x="235916" y="208483"/>
                </a:lnTo>
                <a:lnTo>
                  <a:pt x="0" y="208483"/>
                </a:lnTo>
                <a:close/>
              </a:path>
            </a:pathLst>
          </a:custGeom>
          <a:noFill/>
          <a:ln w="15875" cap="rnd">
            <a:solidFill>
              <a:srgbClr val="B0853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52144" y="2051914"/>
            <a:ext cx="0" cy="65836"/>
          </a:xfrm>
          <a:custGeom>
            <a:avLst/>
            <a:gdLst/>
            <a:ahLst/>
            <a:cxnLst/>
            <a:rect l="l" t="t" r="r" b="b"/>
            <a:pathLst>
              <a:path w="0" h="65836">
                <a:moveTo>
                  <a:pt x="0" y="0"/>
                </a:moveTo>
                <a:lnTo>
                  <a:pt x="0" y="65836"/>
                </a:lnTo>
              </a:path>
            </a:pathLst>
          </a:custGeom>
          <a:noFill/>
          <a:ln w="18256" cap="rnd">
            <a:solidFill>
              <a:srgbClr val="B08535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1856" y="2139010"/>
            <a:ext cx="20574" cy="20574"/>
          </a:xfrm>
          <a:prstGeom prst="ellipse">
            <a:avLst/>
          </a:prstGeom>
          <a:solidFill>
            <a:srgbClr val="B08535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472184" y="1810512"/>
            <a:ext cx="9668225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3A3C55"/>
                </a:solidFill>
                <a:latin typeface="Montserrat"/>
              </a:rPr>
              <a:t>Se a busca não encontrar o CNPJ, o empreendimento ainda não está cadastrado. O próprio sistema oferece o cadastro — e quem o solicita passa a ser o Administrador da unidade.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" y="2478024"/>
            <a:ext cx="274320" cy="274320"/>
          </a:xfrm>
          <a:prstGeom prst="ellipse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86384" y="2478024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Montserrat SemiBold"/>
              </a:rPr>
              <a:t>1</a:t>
            </a:r>
          </a:p>
        </p:txBody>
      </p:sp>
      <p:pic>
        <p:nvPicPr>
          <p:cNvPr id="17" name="Picture 16" descr="guia_fig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816352"/>
            <a:ext cx="3392424" cy="1610523"/>
          </a:xfrm>
          <a:prstGeom prst="rect">
            <a:avLst/>
          </a:prstGeom>
          <a:effectLst/>
        </p:spPr>
      </p:pic>
      <p:sp>
        <p:nvSpPr>
          <p:cNvPr id="18" name="Rectangle 17"/>
          <p:cNvSpPr/>
          <p:nvPr/>
        </p:nvSpPr>
        <p:spPr>
          <a:xfrm>
            <a:off x="777240" y="2816352"/>
            <a:ext cx="3392424" cy="1610523"/>
          </a:xfrm>
          <a:prstGeom prst="rect">
            <a:avLst/>
          </a:prstGeom>
          <a:noFill/>
          <a:ln w="11430" cap="rnd">
            <a:solidFill>
              <a:srgbClr val="DFE2F0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4626864"/>
            <a:ext cx="3392424" cy="51206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80" b="0" i="0">
                <a:solidFill>
                  <a:srgbClr val="3A3C55"/>
                </a:solidFill>
                <a:latin typeface="Montserrat"/>
              </a:rPr>
              <a:t>Informe o CPF ou CNPJ na janela “Pesquisar Empreendimento”.</a:t>
            </a:r>
          </a:p>
        </p:txBody>
      </p:sp>
      <p:sp>
        <p:nvSpPr>
          <p:cNvPr id="20" name="Oval 19"/>
          <p:cNvSpPr/>
          <p:nvPr/>
        </p:nvSpPr>
        <p:spPr>
          <a:xfrm>
            <a:off x="4416551" y="2478024"/>
            <a:ext cx="274320" cy="274320"/>
          </a:xfrm>
          <a:prstGeom prst="ellipse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416551" y="2478024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Montserrat SemiBold"/>
              </a:rPr>
              <a:t>2</a:t>
            </a:r>
          </a:p>
        </p:txBody>
      </p:sp>
      <p:pic>
        <p:nvPicPr>
          <p:cNvPr id="22" name="Picture 21" descr="guia_fig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7" y="2816352"/>
            <a:ext cx="3392424" cy="1608385"/>
          </a:xfrm>
          <a:prstGeom prst="rect">
            <a:avLst/>
          </a:prstGeom>
          <a:effectLst/>
        </p:spPr>
      </p:pic>
      <p:sp>
        <p:nvSpPr>
          <p:cNvPr id="23" name="Rectangle 22"/>
          <p:cNvSpPr/>
          <p:nvPr/>
        </p:nvSpPr>
        <p:spPr>
          <a:xfrm>
            <a:off x="4407407" y="2816352"/>
            <a:ext cx="3392424" cy="1608385"/>
          </a:xfrm>
          <a:prstGeom prst="rect">
            <a:avLst/>
          </a:prstGeom>
          <a:noFill/>
          <a:ln w="11430" cap="rnd">
            <a:solidFill>
              <a:srgbClr val="DFE2F0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897360" y="3707236"/>
            <a:ext cx="408447" cy="71894"/>
          </a:xfrm>
          <a:prstGeom prst="rect">
            <a:avLst/>
          </a:prstGeom>
          <a:noFill/>
          <a:ln w="24130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407407" y="4626864"/>
            <a:ext cx="3392424" cy="51206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80" b="0" i="0">
                <a:solidFill>
                  <a:srgbClr val="3A3C55"/>
                </a:solidFill>
                <a:latin typeface="Montserrat"/>
              </a:rPr>
              <a:t>Não localizado: clique em “Cadastrar Empreendimento”.</a:t>
            </a:r>
          </a:p>
        </p:txBody>
      </p:sp>
      <p:sp>
        <p:nvSpPr>
          <p:cNvPr id="26" name="Oval 25"/>
          <p:cNvSpPr/>
          <p:nvPr/>
        </p:nvSpPr>
        <p:spPr>
          <a:xfrm>
            <a:off x="8046719" y="2478024"/>
            <a:ext cx="274320" cy="274320"/>
          </a:xfrm>
          <a:prstGeom prst="ellipse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046719" y="2478024"/>
            <a:ext cx="274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FFFFFF"/>
                </a:solidFill>
                <a:latin typeface="Montserrat SemiBold"/>
              </a:rPr>
              <a:t>3</a:t>
            </a:r>
          </a:p>
        </p:txBody>
      </p:sp>
      <p:pic>
        <p:nvPicPr>
          <p:cNvPr id="28" name="Picture 27" descr="guia_fig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6313" y="2816352"/>
            <a:ext cx="1714948" cy="1700784"/>
          </a:xfrm>
          <a:prstGeom prst="rect">
            <a:avLst/>
          </a:prstGeom>
          <a:effectLst/>
        </p:spPr>
      </p:pic>
      <p:sp>
        <p:nvSpPr>
          <p:cNvPr id="29" name="Rectangle 28"/>
          <p:cNvSpPr/>
          <p:nvPr/>
        </p:nvSpPr>
        <p:spPr>
          <a:xfrm>
            <a:off x="8876313" y="2816352"/>
            <a:ext cx="1714948" cy="1700784"/>
          </a:xfrm>
          <a:prstGeom prst="rect">
            <a:avLst/>
          </a:prstGeom>
          <a:noFill/>
          <a:ln w="11430" cap="rnd">
            <a:solidFill>
              <a:srgbClr val="DFE2F0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9612026" y="4296034"/>
            <a:ext cx="154345" cy="45921"/>
          </a:xfrm>
          <a:prstGeom prst="rect">
            <a:avLst/>
          </a:prstGeom>
          <a:noFill/>
          <a:ln w="24130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037575" y="4626864"/>
            <a:ext cx="3392424" cy="51206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80" b="0" i="0">
                <a:solidFill>
                  <a:srgbClr val="3A3C55"/>
                </a:solidFill>
                <a:latin typeface="Montserrat"/>
              </a:rPr>
              <a:t>Preencha o formulário e clique em “Solicitar Acesso”.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266944"/>
            <a:ext cx="10637489" cy="566928"/>
          </a:xfrm>
          <a:prstGeom prst="rect">
            <a:avLst/>
          </a:prstGeom>
          <a:solidFill>
            <a:srgbClr val="F4F5FC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77240" y="5266944"/>
            <a:ext cx="32004" cy="566928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4" name="Freeform 33"/>
          <p:cNvSpPr/>
          <p:nvPr/>
        </p:nvSpPr>
        <p:spPr>
          <a:xfrm>
            <a:off x="1058875" y="5435194"/>
            <a:ext cx="186538" cy="230428"/>
          </a:xfrm>
          <a:custGeom>
            <a:avLst/>
            <a:gdLst/>
            <a:ahLst/>
            <a:cxnLst/>
            <a:rect l="l" t="t" r="r" b="b"/>
            <a:pathLst>
              <a:path w="186538" h="230428">
                <a:moveTo>
                  <a:pt x="93269" y="0"/>
                </a:moveTo>
                <a:lnTo>
                  <a:pt x="186538" y="38404"/>
                </a:lnTo>
                <a:lnTo>
                  <a:pt x="186538" y="120700"/>
                </a:lnTo>
                <a:lnTo>
                  <a:pt x="93269" y="230428"/>
                </a:lnTo>
                <a:lnTo>
                  <a:pt x="0" y="120700"/>
                </a:lnTo>
                <a:lnTo>
                  <a:pt x="0" y="38404"/>
                </a:lnTo>
                <a:close/>
              </a:path>
            </a:pathLst>
          </a:cu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1110996" y="5512003"/>
            <a:ext cx="87782" cy="65837"/>
          </a:xfrm>
          <a:custGeom>
            <a:avLst/>
            <a:gdLst/>
            <a:ahLst/>
            <a:cxnLst/>
            <a:rect l="l" t="t" r="r" b="b"/>
            <a:pathLst>
              <a:path w="87782" h="65837">
                <a:moveTo>
                  <a:pt x="0" y="32919"/>
                </a:moveTo>
                <a:lnTo>
                  <a:pt x="30175" y="65837"/>
                </a:lnTo>
                <a:lnTo>
                  <a:pt x="87782" y="0"/>
                </a:lnTo>
              </a:path>
            </a:pathLst>
          </a:custGeom>
          <a:noFill/>
          <a:ln w="17462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72184" y="5266944"/>
            <a:ext cx="9668225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3A3C55"/>
                </a:solidFill>
                <a:latin typeface="Montserrat"/>
              </a:rPr>
              <a:t>Atenção: a pessoa que solicitar o cadastro fica responsável pela gestão de acessos e pela aprovação dos novos usuários da unidade. Escolha bem quem fará isso.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961888"/>
            <a:ext cx="10637489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0" i="0">
                <a:solidFill>
                  <a:srgbClr val="9A9DB0"/>
                </a:solidFill>
                <a:latin typeface="Montserrat"/>
              </a:rPr>
              <a:t>Figura do Guia Rápido “Login Único GOV.BR — MTR Nacional/Sinir”, MMA/SINIR, v. 1.0, 05/01/2026  ·  Figuras 12, 13 e 15.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5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>
            <a:off x="777240" y="669340"/>
            <a:ext cx="274320" cy="0"/>
          </a:xfrm>
          <a:prstGeom prst="line">
            <a:avLst/>
          </a:prstGeom>
          <a:ln w="20320" cap="rnd">
            <a:solidFill>
              <a:srgbClr val="3432C9"/>
            </a:solidFill>
            <a:round/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1197863" y="580644"/>
            <a:ext cx="7315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90" cap="all">
                <a:solidFill>
                  <a:srgbClr val="3432C9"/>
                </a:solidFill>
                <a:latin typeface="Montserrat SemiBold"/>
              </a:rPr>
              <a:t>Alternativa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332720" cy="1371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550" b="0" i="0">
                <a:solidFill>
                  <a:srgbClr val="14142E"/>
                </a:solidFill>
                <a:latin typeface="Montserrat Light"/>
              </a:rPr>
              <a:t>Se preferir </a:t>
            </a:r>
            <a:r>
              <a:rPr sz="2550" b="0" i="0">
                <a:solidFill>
                  <a:srgbClr val="14142E"/>
                </a:solidFill>
                <a:latin typeface="Montserrat SemiBold"/>
              </a:rPr>
              <a:t>repassar o login e a senha Gov.br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37489" cy="0"/>
          </a:xfrm>
          <a:prstGeom prst="line">
            <a:avLst/>
          </a:prstGeom>
          <a:ln w="9525" cap="rnd">
            <a:solidFill>
              <a:srgbClr val="DFE2F0"/>
            </a:solidFill>
            <a:round/>
          </a:ln>
          <a:effectLst/>
        </p:spPr>
      </p:cxnSp>
      <p:pic>
        <p:nvPicPr>
          <p:cNvPr id="7" name="Picture 6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345936"/>
            <a:ext cx="1133529" cy="2331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76969" y="6396228"/>
            <a:ext cx="4937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750" b="0" i="0" spc="50">
                <a:solidFill>
                  <a:srgbClr val="9A9DB0"/>
                </a:solidFill>
                <a:latin typeface="Montserrat"/>
              </a:rPr>
              <a:t>MTR Nacional  ·  Login Único Gov.br    |   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5172440" cy="3054096"/>
          </a:xfrm>
          <a:prstGeom prst="rect">
            <a:avLst/>
          </a:prstGeom>
          <a:solidFill>
            <a:srgbClr val="FFFFFF"/>
          </a:solidFill>
          <a:ln w="12700" cap="rnd">
            <a:solidFill>
              <a:srgbClr val="DFE2F0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5172440" cy="50292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106241" y="2194377"/>
            <a:ext cx="143012" cy="143012"/>
          </a:xfrm>
          <a:prstGeom prst="ellipse">
            <a:avLst/>
          </a:pr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1150406" y="2238542"/>
            <a:ext cx="54681" cy="54681"/>
          </a:xfrm>
          <a:prstGeom prst="ellipse">
            <a:avLst/>
          </a:prstGeom>
          <a:noFill/>
          <a:ln w="12700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3" name="Freeform 12"/>
          <p:cNvSpPr/>
          <p:nvPr/>
        </p:nvSpPr>
        <p:spPr>
          <a:xfrm>
            <a:off x="1228222" y="2316358"/>
            <a:ext cx="185075" cy="185075"/>
          </a:xfrm>
          <a:custGeom>
            <a:avLst/>
            <a:gdLst/>
            <a:ahLst/>
            <a:cxnLst/>
            <a:rect l="l" t="t" r="r" b="b"/>
            <a:pathLst>
              <a:path w="185075" h="185075">
                <a:moveTo>
                  <a:pt x="0" y="0"/>
                </a:moveTo>
                <a:lnTo>
                  <a:pt x="185075" y="185075"/>
                </a:lnTo>
              </a:path>
            </a:pathLst>
          </a:cu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295522" y="2434133"/>
            <a:ext cx="50475" cy="50475"/>
          </a:xfrm>
          <a:custGeom>
            <a:avLst/>
            <a:gdLst/>
            <a:ahLst/>
            <a:cxnLst/>
            <a:rect l="l" t="t" r="r" b="b"/>
            <a:pathLst>
              <a:path w="50475" h="50475">
                <a:moveTo>
                  <a:pt x="50475" y="0"/>
                </a:moveTo>
                <a:lnTo>
                  <a:pt x="0" y="50475"/>
                </a:lnTo>
              </a:path>
            </a:pathLst>
          </a:custGeom>
          <a:noFill/>
          <a:ln w="13494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337584" y="2476195"/>
            <a:ext cx="50475" cy="50475"/>
          </a:xfrm>
          <a:custGeom>
            <a:avLst/>
            <a:gdLst/>
            <a:ahLst/>
            <a:cxnLst/>
            <a:rect l="l" t="t" r="r" b="b"/>
            <a:pathLst>
              <a:path w="50475" h="50475">
                <a:moveTo>
                  <a:pt x="50475" y="0"/>
                </a:moveTo>
                <a:lnTo>
                  <a:pt x="0" y="50475"/>
                </a:lnTo>
              </a:path>
            </a:pathLst>
          </a:custGeom>
          <a:noFill/>
          <a:ln w="13494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706624"/>
            <a:ext cx="4623800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0" i="0">
                <a:solidFill>
                  <a:srgbClr val="14142E"/>
                </a:solidFill>
                <a:latin typeface="Montserrat Light"/>
              </a:rPr>
              <a:t>Como funcionaria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51560" y="3328416"/>
            <a:ext cx="4623800" cy="0"/>
          </a:xfrm>
          <a:prstGeom prst="line">
            <a:avLst/>
          </a:prstGeom>
          <a:ln w="12700" cap="rnd">
            <a:solidFill>
              <a:srgbClr val="DFE2F0"/>
            </a:solidFill>
            <a:round/>
          </a:ln>
          <a:effectLst/>
        </p:spPr>
      </p:cxnSp>
      <p:sp>
        <p:nvSpPr>
          <p:cNvPr id="18" name="Oval 17"/>
          <p:cNvSpPr/>
          <p:nvPr/>
        </p:nvSpPr>
        <p:spPr>
          <a:xfrm>
            <a:off x="1051560" y="3526926"/>
            <a:ext cx="69494" cy="69494"/>
          </a:xfrm>
          <a:prstGeom prst="ellipse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39926" y="3493008"/>
            <a:ext cx="4386056" cy="4681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3A3C55"/>
                </a:solidFill>
                <a:latin typeface="Montserrat"/>
              </a:rPr>
              <a:t>Você nos informa o CPF e a senha da conta Gov.br do responsável.</a:t>
            </a:r>
          </a:p>
        </p:txBody>
      </p:sp>
      <p:sp>
        <p:nvSpPr>
          <p:cNvPr id="20" name="Oval 19"/>
          <p:cNvSpPr/>
          <p:nvPr/>
        </p:nvSpPr>
        <p:spPr>
          <a:xfrm>
            <a:off x="1051560" y="3940641"/>
            <a:ext cx="69494" cy="69494"/>
          </a:xfrm>
          <a:prstGeom prst="ellipse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239926" y="3906723"/>
            <a:ext cx="4386056" cy="4681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3A3C55"/>
                </a:solidFill>
                <a:latin typeface="Montserrat"/>
              </a:rPr>
              <a:t>Acessamos o MTR Nacional com essas credenciais.</a:t>
            </a:r>
          </a:p>
        </p:txBody>
      </p:sp>
      <p:sp>
        <p:nvSpPr>
          <p:cNvPr id="22" name="Oval 21"/>
          <p:cNvSpPr/>
          <p:nvPr/>
        </p:nvSpPr>
        <p:spPr>
          <a:xfrm>
            <a:off x="1051560" y="4198298"/>
            <a:ext cx="69494" cy="69494"/>
          </a:xfrm>
          <a:prstGeom prst="ellipse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39926" y="4164380"/>
            <a:ext cx="4386056" cy="4681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3A3C55"/>
                </a:solidFill>
                <a:latin typeface="Montserrat"/>
              </a:rPr>
              <a:t>Seguimos emitindo os MTRs como antes.</a:t>
            </a:r>
          </a:p>
        </p:txBody>
      </p:sp>
      <p:sp>
        <p:nvSpPr>
          <p:cNvPr id="24" name="Oval 23"/>
          <p:cNvSpPr/>
          <p:nvPr/>
        </p:nvSpPr>
        <p:spPr>
          <a:xfrm>
            <a:off x="1051560" y="4455956"/>
            <a:ext cx="69494" cy="69494"/>
          </a:xfrm>
          <a:prstGeom prst="ellipse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39926" y="4422038"/>
            <a:ext cx="4386056" cy="4681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3A3C55"/>
                </a:solidFill>
                <a:latin typeface="Montserrat"/>
              </a:rPr>
              <a:t>Nada muda na sua rotina.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2288" y="1847088"/>
            <a:ext cx="5172440" cy="3054096"/>
          </a:xfrm>
          <a:prstGeom prst="rect">
            <a:avLst/>
          </a:prstGeom>
          <a:solidFill>
            <a:srgbClr val="FCEDE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242288" y="1847088"/>
            <a:ext cx="5172440" cy="50292"/>
          </a:xfrm>
          <a:prstGeom prst="rect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8" name="Freeform 27"/>
          <p:cNvSpPr/>
          <p:nvPr/>
        </p:nvSpPr>
        <p:spPr>
          <a:xfrm>
            <a:off x="6546052" y="2181758"/>
            <a:ext cx="361737" cy="319675"/>
          </a:xfrm>
          <a:custGeom>
            <a:avLst/>
            <a:gdLst/>
            <a:ahLst/>
            <a:cxnLst/>
            <a:rect l="l" t="t" r="r" b="b"/>
            <a:pathLst>
              <a:path w="361737" h="319675">
                <a:moveTo>
                  <a:pt x="180869" y="0"/>
                </a:moveTo>
                <a:lnTo>
                  <a:pt x="361737" y="319675"/>
                </a:lnTo>
                <a:lnTo>
                  <a:pt x="0" y="319675"/>
                </a:lnTo>
                <a:close/>
              </a:path>
            </a:pathLst>
          </a:custGeom>
          <a:noFill/>
          <a:ln w="15875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6726921" y="2299533"/>
            <a:ext cx="0" cy="100950"/>
          </a:xfrm>
          <a:custGeom>
            <a:avLst/>
            <a:gdLst/>
            <a:ahLst/>
            <a:cxnLst/>
            <a:rect l="l" t="t" r="r" b="b"/>
            <a:pathLst>
              <a:path w="0" h="100950">
                <a:moveTo>
                  <a:pt x="0" y="0"/>
                </a:moveTo>
                <a:lnTo>
                  <a:pt x="0" y="100950"/>
                </a:lnTo>
              </a:path>
            </a:pathLst>
          </a:custGeom>
          <a:noFill/>
          <a:ln w="18256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11147" y="2433081"/>
            <a:ext cx="31546" cy="31546"/>
          </a:xfrm>
          <a:prstGeom prst="ellipse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16608" y="2706624"/>
            <a:ext cx="4623800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550" b="0" i="0">
                <a:solidFill>
                  <a:srgbClr val="14142E"/>
                </a:solidFill>
                <a:latin typeface="Montserrat Light"/>
              </a:rPr>
              <a:t>Antes de decidir, considere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16608" y="3328416"/>
            <a:ext cx="4623801" cy="0"/>
          </a:xfrm>
          <a:prstGeom prst="line">
            <a:avLst/>
          </a:prstGeom>
          <a:ln w="12700" cap="rnd">
            <a:solidFill>
              <a:srgbClr val="DFE2F0"/>
            </a:solidFill>
            <a:round/>
          </a:ln>
          <a:effectLst/>
        </p:spPr>
      </p:cxnSp>
      <p:sp>
        <p:nvSpPr>
          <p:cNvPr id="33" name="Oval 32"/>
          <p:cNvSpPr/>
          <p:nvPr/>
        </p:nvSpPr>
        <p:spPr>
          <a:xfrm>
            <a:off x="6516608" y="3526926"/>
            <a:ext cx="69494" cy="69494"/>
          </a:xfrm>
          <a:prstGeom prst="ellipse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704975" y="3493008"/>
            <a:ext cx="4386056" cy="4681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3A3C55"/>
                </a:solidFill>
                <a:latin typeface="Montserrat"/>
              </a:rPr>
              <a:t>A conta Gov.br é pessoal e intransferível.</a:t>
            </a:r>
          </a:p>
        </p:txBody>
      </p:sp>
      <p:sp>
        <p:nvSpPr>
          <p:cNvPr id="35" name="Oval 34"/>
          <p:cNvSpPr/>
          <p:nvPr/>
        </p:nvSpPr>
        <p:spPr>
          <a:xfrm>
            <a:off x="6516608" y="3784583"/>
            <a:ext cx="69494" cy="69494"/>
          </a:xfrm>
          <a:prstGeom prst="ellipse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704975" y="3750665"/>
            <a:ext cx="4386056" cy="4681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3A3C55"/>
                </a:solidFill>
                <a:latin typeface="Montserrat"/>
              </a:rPr>
              <a:t>A mesma senha abre outros serviços do governo em nome do titular.</a:t>
            </a:r>
          </a:p>
        </p:txBody>
      </p:sp>
      <p:sp>
        <p:nvSpPr>
          <p:cNvPr id="37" name="Oval 36"/>
          <p:cNvSpPr/>
          <p:nvPr/>
        </p:nvSpPr>
        <p:spPr>
          <a:xfrm>
            <a:off x="6516608" y="4198298"/>
            <a:ext cx="69494" cy="69494"/>
          </a:xfrm>
          <a:prstGeom prst="ellipse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704975" y="4164380"/>
            <a:ext cx="4386056" cy="4681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3A3C55"/>
                </a:solidFill>
                <a:latin typeface="Montserrat"/>
              </a:rPr>
              <a:t>Toda ação fica registrada como se fosse o próprio titular.</a:t>
            </a:r>
          </a:p>
        </p:txBody>
      </p:sp>
      <p:sp>
        <p:nvSpPr>
          <p:cNvPr id="39" name="Oval 38"/>
          <p:cNvSpPr/>
          <p:nvPr/>
        </p:nvSpPr>
        <p:spPr>
          <a:xfrm>
            <a:off x="6516608" y="4455956"/>
            <a:ext cx="69494" cy="69494"/>
          </a:xfrm>
          <a:prstGeom prst="ellipse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704975" y="4422038"/>
            <a:ext cx="4386056" cy="4681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3A3C55"/>
                </a:solidFill>
                <a:latin typeface="Montserrat"/>
              </a:rPr>
              <a:t>Uma troca de senha derruba o nosso acesso sem aviso.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5010912"/>
            <a:ext cx="10637489" cy="694944"/>
          </a:xfrm>
          <a:prstGeom prst="rect">
            <a:avLst/>
          </a:prstGeom>
          <a:solidFill>
            <a:srgbClr val="E7F6F1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777240" y="5010912"/>
            <a:ext cx="32004" cy="694944"/>
          </a:xfrm>
          <a:prstGeom prst="rect">
            <a:avLst/>
          </a:prstGeom>
          <a:solidFill>
            <a:srgbClr val="12A87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3" name="Freeform 42"/>
          <p:cNvSpPr/>
          <p:nvPr/>
        </p:nvSpPr>
        <p:spPr>
          <a:xfrm>
            <a:off x="1058875" y="5243170"/>
            <a:ext cx="186538" cy="230428"/>
          </a:xfrm>
          <a:custGeom>
            <a:avLst/>
            <a:gdLst/>
            <a:ahLst/>
            <a:cxnLst/>
            <a:rect l="l" t="t" r="r" b="b"/>
            <a:pathLst>
              <a:path w="186538" h="230428">
                <a:moveTo>
                  <a:pt x="93269" y="0"/>
                </a:moveTo>
                <a:lnTo>
                  <a:pt x="186538" y="38404"/>
                </a:lnTo>
                <a:lnTo>
                  <a:pt x="186538" y="120700"/>
                </a:lnTo>
                <a:lnTo>
                  <a:pt x="93269" y="230428"/>
                </a:lnTo>
                <a:lnTo>
                  <a:pt x="0" y="120700"/>
                </a:lnTo>
                <a:lnTo>
                  <a:pt x="0" y="38404"/>
                </a:lnTo>
                <a:close/>
              </a:path>
            </a:pathLst>
          </a:custGeom>
          <a:noFill/>
          <a:ln w="15875" cap="rnd">
            <a:solidFill>
              <a:srgbClr val="12A87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110996" y="5319979"/>
            <a:ext cx="87782" cy="65837"/>
          </a:xfrm>
          <a:custGeom>
            <a:avLst/>
            <a:gdLst/>
            <a:ahLst/>
            <a:cxnLst/>
            <a:rect l="l" t="t" r="r" b="b"/>
            <a:pathLst>
              <a:path w="87782" h="65837">
                <a:moveTo>
                  <a:pt x="0" y="32919"/>
                </a:moveTo>
                <a:lnTo>
                  <a:pt x="30175" y="65837"/>
                </a:lnTo>
                <a:lnTo>
                  <a:pt x="87782" y="0"/>
                </a:lnTo>
              </a:path>
            </a:pathLst>
          </a:custGeom>
          <a:noFill/>
          <a:ln w="17462" cap="rnd">
            <a:solidFill>
              <a:srgbClr val="12A87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472184" y="5010912"/>
            <a:ext cx="9668225" cy="6949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19" b="0" i="0">
                <a:solidFill>
                  <a:srgbClr val="3A3C55"/>
                </a:solidFill>
                <a:latin typeface="Montserrat"/>
              </a:rPr>
              <a:t>Nossa recomendação: prefira a Rota A ou a Rota B. O resultado prático é o mesmo — nós emitimos os seus MTRs — sem expor a conta pessoal do responsável e sem depender da senha dele.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797296"/>
            <a:ext cx="10637489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40" b="0" i="0">
                <a:solidFill>
                  <a:srgbClr val="9A9DB0"/>
                </a:solidFill>
                <a:latin typeface="Montserrat"/>
              </a:rPr>
              <a:t>A decisão é da sua empresa. Seguiremos a orientação que você nos der, por escrito.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5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>
            <a:off x="777240" y="669340"/>
            <a:ext cx="274320" cy="0"/>
          </a:xfrm>
          <a:prstGeom prst="line">
            <a:avLst/>
          </a:prstGeom>
          <a:ln w="20320" cap="rnd">
            <a:solidFill>
              <a:srgbClr val="3432C9"/>
            </a:solidFill>
            <a:round/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1197863" y="580644"/>
            <a:ext cx="7315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90" cap="all">
                <a:solidFill>
                  <a:srgbClr val="3432C9"/>
                </a:solidFill>
                <a:latin typeface="Montserrat SemiBold"/>
              </a:rPr>
              <a:t>Perguntas frequentes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332720" cy="1371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550" b="0" i="0">
                <a:solidFill>
                  <a:srgbClr val="14142E"/>
                </a:solidFill>
                <a:latin typeface="Montserrat Light"/>
              </a:rPr>
              <a:t>O que mais </a:t>
            </a:r>
            <a:r>
              <a:rPr sz="2550" b="0" i="0">
                <a:solidFill>
                  <a:srgbClr val="14142E"/>
                </a:solidFill>
                <a:latin typeface="Montserrat SemiBold"/>
              </a:rPr>
              <a:t>costuma gerar dúvida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37489" cy="0"/>
          </a:xfrm>
          <a:prstGeom prst="line">
            <a:avLst/>
          </a:prstGeom>
          <a:ln w="9525" cap="rnd">
            <a:solidFill>
              <a:srgbClr val="DFE2F0"/>
            </a:solidFill>
            <a:round/>
          </a:ln>
          <a:effectLst/>
        </p:spPr>
      </p:cxnSp>
      <p:pic>
        <p:nvPicPr>
          <p:cNvPr id="7" name="Picture 6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345936"/>
            <a:ext cx="1133529" cy="2331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76969" y="6396228"/>
            <a:ext cx="4937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750" b="0" i="0" spc="50">
                <a:solidFill>
                  <a:srgbClr val="9A9DB0"/>
                </a:solidFill>
                <a:latin typeface="Montserrat"/>
              </a:rPr>
              <a:t>MTR Nacional  ·  Login Único Gov.br    |   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47088"/>
            <a:ext cx="5181584" cy="1207008"/>
          </a:xfrm>
          <a:prstGeom prst="rect">
            <a:avLst/>
          </a:prstGeom>
          <a:solidFill>
            <a:srgbClr val="F4F5FC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7240" y="1847088"/>
            <a:ext cx="32004" cy="1207008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33271" y="2029968"/>
            <a:ext cx="466952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19" b="0" i="0">
                <a:solidFill>
                  <a:srgbClr val="14142E"/>
                </a:solidFill>
                <a:latin typeface="Montserrat SemiBold"/>
              </a:rPr>
              <a:t>Vou perder meu cadastro e meu histórico?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450592"/>
            <a:ext cx="46695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6E7288"/>
                </a:solidFill>
                <a:latin typeface="Montserrat"/>
              </a:rPr>
              <a:t>Não. A mudança é na forma de entrar. Cadastro da empresa, unidades e MTRs já emitidos continuam.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144" y="1847088"/>
            <a:ext cx="5181584" cy="1207008"/>
          </a:xfrm>
          <a:prstGeom prst="rect">
            <a:avLst/>
          </a:prstGeom>
          <a:solidFill>
            <a:srgbClr val="F4F5FC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233144" y="1847088"/>
            <a:ext cx="32004" cy="1207008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89176" y="2029968"/>
            <a:ext cx="466952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19" b="0" i="0">
                <a:solidFill>
                  <a:srgbClr val="14142E"/>
                </a:solidFill>
                <a:latin typeface="Montserrat SemiBold"/>
              </a:rPr>
              <a:t>Minha senha antiga do MTR ainda funciona?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9176" y="2450592"/>
            <a:ext cx="46695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6E7288"/>
                </a:solidFill>
                <a:latin typeface="Montserrat"/>
              </a:rPr>
              <a:t>Não. Desde 01/08/2026 o acesso é apenas pelo Login Único Gov.br.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200400"/>
            <a:ext cx="5181584" cy="1207008"/>
          </a:xfrm>
          <a:prstGeom prst="rect">
            <a:avLst/>
          </a:prstGeom>
          <a:solidFill>
            <a:srgbClr val="F4F5FC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77240" y="3200400"/>
            <a:ext cx="32004" cy="1207008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33271" y="3383280"/>
            <a:ext cx="466952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19" b="0" i="0">
                <a:solidFill>
                  <a:srgbClr val="14142E"/>
                </a:solidFill>
                <a:latin typeface="Montserrat SemiBold"/>
              </a:rPr>
              <a:t>Autorizar vocês dá acesso a mais alguma coisa?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3803904"/>
            <a:ext cx="46695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6E7288"/>
                </a:solidFill>
                <a:latin typeface="Montserrat"/>
              </a:rPr>
              <a:t>Não. O acesso vale só para a unidade autorizada e pode ser retirado quando você quiser.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3144" y="3200400"/>
            <a:ext cx="5181584" cy="1207008"/>
          </a:xfrm>
          <a:prstGeom prst="rect">
            <a:avLst/>
          </a:prstGeom>
          <a:solidFill>
            <a:srgbClr val="F4F5FC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233144" y="3200400"/>
            <a:ext cx="32004" cy="1207008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89176" y="3383280"/>
            <a:ext cx="466952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19" b="0" i="0">
                <a:solidFill>
                  <a:srgbClr val="14142E"/>
                </a:solidFill>
                <a:latin typeface="Montserrat SemiBold"/>
              </a:rPr>
              <a:t>Preciso marcar “Administrador” para vocês?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9176" y="3803904"/>
            <a:ext cx="46695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6E7288"/>
                </a:solidFill>
                <a:latin typeface="Montserrat"/>
              </a:rPr>
              <a:t>Não é obrigatório. Marque se quiser que a gente também cuide da gestão de acessos da unidade.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553712"/>
            <a:ext cx="5181584" cy="1207008"/>
          </a:xfrm>
          <a:prstGeom prst="rect">
            <a:avLst/>
          </a:prstGeom>
          <a:solidFill>
            <a:srgbClr val="F4F5FC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777240" y="4553712"/>
            <a:ext cx="32004" cy="1207008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33271" y="4736592"/>
            <a:ext cx="466952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19" b="0" i="0">
                <a:solidFill>
                  <a:srgbClr val="14142E"/>
                </a:solidFill>
                <a:latin typeface="Montserrat SemiBold"/>
              </a:rPr>
              <a:t>Mais de uma pessoa pode ter acesso?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1" y="5157216"/>
            <a:ext cx="46695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6E7288"/>
                </a:solidFill>
                <a:latin typeface="Montserrat"/>
              </a:rPr>
              <a:t>Sim. O Administrador cadastra quantos usuários precisar, cada um com o seu CPF.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33144" y="4553712"/>
            <a:ext cx="5181584" cy="1207008"/>
          </a:xfrm>
          <a:prstGeom prst="rect">
            <a:avLst/>
          </a:prstGeom>
          <a:solidFill>
            <a:srgbClr val="F4F5FC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233144" y="4553712"/>
            <a:ext cx="32004" cy="1207008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89176" y="4736592"/>
            <a:ext cx="466952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19" b="0" i="0">
                <a:solidFill>
                  <a:srgbClr val="14142E"/>
                </a:solidFill>
                <a:latin typeface="Montserrat SemiBold"/>
              </a:rPr>
              <a:t>Quem tira dúvidas sobre o sistema?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9176" y="5157216"/>
            <a:ext cx="46695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6E7288"/>
                </a:solidFill>
                <a:latin typeface="Montserrat"/>
              </a:rPr>
              <a:t>O canal oficial do módulo MTR Nacional é mtr.sinir@mma.gov.br. Nossa equipe também apoia.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5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>
            <a:off x="777240" y="669340"/>
            <a:ext cx="274320" cy="0"/>
          </a:xfrm>
          <a:prstGeom prst="line">
            <a:avLst/>
          </a:prstGeom>
          <a:ln w="20320" cap="rnd">
            <a:solidFill>
              <a:srgbClr val="3432C9"/>
            </a:solidFill>
            <a:round/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1197863" y="580644"/>
            <a:ext cx="7315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90" cap="all">
                <a:solidFill>
                  <a:srgbClr val="3432C9"/>
                </a:solidFill>
                <a:latin typeface="Montserrat SemiBold"/>
              </a:rPr>
              <a:t>Pontos de atenção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332720" cy="1371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550" b="0" i="0">
                <a:solidFill>
                  <a:srgbClr val="14142E"/>
                </a:solidFill>
                <a:latin typeface="Montserrat Light"/>
              </a:rPr>
              <a:t>Situação e </a:t>
            </a:r>
            <a:r>
              <a:rPr sz="2550" b="0" i="0">
                <a:solidFill>
                  <a:srgbClr val="14142E"/>
                </a:solidFill>
                <a:latin typeface="Montserrat SemiBold"/>
              </a:rPr>
              <a:t>o que fazer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37489" cy="0"/>
          </a:xfrm>
          <a:prstGeom prst="line">
            <a:avLst/>
          </a:prstGeom>
          <a:ln w="9525" cap="rnd">
            <a:solidFill>
              <a:srgbClr val="DFE2F0"/>
            </a:solidFill>
            <a:round/>
          </a:ln>
          <a:effectLst/>
        </p:spPr>
      </p:cxnSp>
      <p:pic>
        <p:nvPicPr>
          <p:cNvPr id="7" name="Picture 6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345936"/>
            <a:ext cx="1133529" cy="2331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76969" y="6396228"/>
            <a:ext cx="4937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750" b="0" i="0" spc="50">
                <a:solidFill>
                  <a:srgbClr val="9A9DB0"/>
                </a:solidFill>
                <a:latin typeface="Montserrat"/>
              </a:rPr>
              <a:t>MTR Nacional  ·  Login Único Gov.br    |    19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65376"/>
            <a:ext cx="10637489" cy="676656"/>
          </a:xfrm>
          <a:prstGeom prst="rect">
            <a:avLst/>
          </a:prstGeom>
          <a:solidFill>
            <a:srgbClr val="EEF0F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0" name="Freeform 9"/>
          <p:cNvSpPr/>
          <p:nvPr/>
        </p:nvSpPr>
        <p:spPr>
          <a:xfrm>
            <a:off x="997610" y="2075688"/>
            <a:ext cx="235916" cy="208483"/>
          </a:xfrm>
          <a:custGeom>
            <a:avLst/>
            <a:gdLst/>
            <a:ahLst/>
            <a:cxnLst/>
            <a:rect l="l" t="t" r="r" b="b"/>
            <a:pathLst>
              <a:path w="235916" h="208483">
                <a:moveTo>
                  <a:pt x="117958" y="0"/>
                </a:moveTo>
                <a:lnTo>
                  <a:pt x="235916" y="208483"/>
                </a:lnTo>
                <a:lnTo>
                  <a:pt x="0" y="208483"/>
                </a:lnTo>
                <a:close/>
              </a:path>
            </a:pathLst>
          </a:custGeom>
          <a:noFill/>
          <a:ln w="15875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115568" y="2152498"/>
            <a:ext cx="0" cy="65836"/>
          </a:xfrm>
          <a:custGeom>
            <a:avLst/>
            <a:gdLst/>
            <a:ahLst/>
            <a:cxnLst/>
            <a:rect l="l" t="t" r="r" b="b"/>
            <a:pathLst>
              <a:path w="0" h="65836">
                <a:moveTo>
                  <a:pt x="0" y="0"/>
                </a:moveTo>
                <a:lnTo>
                  <a:pt x="0" y="65836"/>
                </a:lnTo>
              </a:path>
            </a:pathLst>
          </a:custGeom>
          <a:noFill/>
          <a:ln w="18256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05281" y="2239594"/>
            <a:ext cx="20574" cy="20574"/>
          </a:xfrm>
          <a:prstGeom prst="ellipse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417319" y="1956816"/>
            <a:ext cx="4617720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14142E"/>
                </a:solidFill>
                <a:latin typeface="Montserrat SemiBold"/>
              </a:rPr>
              <a:t>A senha antiga do MTR não funciona mais</a:t>
            </a:r>
          </a:p>
        </p:txBody>
      </p:sp>
      <p:sp>
        <p:nvSpPr>
          <p:cNvPr id="14" name="Freeform 13"/>
          <p:cNvSpPr/>
          <p:nvPr/>
        </p:nvSpPr>
        <p:spPr>
          <a:xfrm>
            <a:off x="6172200" y="2203704"/>
            <a:ext cx="274320" cy="0"/>
          </a:xfrm>
          <a:custGeom>
            <a:avLst/>
            <a:gdLst/>
            <a:ahLst/>
            <a:cxnLst/>
            <a:rect l="l" t="t" r="r" b="b"/>
            <a:pathLst>
              <a:path w="274320" h="0">
                <a:moveTo>
                  <a:pt x="0" y="0"/>
                </a:moveTo>
                <a:lnTo>
                  <a:pt x="274320" y="0"/>
                </a:lnTo>
              </a:path>
            </a:pathLst>
          </a:custGeom>
          <a:noFill/>
          <a:ln w="12700" cap="rnd">
            <a:solidFill>
              <a:srgbClr val="9A9DB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6390004" y="2173654"/>
            <a:ext cx="56516" cy="60100"/>
          </a:xfrm>
          <a:custGeom>
            <a:avLst/>
            <a:gdLst/>
            <a:ahLst/>
            <a:cxnLst/>
            <a:rect l="l" t="t" r="r" b="b"/>
            <a:pathLst>
              <a:path w="56516" h="60100">
                <a:moveTo>
                  <a:pt x="56516" y="30050"/>
                </a:moveTo>
                <a:lnTo>
                  <a:pt x="0" y="60100"/>
                </a:lnTo>
                <a:lnTo>
                  <a:pt x="0" y="0"/>
                </a:lnTo>
                <a:close/>
              </a:path>
            </a:pathLst>
          </a:custGeom>
          <a:solidFill>
            <a:srgbClr val="9A9DB0"/>
          </a:solidFill>
          <a:ln w="7620" cap="rnd">
            <a:solidFill>
              <a:srgbClr val="9A9DB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92824" y="1956816"/>
            <a:ext cx="4602449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3A3C55"/>
                </a:solidFill>
                <a:latin typeface="Montserrat"/>
              </a:rPr>
              <a:t>É esperado. Entre pelo botão “Entrar com GOV.BR” com a senha da conta Gov.br.</a:t>
            </a:r>
          </a:p>
        </p:txBody>
      </p:sp>
      <p:sp>
        <p:nvSpPr>
          <p:cNvPr id="17" name="Freeform 16"/>
          <p:cNvSpPr/>
          <p:nvPr/>
        </p:nvSpPr>
        <p:spPr>
          <a:xfrm>
            <a:off x="997610" y="2825496"/>
            <a:ext cx="235916" cy="208483"/>
          </a:xfrm>
          <a:custGeom>
            <a:avLst/>
            <a:gdLst/>
            <a:ahLst/>
            <a:cxnLst/>
            <a:rect l="l" t="t" r="r" b="b"/>
            <a:pathLst>
              <a:path w="235916" h="208483">
                <a:moveTo>
                  <a:pt x="117958" y="0"/>
                </a:moveTo>
                <a:lnTo>
                  <a:pt x="235916" y="208483"/>
                </a:lnTo>
                <a:lnTo>
                  <a:pt x="0" y="208483"/>
                </a:lnTo>
                <a:close/>
              </a:path>
            </a:pathLst>
          </a:custGeom>
          <a:noFill/>
          <a:ln w="15875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115568" y="2902306"/>
            <a:ext cx="0" cy="65836"/>
          </a:xfrm>
          <a:custGeom>
            <a:avLst/>
            <a:gdLst/>
            <a:ahLst/>
            <a:cxnLst/>
            <a:rect l="l" t="t" r="r" b="b"/>
            <a:pathLst>
              <a:path w="0" h="65836">
                <a:moveTo>
                  <a:pt x="0" y="0"/>
                </a:moveTo>
                <a:lnTo>
                  <a:pt x="0" y="65836"/>
                </a:lnTo>
              </a:path>
            </a:pathLst>
          </a:custGeom>
          <a:noFill/>
          <a:ln w="18256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5281" y="2989402"/>
            <a:ext cx="20574" cy="20574"/>
          </a:xfrm>
          <a:prstGeom prst="ellipse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417319" y="2706624"/>
            <a:ext cx="4617720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14142E"/>
                </a:solidFill>
                <a:latin typeface="Montserrat SemiBold"/>
              </a:rPr>
              <a:t>O responsável ainda não tem conta Gov.br</a:t>
            </a:r>
          </a:p>
        </p:txBody>
      </p:sp>
      <p:sp>
        <p:nvSpPr>
          <p:cNvPr id="21" name="Freeform 20"/>
          <p:cNvSpPr/>
          <p:nvPr/>
        </p:nvSpPr>
        <p:spPr>
          <a:xfrm>
            <a:off x="6172200" y="2953512"/>
            <a:ext cx="274320" cy="0"/>
          </a:xfrm>
          <a:custGeom>
            <a:avLst/>
            <a:gdLst/>
            <a:ahLst/>
            <a:cxnLst/>
            <a:rect l="l" t="t" r="r" b="b"/>
            <a:pathLst>
              <a:path w="274320" h="0">
                <a:moveTo>
                  <a:pt x="0" y="0"/>
                </a:moveTo>
                <a:lnTo>
                  <a:pt x="274320" y="0"/>
                </a:lnTo>
              </a:path>
            </a:pathLst>
          </a:custGeom>
          <a:noFill/>
          <a:ln w="12700" cap="rnd">
            <a:solidFill>
              <a:srgbClr val="9A9DB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6390004" y="2923462"/>
            <a:ext cx="56516" cy="60100"/>
          </a:xfrm>
          <a:custGeom>
            <a:avLst/>
            <a:gdLst/>
            <a:ahLst/>
            <a:cxnLst/>
            <a:rect l="l" t="t" r="r" b="b"/>
            <a:pathLst>
              <a:path w="56516" h="60100">
                <a:moveTo>
                  <a:pt x="56516" y="30050"/>
                </a:moveTo>
                <a:lnTo>
                  <a:pt x="0" y="60100"/>
                </a:lnTo>
                <a:lnTo>
                  <a:pt x="0" y="0"/>
                </a:lnTo>
                <a:close/>
              </a:path>
            </a:pathLst>
          </a:custGeom>
          <a:solidFill>
            <a:srgbClr val="9A9DB0"/>
          </a:solidFill>
          <a:ln w="7620" cap="rnd">
            <a:solidFill>
              <a:srgbClr val="9A9DB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92824" y="2706624"/>
            <a:ext cx="4602449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3A3C55"/>
                </a:solidFill>
                <a:latin typeface="Montserrat"/>
              </a:rPr>
              <a:t>Crie em gov.br antes de tudo. E-mails Outlook, Hotmail e Live não são aceitos no momento.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364991"/>
            <a:ext cx="10637489" cy="676656"/>
          </a:xfrm>
          <a:prstGeom prst="rect">
            <a:avLst/>
          </a:prstGeom>
          <a:solidFill>
            <a:srgbClr val="EEF0F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5" name="Freeform 24"/>
          <p:cNvSpPr/>
          <p:nvPr/>
        </p:nvSpPr>
        <p:spPr>
          <a:xfrm>
            <a:off x="997610" y="3575304"/>
            <a:ext cx="235916" cy="208483"/>
          </a:xfrm>
          <a:custGeom>
            <a:avLst/>
            <a:gdLst/>
            <a:ahLst/>
            <a:cxnLst/>
            <a:rect l="l" t="t" r="r" b="b"/>
            <a:pathLst>
              <a:path w="235916" h="208483">
                <a:moveTo>
                  <a:pt x="117958" y="0"/>
                </a:moveTo>
                <a:lnTo>
                  <a:pt x="235916" y="208483"/>
                </a:lnTo>
                <a:lnTo>
                  <a:pt x="0" y="208483"/>
                </a:lnTo>
                <a:close/>
              </a:path>
            </a:pathLst>
          </a:custGeom>
          <a:noFill/>
          <a:ln w="15875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1115568" y="3652114"/>
            <a:ext cx="0" cy="65836"/>
          </a:xfrm>
          <a:custGeom>
            <a:avLst/>
            <a:gdLst/>
            <a:ahLst/>
            <a:cxnLst/>
            <a:rect l="l" t="t" r="r" b="b"/>
            <a:pathLst>
              <a:path w="0" h="65836">
                <a:moveTo>
                  <a:pt x="0" y="0"/>
                </a:moveTo>
                <a:lnTo>
                  <a:pt x="0" y="65836"/>
                </a:lnTo>
              </a:path>
            </a:pathLst>
          </a:custGeom>
          <a:noFill/>
          <a:ln w="18256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05281" y="3739210"/>
            <a:ext cx="20574" cy="20574"/>
          </a:xfrm>
          <a:prstGeom prst="ellipse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417319" y="3456432"/>
            <a:ext cx="4617720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14142E"/>
                </a:solidFill>
                <a:latin typeface="Montserrat SemiBold"/>
              </a:rPr>
              <a:t>Não aparece o menu Configurações</a:t>
            </a:r>
          </a:p>
        </p:txBody>
      </p:sp>
      <p:sp>
        <p:nvSpPr>
          <p:cNvPr id="29" name="Freeform 28"/>
          <p:cNvSpPr/>
          <p:nvPr/>
        </p:nvSpPr>
        <p:spPr>
          <a:xfrm>
            <a:off x="6172200" y="3703320"/>
            <a:ext cx="274320" cy="0"/>
          </a:xfrm>
          <a:custGeom>
            <a:avLst/>
            <a:gdLst/>
            <a:ahLst/>
            <a:cxnLst/>
            <a:rect l="l" t="t" r="r" b="b"/>
            <a:pathLst>
              <a:path w="274320" h="0">
                <a:moveTo>
                  <a:pt x="0" y="0"/>
                </a:moveTo>
                <a:lnTo>
                  <a:pt x="274320" y="0"/>
                </a:lnTo>
              </a:path>
            </a:pathLst>
          </a:custGeom>
          <a:noFill/>
          <a:ln w="12700" cap="rnd">
            <a:solidFill>
              <a:srgbClr val="9A9DB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6390004" y="3673270"/>
            <a:ext cx="56516" cy="60100"/>
          </a:xfrm>
          <a:custGeom>
            <a:avLst/>
            <a:gdLst/>
            <a:ahLst/>
            <a:cxnLst/>
            <a:rect l="l" t="t" r="r" b="b"/>
            <a:pathLst>
              <a:path w="56516" h="60100">
                <a:moveTo>
                  <a:pt x="56516" y="30050"/>
                </a:moveTo>
                <a:lnTo>
                  <a:pt x="0" y="60100"/>
                </a:lnTo>
                <a:lnTo>
                  <a:pt x="0" y="0"/>
                </a:lnTo>
                <a:close/>
              </a:path>
            </a:pathLst>
          </a:custGeom>
          <a:solidFill>
            <a:srgbClr val="9A9DB0"/>
          </a:solidFill>
          <a:ln w="7620" cap="rnd">
            <a:solidFill>
              <a:srgbClr val="9A9DB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92824" y="3456432"/>
            <a:ext cx="4602449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3A3C55"/>
                </a:solidFill>
                <a:latin typeface="Montserrat"/>
              </a:rPr>
              <a:t>Esse login não é Administrador da unidade. Só ele vê Meus Usuários e a tela Gerenciar Usuários.</a:t>
            </a:r>
          </a:p>
        </p:txBody>
      </p:sp>
      <p:sp>
        <p:nvSpPr>
          <p:cNvPr id="32" name="Freeform 31"/>
          <p:cNvSpPr/>
          <p:nvPr/>
        </p:nvSpPr>
        <p:spPr>
          <a:xfrm>
            <a:off x="997610" y="4325112"/>
            <a:ext cx="235916" cy="208483"/>
          </a:xfrm>
          <a:custGeom>
            <a:avLst/>
            <a:gdLst/>
            <a:ahLst/>
            <a:cxnLst/>
            <a:rect l="l" t="t" r="r" b="b"/>
            <a:pathLst>
              <a:path w="235916" h="208483">
                <a:moveTo>
                  <a:pt x="117958" y="0"/>
                </a:moveTo>
                <a:lnTo>
                  <a:pt x="235916" y="208483"/>
                </a:lnTo>
                <a:lnTo>
                  <a:pt x="0" y="208483"/>
                </a:lnTo>
                <a:close/>
              </a:path>
            </a:pathLst>
          </a:custGeom>
          <a:noFill/>
          <a:ln w="15875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115568" y="4401922"/>
            <a:ext cx="0" cy="65836"/>
          </a:xfrm>
          <a:custGeom>
            <a:avLst/>
            <a:gdLst/>
            <a:ahLst/>
            <a:cxnLst/>
            <a:rect l="l" t="t" r="r" b="b"/>
            <a:pathLst>
              <a:path w="0" h="65836">
                <a:moveTo>
                  <a:pt x="0" y="0"/>
                </a:moveTo>
                <a:lnTo>
                  <a:pt x="0" y="65836"/>
                </a:lnTo>
              </a:path>
            </a:pathLst>
          </a:custGeom>
          <a:noFill/>
          <a:ln w="18256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05281" y="4489018"/>
            <a:ext cx="20574" cy="20574"/>
          </a:xfrm>
          <a:prstGeom prst="ellipse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417319" y="4206240"/>
            <a:ext cx="4617720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14142E"/>
                </a:solidFill>
                <a:latin typeface="Montserrat SemiBold"/>
              </a:rPr>
              <a:t>O Administrador saiu da empresa</a:t>
            </a:r>
          </a:p>
        </p:txBody>
      </p:sp>
      <p:sp>
        <p:nvSpPr>
          <p:cNvPr id="36" name="Freeform 35"/>
          <p:cNvSpPr/>
          <p:nvPr/>
        </p:nvSpPr>
        <p:spPr>
          <a:xfrm>
            <a:off x="6172200" y="4453128"/>
            <a:ext cx="274320" cy="0"/>
          </a:xfrm>
          <a:custGeom>
            <a:avLst/>
            <a:gdLst/>
            <a:ahLst/>
            <a:cxnLst/>
            <a:rect l="l" t="t" r="r" b="b"/>
            <a:pathLst>
              <a:path w="274320" h="0">
                <a:moveTo>
                  <a:pt x="0" y="0"/>
                </a:moveTo>
                <a:lnTo>
                  <a:pt x="274320" y="0"/>
                </a:lnTo>
              </a:path>
            </a:pathLst>
          </a:custGeom>
          <a:noFill/>
          <a:ln w="12700" cap="rnd">
            <a:solidFill>
              <a:srgbClr val="9A9DB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390004" y="4423078"/>
            <a:ext cx="56516" cy="60100"/>
          </a:xfrm>
          <a:custGeom>
            <a:avLst/>
            <a:gdLst/>
            <a:ahLst/>
            <a:cxnLst/>
            <a:rect l="l" t="t" r="r" b="b"/>
            <a:pathLst>
              <a:path w="56516" h="60100">
                <a:moveTo>
                  <a:pt x="56516" y="30050"/>
                </a:moveTo>
                <a:lnTo>
                  <a:pt x="0" y="60100"/>
                </a:lnTo>
                <a:lnTo>
                  <a:pt x="0" y="0"/>
                </a:lnTo>
                <a:close/>
              </a:path>
            </a:pathLst>
          </a:custGeom>
          <a:solidFill>
            <a:srgbClr val="9A9DB0"/>
          </a:solidFill>
          <a:ln w="7620" cap="rnd">
            <a:solidFill>
              <a:srgbClr val="9A9DB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92824" y="4206240"/>
            <a:ext cx="4602449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3A3C55"/>
                </a:solidFill>
                <a:latin typeface="Montserrat"/>
              </a:rPr>
              <a:t>Outro Administrador precisa assumir antes: só é possível inativar se houver outro cadastrado.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864608"/>
            <a:ext cx="10637489" cy="676656"/>
          </a:xfrm>
          <a:prstGeom prst="rect">
            <a:avLst/>
          </a:prstGeom>
          <a:solidFill>
            <a:srgbClr val="EEF0F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0" name="Freeform 39"/>
          <p:cNvSpPr/>
          <p:nvPr/>
        </p:nvSpPr>
        <p:spPr>
          <a:xfrm>
            <a:off x="997610" y="5074920"/>
            <a:ext cx="235916" cy="208483"/>
          </a:xfrm>
          <a:custGeom>
            <a:avLst/>
            <a:gdLst/>
            <a:ahLst/>
            <a:cxnLst/>
            <a:rect l="l" t="t" r="r" b="b"/>
            <a:pathLst>
              <a:path w="235916" h="208483">
                <a:moveTo>
                  <a:pt x="117958" y="0"/>
                </a:moveTo>
                <a:lnTo>
                  <a:pt x="235916" y="208483"/>
                </a:lnTo>
                <a:lnTo>
                  <a:pt x="0" y="208483"/>
                </a:lnTo>
                <a:close/>
              </a:path>
            </a:pathLst>
          </a:custGeom>
          <a:noFill/>
          <a:ln w="15875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1115568" y="5151730"/>
            <a:ext cx="0" cy="65836"/>
          </a:xfrm>
          <a:custGeom>
            <a:avLst/>
            <a:gdLst/>
            <a:ahLst/>
            <a:cxnLst/>
            <a:rect l="l" t="t" r="r" b="b"/>
            <a:pathLst>
              <a:path w="0" h="65836">
                <a:moveTo>
                  <a:pt x="0" y="0"/>
                </a:moveTo>
                <a:lnTo>
                  <a:pt x="0" y="65836"/>
                </a:lnTo>
              </a:path>
            </a:pathLst>
          </a:custGeom>
          <a:noFill/>
          <a:ln w="18256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05281" y="5238826"/>
            <a:ext cx="20574" cy="20574"/>
          </a:xfrm>
          <a:prstGeom prst="ellipse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417319" y="4956048"/>
            <a:ext cx="4617720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14142E"/>
                </a:solidFill>
                <a:latin typeface="Montserrat SemiBold"/>
              </a:rPr>
              <a:t>A autorização ainda não foi concedida</a:t>
            </a:r>
          </a:p>
        </p:txBody>
      </p:sp>
      <p:sp>
        <p:nvSpPr>
          <p:cNvPr id="44" name="Freeform 43"/>
          <p:cNvSpPr/>
          <p:nvPr/>
        </p:nvSpPr>
        <p:spPr>
          <a:xfrm>
            <a:off x="6172200" y="5202936"/>
            <a:ext cx="274320" cy="0"/>
          </a:xfrm>
          <a:custGeom>
            <a:avLst/>
            <a:gdLst/>
            <a:ahLst/>
            <a:cxnLst/>
            <a:rect l="l" t="t" r="r" b="b"/>
            <a:pathLst>
              <a:path w="274320" h="0">
                <a:moveTo>
                  <a:pt x="0" y="0"/>
                </a:moveTo>
                <a:lnTo>
                  <a:pt x="274320" y="0"/>
                </a:lnTo>
              </a:path>
            </a:pathLst>
          </a:custGeom>
          <a:noFill/>
          <a:ln w="12700" cap="rnd">
            <a:solidFill>
              <a:srgbClr val="9A9DB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6390004" y="5172886"/>
            <a:ext cx="56516" cy="60100"/>
          </a:xfrm>
          <a:custGeom>
            <a:avLst/>
            <a:gdLst/>
            <a:ahLst/>
            <a:cxnLst/>
            <a:rect l="l" t="t" r="r" b="b"/>
            <a:pathLst>
              <a:path w="56516" h="60100">
                <a:moveTo>
                  <a:pt x="56516" y="30050"/>
                </a:moveTo>
                <a:lnTo>
                  <a:pt x="0" y="60100"/>
                </a:lnTo>
                <a:lnTo>
                  <a:pt x="0" y="0"/>
                </a:lnTo>
                <a:close/>
              </a:path>
            </a:pathLst>
          </a:custGeom>
          <a:solidFill>
            <a:srgbClr val="9A9DB0"/>
          </a:solidFill>
          <a:ln w="7620" cap="rnd">
            <a:solidFill>
              <a:srgbClr val="9A9DB0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92824" y="4956048"/>
            <a:ext cx="4602449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3A3C55"/>
                </a:solidFill>
                <a:latin typeface="Montserrat"/>
              </a:rPr>
              <a:t>Sem o vínculo, não conseguimos emitir e a coleta fica parada. É o item mais urgente.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614416"/>
            <a:ext cx="10637489" cy="438912"/>
          </a:xfrm>
          <a:prstGeom prst="rect">
            <a:avLst/>
          </a:prstGeom>
          <a:solidFill>
            <a:srgbClr val="F4F5FC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777240" y="5614416"/>
            <a:ext cx="32004" cy="438912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1119225" y="5746089"/>
            <a:ext cx="65836" cy="65836"/>
          </a:xfrm>
          <a:prstGeom prst="ellipse">
            <a:avLst/>
          </a:pr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50" name="Freeform 49"/>
          <p:cNvSpPr/>
          <p:nvPr/>
        </p:nvSpPr>
        <p:spPr>
          <a:xfrm>
            <a:off x="1079203" y="5866790"/>
            <a:ext cx="145882" cy="58938"/>
          </a:xfrm>
          <a:custGeom>
            <a:avLst/>
            <a:gdLst/>
            <a:ahLst/>
            <a:cxnLst/>
            <a:rect l="l" t="t" r="r" b="b"/>
            <a:pathLst>
              <a:path w="145882" h="58938">
                <a:moveTo>
                  <a:pt x="0" y="58938"/>
                </a:moveTo>
                <a:lnTo>
                  <a:pt x="2215" y="50146"/>
                </a:lnTo>
                <a:lnTo>
                  <a:pt x="5568" y="41695"/>
                </a:lnTo>
                <a:lnTo>
                  <a:pt x="10005" y="33720"/>
                </a:lnTo>
                <a:lnTo>
                  <a:pt x="15455" y="26351"/>
                </a:lnTo>
                <a:lnTo>
                  <a:pt x="21829" y="19705"/>
                </a:lnTo>
                <a:lnTo>
                  <a:pt x="29026" y="13889"/>
                </a:lnTo>
                <a:lnTo>
                  <a:pt x="36930" y="8998"/>
                </a:lnTo>
                <a:lnTo>
                  <a:pt x="45413" y="5109"/>
                </a:lnTo>
                <a:lnTo>
                  <a:pt x="54339" y="2286"/>
                </a:lnTo>
                <a:lnTo>
                  <a:pt x="63565" y="574"/>
                </a:lnTo>
                <a:lnTo>
                  <a:pt x="72941" y="0"/>
                </a:lnTo>
                <a:lnTo>
                  <a:pt x="82317" y="574"/>
                </a:lnTo>
                <a:lnTo>
                  <a:pt x="91543" y="2286"/>
                </a:lnTo>
                <a:lnTo>
                  <a:pt x="100469" y="5109"/>
                </a:lnTo>
                <a:lnTo>
                  <a:pt x="108952" y="8998"/>
                </a:lnTo>
                <a:lnTo>
                  <a:pt x="116856" y="13889"/>
                </a:lnTo>
                <a:lnTo>
                  <a:pt x="124053" y="19705"/>
                </a:lnTo>
                <a:lnTo>
                  <a:pt x="130427" y="26351"/>
                </a:lnTo>
                <a:lnTo>
                  <a:pt x="135877" y="33720"/>
                </a:lnTo>
                <a:lnTo>
                  <a:pt x="140314" y="41695"/>
                </a:lnTo>
                <a:lnTo>
                  <a:pt x="143667" y="50146"/>
                </a:lnTo>
                <a:lnTo>
                  <a:pt x="145882" y="58938"/>
                </a:lnTo>
              </a:path>
            </a:pathLst>
          </a:custGeom>
          <a:noFill/>
          <a:ln w="15875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34186" y="5781751"/>
            <a:ext cx="49377" cy="49377"/>
          </a:xfrm>
          <a:prstGeom prst="ellipse">
            <a:avLst/>
          </a:prstGeom>
          <a:noFill/>
          <a:ln w="13494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52" name="Freeform 51"/>
          <p:cNvSpPr/>
          <p:nvPr/>
        </p:nvSpPr>
        <p:spPr>
          <a:xfrm>
            <a:off x="1013830" y="5899709"/>
            <a:ext cx="90091" cy="36598"/>
          </a:xfrm>
          <a:custGeom>
            <a:avLst/>
            <a:gdLst/>
            <a:ahLst/>
            <a:cxnLst/>
            <a:rect l="l" t="t" r="r" b="b"/>
            <a:pathLst>
              <a:path w="90091" h="36598">
                <a:moveTo>
                  <a:pt x="0" y="36598"/>
                </a:moveTo>
                <a:lnTo>
                  <a:pt x="2225" y="29820"/>
                </a:lnTo>
                <a:lnTo>
                  <a:pt x="5354" y="23455"/>
                </a:lnTo>
                <a:lnTo>
                  <a:pt x="9321" y="17638"/>
                </a:lnTo>
                <a:lnTo>
                  <a:pt x="14043" y="12491"/>
                </a:lnTo>
                <a:lnTo>
                  <a:pt x="19419" y="8123"/>
                </a:lnTo>
                <a:lnTo>
                  <a:pt x="25337" y="4626"/>
                </a:lnTo>
                <a:lnTo>
                  <a:pt x="31670" y="2074"/>
                </a:lnTo>
                <a:lnTo>
                  <a:pt x="38286" y="521"/>
                </a:lnTo>
                <a:lnTo>
                  <a:pt x="45045" y="0"/>
                </a:lnTo>
                <a:lnTo>
                  <a:pt x="51804" y="521"/>
                </a:lnTo>
                <a:lnTo>
                  <a:pt x="58420" y="2074"/>
                </a:lnTo>
                <a:lnTo>
                  <a:pt x="64754" y="4626"/>
                </a:lnTo>
                <a:lnTo>
                  <a:pt x="70671" y="8123"/>
                </a:lnTo>
                <a:lnTo>
                  <a:pt x="76048" y="12491"/>
                </a:lnTo>
                <a:lnTo>
                  <a:pt x="80769" y="17638"/>
                </a:lnTo>
                <a:lnTo>
                  <a:pt x="84737" y="23455"/>
                </a:lnTo>
                <a:lnTo>
                  <a:pt x="87866" y="29820"/>
                </a:lnTo>
                <a:lnTo>
                  <a:pt x="90091" y="36598"/>
                </a:lnTo>
              </a:path>
            </a:pathLst>
          </a:custGeom>
          <a:noFill/>
          <a:ln w="13494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20724" y="5781751"/>
            <a:ext cx="49377" cy="49377"/>
          </a:xfrm>
          <a:prstGeom prst="ellipse">
            <a:avLst/>
          </a:prstGeom>
          <a:noFill/>
          <a:ln w="13494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54" name="Freeform 53"/>
          <p:cNvSpPr/>
          <p:nvPr/>
        </p:nvSpPr>
        <p:spPr>
          <a:xfrm>
            <a:off x="1200367" y="5899709"/>
            <a:ext cx="90091" cy="36598"/>
          </a:xfrm>
          <a:custGeom>
            <a:avLst/>
            <a:gdLst/>
            <a:ahLst/>
            <a:cxnLst/>
            <a:rect l="l" t="t" r="r" b="b"/>
            <a:pathLst>
              <a:path w="90091" h="36598">
                <a:moveTo>
                  <a:pt x="0" y="36598"/>
                </a:moveTo>
                <a:lnTo>
                  <a:pt x="2225" y="29820"/>
                </a:lnTo>
                <a:lnTo>
                  <a:pt x="5354" y="23455"/>
                </a:lnTo>
                <a:lnTo>
                  <a:pt x="9322" y="17638"/>
                </a:lnTo>
                <a:lnTo>
                  <a:pt x="14043" y="12491"/>
                </a:lnTo>
                <a:lnTo>
                  <a:pt x="19420" y="8123"/>
                </a:lnTo>
                <a:lnTo>
                  <a:pt x="25337" y="4626"/>
                </a:lnTo>
                <a:lnTo>
                  <a:pt x="31671" y="2074"/>
                </a:lnTo>
                <a:lnTo>
                  <a:pt x="38287" y="521"/>
                </a:lnTo>
                <a:lnTo>
                  <a:pt x="45046" y="0"/>
                </a:lnTo>
                <a:lnTo>
                  <a:pt x="51805" y="521"/>
                </a:lnTo>
                <a:lnTo>
                  <a:pt x="58421" y="2074"/>
                </a:lnTo>
                <a:lnTo>
                  <a:pt x="64754" y="4626"/>
                </a:lnTo>
                <a:lnTo>
                  <a:pt x="70672" y="8123"/>
                </a:lnTo>
                <a:lnTo>
                  <a:pt x="76048" y="12491"/>
                </a:lnTo>
                <a:lnTo>
                  <a:pt x="80770" y="17638"/>
                </a:lnTo>
                <a:lnTo>
                  <a:pt x="84737" y="23455"/>
                </a:lnTo>
                <a:lnTo>
                  <a:pt x="87866" y="29820"/>
                </a:lnTo>
                <a:lnTo>
                  <a:pt x="90091" y="36598"/>
                </a:lnTo>
              </a:path>
            </a:pathLst>
          </a:custGeom>
          <a:noFill/>
          <a:ln w="13494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472184" y="5614416"/>
            <a:ext cx="9668225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19" b="0" i="0">
                <a:solidFill>
                  <a:srgbClr val="3A3C55"/>
                </a:solidFill>
                <a:latin typeface="Montserrat"/>
              </a:rPr>
              <a:t>Travou em qualquer um desses pontos? Fale com a gente — resolvemos junto.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5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>
            <a:off x="777240" y="669340"/>
            <a:ext cx="274320" cy="0"/>
          </a:xfrm>
          <a:prstGeom prst="line">
            <a:avLst/>
          </a:prstGeom>
          <a:ln w="20320" cap="rnd">
            <a:solidFill>
              <a:srgbClr val="3432C9"/>
            </a:solidFill>
            <a:round/>
          </a:ln>
          <a:effectLst/>
        </p:spPr>
      </p:cxnSp>
      <p:sp>
        <p:nvSpPr>
          <p:cNvPr id="4" name="TextBox 3"/>
          <p:cNvSpPr txBox="1"/>
          <p:nvPr/>
        </p:nvSpPr>
        <p:spPr>
          <a:xfrm>
            <a:off x="1197863" y="580644"/>
            <a:ext cx="7315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spc="190" cap="all">
                <a:solidFill>
                  <a:srgbClr val="3432C9"/>
                </a:solidFill>
                <a:latin typeface="Montserrat SemiBold"/>
              </a:rPr>
              <a:t>O que fazer agora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332720" cy="1371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550" b="0" i="0">
                <a:solidFill>
                  <a:srgbClr val="14142E"/>
                </a:solidFill>
                <a:latin typeface="Montserrat Light"/>
              </a:rPr>
              <a:t>Um </a:t>
            </a:r>
            <a:r>
              <a:rPr sz="2550" b="0" i="0">
                <a:solidFill>
                  <a:srgbClr val="14142E"/>
                </a:solidFill>
                <a:latin typeface="Montserrat SemiBold"/>
              </a:rPr>
              <a:t>checklist curto</a:t>
            </a:r>
            <a:r>
              <a:rPr sz="2550" b="0" i="0">
                <a:solidFill>
                  <a:srgbClr val="14142E"/>
                </a:solidFill>
                <a:latin typeface="Montserrat Light"/>
              </a:rPr>
              <a:t> para a sua equipe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37489" cy="0"/>
          </a:xfrm>
          <a:prstGeom prst="line">
            <a:avLst/>
          </a:prstGeom>
          <a:ln w="9525" cap="rnd">
            <a:solidFill>
              <a:srgbClr val="DFE2F0"/>
            </a:solidFill>
            <a:round/>
          </a:ln>
          <a:effectLst/>
        </p:spPr>
      </p:cxnSp>
      <p:pic>
        <p:nvPicPr>
          <p:cNvPr id="7" name="Picture 6" descr="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345936"/>
            <a:ext cx="1133529" cy="2331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76969" y="6396228"/>
            <a:ext cx="4937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750" b="0" i="0" spc="50">
                <a:solidFill>
                  <a:srgbClr val="9A9DB0"/>
                </a:solidFill>
                <a:latin typeface="Montserrat"/>
              </a:rPr>
              <a:t>MTR Nacional  ·  Login Único Gov.br    |   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901952"/>
            <a:ext cx="274320" cy="274320"/>
          </a:xfrm>
          <a:prstGeom prst="rect">
            <a:avLst/>
          </a:prstGeom>
          <a:noFill/>
          <a:ln w="16510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234440" y="1847088"/>
            <a:ext cx="67665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60" b="0" i="0">
                <a:solidFill>
                  <a:srgbClr val="14142E"/>
                </a:solidFill>
                <a:latin typeface="Montserrat SemiBold"/>
              </a:rPr>
              <a:t>Identifique o Administrador da sua unidade no MTR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121408"/>
            <a:ext cx="67665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6E7288"/>
                </a:solidFill>
                <a:latin typeface="Montserrat"/>
              </a:rPr>
              <a:t>É quem cadastrou a empresa e pode autorizar novos usuários.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96896"/>
            <a:ext cx="274320" cy="274320"/>
          </a:xfrm>
          <a:prstGeom prst="rect">
            <a:avLst/>
          </a:prstGeom>
          <a:noFill/>
          <a:ln w="16510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67665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60" b="0" i="0">
                <a:solidFill>
                  <a:srgbClr val="14142E"/>
                </a:solidFill>
                <a:latin typeface="Montserrat SemiBold"/>
              </a:rPr>
              <a:t>Confirme se essa pessoa tem conta Gov.br ativa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816352"/>
            <a:ext cx="67665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6E7288"/>
                </a:solidFill>
                <a:latin typeface="Montserrat"/>
              </a:rPr>
              <a:t>Sem ela, não há como entrar no sistema.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291840"/>
            <a:ext cx="274320" cy="274320"/>
          </a:xfrm>
          <a:prstGeom prst="rect">
            <a:avLst/>
          </a:prstGeom>
          <a:noFill/>
          <a:ln w="16510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34440" y="3236976"/>
            <a:ext cx="67665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60" b="0" i="0">
                <a:solidFill>
                  <a:srgbClr val="14142E"/>
                </a:solidFill>
                <a:latin typeface="Montserrat SemiBold"/>
              </a:rPr>
              <a:t>Escolha a rota: A (você cadastra) ou B (nós solicitamos)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511296"/>
            <a:ext cx="67665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6E7288"/>
                </a:solidFill>
                <a:latin typeface="Montserrat"/>
              </a:rPr>
              <a:t>As duas levam ao mesmo resultado.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986784"/>
            <a:ext cx="274320" cy="274320"/>
          </a:xfrm>
          <a:prstGeom prst="rect">
            <a:avLst/>
          </a:prstGeom>
          <a:noFill/>
          <a:ln w="16510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34440" y="3931920"/>
            <a:ext cx="67665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60" b="0" i="0">
                <a:solidFill>
                  <a:srgbClr val="14142E"/>
                </a:solidFill>
                <a:latin typeface="Montserrat SemiBold"/>
              </a:rPr>
              <a:t>Cadastre ou aprove o CPF da nossa responsável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206240"/>
            <a:ext cx="67665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6E7288"/>
                </a:solidFill>
                <a:latin typeface="Montserrat"/>
              </a:rPr>
              <a:t>Ana Paola Nunes Lucato · 142.803.138-30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681728"/>
            <a:ext cx="274320" cy="274320"/>
          </a:xfrm>
          <a:prstGeom prst="rect">
            <a:avLst/>
          </a:prstGeom>
          <a:noFill/>
          <a:ln w="16510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34440" y="4626864"/>
            <a:ext cx="67665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60" b="0" i="0">
                <a:solidFill>
                  <a:srgbClr val="14142E"/>
                </a:solidFill>
                <a:latin typeface="Montserrat SemiBold"/>
              </a:rPr>
              <a:t>Nos avise por escrito quando estiver feito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901184"/>
            <a:ext cx="67665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6E7288"/>
                </a:solidFill>
                <a:latin typeface="Montserrat"/>
              </a:rPr>
              <a:t>Testamos o acesso e retomamos a emissão na mesma hora.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376672"/>
            <a:ext cx="274320" cy="274320"/>
          </a:xfrm>
          <a:prstGeom prst="rect">
            <a:avLst/>
          </a:prstGeom>
          <a:noFill/>
          <a:ln w="16510" cap="rnd">
            <a:solidFill>
              <a:srgbClr val="3432C9"/>
            </a:solidFill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34440" y="5321808"/>
            <a:ext cx="67665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60" b="0" i="0">
                <a:solidFill>
                  <a:srgbClr val="14142E"/>
                </a:solidFill>
                <a:latin typeface="Montserrat SemiBold"/>
              </a:rPr>
              <a:t>Revise periodicamente os usuários da unidade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596128"/>
            <a:ext cx="67665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6E7288"/>
                </a:solidFill>
                <a:latin typeface="Montserrat"/>
              </a:rPr>
              <a:t>Desative quem não faz mais parte da operação.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1847088"/>
            <a:ext cx="3273552" cy="2212848"/>
          </a:xfrm>
          <a:prstGeom prst="rect">
            <a:avLst/>
          </a:prstGeom>
          <a:solidFill>
            <a:srgbClr val="3432C9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28" name="Freeform 27"/>
          <p:cNvSpPr/>
          <p:nvPr/>
        </p:nvSpPr>
        <p:spPr>
          <a:xfrm>
            <a:off x="8414309" y="2195292"/>
            <a:ext cx="307238" cy="245790"/>
          </a:xfrm>
          <a:custGeom>
            <a:avLst/>
            <a:gdLst/>
            <a:ahLst/>
            <a:cxnLst/>
            <a:rect l="l" t="t" r="r" b="b"/>
            <a:pathLst>
              <a:path w="307238" h="245790">
                <a:moveTo>
                  <a:pt x="0" y="0"/>
                </a:moveTo>
                <a:lnTo>
                  <a:pt x="307238" y="0"/>
                </a:lnTo>
                <a:lnTo>
                  <a:pt x="307238" y="245790"/>
                </a:lnTo>
                <a:lnTo>
                  <a:pt x="0" y="245790"/>
                </a:lnTo>
                <a:close/>
              </a:path>
            </a:pathLst>
          </a:custGeom>
          <a:noFill/>
          <a:ln w="1587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8414309" y="2264420"/>
            <a:ext cx="307238" cy="0"/>
          </a:xfrm>
          <a:custGeom>
            <a:avLst/>
            <a:gdLst/>
            <a:ahLst/>
            <a:cxnLst/>
            <a:rect l="l" t="t" r="r" b="b"/>
            <a:pathLst>
              <a:path w="307238" h="0">
                <a:moveTo>
                  <a:pt x="0" y="0"/>
                </a:moveTo>
                <a:lnTo>
                  <a:pt x="307238" y="0"/>
                </a:lnTo>
              </a:path>
            </a:pathLst>
          </a:custGeom>
          <a:noFill/>
          <a:ln w="14288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8491118" y="2156887"/>
            <a:ext cx="0" cy="69128"/>
          </a:xfrm>
          <a:custGeom>
            <a:avLst/>
            <a:gdLst/>
            <a:ahLst/>
            <a:cxnLst/>
            <a:rect l="l" t="t" r="r" b="b"/>
            <a:pathLst>
              <a:path w="0" h="69128">
                <a:moveTo>
                  <a:pt x="0" y="0"/>
                </a:moveTo>
                <a:lnTo>
                  <a:pt x="0" y="69128"/>
                </a:lnTo>
              </a:path>
            </a:pathLst>
          </a:custGeom>
          <a:noFill/>
          <a:ln w="1587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8644738" y="2156887"/>
            <a:ext cx="0" cy="69128"/>
          </a:xfrm>
          <a:custGeom>
            <a:avLst/>
            <a:gdLst/>
            <a:ahLst/>
            <a:cxnLst/>
            <a:rect l="l" t="t" r="r" b="b"/>
            <a:pathLst>
              <a:path w="0" h="69128">
                <a:moveTo>
                  <a:pt x="0" y="0"/>
                </a:moveTo>
                <a:lnTo>
                  <a:pt x="0" y="69128"/>
                </a:lnTo>
              </a:path>
            </a:pathLst>
          </a:custGeom>
          <a:noFill/>
          <a:ln w="1587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65195" y="2307625"/>
            <a:ext cx="21122" cy="21122"/>
          </a:xfrm>
          <a:prstGeom prst="ellipse">
            <a:avLst/>
          </a:prstGeom>
          <a:solidFill>
            <a:srgbClr val="FFFFFF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8526642" y="2307625"/>
            <a:ext cx="21122" cy="21122"/>
          </a:xfrm>
          <a:prstGeom prst="ellipse">
            <a:avLst/>
          </a:prstGeom>
          <a:solidFill>
            <a:srgbClr val="FFFFFF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8588090" y="2307625"/>
            <a:ext cx="21122" cy="21122"/>
          </a:xfrm>
          <a:prstGeom prst="ellipse">
            <a:avLst/>
          </a:prstGeom>
          <a:solidFill>
            <a:srgbClr val="FFFFFF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649538" y="2307625"/>
            <a:ext cx="21122" cy="21122"/>
          </a:xfrm>
          <a:prstGeom prst="ellipse">
            <a:avLst/>
          </a:prstGeom>
          <a:solidFill>
            <a:srgbClr val="FFFFFF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8465195" y="2369073"/>
            <a:ext cx="21122" cy="21122"/>
          </a:xfrm>
          <a:prstGeom prst="ellipse">
            <a:avLst/>
          </a:prstGeom>
          <a:solidFill>
            <a:srgbClr val="FFFFFF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8526642" y="2369073"/>
            <a:ext cx="21122" cy="21122"/>
          </a:xfrm>
          <a:prstGeom prst="ellipse">
            <a:avLst/>
          </a:prstGeom>
          <a:solidFill>
            <a:srgbClr val="FFFFFF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8588090" y="2369073"/>
            <a:ext cx="21122" cy="21122"/>
          </a:xfrm>
          <a:prstGeom prst="ellipse">
            <a:avLst/>
          </a:prstGeom>
          <a:solidFill>
            <a:srgbClr val="FFFFFF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8649538" y="2369073"/>
            <a:ext cx="21122" cy="21122"/>
          </a:xfrm>
          <a:prstGeom prst="ellipse">
            <a:avLst/>
          </a:prstGeom>
          <a:solidFill>
            <a:srgbClr val="FFFFFF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375904" y="2651760"/>
            <a:ext cx="2798064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 spc="100" cap="all">
                <a:solidFill>
                  <a:srgbClr val="FFFFFF"/>
                </a:solidFill>
                <a:latin typeface="Montserrat SemiBold"/>
              </a:rPr>
              <a:t>Já em vigor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75904" y="2999232"/>
            <a:ext cx="2798064" cy="8229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200" b="0" i="0">
                <a:solidFill>
                  <a:srgbClr val="FFFFFF"/>
                </a:solidFill>
                <a:latin typeface="Montserrat Light"/>
              </a:rPr>
              <a:t>1º de agosto
de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75904" y="3675887"/>
            <a:ext cx="2798064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FFFFFF"/>
                </a:solidFill>
                <a:latin typeface="Montserrat"/>
              </a:rPr>
              <a:t>Login exclusivo pelo Gov.br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4224528"/>
            <a:ext cx="3273552" cy="731520"/>
          </a:xfrm>
          <a:prstGeom prst="rect">
            <a:avLst/>
          </a:prstGeom>
          <a:solidFill>
            <a:srgbClr val="FCEDE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8138160" y="4224528"/>
            <a:ext cx="32004" cy="731520"/>
          </a:xfrm>
          <a:prstGeom prst="rect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5" name="Freeform 44"/>
          <p:cNvSpPr/>
          <p:nvPr/>
        </p:nvSpPr>
        <p:spPr>
          <a:xfrm>
            <a:off x="8395106" y="4480560"/>
            <a:ext cx="235916" cy="208483"/>
          </a:xfrm>
          <a:custGeom>
            <a:avLst/>
            <a:gdLst/>
            <a:ahLst/>
            <a:cxnLst/>
            <a:rect l="l" t="t" r="r" b="b"/>
            <a:pathLst>
              <a:path w="235916" h="208483">
                <a:moveTo>
                  <a:pt x="117958" y="0"/>
                </a:moveTo>
                <a:lnTo>
                  <a:pt x="235916" y="208483"/>
                </a:lnTo>
                <a:lnTo>
                  <a:pt x="0" y="208483"/>
                </a:lnTo>
                <a:close/>
              </a:path>
            </a:pathLst>
          </a:custGeom>
          <a:noFill/>
          <a:ln w="15875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513064" y="4557370"/>
            <a:ext cx="0" cy="65836"/>
          </a:xfrm>
          <a:custGeom>
            <a:avLst/>
            <a:gdLst/>
            <a:ahLst/>
            <a:cxnLst/>
            <a:rect l="l" t="t" r="r" b="b"/>
            <a:pathLst>
              <a:path w="0" h="65836">
                <a:moveTo>
                  <a:pt x="0" y="0"/>
                </a:moveTo>
                <a:lnTo>
                  <a:pt x="0" y="65836"/>
                </a:lnTo>
              </a:path>
            </a:pathLst>
          </a:custGeom>
          <a:noFill/>
          <a:ln w="18256" cap="rnd">
            <a:solidFill>
              <a:srgbClr val="C0392B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502777" y="4644466"/>
            <a:ext cx="20574" cy="20574"/>
          </a:xfrm>
          <a:prstGeom prst="ellipse">
            <a:avLst/>
          </a:prstGeom>
          <a:solidFill>
            <a:srgbClr val="C0392B"/>
          </a:soli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833104" y="4224528"/>
            <a:ext cx="2304288" cy="7315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40" b="0" i="0">
                <a:solidFill>
                  <a:srgbClr val="3A3C55"/>
                </a:solidFill>
                <a:latin typeface="Montserrat"/>
              </a:rPr>
              <a:t>Sem acesso, sem MTR. Sem MTR, a carga não pode ser transportada. Resolver o acesso é o que destrava a coleta.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5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gradFill flip="none" rotWithShape="1">
            <a:gsLst>
              <a:gs pos="0">
                <a:srgbClr val="17165D"/>
              </a:gs>
              <a:gs pos="52000">
                <a:srgbClr val="24238E"/>
              </a:gs>
              <a:gs pos="100000">
                <a:srgbClr val="3432C9"/>
              </a:gs>
            </a:gsLst>
            <a:lin ang="2100000" scaled="0"/>
          </a:gra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 flipV="1">
            <a:off x="-6858000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4" name="Connector 3"/>
          <p:cNvCxnSpPr/>
          <p:nvPr/>
        </p:nvCxnSpPr>
        <p:spPr>
          <a:xfrm flipV="1">
            <a:off x="-6437376" y="0"/>
            <a:ext cx="6857999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5" name="Connector 4"/>
          <p:cNvCxnSpPr/>
          <p:nvPr/>
        </p:nvCxnSpPr>
        <p:spPr>
          <a:xfrm flipV="1">
            <a:off x="-6016752" y="0"/>
            <a:ext cx="6857999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6" name="Connector 5"/>
          <p:cNvCxnSpPr/>
          <p:nvPr/>
        </p:nvCxnSpPr>
        <p:spPr>
          <a:xfrm flipV="1">
            <a:off x="-5596128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7" name="Connector 6"/>
          <p:cNvCxnSpPr/>
          <p:nvPr/>
        </p:nvCxnSpPr>
        <p:spPr>
          <a:xfrm flipV="1">
            <a:off x="-5175504" y="0"/>
            <a:ext cx="6857999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8" name="Connector 7"/>
          <p:cNvCxnSpPr/>
          <p:nvPr/>
        </p:nvCxnSpPr>
        <p:spPr>
          <a:xfrm flipV="1">
            <a:off x="-4754879" y="0"/>
            <a:ext cx="6857999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9" name="Connector 8"/>
          <p:cNvCxnSpPr/>
          <p:nvPr/>
        </p:nvCxnSpPr>
        <p:spPr>
          <a:xfrm flipV="1">
            <a:off x="-4334256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10" name="Connector 9"/>
          <p:cNvCxnSpPr/>
          <p:nvPr/>
        </p:nvCxnSpPr>
        <p:spPr>
          <a:xfrm flipV="1">
            <a:off x="-3913631" y="0"/>
            <a:ext cx="6857999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11" name="Connector 10"/>
          <p:cNvCxnSpPr/>
          <p:nvPr/>
        </p:nvCxnSpPr>
        <p:spPr>
          <a:xfrm flipV="1">
            <a:off x="-3493008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12" name="Connector 11"/>
          <p:cNvCxnSpPr/>
          <p:nvPr/>
        </p:nvCxnSpPr>
        <p:spPr>
          <a:xfrm flipV="1">
            <a:off x="-3072383" y="0"/>
            <a:ext cx="6857999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13" name="Connector 12"/>
          <p:cNvCxnSpPr/>
          <p:nvPr/>
        </p:nvCxnSpPr>
        <p:spPr>
          <a:xfrm flipV="1">
            <a:off x="-2651759" y="0"/>
            <a:ext cx="6857999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14" name="Connector 13"/>
          <p:cNvCxnSpPr/>
          <p:nvPr/>
        </p:nvCxnSpPr>
        <p:spPr>
          <a:xfrm flipV="1">
            <a:off x="-2231135" y="0"/>
            <a:ext cx="6857999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15" name="Connector 14"/>
          <p:cNvCxnSpPr/>
          <p:nvPr/>
        </p:nvCxnSpPr>
        <p:spPr>
          <a:xfrm flipV="1">
            <a:off x="-1810511" y="0"/>
            <a:ext cx="6857999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16" name="Connector 15"/>
          <p:cNvCxnSpPr/>
          <p:nvPr/>
        </p:nvCxnSpPr>
        <p:spPr>
          <a:xfrm flipV="1">
            <a:off x="-1389887" y="0"/>
            <a:ext cx="6857999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17" name="Connector 16"/>
          <p:cNvCxnSpPr/>
          <p:nvPr/>
        </p:nvCxnSpPr>
        <p:spPr>
          <a:xfrm flipV="1">
            <a:off x="-969263" y="0"/>
            <a:ext cx="6857999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18" name="Connector 17"/>
          <p:cNvCxnSpPr/>
          <p:nvPr/>
        </p:nvCxnSpPr>
        <p:spPr>
          <a:xfrm flipV="1">
            <a:off x="-548639" y="0"/>
            <a:ext cx="6857999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19" name="Connector 18"/>
          <p:cNvCxnSpPr/>
          <p:nvPr/>
        </p:nvCxnSpPr>
        <p:spPr>
          <a:xfrm flipV="1">
            <a:off x="-128015" y="0"/>
            <a:ext cx="6857999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20" name="Connector 19"/>
          <p:cNvCxnSpPr/>
          <p:nvPr/>
        </p:nvCxnSpPr>
        <p:spPr>
          <a:xfrm flipV="1">
            <a:off x="292608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21" name="Connector 20"/>
          <p:cNvCxnSpPr/>
          <p:nvPr/>
        </p:nvCxnSpPr>
        <p:spPr>
          <a:xfrm flipV="1">
            <a:off x="713232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22" name="Connector 21"/>
          <p:cNvCxnSpPr/>
          <p:nvPr/>
        </p:nvCxnSpPr>
        <p:spPr>
          <a:xfrm flipV="1">
            <a:off x="1133856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23" name="Connector 22"/>
          <p:cNvCxnSpPr/>
          <p:nvPr/>
        </p:nvCxnSpPr>
        <p:spPr>
          <a:xfrm flipV="1">
            <a:off x="1554480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24" name="Connector 23"/>
          <p:cNvCxnSpPr/>
          <p:nvPr/>
        </p:nvCxnSpPr>
        <p:spPr>
          <a:xfrm flipV="1">
            <a:off x="1975104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25" name="Connector 24"/>
          <p:cNvCxnSpPr/>
          <p:nvPr/>
        </p:nvCxnSpPr>
        <p:spPr>
          <a:xfrm flipV="1">
            <a:off x="2395728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26" name="Connector 25"/>
          <p:cNvCxnSpPr/>
          <p:nvPr/>
        </p:nvCxnSpPr>
        <p:spPr>
          <a:xfrm flipV="1">
            <a:off x="2816352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27" name="Connector 26"/>
          <p:cNvCxnSpPr/>
          <p:nvPr/>
        </p:nvCxnSpPr>
        <p:spPr>
          <a:xfrm flipV="1">
            <a:off x="3236976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28" name="Connector 27"/>
          <p:cNvCxnSpPr/>
          <p:nvPr/>
        </p:nvCxnSpPr>
        <p:spPr>
          <a:xfrm flipV="1">
            <a:off x="3657600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29" name="Connector 28"/>
          <p:cNvCxnSpPr/>
          <p:nvPr/>
        </p:nvCxnSpPr>
        <p:spPr>
          <a:xfrm flipV="1">
            <a:off x="4078224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30" name="Connector 29"/>
          <p:cNvCxnSpPr/>
          <p:nvPr/>
        </p:nvCxnSpPr>
        <p:spPr>
          <a:xfrm flipV="1">
            <a:off x="4498848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31" name="Connector 30"/>
          <p:cNvCxnSpPr/>
          <p:nvPr/>
        </p:nvCxnSpPr>
        <p:spPr>
          <a:xfrm flipV="1">
            <a:off x="4919472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32" name="Connector 31"/>
          <p:cNvCxnSpPr/>
          <p:nvPr/>
        </p:nvCxnSpPr>
        <p:spPr>
          <a:xfrm flipV="1">
            <a:off x="5340096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33" name="Connector 32"/>
          <p:cNvCxnSpPr/>
          <p:nvPr/>
        </p:nvCxnSpPr>
        <p:spPr>
          <a:xfrm flipV="1">
            <a:off x="5760720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34" name="Connector 33"/>
          <p:cNvCxnSpPr/>
          <p:nvPr/>
        </p:nvCxnSpPr>
        <p:spPr>
          <a:xfrm flipV="1">
            <a:off x="6181344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35" name="Connector 34"/>
          <p:cNvCxnSpPr/>
          <p:nvPr/>
        </p:nvCxnSpPr>
        <p:spPr>
          <a:xfrm flipV="1">
            <a:off x="6601968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36" name="Connector 35"/>
          <p:cNvCxnSpPr/>
          <p:nvPr/>
        </p:nvCxnSpPr>
        <p:spPr>
          <a:xfrm flipV="1">
            <a:off x="7022592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37" name="Connector 36"/>
          <p:cNvCxnSpPr/>
          <p:nvPr/>
        </p:nvCxnSpPr>
        <p:spPr>
          <a:xfrm flipV="1">
            <a:off x="7443216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38" name="Connector 37"/>
          <p:cNvCxnSpPr/>
          <p:nvPr/>
        </p:nvCxnSpPr>
        <p:spPr>
          <a:xfrm flipV="1">
            <a:off x="7863840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39" name="Connector 38"/>
          <p:cNvCxnSpPr/>
          <p:nvPr/>
        </p:nvCxnSpPr>
        <p:spPr>
          <a:xfrm flipV="1">
            <a:off x="8284464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40" name="Connector 39"/>
          <p:cNvCxnSpPr/>
          <p:nvPr/>
        </p:nvCxnSpPr>
        <p:spPr>
          <a:xfrm flipV="1">
            <a:off x="8705088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41" name="Connector 40"/>
          <p:cNvCxnSpPr/>
          <p:nvPr/>
        </p:nvCxnSpPr>
        <p:spPr>
          <a:xfrm flipV="1">
            <a:off x="9125712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42" name="Connector 41"/>
          <p:cNvCxnSpPr/>
          <p:nvPr/>
        </p:nvCxnSpPr>
        <p:spPr>
          <a:xfrm flipV="1">
            <a:off x="9546336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43" name="Connector 42"/>
          <p:cNvCxnSpPr/>
          <p:nvPr/>
        </p:nvCxnSpPr>
        <p:spPr>
          <a:xfrm flipV="1">
            <a:off x="9966960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44" name="Connector 43"/>
          <p:cNvCxnSpPr/>
          <p:nvPr/>
        </p:nvCxnSpPr>
        <p:spPr>
          <a:xfrm flipV="1">
            <a:off x="10387584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45" name="Connector 44"/>
          <p:cNvCxnSpPr/>
          <p:nvPr/>
        </p:nvCxnSpPr>
        <p:spPr>
          <a:xfrm flipV="1">
            <a:off x="10808208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46" name="Connector 45"/>
          <p:cNvCxnSpPr/>
          <p:nvPr/>
        </p:nvCxnSpPr>
        <p:spPr>
          <a:xfrm flipV="1">
            <a:off x="11228832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47" name="Connector 46"/>
          <p:cNvCxnSpPr/>
          <p:nvPr/>
        </p:nvCxnSpPr>
        <p:spPr>
          <a:xfrm flipV="1">
            <a:off x="11649456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48" name="Connector 47"/>
          <p:cNvCxnSpPr/>
          <p:nvPr/>
        </p:nvCxnSpPr>
        <p:spPr>
          <a:xfrm flipV="1">
            <a:off x="12070080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cxnSp>
        <p:nvCxnSpPr>
          <p:cNvPr id="49" name="Connector 48"/>
          <p:cNvCxnSpPr/>
          <p:nvPr/>
        </p:nvCxnSpPr>
        <p:spPr>
          <a:xfrm flipV="1">
            <a:off x="12490704" y="0"/>
            <a:ext cx="6858000" cy="6858000"/>
          </a:xfrm>
          <a:prstGeom prst="line">
            <a:avLst/>
          </a:prstGeom>
          <a:ln w="6350" cap="rnd">
            <a:solidFill>
              <a:srgbClr val="FFFFFF">
                <a:alpha val="5500"/>
              </a:srgbClr>
            </a:solidFill>
            <a:round/>
          </a:ln>
          <a:effectLst/>
        </p:spPr>
      </p:cxnSp>
      <p:sp>
        <p:nvSpPr>
          <p:cNvPr id="50" name="Rectangle 49"/>
          <p:cNvSpPr/>
          <p:nvPr/>
        </p:nvSpPr>
        <p:spPr>
          <a:xfrm>
            <a:off x="5120627" y="0"/>
            <a:ext cx="7071342" cy="6858000"/>
          </a:xfrm>
          <a:prstGeom prst="rect">
            <a:avLst/>
          </a:prstGeom>
          <a:gradFill flip="none" rotWithShape="1">
            <a:gsLst>
              <a:gs pos="0">
                <a:srgbClr val="3432C9">
                  <a:alpha val="0"/>
                </a:srgbClr>
              </a:gs>
              <a:gs pos="100000">
                <a:srgbClr val="3432C9">
                  <a:alpha val="32000"/>
                </a:srgbClr>
              </a:gs>
            </a:gsLst>
            <a:lin ang="0" scaled="0"/>
          </a:gradFill>
          <a:ln w="12700" cap="rnd">
            <a:noFill/>
            <a:round/>
          </a:ln>
          <a:effectLst/>
        </p:spPr>
        <p:txBody>
          <a:bodyPr rtlCol="0" anchor="ctr"/>
          <a:lstStyle/>
          <a:p/>
        </p:txBody>
      </p:sp>
      <p:cxnSp>
        <p:nvCxnSpPr>
          <p:cNvPr id="51" name="Connector 50"/>
          <p:cNvCxnSpPr/>
          <p:nvPr/>
        </p:nvCxnSpPr>
        <p:spPr>
          <a:xfrm>
            <a:off x="7543800" y="0"/>
            <a:ext cx="0" cy="6858000"/>
          </a:xfrm>
          <a:prstGeom prst="line">
            <a:avLst/>
          </a:prstGeom>
          <a:ln w="9525" cap="rnd">
            <a:solidFill>
              <a:srgbClr val="FFFFFF">
                <a:alpha val="18000"/>
              </a:srgbClr>
            </a:solidFill>
            <a:round/>
          </a:ln>
          <a:effectLst/>
        </p:spPr>
      </p:cxnSp>
      <p:sp>
        <p:nvSpPr>
          <p:cNvPr id="52" name="Freeform 51"/>
          <p:cNvSpPr/>
          <p:nvPr/>
        </p:nvSpPr>
        <p:spPr>
          <a:xfrm>
            <a:off x="10829496" y="894846"/>
            <a:ext cx="257218" cy="334839"/>
          </a:xfrm>
          <a:custGeom>
            <a:avLst/>
            <a:gdLst/>
            <a:ahLst/>
            <a:cxnLst/>
            <a:rect l="l" t="t" r="r" b="b"/>
            <a:pathLst>
              <a:path w="257218" h="334839">
                <a:moveTo>
                  <a:pt x="185446" y="0"/>
                </a:moveTo>
                <a:lnTo>
                  <a:pt x="198981" y="11655"/>
                </a:lnTo>
                <a:lnTo>
                  <a:pt x="211343" y="24546"/>
                </a:lnTo>
                <a:lnTo>
                  <a:pt x="222421" y="38556"/>
                </a:lnTo>
                <a:lnTo>
                  <a:pt x="232113" y="53558"/>
                </a:lnTo>
                <a:lnTo>
                  <a:pt x="240333" y="69415"/>
                </a:lnTo>
                <a:lnTo>
                  <a:pt x="247005" y="85983"/>
                </a:lnTo>
                <a:lnTo>
                  <a:pt x="252067" y="103112"/>
                </a:lnTo>
                <a:lnTo>
                  <a:pt x="255475" y="120644"/>
                </a:lnTo>
                <a:lnTo>
                  <a:pt x="257198" y="138422"/>
                </a:lnTo>
                <a:lnTo>
                  <a:pt x="257218" y="156283"/>
                </a:lnTo>
                <a:lnTo>
                  <a:pt x="255537" y="174064"/>
                </a:lnTo>
                <a:lnTo>
                  <a:pt x="252170" y="191605"/>
                </a:lnTo>
                <a:lnTo>
                  <a:pt x="247147" y="208745"/>
                </a:lnTo>
                <a:lnTo>
                  <a:pt x="240514" y="225328"/>
                </a:lnTo>
                <a:lnTo>
                  <a:pt x="232332" y="241205"/>
                </a:lnTo>
                <a:lnTo>
                  <a:pt x="222674" y="256229"/>
                </a:lnTo>
                <a:lnTo>
                  <a:pt x="211629" y="270265"/>
                </a:lnTo>
                <a:lnTo>
                  <a:pt x="199296" y="283185"/>
                </a:lnTo>
                <a:lnTo>
                  <a:pt x="185789" y="294871"/>
                </a:lnTo>
                <a:lnTo>
                  <a:pt x="171231" y="305218"/>
                </a:lnTo>
                <a:lnTo>
                  <a:pt x="155752" y="314130"/>
                </a:lnTo>
                <a:lnTo>
                  <a:pt x="139495" y="321528"/>
                </a:lnTo>
                <a:lnTo>
                  <a:pt x="122608" y="327342"/>
                </a:lnTo>
                <a:lnTo>
                  <a:pt x="105243" y="331522"/>
                </a:lnTo>
                <a:lnTo>
                  <a:pt x="87559" y="334028"/>
                </a:lnTo>
                <a:lnTo>
                  <a:pt x="69716" y="334839"/>
                </a:lnTo>
                <a:lnTo>
                  <a:pt x="51878" y="333945"/>
                </a:lnTo>
                <a:lnTo>
                  <a:pt x="34205" y="331357"/>
                </a:lnTo>
                <a:lnTo>
                  <a:pt x="16860" y="327096"/>
                </a:lnTo>
                <a:lnTo>
                  <a:pt x="0" y="321203"/>
                </a:lnTo>
              </a:path>
            </a:pathLst>
          </a:custGeom>
          <a:noFill/>
          <a:ln w="1587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10829496" y="1199166"/>
            <a:ext cx="109902" cy="98555"/>
          </a:xfrm>
          <a:custGeom>
            <a:avLst/>
            <a:gdLst/>
            <a:ahLst/>
            <a:cxnLst/>
            <a:rect l="l" t="t" r="r" b="b"/>
            <a:pathLst>
              <a:path w="109902" h="98555">
                <a:moveTo>
                  <a:pt x="0" y="16883"/>
                </a:moveTo>
                <a:lnTo>
                  <a:pt x="109902" y="0"/>
                </a:lnTo>
                <a:lnTo>
                  <a:pt x="75453" y="98555"/>
                </a:lnTo>
                <a:close/>
              </a:path>
            </a:pathLst>
          </a:custGeom>
          <a:solidFill>
            <a:srgbClr val="FFFFFF"/>
          </a:solidFill>
          <a:ln w="95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0712582" y="855147"/>
            <a:ext cx="257218" cy="334839"/>
          </a:xfrm>
          <a:custGeom>
            <a:avLst/>
            <a:gdLst/>
            <a:ahLst/>
            <a:cxnLst/>
            <a:rect l="l" t="t" r="r" b="b"/>
            <a:pathLst>
              <a:path w="257218" h="334839">
                <a:moveTo>
                  <a:pt x="71772" y="334839"/>
                </a:moveTo>
                <a:lnTo>
                  <a:pt x="58237" y="323184"/>
                </a:lnTo>
                <a:lnTo>
                  <a:pt x="45875" y="310293"/>
                </a:lnTo>
                <a:lnTo>
                  <a:pt x="34797" y="296283"/>
                </a:lnTo>
                <a:lnTo>
                  <a:pt x="25105" y="281281"/>
                </a:lnTo>
                <a:lnTo>
                  <a:pt x="16885" y="265424"/>
                </a:lnTo>
                <a:lnTo>
                  <a:pt x="10213" y="248856"/>
                </a:lnTo>
                <a:lnTo>
                  <a:pt x="5151" y="231727"/>
                </a:lnTo>
                <a:lnTo>
                  <a:pt x="1743" y="214195"/>
                </a:lnTo>
                <a:lnTo>
                  <a:pt x="20" y="196417"/>
                </a:lnTo>
                <a:lnTo>
                  <a:pt x="0" y="178556"/>
                </a:lnTo>
                <a:lnTo>
                  <a:pt x="1681" y="160775"/>
                </a:lnTo>
                <a:lnTo>
                  <a:pt x="5048" y="143234"/>
                </a:lnTo>
                <a:lnTo>
                  <a:pt x="10071" y="126094"/>
                </a:lnTo>
                <a:lnTo>
                  <a:pt x="16704" y="109511"/>
                </a:lnTo>
                <a:lnTo>
                  <a:pt x="24886" y="93634"/>
                </a:lnTo>
                <a:lnTo>
                  <a:pt x="34544" y="78610"/>
                </a:lnTo>
                <a:lnTo>
                  <a:pt x="45589" y="64574"/>
                </a:lnTo>
                <a:lnTo>
                  <a:pt x="57922" y="51654"/>
                </a:lnTo>
                <a:lnTo>
                  <a:pt x="71429" y="39968"/>
                </a:lnTo>
                <a:lnTo>
                  <a:pt x="85987" y="29621"/>
                </a:lnTo>
                <a:lnTo>
                  <a:pt x="101466" y="20709"/>
                </a:lnTo>
                <a:lnTo>
                  <a:pt x="117723" y="13311"/>
                </a:lnTo>
                <a:lnTo>
                  <a:pt x="134610" y="7497"/>
                </a:lnTo>
                <a:lnTo>
                  <a:pt x="151975" y="3317"/>
                </a:lnTo>
                <a:lnTo>
                  <a:pt x="169659" y="811"/>
                </a:lnTo>
                <a:lnTo>
                  <a:pt x="187502" y="0"/>
                </a:lnTo>
                <a:lnTo>
                  <a:pt x="205340" y="894"/>
                </a:lnTo>
                <a:lnTo>
                  <a:pt x="223013" y="3482"/>
                </a:lnTo>
                <a:lnTo>
                  <a:pt x="240358" y="7743"/>
                </a:lnTo>
                <a:lnTo>
                  <a:pt x="257218" y="13636"/>
                </a:lnTo>
              </a:path>
            </a:pathLst>
          </a:custGeom>
          <a:noFill/>
          <a:ln w="1587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10859898" y="787111"/>
            <a:ext cx="109902" cy="98555"/>
          </a:xfrm>
          <a:custGeom>
            <a:avLst/>
            <a:gdLst/>
            <a:ahLst/>
            <a:cxnLst/>
            <a:rect l="l" t="t" r="r" b="b"/>
            <a:pathLst>
              <a:path w="109902" h="98555">
                <a:moveTo>
                  <a:pt x="109902" y="81672"/>
                </a:moveTo>
                <a:lnTo>
                  <a:pt x="0" y="98555"/>
                </a:lnTo>
                <a:lnTo>
                  <a:pt x="34449" y="0"/>
                </a:lnTo>
                <a:close/>
              </a:path>
            </a:pathLst>
          </a:custGeom>
          <a:solidFill>
            <a:srgbClr val="FFFFFF"/>
          </a:solidFill>
          <a:ln w="95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777240" y="1163116"/>
            <a:ext cx="274320" cy="0"/>
          </a:xfrm>
          <a:prstGeom prst="line">
            <a:avLst/>
          </a:prstGeom>
          <a:ln w="20320" cap="rnd">
            <a:solidFill>
              <a:srgbClr val="FFFFFF"/>
            </a:solidFill>
            <a:round/>
          </a:ln>
          <a:effectLst/>
        </p:spPr>
      </p:cxnSp>
      <p:sp>
        <p:nvSpPr>
          <p:cNvPr id="57" name="TextBox 56"/>
          <p:cNvSpPr txBox="1"/>
          <p:nvPr/>
        </p:nvSpPr>
        <p:spPr>
          <a:xfrm>
            <a:off x="1197863" y="1074420"/>
            <a:ext cx="73152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 spc="190" cap="all">
                <a:solidFill>
                  <a:srgbClr val="FFFFFF"/>
                </a:solidFill>
                <a:latin typeface="Montserrat SemiBold"/>
              </a:rPr>
              <a:t>Nunes &amp; Lucato  ·  Gestão Ambiental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" y="1481328"/>
            <a:ext cx="6675120" cy="20116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1700" b="0" i="0">
                <a:solidFill>
                  <a:srgbClr val="FFFFFF"/>
                </a:solidFill>
                <a:latin typeface="Montserrat Light"/>
              </a:rPr>
              <a:t>A mudança é só no acesso. O nosso compromisso com a </a:t>
            </a:r>
            <a:r>
              <a:rPr sz="1700" b="0" i="0">
                <a:solidFill>
                  <a:srgbClr val="FFFFFF"/>
                </a:solidFill>
                <a:latin typeface="Montserrat SemiBold"/>
              </a:rPr>
              <a:t>rastreabilidade dos seus resíduos</a:t>
            </a:r>
            <a:r>
              <a:rPr sz="1700" b="0" i="0">
                <a:solidFill>
                  <a:srgbClr val="FFFFFF"/>
                </a:solidFill>
                <a:latin typeface="Montserrat Light"/>
              </a:rPr>
              <a:t> e com a regularidade da sua documentação continua </a:t>
            </a:r>
            <a:r>
              <a:rPr sz="1700" b="0" i="0">
                <a:solidFill>
                  <a:srgbClr val="FFFFFF"/>
                </a:solidFill>
                <a:latin typeface="Montserrat SemiBold"/>
              </a:rPr>
              <a:t>exatamente o mesmo</a:t>
            </a:r>
            <a:r>
              <a:rPr sz="1700" b="0" i="0">
                <a:solidFill>
                  <a:srgbClr val="FFFFFF"/>
                </a:solidFill>
                <a:latin typeface="Montserrat Light"/>
              </a:rPr>
              <a:t>.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777240" y="3584448"/>
            <a:ext cx="960120" cy="0"/>
          </a:xfrm>
          <a:prstGeom prst="line">
            <a:avLst/>
          </a:prstGeom>
          <a:ln w="22860" cap="rnd">
            <a:solidFill>
              <a:srgbClr val="FFFFFF">
                <a:alpha val="75000"/>
              </a:srgbClr>
            </a:solidFill>
            <a:round/>
          </a:ln>
          <a:effectLst/>
        </p:spPr>
      </p:cxnSp>
      <p:sp>
        <p:nvSpPr>
          <p:cNvPr id="60" name="TextBox 59"/>
          <p:cNvSpPr txBox="1"/>
          <p:nvPr/>
        </p:nvSpPr>
        <p:spPr>
          <a:xfrm>
            <a:off x="777240" y="3822191"/>
            <a:ext cx="320040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 i="0" spc="120" cap="all">
                <a:solidFill>
                  <a:srgbClr val="FFFFFF"/>
                </a:solidFill>
                <a:latin typeface="Montserrat"/>
              </a:rPr>
              <a:t>Fale com a nossa equipe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69080" y="3794759"/>
            <a:ext cx="329184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40" b="0" i="0">
                <a:solidFill>
                  <a:srgbClr val="FFFFFF"/>
                </a:solidFill>
                <a:latin typeface="Montserrat SemiBold"/>
              </a:rPr>
              <a:t>Ana Paola Nunes Lucato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240" y="4224528"/>
            <a:ext cx="320040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 i="0" spc="120" cap="all">
                <a:solidFill>
                  <a:srgbClr val="FFFFFF"/>
                </a:solidFill>
                <a:latin typeface="Montserrat"/>
              </a:rPr>
              <a:t>E-mail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69080" y="4197096"/>
            <a:ext cx="329184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40" b="0" i="0">
                <a:solidFill>
                  <a:srgbClr val="FFFFFF"/>
                </a:solidFill>
                <a:latin typeface="Montserrat SemiBold"/>
              </a:rPr>
              <a:t>anapnuneslucato@gmail.com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7240" y="4626864"/>
            <a:ext cx="320040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 i="0" spc="120" cap="all">
                <a:solidFill>
                  <a:srgbClr val="FFFFFF"/>
                </a:solidFill>
                <a:latin typeface="Montserrat"/>
              </a:rPr>
              <a:t>Telefone / WhatsApp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69080" y="4599431"/>
            <a:ext cx="329184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40" b="0" i="0">
                <a:solidFill>
                  <a:srgbClr val="FFFFFF"/>
                </a:solidFill>
                <a:latin typeface="Montserrat SemiBold"/>
              </a:rPr>
              <a:t>[INSERIR TELEFONE]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" y="5029200"/>
            <a:ext cx="320040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 i="0" spc="120" cap="all">
                <a:solidFill>
                  <a:srgbClr val="FFFFFF"/>
                </a:solidFill>
                <a:latin typeface="Montserrat"/>
              </a:rPr>
              <a:t>Suporte oficial do MTR Nacional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69080" y="5001768"/>
            <a:ext cx="329184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40" b="0" i="0">
                <a:solidFill>
                  <a:srgbClr val="FFFFFF"/>
                </a:solidFill>
                <a:latin typeface="Montserrat SemiBold"/>
              </a:rPr>
              <a:t>mtr.sinir@mma.gov.br</a:t>
            </a:r>
          </a:p>
        </p:txBody>
      </p:sp>
      <p:pic>
        <p:nvPicPr>
          <p:cNvPr id="68" name="Picture 67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481328"/>
            <a:ext cx="2044798" cy="420624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8092440" y="2212848"/>
            <a:ext cx="3822192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19" b="0" i="0" spc="160" cap="all">
                <a:solidFill>
                  <a:srgbClr val="FFFFFF"/>
                </a:solidFill>
                <a:latin typeface="Montserrat SemiBold"/>
              </a:rPr>
              <a:t>Fontes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8092440" y="2487168"/>
            <a:ext cx="3822192" cy="0"/>
          </a:xfrm>
          <a:prstGeom prst="line">
            <a:avLst/>
          </a:prstGeom>
          <a:ln w="9525" cap="rnd">
            <a:solidFill>
              <a:srgbClr val="FFFFFF">
                <a:alpha val="30000"/>
              </a:srgbClr>
            </a:solidFill>
            <a:round/>
          </a:ln>
          <a:effectLst/>
        </p:spPr>
      </p:cxnSp>
      <p:sp>
        <p:nvSpPr>
          <p:cNvPr id="71" name="TextBox 70"/>
          <p:cNvSpPr txBox="1"/>
          <p:nvPr/>
        </p:nvSpPr>
        <p:spPr>
          <a:xfrm>
            <a:off x="8092440" y="2615184"/>
            <a:ext cx="3822192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FFFFFF"/>
                </a:solidFill>
                <a:latin typeface="Montserrat"/>
              </a:rPr>
              <a:t>Portal do SINIR — Sistema MTR: sinir.gov.br/sistemas/mtr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92440" y="3182112"/>
            <a:ext cx="3822192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FFFFFF"/>
                </a:solidFill>
                <a:latin typeface="Montserrat"/>
              </a:rPr>
              <a:t>Comunicado “Login Único (Gov.br) — Sistema MTR Nacional”, SINIR: tipos de usuário e gerenciamento de acessos.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92440" y="3749039"/>
            <a:ext cx="3822192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FFFFFF"/>
                </a:solidFill>
                <a:latin typeface="Montserrat"/>
              </a:rPr>
              <a:t>Guia Rápido “Login Único GOV.BR — MTR Nacional/Sinir”, MMA/SINIR, v. 1.0, 05/01/2026 — origem das Figuras 1 a 15.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92440" y="4315968"/>
            <a:ext cx="3822192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FFFFFF"/>
                </a:solidFill>
                <a:latin typeface="Montserrat"/>
              </a:rPr>
              <a:t>gov.br — serviços Emitir o MTR e Criar sua conta gov.br.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92440" y="4882896"/>
            <a:ext cx="3822192" cy="5669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FFFFFF"/>
                </a:solidFill>
                <a:latin typeface="Montserrat"/>
              </a:rPr>
              <a:t>Print da tela do sistema: acervo próprio da Nunes &amp; Lucato.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92440" y="5541264"/>
            <a:ext cx="3822192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00" b="0" i="0">
                <a:solidFill>
                  <a:srgbClr val="FFFFFF"/>
                </a:solidFill>
                <a:latin typeface="Montserrat"/>
              </a:rPr>
              <a:t>Reprodução das figuras oficiais permitida sem fins lucrativos, citada a fonte (MMA).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777240" y="6199632"/>
            <a:ext cx="10637489" cy="0"/>
          </a:xfrm>
          <a:prstGeom prst="line">
            <a:avLst/>
          </a:prstGeom>
          <a:ln w="9525" cap="rnd">
            <a:solidFill>
              <a:srgbClr val="FFFFFF">
                <a:alpha val="22000"/>
              </a:srgbClr>
            </a:solidFill>
            <a:round/>
          </a:ln>
          <a:effectLst/>
        </p:spPr>
      </p:cxnSp>
      <p:pic>
        <p:nvPicPr>
          <p:cNvPr id="78" name="Picture 77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345936"/>
            <a:ext cx="1133529" cy="233172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6476969" y="6396228"/>
            <a:ext cx="49377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750" b="0" i="0" spc="50">
                <a:solidFill>
                  <a:srgbClr val="FFFFFF"/>
                </a:solidFill>
                <a:latin typeface="Montserrat"/>
              </a:rPr>
              <a:t>MTR Nacional  ·  Login Único Gov.br    |    21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65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