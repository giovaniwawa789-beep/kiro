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flip="none" rotWithShape="1">
            <a:gsLst>
              <a:gs pos="0">
                <a:srgbClr val="090818"/>
              </a:gs>
              <a:gs pos="34000">
                <a:srgbClr val="0E0D28"/>
              </a:gs>
              <a:gs pos="70000">
                <a:srgbClr val="24238E"/>
              </a:gs>
              <a:gs pos="100000">
                <a:srgbClr val="3432C9"/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-68580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" name="Connector 3"/>
          <p:cNvCxnSpPr/>
          <p:nvPr/>
        </p:nvCxnSpPr>
        <p:spPr>
          <a:xfrm flipV="1">
            <a:off x="-6437376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5" name="Connector 4"/>
          <p:cNvCxnSpPr/>
          <p:nvPr/>
        </p:nvCxnSpPr>
        <p:spPr>
          <a:xfrm flipV="1">
            <a:off x="-6016752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6" name="Connector 5"/>
          <p:cNvCxnSpPr/>
          <p:nvPr/>
        </p:nvCxnSpPr>
        <p:spPr>
          <a:xfrm flipV="1">
            <a:off x="-55961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7" name="Connector 6"/>
          <p:cNvCxnSpPr/>
          <p:nvPr/>
        </p:nvCxnSpPr>
        <p:spPr>
          <a:xfrm flipV="1">
            <a:off x="-5175504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-475487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9" name="Connector 8"/>
          <p:cNvCxnSpPr/>
          <p:nvPr/>
        </p:nvCxnSpPr>
        <p:spPr>
          <a:xfrm flipV="1">
            <a:off x="-43342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-391363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1" name="Connector 10"/>
          <p:cNvCxnSpPr/>
          <p:nvPr/>
        </p:nvCxnSpPr>
        <p:spPr>
          <a:xfrm flipV="1">
            <a:off x="-34930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2" name="Connector 11"/>
          <p:cNvCxnSpPr/>
          <p:nvPr/>
        </p:nvCxnSpPr>
        <p:spPr>
          <a:xfrm flipV="1">
            <a:off x="-307238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3" name="Connector 12"/>
          <p:cNvCxnSpPr/>
          <p:nvPr/>
        </p:nvCxnSpPr>
        <p:spPr>
          <a:xfrm flipV="1">
            <a:off x="-265175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-223113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-181051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-1389887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-96926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8" name="Connector 17"/>
          <p:cNvCxnSpPr/>
          <p:nvPr/>
        </p:nvCxnSpPr>
        <p:spPr>
          <a:xfrm flipV="1">
            <a:off x="-54863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9" name="Connector 18"/>
          <p:cNvCxnSpPr/>
          <p:nvPr/>
        </p:nvCxnSpPr>
        <p:spPr>
          <a:xfrm flipV="1">
            <a:off x="-12801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2926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132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1338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15544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9751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3957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281635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23697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576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407822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49884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91947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34009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76072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618134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60196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02259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44321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86384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828446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870508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912571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954633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996696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038758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08082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12288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116494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20700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24907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sp>
        <p:nvSpPr>
          <p:cNvPr id="50" name="Rectangle 49"/>
          <p:cNvSpPr/>
          <p:nvPr/>
        </p:nvSpPr>
        <p:spPr>
          <a:xfrm>
            <a:off x="5120627" y="0"/>
            <a:ext cx="7071342" cy="6858000"/>
          </a:xfrm>
          <a:prstGeom prst="rect">
            <a:avLst/>
          </a:prstGeom>
          <a:gradFill flip="none" rotWithShape="1">
            <a:gsLst>
              <a:gs pos="0">
                <a:srgbClr val="3432C9">
                  <a:alpha val="0"/>
                </a:srgbClr>
              </a:gs>
              <a:gs pos="100000">
                <a:srgbClr val="3432C9">
                  <a:alpha val="32000"/>
                </a:srgbClr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51" name="Connector 50"/>
          <p:cNvCxnSpPr/>
          <p:nvPr/>
        </p:nvCxnSpPr>
        <p:spPr>
          <a:xfrm>
            <a:off x="7132320" y="0"/>
            <a:ext cx="0" cy="6858000"/>
          </a:xfrm>
          <a:prstGeom prst="line">
            <a:avLst/>
          </a:prstGeom>
          <a:ln w="9525" cap="rnd">
            <a:solidFill>
              <a:srgbClr val="FFFFFF">
                <a:alpha val="18000"/>
              </a:srgbClr>
            </a:solidFill>
            <a:round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7726680" y="2084831"/>
            <a:ext cx="3246120" cy="2697480"/>
          </a:xfrm>
          <a:prstGeom prst="roundRect">
            <a:avLst>
              <a:gd name="adj" fmla="val 4500"/>
            </a:avLst>
          </a:prstGeom>
          <a:solidFill>
            <a:srgbClr val="FFFFFF">
              <a:alpha val="7000"/>
            </a:srgbClr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26680" y="2084831"/>
            <a:ext cx="3246120" cy="2697480"/>
          </a:xfrm>
          <a:prstGeom prst="roundRect">
            <a:avLst>
              <a:gd name="adj" fmla="val 4500"/>
            </a:avLst>
          </a:prstGeom>
          <a:noFill/>
          <a:ln w="11430" cap="rnd">
            <a:solidFill>
              <a:srgbClr val="FFFFFF">
                <a:alpha val="30000"/>
              </a:srgbClr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Freeform 53"/>
          <p:cNvSpPr/>
          <p:nvPr/>
        </p:nvSpPr>
        <p:spPr>
          <a:xfrm>
            <a:off x="8069763" y="2484242"/>
            <a:ext cx="337962" cy="225308"/>
          </a:xfrm>
          <a:custGeom>
            <a:avLst/>
            <a:gdLst/>
            <a:ahLst/>
            <a:cxnLst/>
            <a:rect l="l" t="t" r="r" b="b"/>
            <a:pathLst>
              <a:path w="337962" h="225308">
                <a:moveTo>
                  <a:pt x="0" y="0"/>
                </a:moveTo>
                <a:lnTo>
                  <a:pt x="337962" y="0"/>
                </a:lnTo>
                <a:lnTo>
                  <a:pt x="337962" y="225308"/>
                </a:lnTo>
                <a:lnTo>
                  <a:pt x="0" y="225308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118043" y="2524475"/>
            <a:ext cx="80467" cy="80467"/>
          </a:xfrm>
          <a:prstGeom prst="ellipse">
            <a:avLst/>
          </a:pr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6" name="Freeform 55"/>
          <p:cNvSpPr/>
          <p:nvPr/>
        </p:nvSpPr>
        <p:spPr>
          <a:xfrm>
            <a:off x="8101566" y="2617013"/>
            <a:ext cx="113422" cy="29120"/>
          </a:xfrm>
          <a:custGeom>
            <a:avLst/>
            <a:gdLst/>
            <a:ahLst/>
            <a:cxnLst/>
            <a:rect l="l" t="t" r="r" b="b"/>
            <a:pathLst>
              <a:path w="113422" h="29120">
                <a:moveTo>
                  <a:pt x="0" y="29120"/>
                </a:moveTo>
                <a:lnTo>
                  <a:pt x="3315" y="23631"/>
                </a:lnTo>
                <a:lnTo>
                  <a:pt x="7613" y="18522"/>
                </a:lnTo>
                <a:lnTo>
                  <a:pt x="12814" y="13886"/>
                </a:lnTo>
                <a:lnTo>
                  <a:pt x="18822" y="9809"/>
                </a:lnTo>
                <a:lnTo>
                  <a:pt x="25528" y="6365"/>
                </a:lnTo>
                <a:lnTo>
                  <a:pt x="32807" y="3619"/>
                </a:lnTo>
                <a:lnTo>
                  <a:pt x="40526" y="1621"/>
                </a:lnTo>
                <a:lnTo>
                  <a:pt x="48544" y="407"/>
                </a:lnTo>
                <a:lnTo>
                  <a:pt x="56711" y="0"/>
                </a:lnTo>
                <a:lnTo>
                  <a:pt x="64878" y="407"/>
                </a:lnTo>
                <a:lnTo>
                  <a:pt x="72895" y="1621"/>
                </a:lnTo>
                <a:lnTo>
                  <a:pt x="80614" y="3619"/>
                </a:lnTo>
                <a:lnTo>
                  <a:pt x="87894" y="6365"/>
                </a:lnTo>
                <a:lnTo>
                  <a:pt x="94600" y="9809"/>
                </a:lnTo>
                <a:lnTo>
                  <a:pt x="100608" y="13886"/>
                </a:lnTo>
                <a:lnTo>
                  <a:pt x="105809" y="18522"/>
                </a:lnTo>
                <a:lnTo>
                  <a:pt x="110107" y="23631"/>
                </a:lnTo>
                <a:lnTo>
                  <a:pt x="113422" y="29120"/>
                </a:lnTo>
              </a:path>
            </a:pathLst>
          </a:custGeom>
          <a:noFill/>
          <a:ln w="13494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8246791" y="254861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8246791" y="259689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8246791" y="264517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86216" y="2450591"/>
            <a:ext cx="20116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60" b="0" i="0">
                <a:solidFill>
                  <a:srgbClr val="FFFFFF"/>
                </a:solidFill>
                <a:latin typeface="Montserrat SemiBold"/>
              </a:rPr>
              <a:t>Conta Gov.br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37576" y="2907791"/>
            <a:ext cx="23774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20" cap="all">
                <a:solidFill>
                  <a:srgbClr val="FFFFFF"/>
                </a:solidFill>
                <a:latin typeface="Montserrat"/>
              </a:rPr>
              <a:t>CPF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037576" y="3182112"/>
            <a:ext cx="2624328" cy="0"/>
          </a:xfrm>
          <a:prstGeom prst="line">
            <a:avLst/>
          </a:prstGeom>
          <a:ln w="12700" cap="rnd">
            <a:solidFill>
              <a:srgbClr val="FFFFFF">
                <a:alpha val="45000"/>
              </a:srgbClr>
            </a:solidFill>
            <a:round/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8037576" y="3474720"/>
            <a:ext cx="23774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20" cap="all">
                <a:solidFill>
                  <a:srgbClr val="FFFFFF"/>
                </a:solidFill>
                <a:latin typeface="Montserrat"/>
              </a:rPr>
              <a:t>Senha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37576" y="3749039"/>
            <a:ext cx="2624328" cy="0"/>
          </a:xfrm>
          <a:prstGeom prst="line">
            <a:avLst/>
          </a:prstGeom>
          <a:ln w="12700" cap="rnd">
            <a:solidFill>
              <a:srgbClr val="FFFFFF">
                <a:alpha val="45000"/>
              </a:srgbClr>
            </a:solidFill>
            <a:round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8037576" y="4224527"/>
            <a:ext cx="1389888" cy="365760"/>
          </a:xfrm>
          <a:prstGeom prst="roundRect">
            <a:avLst>
              <a:gd name="adj" fmla="val 22000"/>
            </a:avLst>
          </a:prstGeom>
          <a:solidFill>
            <a:srgbClr val="FFFFFF">
              <a:alpha val="92000"/>
            </a:srgbClr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037576" y="4224527"/>
            <a:ext cx="1389888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940" b="0" i="0" spc="100" cap="all">
                <a:solidFill>
                  <a:srgbClr val="17165D"/>
                </a:solidFill>
                <a:latin typeface="Montserrat SemiBold"/>
              </a:rPr>
              <a:t>Entrar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386852" y="4394241"/>
            <a:ext cx="184344" cy="144841"/>
          </a:xfrm>
          <a:custGeom>
            <a:avLst/>
            <a:gdLst/>
            <a:ahLst/>
            <a:cxnLst/>
            <a:rect l="l" t="t" r="r" b="b"/>
            <a:pathLst>
              <a:path w="184344" h="144841">
                <a:moveTo>
                  <a:pt x="0" y="0"/>
                </a:moveTo>
                <a:lnTo>
                  <a:pt x="184344" y="0"/>
                </a:lnTo>
                <a:lnTo>
                  <a:pt x="184344" y="144841"/>
                </a:lnTo>
                <a:lnTo>
                  <a:pt x="0" y="144841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10423063" y="4338279"/>
            <a:ext cx="111922" cy="55962"/>
          </a:xfrm>
          <a:custGeom>
            <a:avLst/>
            <a:gdLst/>
            <a:ahLst/>
            <a:cxnLst/>
            <a:rect l="l" t="t" r="r" b="b"/>
            <a:pathLst>
              <a:path w="111922" h="55962">
                <a:moveTo>
                  <a:pt x="0" y="55962"/>
                </a:moveTo>
                <a:lnTo>
                  <a:pt x="478" y="48657"/>
                </a:lnTo>
                <a:lnTo>
                  <a:pt x="1907" y="41478"/>
                </a:lnTo>
                <a:lnTo>
                  <a:pt x="4260" y="34546"/>
                </a:lnTo>
                <a:lnTo>
                  <a:pt x="7497" y="27981"/>
                </a:lnTo>
                <a:lnTo>
                  <a:pt x="11564" y="21895"/>
                </a:lnTo>
                <a:lnTo>
                  <a:pt x="16390" y="16391"/>
                </a:lnTo>
                <a:lnTo>
                  <a:pt x="21894" y="11565"/>
                </a:lnTo>
                <a:lnTo>
                  <a:pt x="27980" y="7498"/>
                </a:lnTo>
                <a:lnTo>
                  <a:pt x="34546" y="4260"/>
                </a:lnTo>
                <a:lnTo>
                  <a:pt x="41477" y="1907"/>
                </a:lnTo>
                <a:lnTo>
                  <a:pt x="48657" y="479"/>
                </a:lnTo>
                <a:lnTo>
                  <a:pt x="55961" y="0"/>
                </a:lnTo>
                <a:lnTo>
                  <a:pt x="63265" y="479"/>
                </a:lnTo>
                <a:lnTo>
                  <a:pt x="70445" y="1907"/>
                </a:lnTo>
                <a:lnTo>
                  <a:pt x="77376" y="4260"/>
                </a:lnTo>
                <a:lnTo>
                  <a:pt x="83942" y="7498"/>
                </a:lnTo>
                <a:lnTo>
                  <a:pt x="90028" y="11565"/>
                </a:lnTo>
                <a:lnTo>
                  <a:pt x="95532" y="16391"/>
                </a:lnTo>
                <a:lnTo>
                  <a:pt x="100358" y="21895"/>
                </a:lnTo>
                <a:lnTo>
                  <a:pt x="104425" y="27981"/>
                </a:lnTo>
                <a:lnTo>
                  <a:pt x="107662" y="34546"/>
                </a:lnTo>
                <a:lnTo>
                  <a:pt x="110015" y="41478"/>
                </a:lnTo>
                <a:lnTo>
                  <a:pt x="111444" y="48657"/>
                </a:lnTo>
                <a:lnTo>
                  <a:pt x="111922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455981" y="4430450"/>
            <a:ext cx="46085" cy="46085"/>
          </a:xfrm>
          <a:prstGeom prst="ellipse">
            <a:avLst/>
          </a:pr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70" name="Freeform 69"/>
          <p:cNvSpPr/>
          <p:nvPr/>
        </p:nvSpPr>
        <p:spPr>
          <a:xfrm>
            <a:off x="10479024" y="4473245"/>
            <a:ext cx="0" cy="32918"/>
          </a:xfrm>
          <a:custGeom>
            <a:avLst/>
            <a:gdLst/>
            <a:ahLst/>
            <a:cxnLst/>
            <a:rect l="l" t="t" r="r" b="b"/>
            <a:pathLst>
              <a:path w="0" h="32918">
                <a:moveTo>
                  <a:pt x="0" y="0"/>
                </a:moveTo>
                <a:lnTo>
                  <a:pt x="0" y="32918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10826133" y="963990"/>
            <a:ext cx="105366" cy="182499"/>
          </a:xfrm>
          <a:custGeom>
            <a:avLst/>
            <a:gdLst/>
            <a:ahLst/>
            <a:cxnLst/>
            <a:rect l="l" t="t" r="r" b="b"/>
            <a:pathLst>
              <a:path w="105366" h="182499">
                <a:moveTo>
                  <a:pt x="0" y="0"/>
                </a:moveTo>
                <a:lnTo>
                  <a:pt x="105366" y="182499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10883731" y="1090197"/>
            <a:ext cx="47768" cy="56292"/>
          </a:xfrm>
          <a:custGeom>
            <a:avLst/>
            <a:gdLst/>
            <a:ahLst/>
            <a:cxnLst/>
            <a:rect l="l" t="t" r="r" b="b"/>
            <a:pathLst>
              <a:path w="47768" h="56292">
                <a:moveTo>
                  <a:pt x="47768" y="56292"/>
                </a:moveTo>
                <a:lnTo>
                  <a:pt x="0" y="26444"/>
                </a:lnTo>
                <a:lnTo>
                  <a:pt x="45802" y="0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10735401" y="1202253"/>
            <a:ext cx="210732" cy="0"/>
          </a:xfrm>
          <a:custGeom>
            <a:avLst/>
            <a:gdLst/>
            <a:ahLst/>
            <a:cxnLst/>
            <a:rect l="l" t="t" r="r" b="b"/>
            <a:pathLst>
              <a:path w="210732" h="0">
                <a:moveTo>
                  <a:pt x="210732" y="0"/>
                </a:moveTo>
                <a:lnTo>
                  <a:pt x="0" y="0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735401" y="1175809"/>
            <a:ext cx="49733" cy="52888"/>
          </a:xfrm>
          <a:custGeom>
            <a:avLst/>
            <a:gdLst/>
            <a:ahLst/>
            <a:cxnLst/>
            <a:rect l="l" t="t" r="r" b="b"/>
            <a:pathLst>
              <a:path w="49733" h="52888">
                <a:moveTo>
                  <a:pt x="0" y="26444"/>
                </a:moveTo>
                <a:lnTo>
                  <a:pt x="49733" y="0"/>
                </a:lnTo>
                <a:lnTo>
                  <a:pt x="49733" y="52888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79791" y="1004545"/>
            <a:ext cx="105366" cy="182500"/>
          </a:xfrm>
          <a:custGeom>
            <a:avLst/>
            <a:gdLst/>
            <a:ahLst/>
            <a:cxnLst/>
            <a:rect l="l" t="t" r="r" b="b"/>
            <a:pathLst>
              <a:path w="105366" h="182500">
                <a:moveTo>
                  <a:pt x="0" y="182500"/>
                </a:moveTo>
                <a:lnTo>
                  <a:pt x="105366" y="0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0737389" y="1004545"/>
            <a:ext cx="47768" cy="56293"/>
          </a:xfrm>
          <a:custGeom>
            <a:avLst/>
            <a:gdLst/>
            <a:ahLst/>
            <a:cxnLst/>
            <a:rect l="l" t="t" r="r" b="b"/>
            <a:pathLst>
              <a:path w="47768" h="56293">
                <a:moveTo>
                  <a:pt x="47768" y="0"/>
                </a:moveTo>
                <a:lnTo>
                  <a:pt x="45802" y="56293"/>
                </a:lnTo>
                <a:lnTo>
                  <a:pt x="0" y="29849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77240" y="1327708"/>
            <a:ext cx="274320" cy="0"/>
          </a:xfrm>
          <a:prstGeom prst="line">
            <a:avLst/>
          </a:prstGeom>
          <a:ln w="20320" cap="rnd">
            <a:solidFill>
              <a:srgbClr val="FFFFFF"/>
            </a:solidFill>
            <a:round/>
          </a:ln>
          <a:effectLst/>
        </p:spPr>
      </p:cxnSp>
      <p:sp>
        <p:nvSpPr>
          <p:cNvPr id="78" name="TextBox 77"/>
          <p:cNvSpPr txBox="1"/>
          <p:nvPr/>
        </p:nvSpPr>
        <p:spPr>
          <a:xfrm>
            <a:off x="1197863" y="1239012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 spc="190" cap="all">
                <a:solidFill>
                  <a:srgbClr val="FFFFFF"/>
                </a:solidFill>
                <a:latin typeface="Montserrat SemiBold"/>
              </a:rPr>
              <a:t>Comunicado aos clientes geradores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" y="1609344"/>
            <a:ext cx="658368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200" b="0" i="0">
                <a:solidFill>
                  <a:srgbClr val="FFFFFF"/>
                </a:solidFill>
                <a:latin typeface="Montserrat Light"/>
              </a:rPr>
              <a:t>Nova forma de acesso ao
</a:t>
            </a:r>
            <a:r>
              <a:rPr sz="3200" b="0" i="0">
                <a:solidFill>
                  <a:srgbClr val="FFFFFF"/>
                </a:solidFill>
                <a:latin typeface="Montserrat SemiBold"/>
              </a:rPr>
              <a:t>MTR Nacional</a:t>
            </a:r>
            <a:r>
              <a:rPr sz="3200" b="0" i="0">
                <a:solidFill>
                  <a:srgbClr val="FFFFFF"/>
                </a:solidFill>
                <a:latin typeface="Montserrat Light"/>
              </a:rPr>
              <a:t>:
Login Único Gov.br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77240" y="3877056"/>
            <a:ext cx="960120" cy="0"/>
          </a:xfrm>
          <a:prstGeom prst="line">
            <a:avLst/>
          </a:prstGeom>
          <a:ln w="22860" cap="rnd">
            <a:solidFill>
              <a:srgbClr val="FFFFFF">
                <a:alpha val="75000"/>
              </a:srgbClr>
            </a:solidFill>
            <a:round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777240" y="4114800"/>
            <a:ext cx="6035040" cy="914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Montserrat Light"/>
              </a:rPr>
              <a:t>O que mudou desde 1º de agosto de 2026, por que isso afeta a emissão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Montserrat Light"/>
              </a:rPr>
              <a:t>dos seus MTRs e o que fazer para continuar operando sem interrupção.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7240" y="5358384"/>
            <a:ext cx="3657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50" cap="all">
                <a:solidFill>
                  <a:srgbClr val="FFFFFF"/>
                </a:solidFill>
                <a:latin typeface="Montserrat"/>
              </a:rPr>
              <a:t>Material preparado por</a:t>
            </a:r>
          </a:p>
        </p:txBody>
      </p:sp>
      <p:pic>
        <p:nvPicPr>
          <p:cNvPr id="83" name="Picture 8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32704"/>
            <a:ext cx="1866990" cy="3840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7757129" y="5742432"/>
            <a:ext cx="36576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60" b="0" i="0" spc="80">
                <a:solidFill>
                  <a:srgbClr val="FFFFFF"/>
                </a:solidFill>
                <a:latin typeface="Montserrat"/>
              </a:rPr>
              <a:t>Setembro de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O que mudou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acesso ao MTR Nacional agora é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pelo 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73936"/>
            <a:ext cx="10637489" cy="603504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1046074" y="1994855"/>
            <a:ext cx="248716" cy="198973"/>
          </a:xfrm>
          <a:custGeom>
            <a:avLst/>
            <a:gdLst/>
            <a:ahLst/>
            <a:cxnLst/>
            <a:rect l="l" t="t" r="r" b="b"/>
            <a:pathLst>
              <a:path w="248716" h="198973">
                <a:moveTo>
                  <a:pt x="0" y="0"/>
                </a:moveTo>
                <a:lnTo>
                  <a:pt x="248716" y="0"/>
                </a:lnTo>
                <a:lnTo>
                  <a:pt x="248716" y="198973"/>
                </a:lnTo>
                <a:lnTo>
                  <a:pt x="0" y="198973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046074" y="2050816"/>
            <a:ext cx="248716" cy="0"/>
          </a:xfrm>
          <a:custGeom>
            <a:avLst/>
            <a:gdLst/>
            <a:ahLst/>
            <a:cxnLst/>
            <a:rect l="l" t="t" r="r" b="b"/>
            <a:pathLst>
              <a:path w="248716" h="0">
                <a:moveTo>
                  <a:pt x="0" y="0"/>
                </a:moveTo>
                <a:lnTo>
                  <a:pt x="248716" y="0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08253" y="1963765"/>
            <a:ext cx="0" cy="55962"/>
          </a:xfrm>
          <a:custGeom>
            <a:avLst/>
            <a:gdLst/>
            <a:ahLst/>
            <a:cxnLst/>
            <a:rect l="l" t="t" r="r" b="b"/>
            <a:pathLst>
              <a:path w="0" h="55962">
                <a:moveTo>
                  <a:pt x="0" y="0"/>
                </a:moveTo>
                <a:lnTo>
                  <a:pt x="0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32611" y="1963765"/>
            <a:ext cx="0" cy="55962"/>
          </a:xfrm>
          <a:custGeom>
            <a:avLst/>
            <a:gdLst/>
            <a:ahLst/>
            <a:cxnLst/>
            <a:rect l="l" t="t" r="r" b="b"/>
            <a:pathLst>
              <a:path w="0" h="55962">
                <a:moveTo>
                  <a:pt x="0" y="0"/>
                </a:moveTo>
                <a:lnTo>
                  <a:pt x="0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7267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137010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86754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236497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087267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137010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186754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36497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72184" y="1773936"/>
            <a:ext cx="9723089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1140" b="0" i="0">
                <a:solidFill>
                  <a:srgbClr val="FFFFFF"/>
                </a:solidFill>
                <a:latin typeface="Montserrat SemiBold"/>
              </a:rPr>
              <a:t>Desde 1º de agosto de 2026</a:t>
            </a:r>
            <a:r>
              <a:rPr sz="1140" b="0" i="0">
                <a:solidFill>
                  <a:srgbClr val="FFFFFF"/>
                </a:solidFill>
                <a:latin typeface="Montserrat"/>
              </a:rPr>
              <a:t>, o acesso ao MTR Nacional – SINIR é feito exclusivamente por meio do Login Único Gov.br.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77240" y="2615184"/>
            <a:ext cx="2487168" cy="50292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043147" y="2917667"/>
            <a:ext cx="346008" cy="346008"/>
          </a:xfrm>
          <a:prstGeom prst="ellipse">
            <a:avLst/>
          </a:pr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Freeform 25"/>
          <p:cNvSpPr/>
          <p:nvPr/>
        </p:nvSpPr>
        <p:spPr>
          <a:xfrm>
            <a:off x="1095451" y="2969971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0" y="241402"/>
                </a:moveTo>
                <a:lnTo>
                  <a:pt x="241402" y="0"/>
                </a:lnTo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A senha antiga não vale mais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3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login com a senha gerada pelo próprio sistema MTR foi descontinuado.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88436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88436" y="2615184"/>
            <a:ext cx="2487168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3758367" y="2978018"/>
            <a:ext cx="337962" cy="225308"/>
          </a:xfrm>
          <a:custGeom>
            <a:avLst/>
            <a:gdLst/>
            <a:ahLst/>
            <a:cxnLst/>
            <a:rect l="l" t="t" r="r" b="b"/>
            <a:pathLst>
              <a:path w="337962" h="225308">
                <a:moveTo>
                  <a:pt x="0" y="0"/>
                </a:moveTo>
                <a:lnTo>
                  <a:pt x="337962" y="0"/>
                </a:lnTo>
                <a:lnTo>
                  <a:pt x="337962" y="225308"/>
                </a:lnTo>
                <a:lnTo>
                  <a:pt x="0" y="225308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06647" y="3018251"/>
            <a:ext cx="80467" cy="80467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Freeform 32"/>
          <p:cNvSpPr/>
          <p:nvPr/>
        </p:nvSpPr>
        <p:spPr>
          <a:xfrm>
            <a:off x="3790170" y="3110789"/>
            <a:ext cx="113422" cy="29120"/>
          </a:xfrm>
          <a:custGeom>
            <a:avLst/>
            <a:gdLst/>
            <a:ahLst/>
            <a:cxnLst/>
            <a:rect l="l" t="t" r="r" b="b"/>
            <a:pathLst>
              <a:path w="113422" h="29120">
                <a:moveTo>
                  <a:pt x="0" y="29120"/>
                </a:moveTo>
                <a:lnTo>
                  <a:pt x="3315" y="23631"/>
                </a:lnTo>
                <a:lnTo>
                  <a:pt x="7613" y="18522"/>
                </a:lnTo>
                <a:lnTo>
                  <a:pt x="12814" y="13886"/>
                </a:lnTo>
                <a:lnTo>
                  <a:pt x="18822" y="9809"/>
                </a:lnTo>
                <a:lnTo>
                  <a:pt x="25528" y="6365"/>
                </a:lnTo>
                <a:lnTo>
                  <a:pt x="32807" y="3619"/>
                </a:lnTo>
                <a:lnTo>
                  <a:pt x="40526" y="1621"/>
                </a:lnTo>
                <a:lnTo>
                  <a:pt x="48544" y="407"/>
                </a:lnTo>
                <a:lnTo>
                  <a:pt x="56711" y="0"/>
                </a:lnTo>
                <a:lnTo>
                  <a:pt x="64878" y="407"/>
                </a:lnTo>
                <a:lnTo>
                  <a:pt x="72895" y="1621"/>
                </a:lnTo>
                <a:lnTo>
                  <a:pt x="80614" y="3619"/>
                </a:lnTo>
                <a:lnTo>
                  <a:pt x="87894" y="6365"/>
                </a:lnTo>
                <a:lnTo>
                  <a:pt x="94600" y="9809"/>
                </a:lnTo>
                <a:lnTo>
                  <a:pt x="100608" y="13886"/>
                </a:lnTo>
                <a:lnTo>
                  <a:pt x="105809" y="18522"/>
                </a:lnTo>
                <a:lnTo>
                  <a:pt x="110107" y="23631"/>
                </a:lnTo>
                <a:lnTo>
                  <a:pt x="113422" y="2912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3935395" y="304239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3935395" y="309067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3935395" y="313895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26180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O acesso é por CPF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6180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Cada pessoa entra com a sua própria conta Gov.br e é identificada individualmente.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199632" y="2615184"/>
            <a:ext cx="2487168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6529913" y="2957901"/>
            <a:ext cx="120700" cy="120700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Freeform 41"/>
          <p:cNvSpPr/>
          <p:nvPr/>
        </p:nvSpPr>
        <p:spPr>
          <a:xfrm>
            <a:off x="6489221" y="3114812"/>
            <a:ext cx="202086" cy="65605"/>
          </a:xfrm>
          <a:custGeom>
            <a:avLst/>
            <a:gdLst/>
            <a:ahLst/>
            <a:cxnLst/>
            <a:rect l="l" t="t" r="r" b="b"/>
            <a:pathLst>
              <a:path w="202086" h="65605">
                <a:moveTo>
                  <a:pt x="0" y="65605"/>
                </a:moveTo>
                <a:lnTo>
                  <a:pt x="3929" y="55617"/>
                </a:lnTo>
                <a:lnTo>
                  <a:pt x="9231" y="46094"/>
                </a:lnTo>
                <a:lnTo>
                  <a:pt x="15832" y="37171"/>
                </a:lnTo>
                <a:lnTo>
                  <a:pt x="23638" y="28974"/>
                </a:lnTo>
                <a:lnTo>
                  <a:pt x="32539" y="21620"/>
                </a:lnTo>
                <a:lnTo>
                  <a:pt x="42409" y="15211"/>
                </a:lnTo>
                <a:lnTo>
                  <a:pt x="53109" y="9840"/>
                </a:lnTo>
                <a:lnTo>
                  <a:pt x="64486" y="5581"/>
                </a:lnTo>
                <a:lnTo>
                  <a:pt x="76381" y="2495"/>
                </a:lnTo>
                <a:lnTo>
                  <a:pt x="88624" y="626"/>
                </a:lnTo>
                <a:lnTo>
                  <a:pt x="101043" y="0"/>
                </a:lnTo>
                <a:lnTo>
                  <a:pt x="113462" y="626"/>
                </a:lnTo>
                <a:lnTo>
                  <a:pt x="125705" y="2495"/>
                </a:lnTo>
                <a:lnTo>
                  <a:pt x="137599" y="5581"/>
                </a:lnTo>
                <a:lnTo>
                  <a:pt x="148977" y="9840"/>
                </a:lnTo>
                <a:lnTo>
                  <a:pt x="159676" y="15211"/>
                </a:lnTo>
                <a:lnTo>
                  <a:pt x="169546" y="21620"/>
                </a:lnTo>
                <a:lnTo>
                  <a:pt x="178447" y="28974"/>
                </a:lnTo>
                <a:lnTo>
                  <a:pt x="186253" y="37171"/>
                </a:lnTo>
                <a:lnTo>
                  <a:pt x="192854" y="46094"/>
                </a:lnTo>
                <a:lnTo>
                  <a:pt x="198157" y="55617"/>
                </a:lnTo>
                <a:lnTo>
                  <a:pt x="202086" y="65605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751198" y="3106765"/>
            <a:ext cx="0" cy="120701"/>
          </a:xfrm>
          <a:custGeom>
            <a:avLst/>
            <a:gdLst/>
            <a:ahLst/>
            <a:cxnLst/>
            <a:rect l="l" t="t" r="r" b="b"/>
            <a:pathLst>
              <a:path w="0" h="120701">
                <a:moveTo>
                  <a:pt x="0" y="0"/>
                </a:moveTo>
                <a:lnTo>
                  <a:pt x="0" y="120701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6690848" y="3167116"/>
            <a:ext cx="120700" cy="0"/>
          </a:xfrm>
          <a:custGeom>
            <a:avLst/>
            <a:gdLst/>
            <a:ahLst/>
            <a:cxnLst/>
            <a:rect l="l" t="t" r="r" b="b"/>
            <a:pathLst>
              <a:path w="120700" h="0">
                <a:moveTo>
                  <a:pt x="0" y="0"/>
                </a:moveTo>
                <a:lnTo>
                  <a:pt x="120700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37376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É preciso vínculo com a unidade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CPF só emite se estiver vinculado e autorizado na unidade da empresa.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0828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8910828" y="2615184"/>
            <a:ext cx="2487168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9212946" y="2921691"/>
            <a:ext cx="273588" cy="337962"/>
          </a:xfrm>
          <a:custGeom>
            <a:avLst/>
            <a:gdLst/>
            <a:ahLst/>
            <a:cxnLst/>
            <a:rect l="l" t="t" r="r" b="b"/>
            <a:pathLst>
              <a:path w="273588" h="337962">
                <a:moveTo>
                  <a:pt x="136794" y="0"/>
                </a:moveTo>
                <a:lnTo>
                  <a:pt x="273588" y="56327"/>
                </a:lnTo>
                <a:lnTo>
                  <a:pt x="273588" y="177028"/>
                </a:lnTo>
                <a:lnTo>
                  <a:pt x="136794" y="337962"/>
                </a:lnTo>
                <a:lnTo>
                  <a:pt x="0" y="177028"/>
                </a:lnTo>
                <a:lnTo>
                  <a:pt x="0" y="56327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9289390" y="3034345"/>
            <a:ext cx="128747" cy="96561"/>
          </a:xfrm>
          <a:custGeom>
            <a:avLst/>
            <a:gdLst/>
            <a:ahLst/>
            <a:cxnLst/>
            <a:rect l="l" t="t" r="r" b="b"/>
            <a:pathLst>
              <a:path w="128747" h="96561">
                <a:moveTo>
                  <a:pt x="0" y="48280"/>
                </a:moveTo>
                <a:lnTo>
                  <a:pt x="44257" y="96561"/>
                </a:lnTo>
                <a:lnTo>
                  <a:pt x="128747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8572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Mais rastreabilidade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8572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Toda ação no sistema fica registrada no CPF de quem a executou.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029200"/>
            <a:ext cx="10637489" cy="56692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777240" y="5029200"/>
            <a:ext cx="32004" cy="56692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5" name="Freeform 54"/>
          <p:cNvSpPr/>
          <p:nvPr/>
        </p:nvSpPr>
        <p:spPr>
          <a:xfrm>
            <a:off x="1069848" y="5197450"/>
            <a:ext cx="159106" cy="230428"/>
          </a:xfrm>
          <a:custGeom>
            <a:avLst/>
            <a:gdLst/>
            <a:ahLst/>
            <a:cxnLst/>
            <a:rect l="l" t="t" r="r" b="b"/>
            <a:pathLst>
              <a:path w="159106" h="230428">
                <a:moveTo>
                  <a:pt x="0" y="0"/>
                </a:moveTo>
                <a:lnTo>
                  <a:pt x="115214" y="0"/>
                </a:lnTo>
                <a:lnTo>
                  <a:pt x="159106" y="49377"/>
                </a:lnTo>
                <a:lnTo>
                  <a:pt x="159106" y="230428"/>
                </a:lnTo>
                <a:lnTo>
                  <a:pt x="0" y="230428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185062" y="5197450"/>
            <a:ext cx="43892" cy="49377"/>
          </a:xfrm>
          <a:custGeom>
            <a:avLst/>
            <a:gdLst/>
            <a:ahLst/>
            <a:cxnLst/>
            <a:rect l="l" t="t" r="r" b="b"/>
            <a:pathLst>
              <a:path w="43892" h="49377">
                <a:moveTo>
                  <a:pt x="0" y="0"/>
                </a:moveTo>
                <a:lnTo>
                  <a:pt x="0" y="49377"/>
                </a:lnTo>
                <a:lnTo>
                  <a:pt x="43892" y="49377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100023" y="5290718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0023" y="5323637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105510" y="5345582"/>
            <a:ext cx="90525" cy="54864"/>
          </a:xfrm>
          <a:custGeom>
            <a:avLst/>
            <a:gdLst/>
            <a:ahLst/>
            <a:cxnLst/>
            <a:rect l="l" t="t" r="r" b="b"/>
            <a:pathLst>
              <a:path w="90525" h="54864">
                <a:moveTo>
                  <a:pt x="0" y="27432"/>
                </a:moveTo>
                <a:lnTo>
                  <a:pt x="30175" y="54864"/>
                </a:lnTo>
                <a:lnTo>
                  <a:pt x="90525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72184" y="5029200"/>
            <a:ext cx="9668225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Nada muda nas suas obrigações ambientais: o MTR continua obrigatório a cada envio de carga. O que mudou foi apenas a forma de entrar no sistema.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5742432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portal do SINIR (sinir.gov.br/sistemas/mtr) e comunicado oficial “Login Único (Gov.br) — Sistema MTR Nacional”.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Antes e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que exatamente mudou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no login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3977639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 spc="130" cap="all">
                <a:solidFill>
                  <a:srgbClr val="6E7288"/>
                </a:solidFill>
                <a:latin typeface="Montserrat SemiBold"/>
              </a:rPr>
              <a:t>Até 31 / 07 /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810512"/>
            <a:ext cx="4937759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11112" y="1810512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 spc="130" cap="all">
                <a:solidFill>
                  <a:srgbClr val="FFFFFF"/>
                </a:solidFill>
                <a:latin typeface="Montserrat SemiBold"/>
              </a:rPr>
              <a:t>A partir de 01 / 08 / 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2340864"/>
            <a:ext cx="3977639" cy="0"/>
          </a:xfrm>
          <a:prstGeom prst="line">
            <a:avLst/>
          </a:prstGeom>
          <a:ln w="15240" cap="rnd">
            <a:solidFill>
              <a:srgbClr val="DFE2F0"/>
            </a:solidFill>
            <a:round/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777240" y="2487168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CNPJ + CPF do usuário + senha do sistema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487168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355080" y="2487168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11112" y="2487168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CPF + senha da conta Gov.br</a:t>
            </a:r>
          </a:p>
        </p:txBody>
      </p:sp>
      <p:sp>
        <p:nvSpPr>
          <p:cNvPr id="17" name="Freeform 16"/>
          <p:cNvSpPr/>
          <p:nvPr/>
        </p:nvSpPr>
        <p:spPr>
          <a:xfrm>
            <a:off x="5010912" y="2752344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115684" y="272229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77240" y="3044952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777240" y="3072384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Senha gerada e enviada pelo próprio MTR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072384"/>
            <a:ext cx="4937759" cy="530352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55080" y="3072384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11112" y="3072384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Senha única da sua conta Gov.br</a:t>
            </a:r>
          </a:p>
        </p:txBody>
      </p:sp>
      <p:sp>
        <p:nvSpPr>
          <p:cNvPr id="24" name="Freeform 23"/>
          <p:cNvSpPr/>
          <p:nvPr/>
        </p:nvSpPr>
        <p:spPr>
          <a:xfrm>
            <a:off x="5010912" y="3337560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6115684" y="3307510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77240" y="3630168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777240" y="3657600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Uma senha usada por várias pessoas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3657600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55080" y="3657600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11112" y="3657600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Um acesso individual por pessoa</a:t>
            </a:r>
          </a:p>
        </p:txBody>
      </p:sp>
      <p:sp>
        <p:nvSpPr>
          <p:cNvPr id="31" name="Freeform 30"/>
          <p:cNvSpPr/>
          <p:nvPr/>
        </p:nvSpPr>
        <p:spPr>
          <a:xfrm>
            <a:off x="5010912" y="3922776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115684" y="3892726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77240" y="4215383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777240" y="4242816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Terceiros entravam com a senha do cliente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242816"/>
            <a:ext cx="4937759" cy="530352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355080" y="4242816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11112" y="4242816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Terceiros precisam de vínculo autorizado</a:t>
            </a:r>
          </a:p>
        </p:txBody>
      </p:sp>
      <p:sp>
        <p:nvSpPr>
          <p:cNvPr id="38" name="Freeform 37"/>
          <p:cNvSpPr/>
          <p:nvPr/>
        </p:nvSpPr>
        <p:spPr>
          <a:xfrm>
            <a:off x="5010912" y="4507992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115684" y="4477942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77240" y="4800600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77240" y="4828032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Recuperação de senha pelo sistema MTR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4828032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355080" y="4828032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11112" y="4828032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Recuperação pelo próprio Gov.br</a:t>
            </a:r>
          </a:p>
        </p:txBody>
      </p:sp>
      <p:sp>
        <p:nvSpPr>
          <p:cNvPr id="45" name="Freeform 44"/>
          <p:cNvSpPr/>
          <p:nvPr/>
        </p:nvSpPr>
        <p:spPr>
          <a:xfrm>
            <a:off x="5010912" y="5093208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6115684" y="5063158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5486400"/>
            <a:ext cx="10637489" cy="530352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777240" y="5486400"/>
            <a:ext cx="32004" cy="53035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1058875" y="5636362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110996" y="5713171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72184" y="5486400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 cadastro da sua empresa e o histórico de MTRs continuam os mesmos. A mudança é na autenticação, não nos dados.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Por que isso afeta você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acesso é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da pessoa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, não da empresa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4983480" cy="7863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60" b="0" i="0">
                <a:solidFill>
                  <a:srgbClr val="6E7288"/>
                </a:solidFill>
                <a:latin typeface="Montserrat"/>
              </a:rPr>
              <a:t>Antes, quem tinha a senha da empresa entrava no sistema. Agora o sistema identifica a pessoa física pelo CPF e só libera as unidades às quais aquele CPF está vinculado.</a:t>
            </a:r>
          </a:p>
        </p:txBody>
      </p:sp>
      <p:sp>
        <p:nvSpPr>
          <p:cNvPr id="10" name="Oval 9"/>
          <p:cNvSpPr/>
          <p:nvPr/>
        </p:nvSpPr>
        <p:spPr>
          <a:xfrm>
            <a:off x="777239" y="2798064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919521" y="2981310"/>
            <a:ext cx="245790" cy="163860"/>
          </a:xfrm>
          <a:custGeom>
            <a:avLst/>
            <a:gdLst/>
            <a:ahLst/>
            <a:cxnLst/>
            <a:rect l="l" t="t" r="r" b="b"/>
            <a:pathLst>
              <a:path w="245790" h="163860">
                <a:moveTo>
                  <a:pt x="0" y="0"/>
                </a:moveTo>
                <a:lnTo>
                  <a:pt x="245790" y="0"/>
                </a:lnTo>
                <a:lnTo>
                  <a:pt x="245790" y="163860"/>
                </a:lnTo>
                <a:lnTo>
                  <a:pt x="0" y="163860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4633" y="3010570"/>
            <a:ext cx="58521" cy="58521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942650" y="3077870"/>
            <a:ext cx="82489" cy="21179"/>
          </a:xfrm>
          <a:custGeom>
            <a:avLst/>
            <a:gdLst/>
            <a:ahLst/>
            <a:cxnLst/>
            <a:rect l="l" t="t" r="r" b="b"/>
            <a:pathLst>
              <a:path w="82489" h="21179">
                <a:moveTo>
                  <a:pt x="0" y="21179"/>
                </a:moveTo>
                <a:lnTo>
                  <a:pt x="2411" y="17187"/>
                </a:lnTo>
                <a:lnTo>
                  <a:pt x="5537" y="13471"/>
                </a:lnTo>
                <a:lnTo>
                  <a:pt x="9319" y="10099"/>
                </a:lnTo>
                <a:lnTo>
                  <a:pt x="13689" y="7134"/>
                </a:lnTo>
                <a:lnTo>
                  <a:pt x="18566" y="4630"/>
                </a:lnTo>
                <a:lnTo>
                  <a:pt x="23860" y="2633"/>
                </a:lnTo>
                <a:lnTo>
                  <a:pt x="29474" y="1179"/>
                </a:lnTo>
                <a:lnTo>
                  <a:pt x="35305" y="297"/>
                </a:lnTo>
                <a:lnTo>
                  <a:pt x="41244" y="0"/>
                </a:lnTo>
                <a:lnTo>
                  <a:pt x="47184" y="297"/>
                </a:lnTo>
                <a:lnTo>
                  <a:pt x="53015" y="1179"/>
                </a:lnTo>
                <a:lnTo>
                  <a:pt x="58629" y="2633"/>
                </a:lnTo>
                <a:lnTo>
                  <a:pt x="63923" y="4630"/>
                </a:lnTo>
                <a:lnTo>
                  <a:pt x="68800" y="7134"/>
                </a:lnTo>
                <a:lnTo>
                  <a:pt x="73170" y="10099"/>
                </a:lnTo>
                <a:lnTo>
                  <a:pt x="76952" y="13471"/>
                </a:lnTo>
                <a:lnTo>
                  <a:pt x="80078" y="17187"/>
                </a:lnTo>
                <a:lnTo>
                  <a:pt x="82489" y="21179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048268" y="3028127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48268" y="3063240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048268" y="3098353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90472" y="2834640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O CPF da pessoa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0472" y="3108960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Conta Gov.br individual e pessoal</a:t>
            </a:r>
          </a:p>
        </p:txBody>
      </p:sp>
      <p:sp>
        <p:nvSpPr>
          <p:cNvPr id="19" name="Freeform 18"/>
          <p:cNvSpPr/>
          <p:nvPr/>
        </p:nvSpPr>
        <p:spPr>
          <a:xfrm>
            <a:off x="1042416" y="3401568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1012366" y="3601084"/>
            <a:ext cx="60100" cy="56516"/>
          </a:xfrm>
          <a:custGeom>
            <a:avLst/>
            <a:gdLst/>
            <a:ahLst/>
            <a:cxnLst/>
            <a:rect l="l" t="t" r="r" b="b"/>
            <a:pathLst>
              <a:path w="60100" h="56516">
                <a:moveTo>
                  <a:pt x="30050" y="56516"/>
                </a:moveTo>
                <a:lnTo>
                  <a:pt x="0" y="0"/>
                </a:lnTo>
                <a:lnTo>
                  <a:pt x="6010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39" y="3730752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63411" y="3899367"/>
            <a:ext cx="87782" cy="87782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Freeform 22"/>
          <p:cNvSpPr/>
          <p:nvPr/>
        </p:nvSpPr>
        <p:spPr>
          <a:xfrm>
            <a:off x="933817" y="4013484"/>
            <a:ext cx="146972" cy="47713"/>
          </a:xfrm>
          <a:custGeom>
            <a:avLst/>
            <a:gdLst/>
            <a:ahLst/>
            <a:cxnLst/>
            <a:rect l="l" t="t" r="r" b="b"/>
            <a:pathLst>
              <a:path w="146972" h="47713">
                <a:moveTo>
                  <a:pt x="0" y="47713"/>
                </a:moveTo>
                <a:lnTo>
                  <a:pt x="2858" y="40449"/>
                </a:lnTo>
                <a:lnTo>
                  <a:pt x="6714" y="33523"/>
                </a:lnTo>
                <a:lnTo>
                  <a:pt x="11515" y="27034"/>
                </a:lnTo>
                <a:lnTo>
                  <a:pt x="17192" y="21073"/>
                </a:lnTo>
                <a:lnTo>
                  <a:pt x="23665" y="15724"/>
                </a:lnTo>
                <a:lnTo>
                  <a:pt x="30844" y="11063"/>
                </a:lnTo>
                <a:lnTo>
                  <a:pt x="38625" y="7157"/>
                </a:lnTo>
                <a:lnTo>
                  <a:pt x="46899" y="4059"/>
                </a:lnTo>
                <a:lnTo>
                  <a:pt x="55550" y="1815"/>
                </a:lnTo>
                <a:lnTo>
                  <a:pt x="64454" y="456"/>
                </a:lnTo>
                <a:lnTo>
                  <a:pt x="73486" y="0"/>
                </a:lnTo>
                <a:lnTo>
                  <a:pt x="82518" y="456"/>
                </a:lnTo>
                <a:lnTo>
                  <a:pt x="91422" y="1815"/>
                </a:lnTo>
                <a:lnTo>
                  <a:pt x="100073" y="4059"/>
                </a:lnTo>
                <a:lnTo>
                  <a:pt x="108347" y="7157"/>
                </a:lnTo>
                <a:lnTo>
                  <a:pt x="116128" y="11063"/>
                </a:lnTo>
                <a:lnTo>
                  <a:pt x="123307" y="15724"/>
                </a:lnTo>
                <a:lnTo>
                  <a:pt x="129780" y="21073"/>
                </a:lnTo>
                <a:lnTo>
                  <a:pt x="135457" y="27034"/>
                </a:lnTo>
                <a:lnTo>
                  <a:pt x="140258" y="33523"/>
                </a:lnTo>
                <a:lnTo>
                  <a:pt x="144114" y="40449"/>
                </a:lnTo>
                <a:lnTo>
                  <a:pt x="146972" y="47713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124346" y="4007632"/>
            <a:ext cx="0" cy="87783"/>
          </a:xfrm>
          <a:custGeom>
            <a:avLst/>
            <a:gdLst/>
            <a:ahLst/>
            <a:cxnLst/>
            <a:rect l="l" t="t" r="r" b="b"/>
            <a:pathLst>
              <a:path w="0" h="87783">
                <a:moveTo>
                  <a:pt x="0" y="0"/>
                </a:moveTo>
                <a:lnTo>
                  <a:pt x="0" y="87783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080455" y="4051524"/>
            <a:ext cx="87782" cy="0"/>
          </a:xfrm>
          <a:custGeom>
            <a:avLst/>
            <a:gdLst/>
            <a:ahLst/>
            <a:cxnLst/>
            <a:rect l="l" t="t" r="r" b="b"/>
            <a:pathLst>
              <a:path w="87782" h="0">
                <a:moveTo>
                  <a:pt x="0" y="0"/>
                </a:moveTo>
                <a:lnTo>
                  <a:pt x="87782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90472" y="3767328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O vínculo com a unidade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0472" y="4041648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Autorizado pelo Administrador da empresa</a:t>
            </a:r>
          </a:p>
        </p:txBody>
      </p:sp>
      <p:sp>
        <p:nvSpPr>
          <p:cNvPr id="28" name="Freeform 27"/>
          <p:cNvSpPr/>
          <p:nvPr/>
        </p:nvSpPr>
        <p:spPr>
          <a:xfrm>
            <a:off x="1042416" y="4334256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012366" y="4533772"/>
            <a:ext cx="60100" cy="56516"/>
          </a:xfrm>
          <a:custGeom>
            <a:avLst/>
            <a:gdLst/>
            <a:ahLst/>
            <a:cxnLst/>
            <a:rect l="l" t="t" r="r" b="b"/>
            <a:pathLst>
              <a:path w="60100" h="56516">
                <a:moveTo>
                  <a:pt x="30050" y="56516"/>
                </a:moveTo>
                <a:lnTo>
                  <a:pt x="0" y="0"/>
                </a:lnTo>
                <a:lnTo>
                  <a:pt x="6010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7239" y="4663440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954634" y="4805721"/>
            <a:ext cx="169712" cy="245790"/>
          </a:xfrm>
          <a:custGeom>
            <a:avLst/>
            <a:gdLst/>
            <a:ahLst/>
            <a:cxnLst/>
            <a:rect l="l" t="t" r="r" b="b"/>
            <a:pathLst>
              <a:path w="169712" h="245790">
                <a:moveTo>
                  <a:pt x="0" y="0"/>
                </a:moveTo>
                <a:lnTo>
                  <a:pt x="122895" y="0"/>
                </a:lnTo>
                <a:lnTo>
                  <a:pt x="169712" y="52669"/>
                </a:lnTo>
                <a:lnTo>
                  <a:pt x="169712" y="245790"/>
                </a:lnTo>
                <a:lnTo>
                  <a:pt x="0" y="245790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77529" y="4805721"/>
            <a:ext cx="46817" cy="52669"/>
          </a:xfrm>
          <a:custGeom>
            <a:avLst/>
            <a:gdLst/>
            <a:ahLst/>
            <a:cxnLst/>
            <a:rect l="l" t="t" r="r" b="b"/>
            <a:pathLst>
              <a:path w="46817" h="52669">
                <a:moveTo>
                  <a:pt x="0" y="0"/>
                </a:moveTo>
                <a:lnTo>
                  <a:pt x="0" y="52669"/>
                </a:lnTo>
                <a:lnTo>
                  <a:pt x="46817" y="52669"/>
                </a:lnTo>
              </a:path>
            </a:pathLst>
          </a:custGeom>
          <a:noFill/>
          <a:ln w="1270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986820" y="4905207"/>
            <a:ext cx="105339" cy="0"/>
          </a:xfrm>
          <a:custGeom>
            <a:avLst/>
            <a:gdLst/>
            <a:ahLst/>
            <a:cxnLst/>
            <a:rect l="l" t="t" r="r" b="b"/>
            <a:pathLst>
              <a:path w="105339" h="0">
                <a:moveTo>
                  <a:pt x="0" y="0"/>
                </a:moveTo>
                <a:lnTo>
                  <a:pt x="105339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986820" y="4940320"/>
            <a:ext cx="105339" cy="0"/>
          </a:xfrm>
          <a:custGeom>
            <a:avLst/>
            <a:gdLst/>
            <a:ahLst/>
            <a:cxnLst/>
            <a:rect l="l" t="t" r="r" b="b"/>
            <a:pathLst>
              <a:path w="105339" h="0">
                <a:moveTo>
                  <a:pt x="0" y="0"/>
                </a:moveTo>
                <a:lnTo>
                  <a:pt x="105339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992673" y="4963729"/>
            <a:ext cx="96560" cy="58522"/>
          </a:xfrm>
          <a:custGeom>
            <a:avLst/>
            <a:gdLst/>
            <a:ahLst/>
            <a:cxnLst/>
            <a:rect l="l" t="t" r="r" b="b"/>
            <a:pathLst>
              <a:path w="96560" h="58522">
                <a:moveTo>
                  <a:pt x="0" y="29261"/>
                </a:moveTo>
                <a:lnTo>
                  <a:pt x="32187" y="58522"/>
                </a:lnTo>
                <a:lnTo>
                  <a:pt x="96560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90472" y="4700016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A emissão do MTR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90472" y="4974336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Somente com vínculo ativo na unidade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1847088"/>
            <a:ext cx="5056632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355080" y="1847088"/>
            <a:ext cx="5056632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6669634" y="2150669"/>
            <a:ext cx="248716" cy="307238"/>
          </a:xfrm>
          <a:custGeom>
            <a:avLst/>
            <a:gdLst/>
            <a:ahLst/>
            <a:cxnLst/>
            <a:rect l="l" t="t" r="r" b="b"/>
            <a:pathLst>
              <a:path w="248716" h="307238">
                <a:moveTo>
                  <a:pt x="124358" y="0"/>
                </a:moveTo>
                <a:lnTo>
                  <a:pt x="248716" y="51206"/>
                </a:lnTo>
                <a:lnTo>
                  <a:pt x="248716" y="160934"/>
                </a:lnTo>
                <a:lnTo>
                  <a:pt x="124358" y="307238"/>
                </a:lnTo>
                <a:lnTo>
                  <a:pt x="0" y="160934"/>
                </a:lnTo>
                <a:lnTo>
                  <a:pt x="0" y="5120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739128" y="2253082"/>
            <a:ext cx="117043" cy="87782"/>
          </a:xfrm>
          <a:custGeom>
            <a:avLst/>
            <a:gdLst/>
            <a:ahLst/>
            <a:cxnLst/>
            <a:rect l="l" t="t" r="r" b="b"/>
            <a:pathLst>
              <a:path w="117043" h="87782">
                <a:moveTo>
                  <a:pt x="0" y="43891"/>
                </a:moveTo>
                <a:lnTo>
                  <a:pt x="40234" y="87782"/>
                </a:lnTo>
                <a:lnTo>
                  <a:pt x="117043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04888" y="2176272"/>
            <a:ext cx="40507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Usuário Administrador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1112" y="2633472"/>
            <a:ext cx="4544568" cy="8412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19" b="0" i="0">
                <a:solidFill>
                  <a:srgbClr val="6E7288"/>
                </a:solidFill>
                <a:latin typeface="Montserrat"/>
              </a:rPr>
              <a:t>Responsável pelo cadastro da empresa. Edita dados cadastrais, gerencia usuários, concede permissões e pode desativar acessos da unidade. Pode criar usuários Padrão e outros Administradores.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730752"/>
            <a:ext cx="5056632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355080" y="3730752"/>
            <a:ext cx="5056632" cy="50292"/>
          </a:xfrm>
          <a:prstGeom prst="rect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6750100" y="4070908"/>
            <a:ext cx="87782" cy="87782"/>
          </a:xfrm>
          <a:prstGeom prst="ellipse">
            <a:avLst/>
          </a:pr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7" name="Freeform 46"/>
          <p:cNvSpPr/>
          <p:nvPr/>
        </p:nvSpPr>
        <p:spPr>
          <a:xfrm>
            <a:off x="6696737" y="4231843"/>
            <a:ext cx="194510" cy="78584"/>
          </a:xfrm>
          <a:custGeom>
            <a:avLst/>
            <a:gdLst/>
            <a:ahLst/>
            <a:cxnLst/>
            <a:rect l="l" t="t" r="r" b="b"/>
            <a:pathLst>
              <a:path w="194510" h="78584">
                <a:moveTo>
                  <a:pt x="0" y="78584"/>
                </a:moveTo>
                <a:lnTo>
                  <a:pt x="2953" y="66861"/>
                </a:lnTo>
                <a:lnTo>
                  <a:pt x="7424" y="55593"/>
                </a:lnTo>
                <a:lnTo>
                  <a:pt x="13340" y="44960"/>
                </a:lnTo>
                <a:lnTo>
                  <a:pt x="20607" y="35134"/>
                </a:lnTo>
                <a:lnTo>
                  <a:pt x="29106" y="26272"/>
                </a:lnTo>
                <a:lnTo>
                  <a:pt x="38702" y="18519"/>
                </a:lnTo>
                <a:lnTo>
                  <a:pt x="49241" y="11997"/>
                </a:lnTo>
                <a:lnTo>
                  <a:pt x="60551" y="6812"/>
                </a:lnTo>
                <a:lnTo>
                  <a:pt x="72453" y="3048"/>
                </a:lnTo>
                <a:lnTo>
                  <a:pt x="84753" y="765"/>
                </a:lnTo>
                <a:lnTo>
                  <a:pt x="97255" y="0"/>
                </a:lnTo>
                <a:lnTo>
                  <a:pt x="109757" y="765"/>
                </a:lnTo>
                <a:lnTo>
                  <a:pt x="122057" y="3048"/>
                </a:lnTo>
                <a:lnTo>
                  <a:pt x="133959" y="6812"/>
                </a:lnTo>
                <a:lnTo>
                  <a:pt x="145269" y="11997"/>
                </a:lnTo>
                <a:lnTo>
                  <a:pt x="155808" y="18519"/>
                </a:lnTo>
                <a:lnTo>
                  <a:pt x="165404" y="26272"/>
                </a:lnTo>
                <a:lnTo>
                  <a:pt x="173903" y="35134"/>
                </a:lnTo>
                <a:lnTo>
                  <a:pt x="181170" y="44960"/>
                </a:lnTo>
                <a:lnTo>
                  <a:pt x="187086" y="55593"/>
                </a:lnTo>
                <a:lnTo>
                  <a:pt x="191557" y="66861"/>
                </a:lnTo>
                <a:lnTo>
                  <a:pt x="194510" y="78584"/>
                </a:lnTo>
              </a:path>
            </a:pathLst>
          </a:cu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36715" y="4118457"/>
            <a:ext cx="65836" cy="65836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6609573" y="4275734"/>
            <a:ext cx="120121" cy="48797"/>
          </a:xfrm>
          <a:custGeom>
            <a:avLst/>
            <a:gdLst/>
            <a:ahLst/>
            <a:cxnLst/>
            <a:rect l="l" t="t" r="r" b="b"/>
            <a:pathLst>
              <a:path w="120121" h="48797">
                <a:moveTo>
                  <a:pt x="0" y="48797"/>
                </a:moveTo>
                <a:lnTo>
                  <a:pt x="2967" y="39761"/>
                </a:lnTo>
                <a:lnTo>
                  <a:pt x="7139" y="31274"/>
                </a:lnTo>
                <a:lnTo>
                  <a:pt x="12429" y="23518"/>
                </a:lnTo>
                <a:lnTo>
                  <a:pt x="18724" y="16655"/>
                </a:lnTo>
                <a:lnTo>
                  <a:pt x="25893" y="10831"/>
                </a:lnTo>
                <a:lnTo>
                  <a:pt x="33783" y="6169"/>
                </a:lnTo>
                <a:lnTo>
                  <a:pt x="42227" y="2766"/>
                </a:lnTo>
                <a:lnTo>
                  <a:pt x="51049" y="696"/>
                </a:lnTo>
                <a:lnTo>
                  <a:pt x="60061" y="0"/>
                </a:lnTo>
                <a:lnTo>
                  <a:pt x="69072" y="696"/>
                </a:lnTo>
                <a:lnTo>
                  <a:pt x="77894" y="2766"/>
                </a:lnTo>
                <a:lnTo>
                  <a:pt x="86339" y="6169"/>
                </a:lnTo>
                <a:lnTo>
                  <a:pt x="94229" y="10831"/>
                </a:lnTo>
                <a:lnTo>
                  <a:pt x="101397" y="16655"/>
                </a:lnTo>
                <a:lnTo>
                  <a:pt x="107693" y="23518"/>
                </a:lnTo>
                <a:lnTo>
                  <a:pt x="112982" y="31274"/>
                </a:lnTo>
                <a:lnTo>
                  <a:pt x="117155" y="39761"/>
                </a:lnTo>
                <a:lnTo>
                  <a:pt x="120121" y="4879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885432" y="4118457"/>
            <a:ext cx="65836" cy="65836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1" name="Freeform 50"/>
          <p:cNvSpPr/>
          <p:nvPr/>
        </p:nvSpPr>
        <p:spPr>
          <a:xfrm>
            <a:off x="6858290" y="4275734"/>
            <a:ext cx="120121" cy="48797"/>
          </a:xfrm>
          <a:custGeom>
            <a:avLst/>
            <a:gdLst/>
            <a:ahLst/>
            <a:cxnLst/>
            <a:rect l="l" t="t" r="r" b="b"/>
            <a:pathLst>
              <a:path w="120121" h="48797">
                <a:moveTo>
                  <a:pt x="0" y="48797"/>
                </a:moveTo>
                <a:lnTo>
                  <a:pt x="2966" y="39761"/>
                </a:lnTo>
                <a:lnTo>
                  <a:pt x="7139" y="31274"/>
                </a:lnTo>
                <a:lnTo>
                  <a:pt x="12428" y="23518"/>
                </a:lnTo>
                <a:lnTo>
                  <a:pt x="18724" y="16655"/>
                </a:lnTo>
                <a:lnTo>
                  <a:pt x="25892" y="10831"/>
                </a:lnTo>
                <a:lnTo>
                  <a:pt x="33782" y="6169"/>
                </a:lnTo>
                <a:lnTo>
                  <a:pt x="42227" y="2766"/>
                </a:lnTo>
                <a:lnTo>
                  <a:pt x="51049" y="696"/>
                </a:lnTo>
                <a:lnTo>
                  <a:pt x="60060" y="0"/>
                </a:lnTo>
                <a:lnTo>
                  <a:pt x="69072" y="696"/>
                </a:lnTo>
                <a:lnTo>
                  <a:pt x="77894" y="2766"/>
                </a:lnTo>
                <a:lnTo>
                  <a:pt x="86338" y="6169"/>
                </a:lnTo>
                <a:lnTo>
                  <a:pt x="94228" y="10831"/>
                </a:lnTo>
                <a:lnTo>
                  <a:pt x="101397" y="16655"/>
                </a:lnTo>
                <a:lnTo>
                  <a:pt x="107692" y="23518"/>
                </a:lnTo>
                <a:lnTo>
                  <a:pt x="112982" y="31274"/>
                </a:lnTo>
                <a:lnTo>
                  <a:pt x="117154" y="39761"/>
                </a:lnTo>
                <a:lnTo>
                  <a:pt x="120121" y="4879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04888" y="4059936"/>
            <a:ext cx="40507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Usuário Padrão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517136"/>
            <a:ext cx="4544568" cy="8412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19" b="0" i="0">
                <a:solidFill>
                  <a:srgbClr val="6E7288"/>
                </a:solidFill>
                <a:latin typeface="Montserrat"/>
              </a:rPr>
              <a:t>Acessa o sistema pela unidade à qual está vinculado, mas não acessa os menus de edição dos dados da empresa nem dos usuários da unidade.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724144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 sobre os tipos de usuário do Sistema MTR (Usuário Administrador e Usuário Padrão).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Impacto na nossa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Por que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não conseguimos mais emitir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no seu lugar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4983480" cy="11887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60" b="0" i="0">
                <a:solidFill>
                  <a:srgbClr val="6E7288"/>
                </a:solidFill>
                <a:latin typeface="Montserrat"/>
              </a:rPr>
              <a:t>Até 31/07/2026 nós emitíamos o MTR usando o acesso da sua empresa. Com o Login Único, o nosso acesso passou a ser o CPF do nosso responsável — e ele identifica a Nunes &amp; Lucato como transportadora, na nossa própria unidade.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8309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5606" y="3108960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O nosso login não alcança a unidade do gerador.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31011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5606" y="3391662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Sem vínculo autorizado, o sistema não exibe a sua empresa.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13713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5606" y="3674364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Não há como emitir MTR em nome de quem não nos autorizou.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26864"/>
            <a:ext cx="4846320" cy="566928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32004" cy="566928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Freeform 17"/>
          <p:cNvSpPr/>
          <p:nvPr/>
        </p:nvSpPr>
        <p:spPr>
          <a:xfrm>
            <a:off x="1034186" y="480060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152144" y="487741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41856" y="496450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472184" y="4626864"/>
            <a:ext cx="387705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Isso não é uma restrição da Nunes &amp; Lucato: é uma regra do próprio sistema MTR Nacional.</a:t>
            </a:r>
          </a:p>
        </p:txBody>
      </p:sp>
      <p:pic>
        <p:nvPicPr>
          <p:cNvPr id="22" name="Picture 21" descr="mtr_perf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5056632" cy="751271"/>
          </a:xfrm>
          <a:prstGeom prst="rect">
            <a:avLst/>
          </a:prstGeom>
          <a:effectLst/>
        </p:spPr>
      </p:pic>
      <p:sp>
        <p:nvSpPr>
          <p:cNvPr id="23" name="Rectangle 22"/>
          <p:cNvSpPr/>
          <p:nvPr/>
        </p:nvSpPr>
        <p:spPr>
          <a:xfrm>
            <a:off x="6355080" y="1920240"/>
            <a:ext cx="5056632" cy="751271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5080" y="2744663"/>
            <a:ext cx="50566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Cabeçalho da nossa conta no MTR Nacional. O CPF do usuário administrador foi tarjado.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5646" y="2401053"/>
            <a:ext cx="2831713" cy="24040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55080" y="3127248"/>
            <a:ext cx="5056632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 nosso perfil no sistema é de Transportador. Ele nos permite emitir MTR nas unidades em que estamos autorizados — e só nelas.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877056"/>
            <a:ext cx="5056632" cy="170078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355080" y="3877056"/>
            <a:ext cx="5056632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Freeform 28"/>
          <p:cNvSpPr/>
          <p:nvPr/>
        </p:nvSpPr>
        <p:spPr>
          <a:xfrm>
            <a:off x="6617696" y="4208069"/>
            <a:ext cx="136794" cy="105704"/>
          </a:xfrm>
          <a:custGeom>
            <a:avLst/>
            <a:gdLst/>
            <a:ahLst/>
            <a:cxnLst/>
            <a:rect l="l" t="t" r="r" b="b"/>
            <a:pathLst>
              <a:path w="136794" h="105704">
                <a:moveTo>
                  <a:pt x="0" y="0"/>
                </a:moveTo>
                <a:lnTo>
                  <a:pt x="136794" y="0"/>
                </a:lnTo>
                <a:lnTo>
                  <a:pt x="136794" y="105704"/>
                </a:lnTo>
                <a:lnTo>
                  <a:pt x="0" y="10570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754490" y="4245376"/>
            <a:ext cx="105705" cy="68397"/>
          </a:xfrm>
          <a:custGeom>
            <a:avLst/>
            <a:gdLst/>
            <a:ahLst/>
            <a:cxnLst/>
            <a:rect l="l" t="t" r="r" b="b"/>
            <a:pathLst>
              <a:path w="105705" h="68397">
                <a:moveTo>
                  <a:pt x="0" y="0"/>
                </a:moveTo>
                <a:lnTo>
                  <a:pt x="62179" y="0"/>
                </a:lnTo>
                <a:lnTo>
                  <a:pt x="105705" y="40417"/>
                </a:lnTo>
                <a:lnTo>
                  <a:pt x="105705" y="68397"/>
                </a:lnTo>
                <a:lnTo>
                  <a:pt x="0" y="6839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6617696" y="4313773"/>
            <a:ext cx="242499" cy="0"/>
          </a:xfrm>
          <a:custGeom>
            <a:avLst/>
            <a:gdLst/>
            <a:ahLst/>
            <a:cxnLst/>
            <a:rect l="l" t="t" r="r" b="b"/>
            <a:pathLst>
              <a:path w="242499" h="0">
                <a:moveTo>
                  <a:pt x="0" y="0"/>
                </a:moveTo>
                <a:lnTo>
                  <a:pt x="242499" y="0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50339" y="4313773"/>
            <a:ext cx="46634" cy="46634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793351" y="4313773"/>
            <a:ext cx="46634" cy="46634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050024" y="4133088"/>
            <a:ext cx="412394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O que isso significa na prática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92824" y="4572000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Coleta sem MTR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15476" y="4572000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não pode circular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864608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MTR emitido por nós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15476" y="4864608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só com autorização sua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92824" y="5157216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Autorização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15476" y="5157216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leva minutos, uma única vez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Suas duas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Como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continuar emitindo MTR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a partir de agora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72440" cy="3529584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148303" y="2229490"/>
            <a:ext cx="126187" cy="126187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Freeform 11"/>
          <p:cNvSpPr/>
          <p:nvPr/>
        </p:nvSpPr>
        <p:spPr>
          <a:xfrm>
            <a:off x="1105761" y="2393533"/>
            <a:ext cx="211272" cy="68587"/>
          </a:xfrm>
          <a:custGeom>
            <a:avLst/>
            <a:gdLst/>
            <a:ahLst/>
            <a:cxnLst/>
            <a:rect l="l" t="t" r="r" b="b"/>
            <a:pathLst>
              <a:path w="211272" h="68587">
                <a:moveTo>
                  <a:pt x="0" y="68587"/>
                </a:moveTo>
                <a:lnTo>
                  <a:pt x="4108" y="58145"/>
                </a:lnTo>
                <a:lnTo>
                  <a:pt x="9651" y="48189"/>
                </a:lnTo>
                <a:lnTo>
                  <a:pt x="16552" y="38861"/>
                </a:lnTo>
                <a:lnTo>
                  <a:pt x="24713" y="30292"/>
                </a:lnTo>
                <a:lnTo>
                  <a:pt x="34019" y="22603"/>
                </a:lnTo>
                <a:lnTo>
                  <a:pt x="44338" y="15903"/>
                </a:lnTo>
                <a:lnTo>
                  <a:pt x="55523" y="10287"/>
                </a:lnTo>
                <a:lnTo>
                  <a:pt x="67418" y="5835"/>
                </a:lnTo>
                <a:lnTo>
                  <a:pt x="79853" y="2609"/>
                </a:lnTo>
                <a:lnTo>
                  <a:pt x="92653" y="655"/>
                </a:lnTo>
                <a:lnTo>
                  <a:pt x="105636" y="0"/>
                </a:lnTo>
                <a:lnTo>
                  <a:pt x="118620" y="655"/>
                </a:lnTo>
                <a:lnTo>
                  <a:pt x="131419" y="2609"/>
                </a:lnTo>
                <a:lnTo>
                  <a:pt x="143854" y="5835"/>
                </a:lnTo>
                <a:lnTo>
                  <a:pt x="155749" y="10287"/>
                </a:lnTo>
                <a:lnTo>
                  <a:pt x="166934" y="15903"/>
                </a:lnTo>
                <a:lnTo>
                  <a:pt x="177253" y="22603"/>
                </a:lnTo>
                <a:lnTo>
                  <a:pt x="186559" y="30292"/>
                </a:lnTo>
                <a:lnTo>
                  <a:pt x="194720" y="38861"/>
                </a:lnTo>
                <a:lnTo>
                  <a:pt x="201621" y="48189"/>
                </a:lnTo>
                <a:lnTo>
                  <a:pt x="207165" y="58145"/>
                </a:lnTo>
                <a:lnTo>
                  <a:pt x="211272" y="68587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379647" y="2385121"/>
            <a:ext cx="0" cy="126187"/>
          </a:xfrm>
          <a:custGeom>
            <a:avLst/>
            <a:gdLst/>
            <a:ahLst/>
            <a:cxnLst/>
            <a:rect l="l" t="t" r="r" b="b"/>
            <a:pathLst>
              <a:path w="0" h="126187">
                <a:moveTo>
                  <a:pt x="0" y="0"/>
                </a:moveTo>
                <a:lnTo>
                  <a:pt x="0" y="126187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316553" y="2448215"/>
            <a:ext cx="126187" cy="0"/>
          </a:xfrm>
          <a:custGeom>
            <a:avLst/>
            <a:gdLst/>
            <a:ahLst/>
            <a:cxnLst/>
            <a:rect l="l" t="t" r="r" b="b"/>
            <a:pathLst>
              <a:path w="126187" h="0">
                <a:moveTo>
                  <a:pt x="0" y="0"/>
                </a:moveTo>
                <a:lnTo>
                  <a:pt x="126187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18488" y="2176272"/>
            <a:ext cx="201168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60" b="0" i="0" spc="150" cap="all">
                <a:solidFill>
                  <a:srgbClr val="3432C9"/>
                </a:solidFill>
                <a:latin typeface="Montserrat SemiBold"/>
              </a:rPr>
              <a:t>Caminho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51232" y="215798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51232" y="2213610"/>
            <a:ext cx="1024128" cy="1544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60" b="0" i="0" spc="120" cap="all">
                <a:solidFill>
                  <a:srgbClr val="FFFFFF"/>
                </a:solidFill>
                <a:latin typeface="Montserrat SemiBold"/>
              </a:rPr>
              <a:t>Recomendado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743200"/>
            <a:ext cx="46238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Você nos autoriza como usuário da sua unidade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51560" y="3474720"/>
            <a:ext cx="4623800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20" name="Oval 19"/>
          <p:cNvSpPr/>
          <p:nvPr/>
        </p:nvSpPr>
        <p:spPr>
          <a:xfrm>
            <a:off x="1051560" y="3673230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39926" y="3639312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Você informa o CPF do nosso responsável.</a:t>
            </a:r>
          </a:p>
        </p:txBody>
      </p:sp>
      <p:sp>
        <p:nvSpPr>
          <p:cNvPr id="22" name="Oval 21"/>
          <p:cNvSpPr/>
          <p:nvPr/>
        </p:nvSpPr>
        <p:spPr>
          <a:xfrm>
            <a:off x="1051560" y="3930887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39926" y="3896969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 Administrador da sua unidade cadastra ou aprova esse acesso.</a:t>
            </a:r>
          </a:p>
        </p:txBody>
      </p:sp>
      <p:sp>
        <p:nvSpPr>
          <p:cNvPr id="24" name="Oval 23"/>
          <p:cNvSpPr/>
          <p:nvPr/>
        </p:nvSpPr>
        <p:spPr>
          <a:xfrm>
            <a:off x="1051560" y="4188545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" y="4154627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Voltamos a emitir os seus MTRs normalmente.</a:t>
            </a:r>
          </a:p>
        </p:txBody>
      </p:sp>
      <p:sp>
        <p:nvSpPr>
          <p:cNvPr id="26" name="Oval 25"/>
          <p:cNvSpPr/>
          <p:nvPr/>
        </p:nvSpPr>
        <p:spPr>
          <a:xfrm>
            <a:off x="1051560" y="4446202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39926" y="4412284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Nenhuma senha pessoal é compartilhada.</a:t>
            </a:r>
          </a:p>
        </p:txBody>
      </p:sp>
      <p:sp>
        <p:nvSpPr>
          <p:cNvPr id="28" name="Oval 27"/>
          <p:cNvSpPr/>
          <p:nvPr/>
        </p:nvSpPr>
        <p:spPr>
          <a:xfrm>
            <a:off x="1051560" y="4703860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239926" y="4669942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Cada emissão fica registrada com identificação.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2288" y="1847088"/>
            <a:ext cx="5172440" cy="3529584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242288" y="1847088"/>
            <a:ext cx="5172440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Freeform 31"/>
          <p:cNvSpPr/>
          <p:nvPr/>
        </p:nvSpPr>
        <p:spPr>
          <a:xfrm>
            <a:off x="6600734" y="2191634"/>
            <a:ext cx="243961" cy="353324"/>
          </a:xfrm>
          <a:custGeom>
            <a:avLst/>
            <a:gdLst/>
            <a:ahLst/>
            <a:cxnLst/>
            <a:rect l="l" t="t" r="r" b="b"/>
            <a:pathLst>
              <a:path w="243961" h="353324">
                <a:moveTo>
                  <a:pt x="0" y="0"/>
                </a:moveTo>
                <a:lnTo>
                  <a:pt x="176662" y="0"/>
                </a:lnTo>
                <a:lnTo>
                  <a:pt x="243961" y="75712"/>
                </a:lnTo>
                <a:lnTo>
                  <a:pt x="243961" y="353324"/>
                </a:lnTo>
                <a:lnTo>
                  <a:pt x="0" y="35332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777396" y="2191634"/>
            <a:ext cx="67299" cy="75712"/>
          </a:xfrm>
          <a:custGeom>
            <a:avLst/>
            <a:gdLst/>
            <a:ahLst/>
            <a:cxnLst/>
            <a:rect l="l" t="t" r="r" b="b"/>
            <a:pathLst>
              <a:path w="67299" h="75712">
                <a:moveTo>
                  <a:pt x="0" y="0"/>
                </a:moveTo>
                <a:lnTo>
                  <a:pt x="0" y="75712"/>
                </a:lnTo>
                <a:lnTo>
                  <a:pt x="67299" y="75712"/>
                </a:lnTo>
              </a:path>
            </a:pathLst>
          </a:custGeom>
          <a:noFill/>
          <a:ln w="1270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647002" y="2334646"/>
            <a:ext cx="151425" cy="0"/>
          </a:xfrm>
          <a:custGeom>
            <a:avLst/>
            <a:gdLst/>
            <a:ahLst/>
            <a:cxnLst/>
            <a:rect l="l" t="t" r="r" b="b"/>
            <a:pathLst>
              <a:path w="151425" h="0">
                <a:moveTo>
                  <a:pt x="0" y="0"/>
                </a:moveTo>
                <a:lnTo>
                  <a:pt x="151425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647002" y="2385121"/>
            <a:ext cx="151425" cy="0"/>
          </a:xfrm>
          <a:custGeom>
            <a:avLst/>
            <a:gdLst/>
            <a:ahLst/>
            <a:cxnLst/>
            <a:rect l="l" t="t" r="r" b="b"/>
            <a:pathLst>
              <a:path w="151425" h="0">
                <a:moveTo>
                  <a:pt x="0" y="0"/>
                </a:moveTo>
                <a:lnTo>
                  <a:pt x="151425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655415" y="2418771"/>
            <a:ext cx="138806" cy="84125"/>
          </a:xfrm>
          <a:custGeom>
            <a:avLst/>
            <a:gdLst/>
            <a:ahLst/>
            <a:cxnLst/>
            <a:rect l="l" t="t" r="r" b="b"/>
            <a:pathLst>
              <a:path w="138806" h="84125">
                <a:moveTo>
                  <a:pt x="0" y="42062"/>
                </a:moveTo>
                <a:lnTo>
                  <a:pt x="46268" y="84125"/>
                </a:lnTo>
                <a:lnTo>
                  <a:pt x="138806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83536" y="2176272"/>
            <a:ext cx="201168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60" b="0" i="0" spc="150" cap="all">
                <a:solidFill>
                  <a:srgbClr val="12A87B"/>
                </a:solidFill>
                <a:latin typeface="Montserrat SemiBold"/>
              </a:rPr>
              <a:t>Caminho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6608" y="2743200"/>
            <a:ext cx="46238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Sua equipe passa a emitir os próprios MTRs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16608" y="3474720"/>
            <a:ext cx="4623801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40" name="Oval 39"/>
          <p:cNvSpPr/>
          <p:nvPr/>
        </p:nvSpPr>
        <p:spPr>
          <a:xfrm>
            <a:off x="6516608" y="3673230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704975" y="3639312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Autonomia total sobre a emissão.</a:t>
            </a:r>
          </a:p>
        </p:txBody>
      </p:sp>
      <p:sp>
        <p:nvSpPr>
          <p:cNvPr id="42" name="Oval 41"/>
          <p:cNvSpPr/>
          <p:nvPr/>
        </p:nvSpPr>
        <p:spPr>
          <a:xfrm>
            <a:off x="6516608" y="3930887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04975" y="3896969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Exige conta Gov.br do responsável pela empresa.</a:t>
            </a:r>
          </a:p>
        </p:txBody>
      </p:sp>
      <p:sp>
        <p:nvSpPr>
          <p:cNvPr id="44" name="Oval 43"/>
          <p:cNvSpPr/>
          <p:nvPr/>
        </p:nvSpPr>
        <p:spPr>
          <a:xfrm>
            <a:off x="6516608" y="4188545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704975" y="4154627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Tutorial completo nos próximos slides.</a:t>
            </a:r>
          </a:p>
        </p:txBody>
      </p:sp>
      <p:sp>
        <p:nvSpPr>
          <p:cNvPr id="46" name="Oval 45"/>
          <p:cNvSpPr/>
          <p:nvPr/>
        </p:nvSpPr>
        <p:spPr>
          <a:xfrm>
            <a:off x="6516608" y="4446202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704975" y="4412284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Você usa os nossos dados como transportadora.</a:t>
            </a:r>
          </a:p>
        </p:txBody>
      </p:sp>
      <p:sp>
        <p:nvSpPr>
          <p:cNvPr id="48" name="Oval 47"/>
          <p:cNvSpPr/>
          <p:nvPr/>
        </p:nvSpPr>
        <p:spPr>
          <a:xfrm>
            <a:off x="6516608" y="4703860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704975" y="4669942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Nossa equipe apoia na transição.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" y="5577840"/>
            <a:ext cx="1063748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777240" y="5577840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2" name="Freeform 51"/>
          <p:cNvSpPr/>
          <p:nvPr/>
        </p:nvSpPr>
        <p:spPr>
          <a:xfrm>
            <a:off x="1085122" y="5744261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127455" y="5919826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135685" y="5941771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1152144" y="5799125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152144" y="5796382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121969" y="5796382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2184" y="5577840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Os dois caminhos são válidos e podem coexistir: você pode nos autorizar agora e migrar para a emissão própria quando quiser.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Caminho 1  ·  Recomendado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Você nos autoriza como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usuário da sua unidade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33271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3432C9"/>
                </a:solidFill>
                <a:latin typeface="Montserrat Light"/>
              </a:rPr>
              <a:t>01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53506" y="2250521"/>
            <a:ext cx="353324" cy="235550"/>
          </a:xfrm>
          <a:custGeom>
            <a:avLst/>
            <a:gdLst/>
            <a:ahLst/>
            <a:cxnLst/>
            <a:rect l="l" t="t" r="r" b="b"/>
            <a:pathLst>
              <a:path w="353324" h="235550">
                <a:moveTo>
                  <a:pt x="0" y="0"/>
                </a:moveTo>
                <a:lnTo>
                  <a:pt x="353324" y="0"/>
                </a:lnTo>
                <a:lnTo>
                  <a:pt x="353324" y="235550"/>
                </a:lnTo>
                <a:lnTo>
                  <a:pt x="0" y="235550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03980" y="2292583"/>
            <a:ext cx="84124" cy="84124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Freeform 13"/>
          <p:cNvSpPr/>
          <p:nvPr/>
        </p:nvSpPr>
        <p:spPr>
          <a:xfrm>
            <a:off x="3486755" y="2389327"/>
            <a:ext cx="118577" cy="30444"/>
          </a:xfrm>
          <a:custGeom>
            <a:avLst/>
            <a:gdLst/>
            <a:ahLst/>
            <a:cxnLst/>
            <a:rect l="l" t="t" r="r" b="b"/>
            <a:pathLst>
              <a:path w="118577" h="30444">
                <a:moveTo>
                  <a:pt x="0" y="30444"/>
                </a:moveTo>
                <a:lnTo>
                  <a:pt x="3465" y="24706"/>
                </a:lnTo>
                <a:lnTo>
                  <a:pt x="7958" y="19364"/>
                </a:lnTo>
                <a:lnTo>
                  <a:pt x="13396" y="14517"/>
                </a:lnTo>
                <a:lnTo>
                  <a:pt x="19677" y="10255"/>
                </a:lnTo>
                <a:lnTo>
                  <a:pt x="26688" y="6655"/>
                </a:lnTo>
                <a:lnTo>
                  <a:pt x="34298" y="3784"/>
                </a:lnTo>
                <a:lnTo>
                  <a:pt x="42368" y="1695"/>
                </a:lnTo>
                <a:lnTo>
                  <a:pt x="50750" y="426"/>
                </a:lnTo>
                <a:lnTo>
                  <a:pt x="59288" y="0"/>
                </a:lnTo>
                <a:lnTo>
                  <a:pt x="67827" y="426"/>
                </a:lnTo>
                <a:lnTo>
                  <a:pt x="76208" y="1695"/>
                </a:lnTo>
                <a:lnTo>
                  <a:pt x="84278" y="3784"/>
                </a:lnTo>
                <a:lnTo>
                  <a:pt x="91889" y="6655"/>
                </a:lnTo>
                <a:lnTo>
                  <a:pt x="98899" y="10255"/>
                </a:lnTo>
                <a:lnTo>
                  <a:pt x="105181" y="14517"/>
                </a:lnTo>
                <a:lnTo>
                  <a:pt x="110618" y="19364"/>
                </a:lnTo>
                <a:lnTo>
                  <a:pt x="115111" y="24706"/>
                </a:lnTo>
                <a:lnTo>
                  <a:pt x="118577" y="30444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638580" y="2317821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3638580" y="2368296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3638580" y="2418771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Você nos envia os dados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1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Nome completo e CPF do nosso responsável já estão no card abaixo.</a:t>
            </a:r>
          </a:p>
        </p:txBody>
      </p:sp>
      <p:sp>
        <p:nvSpPr>
          <p:cNvPr id="20" name="Freeform 19"/>
          <p:cNvSpPr/>
          <p:nvPr/>
        </p:nvSpPr>
        <p:spPr>
          <a:xfrm>
            <a:off x="4206240" y="2889504"/>
            <a:ext cx="164592" cy="0"/>
          </a:xfrm>
          <a:custGeom>
            <a:avLst/>
            <a:gdLst/>
            <a:ahLst/>
            <a:cxnLst/>
            <a:rect l="l" t="t" r="r" b="b"/>
            <a:pathLst>
              <a:path w="164592" h="0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4314316" y="28594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7407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407407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663440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3432C9"/>
                </a:solidFill>
                <a:latin typeface="Montserrat Light"/>
              </a:rPr>
              <a:t>02</a:t>
            </a:r>
          </a:p>
        </p:txBody>
      </p:sp>
      <p:sp>
        <p:nvSpPr>
          <p:cNvPr id="25" name="Oval 24"/>
          <p:cNvSpPr/>
          <p:nvPr/>
        </p:nvSpPr>
        <p:spPr>
          <a:xfrm>
            <a:off x="7146767" y="2229490"/>
            <a:ext cx="126187" cy="126187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Freeform 25"/>
          <p:cNvSpPr/>
          <p:nvPr/>
        </p:nvSpPr>
        <p:spPr>
          <a:xfrm>
            <a:off x="7104225" y="2393533"/>
            <a:ext cx="211272" cy="68587"/>
          </a:xfrm>
          <a:custGeom>
            <a:avLst/>
            <a:gdLst/>
            <a:ahLst/>
            <a:cxnLst/>
            <a:rect l="l" t="t" r="r" b="b"/>
            <a:pathLst>
              <a:path w="211272" h="68587">
                <a:moveTo>
                  <a:pt x="0" y="68587"/>
                </a:moveTo>
                <a:lnTo>
                  <a:pt x="4108" y="58145"/>
                </a:lnTo>
                <a:lnTo>
                  <a:pt x="9651" y="48189"/>
                </a:lnTo>
                <a:lnTo>
                  <a:pt x="16552" y="38861"/>
                </a:lnTo>
                <a:lnTo>
                  <a:pt x="24713" y="30292"/>
                </a:lnTo>
                <a:lnTo>
                  <a:pt x="34019" y="22603"/>
                </a:lnTo>
                <a:lnTo>
                  <a:pt x="44338" y="15903"/>
                </a:lnTo>
                <a:lnTo>
                  <a:pt x="55523" y="10287"/>
                </a:lnTo>
                <a:lnTo>
                  <a:pt x="67418" y="5835"/>
                </a:lnTo>
                <a:lnTo>
                  <a:pt x="79853" y="2609"/>
                </a:lnTo>
                <a:lnTo>
                  <a:pt x="92653" y="655"/>
                </a:lnTo>
                <a:lnTo>
                  <a:pt x="105636" y="0"/>
                </a:lnTo>
                <a:lnTo>
                  <a:pt x="118620" y="655"/>
                </a:lnTo>
                <a:lnTo>
                  <a:pt x="131419" y="2609"/>
                </a:lnTo>
                <a:lnTo>
                  <a:pt x="143854" y="5835"/>
                </a:lnTo>
                <a:lnTo>
                  <a:pt x="155749" y="10287"/>
                </a:lnTo>
                <a:lnTo>
                  <a:pt x="166934" y="15903"/>
                </a:lnTo>
                <a:lnTo>
                  <a:pt x="177253" y="22603"/>
                </a:lnTo>
                <a:lnTo>
                  <a:pt x="186559" y="30292"/>
                </a:lnTo>
                <a:lnTo>
                  <a:pt x="194720" y="38861"/>
                </a:lnTo>
                <a:lnTo>
                  <a:pt x="201621" y="48189"/>
                </a:lnTo>
                <a:lnTo>
                  <a:pt x="207165" y="58145"/>
                </a:lnTo>
                <a:lnTo>
                  <a:pt x="211272" y="68587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378111" y="2385121"/>
            <a:ext cx="0" cy="126187"/>
          </a:xfrm>
          <a:custGeom>
            <a:avLst/>
            <a:gdLst/>
            <a:ahLst/>
            <a:cxnLst/>
            <a:rect l="l" t="t" r="r" b="b"/>
            <a:pathLst>
              <a:path w="0" h="126187">
                <a:moveTo>
                  <a:pt x="0" y="0"/>
                </a:moveTo>
                <a:lnTo>
                  <a:pt x="0" y="126187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315017" y="2448215"/>
            <a:ext cx="126187" cy="0"/>
          </a:xfrm>
          <a:custGeom>
            <a:avLst/>
            <a:gdLst/>
            <a:ahLst/>
            <a:cxnLst/>
            <a:rect l="l" t="t" r="r" b="b"/>
            <a:pathLst>
              <a:path w="126187" h="0">
                <a:moveTo>
                  <a:pt x="0" y="0"/>
                </a:moveTo>
                <a:lnTo>
                  <a:pt x="126187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Seu Administrador autoriza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Cadastro direto no sistema ou aprovação da nossa solicitação.</a:t>
            </a:r>
          </a:p>
        </p:txBody>
      </p:sp>
      <p:sp>
        <p:nvSpPr>
          <p:cNvPr id="31" name="Freeform 30"/>
          <p:cNvSpPr/>
          <p:nvPr/>
        </p:nvSpPr>
        <p:spPr>
          <a:xfrm>
            <a:off x="7836408" y="2889504"/>
            <a:ext cx="164592" cy="0"/>
          </a:xfrm>
          <a:custGeom>
            <a:avLst/>
            <a:gdLst/>
            <a:ahLst/>
            <a:cxnLst/>
            <a:rect l="l" t="t" r="r" b="b"/>
            <a:pathLst>
              <a:path w="164592" h="0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944484" y="28594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5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037575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93607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3432C9"/>
                </a:solidFill>
                <a:latin typeface="Montserrat Light"/>
              </a:rPr>
              <a:t>03</a:t>
            </a:r>
          </a:p>
        </p:txBody>
      </p:sp>
      <p:sp>
        <p:nvSpPr>
          <p:cNvPr id="36" name="Freeform 35"/>
          <p:cNvSpPr/>
          <p:nvPr/>
        </p:nvSpPr>
        <p:spPr>
          <a:xfrm>
            <a:off x="10764317" y="2191634"/>
            <a:ext cx="243962" cy="353324"/>
          </a:xfrm>
          <a:custGeom>
            <a:avLst/>
            <a:gdLst/>
            <a:ahLst/>
            <a:cxnLst/>
            <a:rect l="l" t="t" r="r" b="b"/>
            <a:pathLst>
              <a:path w="243962" h="353324">
                <a:moveTo>
                  <a:pt x="0" y="0"/>
                </a:moveTo>
                <a:lnTo>
                  <a:pt x="176662" y="0"/>
                </a:lnTo>
                <a:lnTo>
                  <a:pt x="243962" y="75712"/>
                </a:lnTo>
                <a:lnTo>
                  <a:pt x="243962" y="353324"/>
                </a:lnTo>
                <a:lnTo>
                  <a:pt x="0" y="35332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0940979" y="2191634"/>
            <a:ext cx="67300" cy="75712"/>
          </a:xfrm>
          <a:custGeom>
            <a:avLst/>
            <a:gdLst/>
            <a:ahLst/>
            <a:cxnLst/>
            <a:rect l="l" t="t" r="r" b="b"/>
            <a:pathLst>
              <a:path w="67300" h="75712">
                <a:moveTo>
                  <a:pt x="0" y="0"/>
                </a:moveTo>
                <a:lnTo>
                  <a:pt x="0" y="75712"/>
                </a:lnTo>
                <a:lnTo>
                  <a:pt x="67300" y="75712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0810585" y="2334646"/>
            <a:ext cx="151425" cy="0"/>
          </a:xfrm>
          <a:custGeom>
            <a:avLst/>
            <a:gdLst/>
            <a:ahLst/>
            <a:cxnLst/>
            <a:rect l="l" t="t" r="r" b="b"/>
            <a:pathLst>
              <a:path w="151425" h="0">
                <a:moveTo>
                  <a:pt x="0" y="0"/>
                </a:moveTo>
                <a:lnTo>
                  <a:pt x="15142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0810585" y="2385121"/>
            <a:ext cx="151425" cy="0"/>
          </a:xfrm>
          <a:custGeom>
            <a:avLst/>
            <a:gdLst/>
            <a:ahLst/>
            <a:cxnLst/>
            <a:rect l="l" t="t" r="r" b="b"/>
            <a:pathLst>
              <a:path w="151425" h="0">
                <a:moveTo>
                  <a:pt x="0" y="0"/>
                </a:moveTo>
                <a:lnTo>
                  <a:pt x="15142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10818998" y="2418771"/>
            <a:ext cx="138806" cy="84125"/>
          </a:xfrm>
          <a:custGeom>
            <a:avLst/>
            <a:gdLst/>
            <a:ahLst/>
            <a:cxnLst/>
            <a:rect l="l" t="t" r="r" b="b"/>
            <a:pathLst>
              <a:path w="138806" h="84125">
                <a:moveTo>
                  <a:pt x="0" y="42062"/>
                </a:moveTo>
                <a:lnTo>
                  <a:pt x="46269" y="84125"/>
                </a:lnTo>
                <a:lnTo>
                  <a:pt x="138806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3607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Voltamos a emitir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3607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 emissão volta ao normal, sem mudança na sua rotina.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187952"/>
            <a:ext cx="5175504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77240" y="4187952"/>
            <a:ext cx="517550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133124" y="4481657"/>
            <a:ext cx="74615" cy="74615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Freeform 45"/>
          <p:cNvSpPr/>
          <p:nvPr/>
        </p:nvSpPr>
        <p:spPr>
          <a:xfrm>
            <a:off x="1087765" y="4618452"/>
            <a:ext cx="165334" cy="66796"/>
          </a:xfrm>
          <a:custGeom>
            <a:avLst/>
            <a:gdLst/>
            <a:ahLst/>
            <a:cxnLst/>
            <a:rect l="l" t="t" r="r" b="b"/>
            <a:pathLst>
              <a:path w="165334" h="66796">
                <a:moveTo>
                  <a:pt x="0" y="66796"/>
                </a:moveTo>
                <a:lnTo>
                  <a:pt x="2511" y="56832"/>
                </a:lnTo>
                <a:lnTo>
                  <a:pt x="6311" y="47253"/>
                </a:lnTo>
                <a:lnTo>
                  <a:pt x="11339" y="38215"/>
                </a:lnTo>
                <a:lnTo>
                  <a:pt x="17516" y="29863"/>
                </a:lnTo>
                <a:lnTo>
                  <a:pt x="24740" y="22331"/>
                </a:lnTo>
                <a:lnTo>
                  <a:pt x="32897" y="15740"/>
                </a:lnTo>
                <a:lnTo>
                  <a:pt x="41855" y="10197"/>
                </a:lnTo>
                <a:lnTo>
                  <a:pt x="51469" y="5790"/>
                </a:lnTo>
                <a:lnTo>
                  <a:pt x="61585" y="2590"/>
                </a:lnTo>
                <a:lnTo>
                  <a:pt x="72041" y="650"/>
                </a:lnTo>
                <a:lnTo>
                  <a:pt x="82667" y="0"/>
                </a:lnTo>
                <a:lnTo>
                  <a:pt x="93293" y="650"/>
                </a:lnTo>
                <a:lnTo>
                  <a:pt x="103749" y="2590"/>
                </a:lnTo>
                <a:lnTo>
                  <a:pt x="113865" y="5790"/>
                </a:lnTo>
                <a:lnTo>
                  <a:pt x="123479" y="10197"/>
                </a:lnTo>
                <a:lnTo>
                  <a:pt x="132437" y="15740"/>
                </a:lnTo>
                <a:lnTo>
                  <a:pt x="140594" y="22331"/>
                </a:lnTo>
                <a:lnTo>
                  <a:pt x="147818" y="29863"/>
                </a:lnTo>
                <a:lnTo>
                  <a:pt x="153995" y="38215"/>
                </a:lnTo>
                <a:lnTo>
                  <a:pt x="159023" y="47253"/>
                </a:lnTo>
                <a:lnTo>
                  <a:pt x="162823" y="56832"/>
                </a:lnTo>
                <a:lnTo>
                  <a:pt x="165334" y="66796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6746" y="4522073"/>
            <a:ext cx="55961" cy="55961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Freeform 47"/>
          <p:cNvSpPr/>
          <p:nvPr/>
        </p:nvSpPr>
        <p:spPr>
          <a:xfrm>
            <a:off x="1013676" y="4655759"/>
            <a:ext cx="102103" cy="41477"/>
          </a:xfrm>
          <a:custGeom>
            <a:avLst/>
            <a:gdLst/>
            <a:ahLst/>
            <a:cxnLst/>
            <a:rect l="l" t="t" r="r" b="b"/>
            <a:pathLst>
              <a:path w="102103" h="41477">
                <a:moveTo>
                  <a:pt x="0" y="41477"/>
                </a:moveTo>
                <a:lnTo>
                  <a:pt x="2522" y="33796"/>
                </a:lnTo>
                <a:lnTo>
                  <a:pt x="6068" y="26583"/>
                </a:lnTo>
                <a:lnTo>
                  <a:pt x="10564" y="19990"/>
                </a:lnTo>
                <a:lnTo>
                  <a:pt x="15915" y="14157"/>
                </a:lnTo>
                <a:lnTo>
                  <a:pt x="22009" y="9206"/>
                </a:lnTo>
                <a:lnTo>
                  <a:pt x="28715" y="5243"/>
                </a:lnTo>
                <a:lnTo>
                  <a:pt x="35893" y="2351"/>
                </a:lnTo>
                <a:lnTo>
                  <a:pt x="43391" y="591"/>
                </a:lnTo>
                <a:lnTo>
                  <a:pt x="51051" y="0"/>
                </a:lnTo>
                <a:lnTo>
                  <a:pt x="58711" y="591"/>
                </a:lnTo>
                <a:lnTo>
                  <a:pt x="66210" y="2351"/>
                </a:lnTo>
                <a:lnTo>
                  <a:pt x="73388" y="5243"/>
                </a:lnTo>
                <a:lnTo>
                  <a:pt x="80094" y="9206"/>
                </a:lnTo>
                <a:lnTo>
                  <a:pt x="86187" y="14157"/>
                </a:lnTo>
                <a:lnTo>
                  <a:pt x="91539" y="19990"/>
                </a:lnTo>
                <a:lnTo>
                  <a:pt x="96035" y="26583"/>
                </a:lnTo>
                <a:lnTo>
                  <a:pt x="99581" y="33796"/>
                </a:lnTo>
                <a:lnTo>
                  <a:pt x="102103" y="41477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48156" y="4522073"/>
            <a:ext cx="55961" cy="55961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0" name="Freeform 49"/>
          <p:cNvSpPr/>
          <p:nvPr/>
        </p:nvSpPr>
        <p:spPr>
          <a:xfrm>
            <a:off x="1225085" y="4655759"/>
            <a:ext cx="102103" cy="41477"/>
          </a:xfrm>
          <a:custGeom>
            <a:avLst/>
            <a:gdLst/>
            <a:ahLst/>
            <a:cxnLst/>
            <a:rect l="l" t="t" r="r" b="b"/>
            <a:pathLst>
              <a:path w="102103" h="41477">
                <a:moveTo>
                  <a:pt x="0" y="41477"/>
                </a:moveTo>
                <a:lnTo>
                  <a:pt x="2522" y="33796"/>
                </a:lnTo>
                <a:lnTo>
                  <a:pt x="6068" y="26583"/>
                </a:lnTo>
                <a:lnTo>
                  <a:pt x="10564" y="19990"/>
                </a:lnTo>
                <a:lnTo>
                  <a:pt x="15916" y="14157"/>
                </a:lnTo>
                <a:lnTo>
                  <a:pt x="22009" y="9206"/>
                </a:lnTo>
                <a:lnTo>
                  <a:pt x="28715" y="5243"/>
                </a:lnTo>
                <a:lnTo>
                  <a:pt x="35893" y="2351"/>
                </a:lnTo>
                <a:lnTo>
                  <a:pt x="43392" y="591"/>
                </a:lnTo>
                <a:lnTo>
                  <a:pt x="51052" y="0"/>
                </a:lnTo>
                <a:lnTo>
                  <a:pt x="58712" y="591"/>
                </a:lnTo>
                <a:lnTo>
                  <a:pt x="66210" y="2351"/>
                </a:lnTo>
                <a:lnTo>
                  <a:pt x="73388" y="5243"/>
                </a:lnTo>
                <a:lnTo>
                  <a:pt x="80094" y="9206"/>
                </a:lnTo>
                <a:lnTo>
                  <a:pt x="86188" y="14157"/>
                </a:lnTo>
                <a:lnTo>
                  <a:pt x="91539" y="19990"/>
                </a:lnTo>
                <a:lnTo>
                  <a:pt x="96035" y="26583"/>
                </a:lnTo>
                <a:lnTo>
                  <a:pt x="99581" y="33796"/>
                </a:lnTo>
                <a:lnTo>
                  <a:pt x="102103" y="41477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72184" y="4443984"/>
            <a:ext cx="424281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Dados do nosso responsável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3" y="4882896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Nome completo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85185" y="4882896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[INSERIR NOME]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3" y="5175504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CPF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85185" y="5175504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[INSERIR CPF]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4983" y="5468112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E-mail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85185" y="5468112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[INSERIR E-MAIL]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36208" y="4187952"/>
            <a:ext cx="5175504" cy="1737360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236208" y="4187952"/>
            <a:ext cx="32004" cy="1737360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0" name="Freeform 59"/>
          <p:cNvSpPr/>
          <p:nvPr/>
        </p:nvSpPr>
        <p:spPr>
          <a:xfrm>
            <a:off x="6517843" y="4941418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6569964" y="5018227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31152" y="4187952"/>
            <a:ext cx="4206240" cy="17373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Nenhuma senha pessoal é compartilhada neste caminho. Cada MTR emitido fica registrado no CPF de quem o emitiu, o que aumenta a sua rastreabilidade e a nossa.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Caminho 1  ·  Passo a passo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Como o Administrador da sua unidade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nos cadastra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5029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60" b="0" i="0" spc="100">
                <a:solidFill>
                  <a:srgbClr val="3432C9"/>
                </a:solidFill>
                <a:latin typeface="Montserrat SemiBold"/>
              </a:rPr>
              <a:t>Rota A — o Administrador cadastra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12848"/>
            <a:ext cx="3931920" cy="38404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78408" y="2212848"/>
            <a:ext cx="365760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Configurações</a:t>
            </a:r>
          </a:p>
        </p:txBody>
      </p:sp>
      <p:sp>
        <p:nvSpPr>
          <p:cNvPr id="12" name="Freeform 11"/>
          <p:cNvSpPr/>
          <p:nvPr/>
        </p:nvSpPr>
        <p:spPr>
          <a:xfrm>
            <a:off x="1088136" y="2615184"/>
            <a:ext cx="0" cy="54864"/>
          </a:xfrm>
          <a:custGeom>
            <a:avLst/>
            <a:gdLst/>
            <a:ahLst/>
            <a:cxnLst/>
            <a:rect l="l" t="t" r="r" b="b"/>
            <a:pathLst>
              <a:path w="0" h="54864">
                <a:moveTo>
                  <a:pt x="0" y="0"/>
                </a:moveTo>
                <a:lnTo>
                  <a:pt x="0" y="54864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64525" y="2625643"/>
            <a:ext cx="47222" cy="44405"/>
          </a:xfrm>
          <a:custGeom>
            <a:avLst/>
            <a:gdLst/>
            <a:ahLst/>
            <a:cxnLst/>
            <a:rect l="l" t="t" r="r" b="b"/>
            <a:pathLst>
              <a:path w="47222" h="44405">
                <a:moveTo>
                  <a:pt x="23611" y="44405"/>
                </a:moveTo>
                <a:lnTo>
                  <a:pt x="0" y="0"/>
                </a:lnTo>
                <a:lnTo>
                  <a:pt x="47222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88336"/>
            <a:ext cx="3931920" cy="38404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78408" y="2688336"/>
            <a:ext cx="365760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Meus Usuários</a:t>
            </a:r>
          </a:p>
        </p:txBody>
      </p:sp>
      <p:sp>
        <p:nvSpPr>
          <p:cNvPr id="16" name="Freeform 15"/>
          <p:cNvSpPr/>
          <p:nvPr/>
        </p:nvSpPr>
        <p:spPr>
          <a:xfrm>
            <a:off x="1088136" y="3090672"/>
            <a:ext cx="0" cy="54864"/>
          </a:xfrm>
          <a:custGeom>
            <a:avLst/>
            <a:gdLst/>
            <a:ahLst/>
            <a:cxnLst/>
            <a:rect l="l" t="t" r="r" b="b"/>
            <a:pathLst>
              <a:path w="0" h="54864">
                <a:moveTo>
                  <a:pt x="0" y="0"/>
                </a:moveTo>
                <a:lnTo>
                  <a:pt x="0" y="54864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064525" y="3101131"/>
            <a:ext cx="47222" cy="44405"/>
          </a:xfrm>
          <a:custGeom>
            <a:avLst/>
            <a:gdLst/>
            <a:ahLst/>
            <a:cxnLst/>
            <a:rect l="l" t="t" r="r" b="b"/>
            <a:pathLst>
              <a:path w="47222" h="44405">
                <a:moveTo>
                  <a:pt x="23611" y="44405"/>
                </a:moveTo>
                <a:lnTo>
                  <a:pt x="0" y="0"/>
                </a:lnTo>
                <a:lnTo>
                  <a:pt x="47222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163824"/>
            <a:ext cx="3931920" cy="38404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78408" y="3163824"/>
            <a:ext cx="365760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Gerenciador de Usuários</a:t>
            </a:r>
          </a:p>
        </p:txBody>
      </p:sp>
      <p:sp>
        <p:nvSpPr>
          <p:cNvPr id="20" name="Freeform 19"/>
          <p:cNvSpPr/>
          <p:nvPr/>
        </p:nvSpPr>
        <p:spPr>
          <a:xfrm>
            <a:off x="1088136" y="3566160"/>
            <a:ext cx="0" cy="54864"/>
          </a:xfrm>
          <a:custGeom>
            <a:avLst/>
            <a:gdLst/>
            <a:ahLst/>
            <a:cxnLst/>
            <a:rect l="l" t="t" r="r" b="b"/>
            <a:pathLst>
              <a:path w="0" h="54864">
                <a:moveTo>
                  <a:pt x="0" y="0"/>
                </a:moveTo>
                <a:lnTo>
                  <a:pt x="0" y="54864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064525" y="3576619"/>
            <a:ext cx="47222" cy="44405"/>
          </a:xfrm>
          <a:custGeom>
            <a:avLst/>
            <a:gdLst/>
            <a:ahLst/>
            <a:cxnLst/>
            <a:rect l="l" t="t" r="r" b="b"/>
            <a:pathLst>
              <a:path w="47222" h="44405">
                <a:moveTo>
                  <a:pt x="23611" y="44405"/>
                </a:moveTo>
                <a:lnTo>
                  <a:pt x="0" y="0"/>
                </a:lnTo>
                <a:lnTo>
                  <a:pt x="47222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639312"/>
            <a:ext cx="3931920" cy="38404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78408" y="3639312"/>
            <a:ext cx="365760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FFFFFF"/>
                </a:solidFill>
                <a:latin typeface="Montserrat SemiBold"/>
              </a:rPr>
              <a:t>Adicionar Usuário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133087"/>
            <a:ext cx="493776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0" b="0" i="0">
                <a:solidFill>
                  <a:srgbClr val="6E7288"/>
                </a:solidFill>
                <a:latin typeface="Montserrat"/>
              </a:rPr>
              <a:t>Preencha os dados solicitados na janela. Para conceder perfil de Administrador, marque a opção correspondente.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1810512"/>
            <a:ext cx="505663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60" b="0" i="0" spc="100">
                <a:solidFill>
                  <a:srgbClr val="12A87B"/>
                </a:solidFill>
                <a:latin typeface="Montserrat SemiBold"/>
              </a:rPr>
              <a:t>Rota B — nós solicitamos, você aprova</a:t>
            </a:r>
          </a:p>
        </p:txBody>
      </p:sp>
      <p:sp>
        <p:nvSpPr>
          <p:cNvPr id="26" name="Oval 25"/>
          <p:cNvSpPr/>
          <p:nvPr/>
        </p:nvSpPr>
        <p:spPr>
          <a:xfrm>
            <a:off x="6355080" y="2248196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43446" y="2212848"/>
            <a:ext cx="4754880" cy="47792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3A3C55"/>
                </a:solidFill>
                <a:latin typeface="Montserrat"/>
              </a:rPr>
              <a:t>Nosso responsável entra com o CPF dele no MTR Nacional.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2521805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43446" y="2486456"/>
            <a:ext cx="4754880" cy="47792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3A3C55"/>
                </a:solidFill>
                <a:latin typeface="Montserrat"/>
              </a:rPr>
              <a:t>Clica em “Pesquisar CPF/CNPJ” e localiza a sua empresa.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2795414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3446" y="2760065"/>
            <a:ext cx="4754880" cy="47792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3A3C55"/>
                </a:solidFill>
                <a:latin typeface="Montserrat"/>
              </a:rPr>
              <a:t>Solicita acesso e preenche os dados de contato.</a:t>
            </a:r>
          </a:p>
        </p:txBody>
      </p:sp>
      <p:sp>
        <p:nvSpPr>
          <p:cNvPr id="32" name="Oval 31"/>
          <p:cNvSpPr/>
          <p:nvPr/>
        </p:nvSpPr>
        <p:spPr>
          <a:xfrm>
            <a:off x="6355080" y="3069023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43446" y="3033674"/>
            <a:ext cx="4754880" cy="47792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3A3C55"/>
                </a:solidFill>
                <a:latin typeface="Montserrat"/>
              </a:rPr>
              <a:t>O Administrador da sua unidade aprova a solicitação.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4023360"/>
            <a:ext cx="5056632" cy="512064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355080" y="4023360"/>
            <a:ext cx="32004" cy="512064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Freeform 35"/>
          <p:cNvSpPr/>
          <p:nvPr/>
        </p:nvSpPr>
        <p:spPr>
          <a:xfrm>
            <a:off x="6625742" y="4202582"/>
            <a:ext cx="197511" cy="159106"/>
          </a:xfrm>
          <a:custGeom>
            <a:avLst/>
            <a:gdLst/>
            <a:ahLst/>
            <a:cxnLst/>
            <a:rect l="l" t="t" r="r" b="b"/>
            <a:pathLst>
              <a:path w="197511" h="159106">
                <a:moveTo>
                  <a:pt x="0" y="159106"/>
                </a:moveTo>
                <a:lnTo>
                  <a:pt x="65837" y="159106"/>
                </a:lnTo>
                <a:lnTo>
                  <a:pt x="65837" y="65837"/>
                </a:lnTo>
                <a:lnTo>
                  <a:pt x="142647" y="65837"/>
                </a:lnTo>
                <a:lnTo>
                  <a:pt x="142647" y="0"/>
                </a:lnTo>
                <a:lnTo>
                  <a:pt x="197511" y="0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813711" y="4185840"/>
            <a:ext cx="31487" cy="33485"/>
          </a:xfrm>
          <a:custGeom>
            <a:avLst/>
            <a:gdLst/>
            <a:ahLst/>
            <a:cxnLst/>
            <a:rect l="l" t="t" r="r" b="b"/>
            <a:pathLst>
              <a:path w="31487" h="33485">
                <a:moveTo>
                  <a:pt x="31487" y="16742"/>
                </a:moveTo>
                <a:lnTo>
                  <a:pt x="0" y="33485"/>
                </a:lnTo>
                <a:lnTo>
                  <a:pt x="0" y="0"/>
                </a:lnTo>
                <a:close/>
              </a:path>
            </a:pathLst>
          </a:custGeom>
          <a:solidFill>
            <a:srgbClr val="12A87B"/>
          </a:solidFill>
          <a:ln w="952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06540" y="4342485"/>
            <a:ext cx="38404" cy="38404"/>
          </a:xfrm>
          <a:prstGeom prst="ellipse">
            <a:avLst/>
          </a:prstGeom>
          <a:solidFill>
            <a:srgbClr val="FFFFFF"/>
          </a:solidFill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050024" y="4023360"/>
            <a:ext cx="4087368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40" b="0" i="0">
                <a:solidFill>
                  <a:srgbClr val="3A3C55"/>
                </a:solidFill>
                <a:latin typeface="Montserrat"/>
              </a:rPr>
              <a:t>O detalhe de cada tela dessa rota está nos passos 6 e 7 (slides 16 a 19).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590288"/>
            <a:ext cx="10637489" cy="118872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777240" y="4590288"/>
            <a:ext cx="10637489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Freeform 41"/>
          <p:cNvSpPr/>
          <p:nvPr/>
        </p:nvSpPr>
        <p:spPr>
          <a:xfrm>
            <a:off x="1064727" y="4852904"/>
            <a:ext cx="211410" cy="261152"/>
          </a:xfrm>
          <a:custGeom>
            <a:avLst/>
            <a:gdLst/>
            <a:ahLst/>
            <a:cxnLst/>
            <a:rect l="l" t="t" r="r" b="b"/>
            <a:pathLst>
              <a:path w="211410" h="261152">
                <a:moveTo>
                  <a:pt x="105705" y="0"/>
                </a:moveTo>
                <a:lnTo>
                  <a:pt x="211410" y="43525"/>
                </a:lnTo>
                <a:lnTo>
                  <a:pt x="211410" y="136794"/>
                </a:lnTo>
                <a:lnTo>
                  <a:pt x="105705" y="261152"/>
                </a:lnTo>
                <a:lnTo>
                  <a:pt x="0" y="136794"/>
                </a:lnTo>
                <a:lnTo>
                  <a:pt x="0" y="43525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123798" y="4939955"/>
            <a:ext cx="99486" cy="74615"/>
          </a:xfrm>
          <a:custGeom>
            <a:avLst/>
            <a:gdLst/>
            <a:ahLst/>
            <a:cxnLst/>
            <a:rect l="l" t="t" r="r" b="b"/>
            <a:pathLst>
              <a:path w="99486" h="74615">
                <a:moveTo>
                  <a:pt x="0" y="37307"/>
                </a:moveTo>
                <a:lnTo>
                  <a:pt x="34198" y="74615"/>
                </a:lnTo>
                <a:lnTo>
                  <a:pt x="99486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72184" y="4846320"/>
            <a:ext cx="970480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Para retirar um acesso depois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3" y="5230368"/>
            <a:ext cx="425499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Caminho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69979" y="5230368"/>
            <a:ext cx="590700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Configurações › Meus Usuários › Gerenciador de Usuários › ícone de edição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3" y="5486400"/>
            <a:ext cx="425499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Ação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69979" y="5486400"/>
            <a:ext cx="590700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desmarcar “Ativo” e, se aplicável, “Administrador”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85216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SINIR. A inativação de um Administrador só é permitida se houver outro cadastrado na unidade.  [PRINT PENDENTE — tela do Gerenciador de Usuários]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Caminho 1  ·  Alternativa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Se preferir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repassar o login e a senha 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72440" cy="305409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106241" y="2194377"/>
            <a:ext cx="143012" cy="143012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150406" y="2238542"/>
            <a:ext cx="54681" cy="54681"/>
          </a:xfrm>
          <a:prstGeom prst="ellipse">
            <a:avLst/>
          </a:pr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1228222" y="2316358"/>
            <a:ext cx="185075" cy="185075"/>
          </a:xfrm>
          <a:custGeom>
            <a:avLst/>
            <a:gdLst/>
            <a:ahLst/>
            <a:cxnLst/>
            <a:rect l="l" t="t" r="r" b="b"/>
            <a:pathLst>
              <a:path w="185075" h="185075">
                <a:moveTo>
                  <a:pt x="0" y="0"/>
                </a:moveTo>
                <a:lnTo>
                  <a:pt x="185075" y="185075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295522" y="2434133"/>
            <a:ext cx="50475" cy="50475"/>
          </a:xfrm>
          <a:custGeom>
            <a:avLst/>
            <a:gdLst/>
            <a:ahLst/>
            <a:cxnLst/>
            <a:rect l="l" t="t" r="r" b="b"/>
            <a:pathLst>
              <a:path w="50475" h="50475">
                <a:moveTo>
                  <a:pt x="50475" y="0"/>
                </a:moveTo>
                <a:lnTo>
                  <a:pt x="0" y="50475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337584" y="2476195"/>
            <a:ext cx="50475" cy="50475"/>
          </a:xfrm>
          <a:custGeom>
            <a:avLst/>
            <a:gdLst/>
            <a:ahLst/>
            <a:cxnLst/>
            <a:rect l="l" t="t" r="r" b="b"/>
            <a:pathLst>
              <a:path w="50475" h="50475">
                <a:moveTo>
                  <a:pt x="50475" y="0"/>
                </a:moveTo>
                <a:lnTo>
                  <a:pt x="0" y="50475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706624"/>
            <a:ext cx="46238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Como funcionaria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1560" y="3328416"/>
            <a:ext cx="4623800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18" name="Oval 17"/>
          <p:cNvSpPr/>
          <p:nvPr/>
        </p:nvSpPr>
        <p:spPr>
          <a:xfrm>
            <a:off x="1051560" y="352692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39926" y="349300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Você nos informa o CPF e a senha da conta Gov.br do responsável.</a:t>
            </a:r>
          </a:p>
        </p:txBody>
      </p:sp>
      <p:sp>
        <p:nvSpPr>
          <p:cNvPr id="20" name="Oval 19"/>
          <p:cNvSpPr/>
          <p:nvPr/>
        </p:nvSpPr>
        <p:spPr>
          <a:xfrm>
            <a:off x="1051560" y="3940641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39926" y="3906723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Acessamos o MTR Nacional com essas credenciais.</a:t>
            </a:r>
          </a:p>
        </p:txBody>
      </p:sp>
      <p:sp>
        <p:nvSpPr>
          <p:cNvPr id="22" name="Oval 21"/>
          <p:cNvSpPr/>
          <p:nvPr/>
        </p:nvSpPr>
        <p:spPr>
          <a:xfrm>
            <a:off x="1051560" y="4198298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39926" y="4164380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Seguimos emitindo os MTRs como antes.</a:t>
            </a:r>
          </a:p>
        </p:txBody>
      </p:sp>
      <p:sp>
        <p:nvSpPr>
          <p:cNvPr id="24" name="Oval 23"/>
          <p:cNvSpPr/>
          <p:nvPr/>
        </p:nvSpPr>
        <p:spPr>
          <a:xfrm>
            <a:off x="1051560" y="445595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" y="442203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Nada muda na sua rotina.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2288" y="1847088"/>
            <a:ext cx="5172440" cy="3054096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42288" y="1847088"/>
            <a:ext cx="5172440" cy="50292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6546052" y="2181758"/>
            <a:ext cx="361737" cy="319675"/>
          </a:xfrm>
          <a:custGeom>
            <a:avLst/>
            <a:gdLst/>
            <a:ahLst/>
            <a:cxnLst/>
            <a:rect l="l" t="t" r="r" b="b"/>
            <a:pathLst>
              <a:path w="361737" h="319675">
                <a:moveTo>
                  <a:pt x="180869" y="0"/>
                </a:moveTo>
                <a:lnTo>
                  <a:pt x="361737" y="319675"/>
                </a:lnTo>
                <a:lnTo>
                  <a:pt x="0" y="319675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6726921" y="2299533"/>
            <a:ext cx="0" cy="100950"/>
          </a:xfrm>
          <a:custGeom>
            <a:avLst/>
            <a:gdLst/>
            <a:ahLst/>
            <a:cxnLst/>
            <a:rect l="l" t="t" r="r" b="b"/>
            <a:pathLst>
              <a:path w="0" h="100950">
                <a:moveTo>
                  <a:pt x="0" y="0"/>
                </a:moveTo>
                <a:lnTo>
                  <a:pt x="0" y="100950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11147" y="2433081"/>
            <a:ext cx="31546" cy="31546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16608" y="2706624"/>
            <a:ext cx="46238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Antes de decidir, considere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16608" y="3328416"/>
            <a:ext cx="4623801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33" name="Oval 32"/>
          <p:cNvSpPr/>
          <p:nvPr/>
        </p:nvSpPr>
        <p:spPr>
          <a:xfrm>
            <a:off x="6516608" y="3526926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704975" y="349300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 conta Gov.br é pessoal e intransferível.</a:t>
            </a:r>
          </a:p>
        </p:txBody>
      </p:sp>
      <p:sp>
        <p:nvSpPr>
          <p:cNvPr id="35" name="Oval 34"/>
          <p:cNvSpPr/>
          <p:nvPr/>
        </p:nvSpPr>
        <p:spPr>
          <a:xfrm>
            <a:off x="6516608" y="3784583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704975" y="3750665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 mesma senha abre outros serviços do governo em nome do titular.</a:t>
            </a:r>
          </a:p>
        </p:txBody>
      </p:sp>
      <p:sp>
        <p:nvSpPr>
          <p:cNvPr id="37" name="Oval 36"/>
          <p:cNvSpPr/>
          <p:nvPr/>
        </p:nvSpPr>
        <p:spPr>
          <a:xfrm>
            <a:off x="6516608" y="4198298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04975" y="4164380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Toda ação fica registrada como se fosse o próprio titular.</a:t>
            </a:r>
          </a:p>
        </p:txBody>
      </p:sp>
      <p:sp>
        <p:nvSpPr>
          <p:cNvPr id="39" name="Oval 38"/>
          <p:cNvSpPr/>
          <p:nvPr/>
        </p:nvSpPr>
        <p:spPr>
          <a:xfrm>
            <a:off x="6516608" y="4455956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04975" y="442203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Uma troca de senha derruba o nosso acesso sem aviso.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5010912"/>
            <a:ext cx="10637489" cy="694944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77240" y="5010912"/>
            <a:ext cx="32004" cy="694944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Freeform 42"/>
          <p:cNvSpPr/>
          <p:nvPr/>
        </p:nvSpPr>
        <p:spPr>
          <a:xfrm>
            <a:off x="1058875" y="5243170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1110996" y="5319979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72184" y="5010912"/>
            <a:ext cx="9668225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Nossa recomendação: prefira o cadastro de usuário do slide 8. O resultado prático é o mesmo — nós emitimos os seus MTRs — sem expor a conta pessoal do responsável e sem depender da senha dele.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5797296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A decisão é da sua empresa. Seguiremos a orientação que você nos der, por escrito.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Caminho 2  ·  Visão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Emitindo seus próprios MTRs em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9 passos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65376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05840" y="2112264"/>
            <a:ext cx="347472" cy="347472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2112264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01</a:t>
            </a:r>
          </a:p>
        </p:txBody>
      </p:sp>
      <p:sp>
        <p:nvSpPr>
          <p:cNvPr id="13" name="Freeform 12"/>
          <p:cNvSpPr/>
          <p:nvPr/>
        </p:nvSpPr>
        <p:spPr>
          <a:xfrm>
            <a:off x="3537631" y="2193828"/>
            <a:ext cx="276514" cy="184344"/>
          </a:xfrm>
          <a:custGeom>
            <a:avLst/>
            <a:gdLst/>
            <a:ahLst/>
            <a:cxnLst/>
            <a:rect l="l" t="t" r="r" b="b"/>
            <a:pathLst>
              <a:path w="276514" h="184344">
                <a:moveTo>
                  <a:pt x="0" y="0"/>
                </a:moveTo>
                <a:lnTo>
                  <a:pt x="276514" y="0"/>
                </a:lnTo>
                <a:lnTo>
                  <a:pt x="276514" y="184344"/>
                </a:lnTo>
                <a:lnTo>
                  <a:pt x="0" y="18434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132" y="2226746"/>
            <a:ext cx="65836" cy="65836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Freeform 14"/>
          <p:cNvSpPr/>
          <p:nvPr/>
        </p:nvSpPr>
        <p:spPr>
          <a:xfrm>
            <a:off x="3563651" y="2302459"/>
            <a:ext cx="92800" cy="23826"/>
          </a:xfrm>
          <a:custGeom>
            <a:avLst/>
            <a:gdLst/>
            <a:ahLst/>
            <a:cxnLst/>
            <a:rect l="l" t="t" r="r" b="b"/>
            <a:pathLst>
              <a:path w="92800" h="23826">
                <a:moveTo>
                  <a:pt x="0" y="23826"/>
                </a:moveTo>
                <a:lnTo>
                  <a:pt x="2713" y="19335"/>
                </a:lnTo>
                <a:lnTo>
                  <a:pt x="6229" y="15154"/>
                </a:lnTo>
                <a:lnTo>
                  <a:pt x="10484" y="11361"/>
                </a:lnTo>
                <a:lnTo>
                  <a:pt x="15400" y="8026"/>
                </a:lnTo>
                <a:lnTo>
                  <a:pt x="20887" y="5208"/>
                </a:lnTo>
                <a:lnTo>
                  <a:pt x="26843" y="2962"/>
                </a:lnTo>
                <a:lnTo>
                  <a:pt x="33158" y="1327"/>
                </a:lnTo>
                <a:lnTo>
                  <a:pt x="39718" y="333"/>
                </a:lnTo>
                <a:lnTo>
                  <a:pt x="46400" y="0"/>
                </a:lnTo>
                <a:lnTo>
                  <a:pt x="53083" y="333"/>
                </a:lnTo>
                <a:lnTo>
                  <a:pt x="59642" y="1327"/>
                </a:lnTo>
                <a:lnTo>
                  <a:pt x="65958" y="2962"/>
                </a:lnTo>
                <a:lnTo>
                  <a:pt x="71914" y="5208"/>
                </a:lnTo>
                <a:lnTo>
                  <a:pt x="77400" y="8026"/>
                </a:lnTo>
                <a:lnTo>
                  <a:pt x="82316" y="11361"/>
                </a:lnTo>
                <a:lnTo>
                  <a:pt x="86571" y="15154"/>
                </a:lnTo>
                <a:lnTo>
                  <a:pt x="90088" y="19335"/>
                </a:lnTo>
                <a:lnTo>
                  <a:pt x="92800" y="23826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3682472" y="2246498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3682472" y="2286000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3682472" y="2325502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53895" y="2121408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Conta Gov.br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3895" y="2432304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Criar ou regularizar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5" y="2706624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obrigatório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7" y="1865376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407407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4636007" y="2112264"/>
            <a:ext cx="347472" cy="347472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636007" y="2112264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02</a:t>
            </a:r>
          </a:p>
        </p:txBody>
      </p:sp>
      <p:sp>
        <p:nvSpPr>
          <p:cNvPr id="26" name="Freeform 25"/>
          <p:cNvSpPr/>
          <p:nvPr/>
        </p:nvSpPr>
        <p:spPr>
          <a:xfrm>
            <a:off x="7167799" y="2187245"/>
            <a:ext cx="276514" cy="210678"/>
          </a:xfrm>
          <a:custGeom>
            <a:avLst/>
            <a:gdLst/>
            <a:ahLst/>
            <a:cxnLst/>
            <a:rect l="l" t="t" r="r" b="b"/>
            <a:pathLst>
              <a:path w="276514" h="210678">
                <a:moveTo>
                  <a:pt x="0" y="0"/>
                </a:moveTo>
                <a:lnTo>
                  <a:pt x="276514" y="0"/>
                </a:lnTo>
                <a:lnTo>
                  <a:pt x="276514" y="210678"/>
                </a:lnTo>
                <a:lnTo>
                  <a:pt x="0" y="210678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167799" y="2239914"/>
            <a:ext cx="276514" cy="0"/>
          </a:xfrm>
          <a:custGeom>
            <a:avLst/>
            <a:gdLst/>
            <a:ahLst/>
            <a:cxnLst/>
            <a:rect l="l" t="t" r="r" b="b"/>
            <a:pathLst>
              <a:path w="276514" h="0">
                <a:moveTo>
                  <a:pt x="0" y="0"/>
                </a:moveTo>
                <a:lnTo>
                  <a:pt x="276514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92487" y="2205349"/>
            <a:ext cx="16459" cy="16459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222114" y="2205349"/>
            <a:ext cx="16459" cy="16459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251740" y="2205349"/>
            <a:ext cx="16459" cy="16459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7299472" y="2213580"/>
            <a:ext cx="118507" cy="0"/>
          </a:xfrm>
          <a:custGeom>
            <a:avLst/>
            <a:gdLst/>
            <a:ahLst/>
            <a:cxnLst/>
            <a:rect l="l" t="t" r="r" b="b"/>
            <a:pathLst>
              <a:path w="118507" h="0">
                <a:moveTo>
                  <a:pt x="0" y="0"/>
                </a:moveTo>
                <a:lnTo>
                  <a:pt x="118507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4064" y="2121408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Acessar o MTR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4064" y="2432304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mtr.sinir.gov.br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6864" y="2706624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obrigatório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37575" y="1865376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037575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266175" y="2112264"/>
            <a:ext cx="347472" cy="347472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66175" y="2112264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03</a:t>
            </a:r>
          </a:p>
        </p:txBody>
      </p:sp>
      <p:sp>
        <p:nvSpPr>
          <p:cNvPr id="39" name="Freeform 38"/>
          <p:cNvSpPr/>
          <p:nvPr/>
        </p:nvSpPr>
        <p:spPr>
          <a:xfrm>
            <a:off x="10797967" y="2193828"/>
            <a:ext cx="276514" cy="184344"/>
          </a:xfrm>
          <a:custGeom>
            <a:avLst/>
            <a:gdLst/>
            <a:ahLst/>
            <a:cxnLst/>
            <a:rect l="l" t="t" r="r" b="b"/>
            <a:pathLst>
              <a:path w="276514" h="184344">
                <a:moveTo>
                  <a:pt x="0" y="0"/>
                </a:moveTo>
                <a:lnTo>
                  <a:pt x="276514" y="0"/>
                </a:lnTo>
                <a:lnTo>
                  <a:pt x="276514" y="184344"/>
                </a:lnTo>
                <a:lnTo>
                  <a:pt x="0" y="18434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837468" y="2226746"/>
            <a:ext cx="65836" cy="65836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1" name="Freeform 40"/>
          <p:cNvSpPr/>
          <p:nvPr/>
        </p:nvSpPr>
        <p:spPr>
          <a:xfrm>
            <a:off x="10823987" y="2302459"/>
            <a:ext cx="92800" cy="23826"/>
          </a:xfrm>
          <a:custGeom>
            <a:avLst/>
            <a:gdLst/>
            <a:ahLst/>
            <a:cxnLst/>
            <a:rect l="l" t="t" r="r" b="b"/>
            <a:pathLst>
              <a:path w="92800" h="23826">
                <a:moveTo>
                  <a:pt x="0" y="23826"/>
                </a:moveTo>
                <a:lnTo>
                  <a:pt x="2713" y="19335"/>
                </a:lnTo>
                <a:lnTo>
                  <a:pt x="6229" y="15154"/>
                </a:lnTo>
                <a:lnTo>
                  <a:pt x="10484" y="11361"/>
                </a:lnTo>
                <a:lnTo>
                  <a:pt x="15400" y="8026"/>
                </a:lnTo>
                <a:lnTo>
                  <a:pt x="20887" y="5208"/>
                </a:lnTo>
                <a:lnTo>
                  <a:pt x="26843" y="2962"/>
                </a:lnTo>
                <a:lnTo>
                  <a:pt x="33158" y="1327"/>
                </a:lnTo>
                <a:lnTo>
                  <a:pt x="39718" y="333"/>
                </a:lnTo>
                <a:lnTo>
                  <a:pt x="46400" y="0"/>
                </a:lnTo>
                <a:lnTo>
                  <a:pt x="53083" y="333"/>
                </a:lnTo>
                <a:lnTo>
                  <a:pt x="59642" y="1327"/>
                </a:lnTo>
                <a:lnTo>
                  <a:pt x="65958" y="2962"/>
                </a:lnTo>
                <a:lnTo>
                  <a:pt x="71914" y="5208"/>
                </a:lnTo>
                <a:lnTo>
                  <a:pt x="77400" y="8026"/>
                </a:lnTo>
                <a:lnTo>
                  <a:pt x="82316" y="11361"/>
                </a:lnTo>
                <a:lnTo>
                  <a:pt x="86571" y="15154"/>
                </a:lnTo>
                <a:lnTo>
                  <a:pt x="90088" y="19335"/>
                </a:lnTo>
                <a:lnTo>
                  <a:pt x="92800" y="23826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942808" y="2246498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942808" y="2286000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10942808" y="2325502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14232" y="2121408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Informar o CPF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14232" y="2432304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Tela do Gov.br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57031" y="2706624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obrigatório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3127248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77240" y="3127248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1005840" y="3374136"/>
            <a:ext cx="347472" cy="347472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05840" y="3374136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04</a:t>
            </a:r>
          </a:p>
        </p:txBody>
      </p:sp>
      <p:sp>
        <p:nvSpPr>
          <p:cNvPr id="52" name="Freeform 51"/>
          <p:cNvSpPr/>
          <p:nvPr/>
        </p:nvSpPr>
        <p:spPr>
          <a:xfrm>
            <a:off x="3583716" y="3534705"/>
            <a:ext cx="184344" cy="144841"/>
          </a:xfrm>
          <a:custGeom>
            <a:avLst/>
            <a:gdLst/>
            <a:ahLst/>
            <a:cxnLst/>
            <a:rect l="l" t="t" r="r" b="b"/>
            <a:pathLst>
              <a:path w="184344" h="144841">
                <a:moveTo>
                  <a:pt x="0" y="0"/>
                </a:moveTo>
                <a:lnTo>
                  <a:pt x="184344" y="0"/>
                </a:lnTo>
                <a:lnTo>
                  <a:pt x="184344" y="144841"/>
                </a:lnTo>
                <a:lnTo>
                  <a:pt x="0" y="144841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619927" y="3478743"/>
            <a:ext cx="111922" cy="55962"/>
          </a:xfrm>
          <a:custGeom>
            <a:avLst/>
            <a:gdLst/>
            <a:ahLst/>
            <a:cxnLst/>
            <a:rect l="l" t="t" r="r" b="b"/>
            <a:pathLst>
              <a:path w="111922" h="55962">
                <a:moveTo>
                  <a:pt x="0" y="55962"/>
                </a:moveTo>
                <a:lnTo>
                  <a:pt x="478" y="48657"/>
                </a:lnTo>
                <a:lnTo>
                  <a:pt x="1907" y="41478"/>
                </a:lnTo>
                <a:lnTo>
                  <a:pt x="4260" y="34546"/>
                </a:lnTo>
                <a:lnTo>
                  <a:pt x="7497" y="27981"/>
                </a:lnTo>
                <a:lnTo>
                  <a:pt x="11564" y="21895"/>
                </a:lnTo>
                <a:lnTo>
                  <a:pt x="16390" y="16391"/>
                </a:lnTo>
                <a:lnTo>
                  <a:pt x="21894" y="11565"/>
                </a:lnTo>
                <a:lnTo>
                  <a:pt x="27980" y="7498"/>
                </a:lnTo>
                <a:lnTo>
                  <a:pt x="34546" y="4260"/>
                </a:lnTo>
                <a:lnTo>
                  <a:pt x="41477" y="1907"/>
                </a:lnTo>
                <a:lnTo>
                  <a:pt x="48657" y="479"/>
                </a:lnTo>
                <a:lnTo>
                  <a:pt x="55961" y="0"/>
                </a:lnTo>
                <a:lnTo>
                  <a:pt x="63265" y="479"/>
                </a:lnTo>
                <a:lnTo>
                  <a:pt x="70445" y="1907"/>
                </a:lnTo>
                <a:lnTo>
                  <a:pt x="77376" y="4260"/>
                </a:lnTo>
                <a:lnTo>
                  <a:pt x="83942" y="7498"/>
                </a:lnTo>
                <a:lnTo>
                  <a:pt x="90028" y="11565"/>
                </a:lnTo>
                <a:lnTo>
                  <a:pt x="95532" y="16391"/>
                </a:lnTo>
                <a:lnTo>
                  <a:pt x="100358" y="21895"/>
                </a:lnTo>
                <a:lnTo>
                  <a:pt x="104425" y="27981"/>
                </a:lnTo>
                <a:lnTo>
                  <a:pt x="107662" y="34546"/>
                </a:lnTo>
                <a:lnTo>
                  <a:pt x="110015" y="41478"/>
                </a:lnTo>
                <a:lnTo>
                  <a:pt x="111444" y="48657"/>
                </a:lnTo>
                <a:lnTo>
                  <a:pt x="111922" y="55962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652845" y="3570914"/>
            <a:ext cx="46085" cy="46085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5" name="Freeform 54"/>
          <p:cNvSpPr/>
          <p:nvPr/>
        </p:nvSpPr>
        <p:spPr>
          <a:xfrm>
            <a:off x="3675888" y="3613709"/>
            <a:ext cx="0" cy="32918"/>
          </a:xfrm>
          <a:custGeom>
            <a:avLst/>
            <a:gdLst/>
            <a:ahLst/>
            <a:cxnLst/>
            <a:rect l="l" t="t" r="r" b="b"/>
            <a:pathLst>
              <a:path w="0" h="32918">
                <a:moveTo>
                  <a:pt x="0" y="0"/>
                </a:moveTo>
                <a:lnTo>
                  <a:pt x="0" y="32918"/>
                </a:lnTo>
              </a:path>
            </a:pathLst>
          </a:cu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53895" y="3383280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Informar a senha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53895" y="3694176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Tela do Gov.br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5" y="3968496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obrigatório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07407" y="3127248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407407" y="3127248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4636007" y="3374136"/>
            <a:ext cx="347472" cy="347472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636007" y="3374136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05</a:t>
            </a:r>
          </a:p>
        </p:txBody>
      </p:sp>
      <p:sp>
        <p:nvSpPr>
          <p:cNvPr id="63" name="Freeform 62"/>
          <p:cNvSpPr/>
          <p:nvPr/>
        </p:nvSpPr>
        <p:spPr>
          <a:xfrm>
            <a:off x="7174382" y="3528121"/>
            <a:ext cx="237013" cy="131674"/>
          </a:xfrm>
          <a:custGeom>
            <a:avLst/>
            <a:gdLst/>
            <a:ahLst/>
            <a:cxnLst/>
            <a:rect l="l" t="t" r="r" b="b"/>
            <a:pathLst>
              <a:path w="237013" h="131674">
                <a:moveTo>
                  <a:pt x="0" y="131674"/>
                </a:moveTo>
                <a:lnTo>
                  <a:pt x="0" y="0"/>
                </a:lnTo>
                <a:lnTo>
                  <a:pt x="79005" y="46086"/>
                </a:lnTo>
                <a:lnTo>
                  <a:pt x="79005" y="0"/>
                </a:lnTo>
                <a:lnTo>
                  <a:pt x="158009" y="46086"/>
                </a:lnTo>
                <a:lnTo>
                  <a:pt x="158009" y="0"/>
                </a:lnTo>
                <a:lnTo>
                  <a:pt x="237013" y="46086"/>
                </a:lnTo>
                <a:lnTo>
                  <a:pt x="237013" y="13167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358725" y="3435949"/>
            <a:ext cx="39503" cy="111923"/>
          </a:xfrm>
          <a:custGeom>
            <a:avLst/>
            <a:gdLst/>
            <a:ahLst/>
            <a:cxnLst/>
            <a:rect l="l" t="t" r="r" b="b"/>
            <a:pathLst>
              <a:path w="39503" h="111923">
                <a:moveTo>
                  <a:pt x="0" y="92172"/>
                </a:moveTo>
                <a:lnTo>
                  <a:pt x="0" y="0"/>
                </a:lnTo>
                <a:lnTo>
                  <a:pt x="39503" y="0"/>
                </a:lnTo>
                <a:lnTo>
                  <a:pt x="39503" y="111923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7174382" y="3659795"/>
            <a:ext cx="263348" cy="0"/>
          </a:xfrm>
          <a:custGeom>
            <a:avLst/>
            <a:gdLst/>
            <a:ahLst/>
            <a:cxnLst/>
            <a:rect l="l" t="t" r="r" b="b"/>
            <a:pathLst>
              <a:path w="263348" h="0">
                <a:moveTo>
                  <a:pt x="0" y="0"/>
                </a:moveTo>
                <a:lnTo>
                  <a:pt x="263348" y="0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84064" y="3383280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Selecionar a unidade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84064" y="3694176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Escolher o empreendimento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26864" y="3968496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obrigatório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037575" y="3127248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8037575" y="3127248"/>
            <a:ext cx="3392424" cy="50292"/>
          </a:xfrm>
          <a:prstGeom prst="rect">
            <a:avLst/>
          </a:prstGeom>
          <a:solidFill>
            <a:srgbClr val="1E86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8266175" y="3374136"/>
            <a:ext cx="347472" cy="347472"/>
          </a:xfrm>
          <a:prstGeom prst="ellipse">
            <a:avLst/>
          </a:prstGeom>
          <a:solidFill>
            <a:srgbClr val="1E86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266175" y="3374136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06</a:t>
            </a:r>
          </a:p>
        </p:txBody>
      </p:sp>
      <p:sp>
        <p:nvSpPr>
          <p:cNvPr id="73" name="Oval 72"/>
          <p:cNvSpPr/>
          <p:nvPr/>
        </p:nvSpPr>
        <p:spPr>
          <a:xfrm>
            <a:off x="10847344" y="3439241"/>
            <a:ext cx="98755" cy="98755"/>
          </a:xfrm>
          <a:prstGeom prst="ellipse">
            <a:avLst/>
          </a:prstGeom>
          <a:noFill/>
          <a:ln w="15875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74" name="Freeform 73"/>
          <p:cNvSpPr/>
          <p:nvPr/>
        </p:nvSpPr>
        <p:spPr>
          <a:xfrm>
            <a:off x="10814050" y="3567623"/>
            <a:ext cx="165343" cy="53677"/>
          </a:xfrm>
          <a:custGeom>
            <a:avLst/>
            <a:gdLst/>
            <a:ahLst/>
            <a:cxnLst/>
            <a:rect l="l" t="t" r="r" b="b"/>
            <a:pathLst>
              <a:path w="165343" h="53677">
                <a:moveTo>
                  <a:pt x="0" y="53677"/>
                </a:moveTo>
                <a:lnTo>
                  <a:pt x="3215" y="45505"/>
                </a:lnTo>
                <a:lnTo>
                  <a:pt x="7553" y="37713"/>
                </a:lnTo>
                <a:lnTo>
                  <a:pt x="12954" y="30413"/>
                </a:lnTo>
                <a:lnTo>
                  <a:pt x="19341" y="23706"/>
                </a:lnTo>
                <a:lnTo>
                  <a:pt x="26624" y="17689"/>
                </a:lnTo>
                <a:lnTo>
                  <a:pt x="34699" y="12446"/>
                </a:lnTo>
                <a:lnTo>
                  <a:pt x="43453" y="8051"/>
                </a:lnTo>
                <a:lnTo>
                  <a:pt x="52762" y="4566"/>
                </a:lnTo>
                <a:lnTo>
                  <a:pt x="62494" y="2041"/>
                </a:lnTo>
                <a:lnTo>
                  <a:pt x="72511" y="512"/>
                </a:lnTo>
                <a:lnTo>
                  <a:pt x="82672" y="0"/>
                </a:lnTo>
                <a:lnTo>
                  <a:pt x="92833" y="512"/>
                </a:lnTo>
                <a:lnTo>
                  <a:pt x="102850" y="2041"/>
                </a:lnTo>
                <a:lnTo>
                  <a:pt x="112582" y="4566"/>
                </a:lnTo>
                <a:lnTo>
                  <a:pt x="121891" y="8051"/>
                </a:lnTo>
                <a:lnTo>
                  <a:pt x="130645" y="12446"/>
                </a:lnTo>
                <a:lnTo>
                  <a:pt x="138720" y="17689"/>
                </a:lnTo>
                <a:lnTo>
                  <a:pt x="146003" y="23706"/>
                </a:lnTo>
                <a:lnTo>
                  <a:pt x="152390" y="30413"/>
                </a:lnTo>
                <a:lnTo>
                  <a:pt x="157791" y="37713"/>
                </a:lnTo>
                <a:lnTo>
                  <a:pt x="162129" y="45505"/>
                </a:lnTo>
                <a:lnTo>
                  <a:pt x="165343" y="53677"/>
                </a:lnTo>
              </a:path>
            </a:pathLst>
          </a:custGeom>
          <a:noFill/>
          <a:ln w="15875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1028396" y="3561039"/>
            <a:ext cx="0" cy="98756"/>
          </a:xfrm>
          <a:custGeom>
            <a:avLst/>
            <a:gdLst/>
            <a:ahLst/>
            <a:cxnLst/>
            <a:rect l="l" t="t" r="r" b="b"/>
            <a:pathLst>
              <a:path w="0" h="98756">
                <a:moveTo>
                  <a:pt x="0" y="0"/>
                </a:moveTo>
                <a:lnTo>
                  <a:pt x="0" y="98756"/>
                </a:lnTo>
              </a:path>
            </a:pathLst>
          </a:custGeom>
          <a:noFill/>
          <a:ln w="16669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0979018" y="3610417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6669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714232" y="3383280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Solicitar acesso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14232" y="3694176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Se o CPF não tiver vínculo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57031" y="3968496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só se necessário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7240" y="4389120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777240" y="4389120"/>
            <a:ext cx="3392424" cy="50292"/>
          </a:xfrm>
          <a:prstGeom prst="rect">
            <a:avLst/>
          </a:prstGeom>
          <a:solidFill>
            <a:srgbClr val="1E86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1005840" y="4636007"/>
            <a:ext cx="347472" cy="347472"/>
          </a:xfrm>
          <a:prstGeom prst="ellipse">
            <a:avLst/>
          </a:prstGeom>
          <a:solidFill>
            <a:srgbClr val="1E86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1005840" y="4636007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07</a:t>
            </a:r>
          </a:p>
        </p:txBody>
      </p:sp>
      <p:sp>
        <p:nvSpPr>
          <p:cNvPr id="84" name="Freeform 83"/>
          <p:cNvSpPr/>
          <p:nvPr/>
        </p:nvSpPr>
        <p:spPr>
          <a:xfrm>
            <a:off x="3577133" y="4704405"/>
            <a:ext cx="197510" cy="243596"/>
          </a:xfrm>
          <a:custGeom>
            <a:avLst/>
            <a:gdLst/>
            <a:ahLst/>
            <a:cxnLst/>
            <a:rect l="l" t="t" r="r" b="b"/>
            <a:pathLst>
              <a:path w="197510" h="243596">
                <a:moveTo>
                  <a:pt x="0" y="0"/>
                </a:moveTo>
                <a:lnTo>
                  <a:pt x="197510" y="0"/>
                </a:lnTo>
                <a:lnTo>
                  <a:pt x="197510" y="243596"/>
                </a:lnTo>
                <a:lnTo>
                  <a:pt x="0" y="243596"/>
                </a:lnTo>
                <a:close/>
              </a:path>
            </a:pathLst>
          </a:custGeom>
          <a:noFill/>
          <a:ln w="15875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3636386" y="4671487"/>
            <a:ext cx="79004" cy="59253"/>
          </a:xfrm>
          <a:custGeom>
            <a:avLst/>
            <a:gdLst/>
            <a:ahLst/>
            <a:cxnLst/>
            <a:rect l="l" t="t" r="r" b="b"/>
            <a:pathLst>
              <a:path w="79004" h="59253">
                <a:moveTo>
                  <a:pt x="0" y="0"/>
                </a:moveTo>
                <a:lnTo>
                  <a:pt x="79004" y="0"/>
                </a:lnTo>
                <a:lnTo>
                  <a:pt x="79004" y="59253"/>
                </a:lnTo>
                <a:lnTo>
                  <a:pt x="0" y="59253"/>
                </a:lnTo>
                <a:close/>
              </a:path>
            </a:pathLst>
          </a:custGeom>
          <a:noFill/>
          <a:ln w="15875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3616635" y="4796577"/>
            <a:ext cx="118506" cy="0"/>
          </a:xfrm>
          <a:custGeom>
            <a:avLst/>
            <a:gdLst/>
            <a:ahLst/>
            <a:cxnLst/>
            <a:rect l="l" t="t" r="r" b="b"/>
            <a:pathLst>
              <a:path w="118506" h="0">
                <a:moveTo>
                  <a:pt x="0" y="0"/>
                </a:moveTo>
                <a:lnTo>
                  <a:pt x="118506" y="0"/>
                </a:lnTo>
              </a:path>
            </a:pathLst>
          </a:custGeom>
          <a:noFill/>
          <a:ln w="11112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3616635" y="4842662"/>
            <a:ext cx="118506" cy="0"/>
          </a:xfrm>
          <a:custGeom>
            <a:avLst/>
            <a:gdLst/>
            <a:ahLst/>
            <a:cxnLst/>
            <a:rect l="l" t="t" r="r" b="b"/>
            <a:pathLst>
              <a:path w="118506" h="0">
                <a:moveTo>
                  <a:pt x="0" y="0"/>
                </a:moveTo>
                <a:lnTo>
                  <a:pt x="118506" y="0"/>
                </a:lnTo>
              </a:path>
            </a:pathLst>
          </a:custGeom>
          <a:noFill/>
          <a:ln w="11112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616635" y="4888748"/>
            <a:ext cx="118506" cy="0"/>
          </a:xfrm>
          <a:custGeom>
            <a:avLst/>
            <a:gdLst/>
            <a:ahLst/>
            <a:cxnLst/>
            <a:rect l="l" t="t" r="r" b="b"/>
            <a:pathLst>
              <a:path w="118506" h="0">
                <a:moveTo>
                  <a:pt x="0" y="0"/>
                </a:moveTo>
                <a:lnTo>
                  <a:pt x="118506" y="0"/>
                </a:lnTo>
              </a:path>
            </a:pathLst>
          </a:custGeom>
          <a:noFill/>
          <a:ln w="11112" cap="rnd">
            <a:solidFill>
              <a:srgbClr val="1E86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453895" y="4645152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Cadastrar a empresa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53895" y="4956048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Se ainda não existir no MTR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6695" y="5230368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só se necessário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07407" y="4389120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4407407" y="4389120"/>
            <a:ext cx="3392424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4636007" y="4636007"/>
            <a:ext cx="347472" cy="347472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4636007" y="4636007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08</a:t>
            </a:r>
          </a:p>
        </p:txBody>
      </p:sp>
      <p:sp>
        <p:nvSpPr>
          <p:cNvPr id="96" name="Freeform 95"/>
          <p:cNvSpPr/>
          <p:nvPr/>
        </p:nvSpPr>
        <p:spPr>
          <a:xfrm>
            <a:off x="7207301" y="4671487"/>
            <a:ext cx="190927" cy="276514"/>
          </a:xfrm>
          <a:custGeom>
            <a:avLst/>
            <a:gdLst/>
            <a:ahLst/>
            <a:cxnLst/>
            <a:rect l="l" t="t" r="r" b="b"/>
            <a:pathLst>
              <a:path w="190927" h="276514">
                <a:moveTo>
                  <a:pt x="0" y="0"/>
                </a:moveTo>
                <a:lnTo>
                  <a:pt x="138257" y="0"/>
                </a:lnTo>
                <a:lnTo>
                  <a:pt x="190927" y="59253"/>
                </a:lnTo>
                <a:lnTo>
                  <a:pt x="190927" y="276514"/>
                </a:lnTo>
                <a:lnTo>
                  <a:pt x="0" y="27651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45558" y="4671487"/>
            <a:ext cx="52670" cy="59253"/>
          </a:xfrm>
          <a:custGeom>
            <a:avLst/>
            <a:gdLst/>
            <a:ahLst/>
            <a:cxnLst/>
            <a:rect l="l" t="t" r="r" b="b"/>
            <a:pathLst>
              <a:path w="52670" h="59253">
                <a:moveTo>
                  <a:pt x="0" y="0"/>
                </a:moveTo>
                <a:lnTo>
                  <a:pt x="0" y="59253"/>
                </a:lnTo>
                <a:lnTo>
                  <a:pt x="52670" y="59253"/>
                </a:lnTo>
              </a:path>
            </a:pathLst>
          </a:custGeom>
          <a:noFill/>
          <a:ln w="1270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7243511" y="4783409"/>
            <a:ext cx="118506" cy="0"/>
          </a:xfrm>
          <a:custGeom>
            <a:avLst/>
            <a:gdLst/>
            <a:ahLst/>
            <a:cxnLst/>
            <a:rect l="l" t="t" r="r" b="b"/>
            <a:pathLst>
              <a:path w="118506" h="0">
                <a:moveTo>
                  <a:pt x="0" y="0"/>
                </a:moveTo>
                <a:lnTo>
                  <a:pt x="118506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243511" y="4822911"/>
            <a:ext cx="118506" cy="0"/>
          </a:xfrm>
          <a:custGeom>
            <a:avLst/>
            <a:gdLst/>
            <a:ahLst/>
            <a:cxnLst/>
            <a:rect l="l" t="t" r="r" b="b"/>
            <a:pathLst>
              <a:path w="118506" h="0">
                <a:moveTo>
                  <a:pt x="0" y="0"/>
                </a:moveTo>
                <a:lnTo>
                  <a:pt x="118506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50095" y="4849246"/>
            <a:ext cx="108630" cy="65837"/>
          </a:xfrm>
          <a:custGeom>
            <a:avLst/>
            <a:gdLst/>
            <a:ahLst/>
            <a:cxnLst/>
            <a:rect l="l" t="t" r="r" b="b"/>
            <a:pathLst>
              <a:path w="108630" h="65837">
                <a:moveTo>
                  <a:pt x="0" y="32918"/>
                </a:moveTo>
                <a:lnTo>
                  <a:pt x="36210" y="65837"/>
                </a:lnTo>
                <a:lnTo>
                  <a:pt x="108630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84064" y="4645152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Preencher e emitir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84064" y="4956048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O MTR propriamente dito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26864" y="5230368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obrigatório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037575" y="4389120"/>
            <a:ext cx="3392424" cy="11338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8037575" y="4389120"/>
            <a:ext cx="3392424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8266175" y="4636007"/>
            <a:ext cx="347472" cy="347472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8266175" y="4636007"/>
            <a:ext cx="34747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 i="0">
                <a:solidFill>
                  <a:srgbClr val="FFFFFF"/>
                </a:solidFill>
                <a:latin typeface="Montserrat SemiBold"/>
              </a:rPr>
              <a:t>09</a:t>
            </a:r>
          </a:p>
        </p:txBody>
      </p:sp>
      <p:sp>
        <p:nvSpPr>
          <p:cNvPr id="108" name="Freeform 107"/>
          <p:cNvSpPr/>
          <p:nvPr/>
        </p:nvSpPr>
        <p:spPr>
          <a:xfrm>
            <a:off x="10811134" y="4717572"/>
            <a:ext cx="237013" cy="190927"/>
          </a:xfrm>
          <a:custGeom>
            <a:avLst/>
            <a:gdLst/>
            <a:ahLst/>
            <a:cxnLst/>
            <a:rect l="l" t="t" r="r" b="b"/>
            <a:pathLst>
              <a:path w="237013" h="190927">
                <a:moveTo>
                  <a:pt x="0" y="190927"/>
                </a:moveTo>
                <a:lnTo>
                  <a:pt x="79004" y="190927"/>
                </a:lnTo>
                <a:lnTo>
                  <a:pt x="79004" y="79005"/>
                </a:lnTo>
                <a:lnTo>
                  <a:pt x="171176" y="79005"/>
                </a:lnTo>
                <a:lnTo>
                  <a:pt x="171176" y="0"/>
                </a:lnTo>
                <a:lnTo>
                  <a:pt x="237013" y="0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1036696" y="4697482"/>
            <a:ext cx="37785" cy="40181"/>
          </a:xfrm>
          <a:custGeom>
            <a:avLst/>
            <a:gdLst/>
            <a:ahLst/>
            <a:cxnLst/>
            <a:rect l="l" t="t" r="r" b="b"/>
            <a:pathLst>
              <a:path w="37785" h="40181">
                <a:moveTo>
                  <a:pt x="37785" y="20090"/>
                </a:moveTo>
                <a:lnTo>
                  <a:pt x="0" y="40181"/>
                </a:lnTo>
                <a:lnTo>
                  <a:pt x="0" y="0"/>
                </a:lnTo>
                <a:close/>
              </a:path>
            </a:pathLst>
          </a:custGeom>
          <a:solidFill>
            <a:srgbClr val="12A87B"/>
          </a:solidFill>
          <a:ln w="952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788091" y="4885456"/>
            <a:ext cx="46085" cy="46085"/>
          </a:xfrm>
          <a:prstGeom prst="ellipse">
            <a:avLst/>
          </a:prstGeom>
          <a:solidFill>
            <a:srgbClr val="FFFFFF"/>
          </a:solidFill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8714232" y="4645152"/>
            <a:ext cx="20025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Consultar e baixar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14232" y="4956048"/>
            <a:ext cx="247802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60" b="0" i="0">
                <a:solidFill>
                  <a:srgbClr val="6E7288"/>
                </a:solidFill>
                <a:latin typeface="Montserrat"/>
              </a:rPr>
              <a:t>MTRs emitidos e CDF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57031" y="5230368"/>
            <a:ext cx="295351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i="0" spc="100" cap="all">
                <a:solidFill>
                  <a:srgbClr val="9A9DB0"/>
                </a:solidFill>
                <a:latin typeface="Montserrat"/>
              </a:rPr>
              <a:t>obrigatório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7240" y="5577840"/>
            <a:ext cx="10637489" cy="47548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777240" y="5577840"/>
            <a:ext cx="32004" cy="47548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6" name="Freeform 115"/>
          <p:cNvSpPr/>
          <p:nvPr/>
        </p:nvSpPr>
        <p:spPr>
          <a:xfrm>
            <a:off x="1085122" y="5716829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1127455" y="5892394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1135685" y="5914339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152144" y="5771693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152144" y="576895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1121969" y="576895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72184" y="5577840"/>
            <a:ext cx="9668225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Os passos 6 e 7 só se aplicam se o CPF ainda não estiver vinculado à unidade ou se a empresa ainda não existir no MTR Nacional.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1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Crie ou regularize 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conta Gov.br do responsável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11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459028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Acesse gov.br e crie a conta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459028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Use o CPF do responsável pela empresa no MTR.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88336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706624"/>
            <a:ext cx="459028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Confirme os dados pessoais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962656"/>
            <a:ext cx="459028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Nome, data de nascimento e e-mail de contato.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547872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566160"/>
            <a:ext cx="459028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Cadastre uma senha forte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822191"/>
            <a:ext cx="459028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Ela passa a ser a senha de acesso ao MTR Nacional.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407407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407407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1" y="4425696"/>
            <a:ext cx="459028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Verifique o nível da conta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1" y="4681728"/>
            <a:ext cx="459028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Bronze, Prata ou Ouro — conforme a forma de comprovação.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358384"/>
            <a:ext cx="1554480" cy="420624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77240" y="5358384"/>
            <a:ext cx="32004" cy="420624"/>
          </a:xfrm>
          <a:prstGeom prst="rect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78408" y="5358384"/>
            <a:ext cx="12435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960" b="0" i="0">
                <a:solidFill>
                  <a:srgbClr val="14142E"/>
                </a:solidFill>
                <a:latin typeface="Montserrat SemiBold"/>
              </a:rPr>
              <a:t>Bronze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5358384"/>
            <a:ext cx="1554480" cy="420624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514600" y="5358384"/>
            <a:ext cx="32004" cy="420624"/>
          </a:xfrm>
          <a:prstGeom prst="rect">
            <a:avLst/>
          </a:prstGeom>
          <a:solidFill>
            <a:srgbClr val="8A8EA3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715768" y="5358384"/>
            <a:ext cx="12435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960" b="0" i="0">
                <a:solidFill>
                  <a:srgbClr val="14142E"/>
                </a:solidFill>
                <a:latin typeface="Montserrat SemiBold"/>
              </a:rPr>
              <a:t>Prata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59" y="5358384"/>
            <a:ext cx="1554480" cy="420624"/>
          </a:xfrm>
          <a:prstGeom prst="rect">
            <a:avLst/>
          </a:prstGeom>
          <a:solidFill>
            <a:srgbClr val="F4F5FC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251959" y="5358384"/>
            <a:ext cx="32004" cy="420624"/>
          </a:xfrm>
          <a:prstGeom prst="rect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453127" y="5358384"/>
            <a:ext cx="12435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960" b="0" i="0">
                <a:solidFill>
                  <a:srgbClr val="14142E"/>
                </a:solidFill>
                <a:latin typeface="Montserrat SemiBold"/>
              </a:rPr>
              <a:t>Ouro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1847088"/>
            <a:ext cx="5056632" cy="1591056"/>
          </a:xfrm>
          <a:prstGeom prst="rect">
            <a:avLst/>
          </a:prstGeom>
          <a:solidFill>
            <a:srgbClr val="FDF4E3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355080" y="1847088"/>
            <a:ext cx="5056632" cy="50292"/>
          </a:xfrm>
          <a:prstGeom prst="rect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Freeform 35"/>
          <p:cNvSpPr/>
          <p:nvPr/>
        </p:nvSpPr>
        <p:spPr>
          <a:xfrm>
            <a:off x="6636715" y="2139696"/>
            <a:ext cx="314554" cy="277978"/>
          </a:xfrm>
          <a:custGeom>
            <a:avLst/>
            <a:gdLst/>
            <a:ahLst/>
            <a:cxnLst/>
            <a:rect l="l" t="t" r="r" b="b"/>
            <a:pathLst>
              <a:path w="314554" h="277978">
                <a:moveTo>
                  <a:pt x="157277" y="0"/>
                </a:moveTo>
                <a:lnTo>
                  <a:pt x="314554" y="277978"/>
                </a:lnTo>
                <a:lnTo>
                  <a:pt x="0" y="277978"/>
                </a:lnTo>
                <a:close/>
              </a:path>
            </a:pathLst>
          </a:custGeom>
          <a:noFill/>
          <a:ln w="15875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793992" y="2242109"/>
            <a:ext cx="0" cy="87782"/>
          </a:xfrm>
          <a:custGeom>
            <a:avLst/>
            <a:gdLst/>
            <a:ahLst/>
            <a:cxnLst/>
            <a:rect l="l" t="t" r="r" b="b"/>
            <a:pathLst>
              <a:path w="0" h="87782">
                <a:moveTo>
                  <a:pt x="0" y="0"/>
                </a:moveTo>
                <a:lnTo>
                  <a:pt x="0" y="87782"/>
                </a:lnTo>
              </a:path>
            </a:pathLst>
          </a:custGeom>
          <a:noFill/>
          <a:ln w="18256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80276" y="2358237"/>
            <a:ext cx="27432" cy="27432"/>
          </a:xfrm>
          <a:prstGeom prst="ellipse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086600" y="2157984"/>
            <a:ext cx="4023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Atenção ao e-mail do cadastro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1112" y="2615184"/>
            <a:ext cx="4544568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 i="0">
                <a:solidFill>
                  <a:srgbClr val="3A3C55"/>
                </a:solidFill>
                <a:latin typeface="Montserrat"/>
              </a:rPr>
              <a:t>Contas de e-mail do ambiente Microsoft — Outlook, Hotmail, Live e similares — não estão disponíveis para uso nos cadastros no momento. Prefira outro provedor.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657600"/>
            <a:ext cx="5056632" cy="148132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355080" y="3657600"/>
            <a:ext cx="5056632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Freeform 42"/>
          <p:cNvSpPr/>
          <p:nvPr/>
        </p:nvSpPr>
        <p:spPr>
          <a:xfrm>
            <a:off x="6672314" y="3938869"/>
            <a:ext cx="151916" cy="180320"/>
          </a:xfrm>
          <a:custGeom>
            <a:avLst/>
            <a:gdLst/>
            <a:ahLst/>
            <a:cxnLst/>
            <a:rect l="l" t="t" r="r" b="b"/>
            <a:pathLst>
              <a:path w="151916" h="180320">
                <a:moveTo>
                  <a:pt x="0" y="53187"/>
                </a:moveTo>
                <a:lnTo>
                  <a:pt x="2698" y="46672"/>
                </a:lnTo>
                <a:lnTo>
                  <a:pt x="5955" y="40417"/>
                </a:lnTo>
                <a:lnTo>
                  <a:pt x="9744" y="34470"/>
                </a:lnTo>
                <a:lnTo>
                  <a:pt x="14036" y="28875"/>
                </a:lnTo>
                <a:lnTo>
                  <a:pt x="18800" y="23676"/>
                </a:lnTo>
                <a:lnTo>
                  <a:pt x="24000" y="18912"/>
                </a:lnTo>
                <a:lnTo>
                  <a:pt x="29594" y="14619"/>
                </a:lnTo>
                <a:lnTo>
                  <a:pt x="35542" y="10830"/>
                </a:lnTo>
                <a:lnTo>
                  <a:pt x="41797" y="7574"/>
                </a:lnTo>
                <a:lnTo>
                  <a:pt x="48311" y="4875"/>
                </a:lnTo>
                <a:lnTo>
                  <a:pt x="55037" y="2755"/>
                </a:lnTo>
                <a:lnTo>
                  <a:pt x="61922" y="1228"/>
                </a:lnTo>
                <a:lnTo>
                  <a:pt x="68913" y="308"/>
                </a:lnTo>
                <a:lnTo>
                  <a:pt x="75958" y="0"/>
                </a:lnTo>
                <a:lnTo>
                  <a:pt x="83003" y="308"/>
                </a:lnTo>
                <a:lnTo>
                  <a:pt x="89994" y="1228"/>
                </a:lnTo>
                <a:lnTo>
                  <a:pt x="96879" y="2755"/>
                </a:lnTo>
                <a:lnTo>
                  <a:pt x="103605" y="4875"/>
                </a:lnTo>
                <a:lnTo>
                  <a:pt x="110119" y="7574"/>
                </a:lnTo>
                <a:lnTo>
                  <a:pt x="116374" y="10830"/>
                </a:lnTo>
                <a:lnTo>
                  <a:pt x="122322" y="14619"/>
                </a:lnTo>
                <a:lnTo>
                  <a:pt x="127916" y="18912"/>
                </a:lnTo>
                <a:lnTo>
                  <a:pt x="133116" y="23676"/>
                </a:lnTo>
                <a:lnTo>
                  <a:pt x="137880" y="28875"/>
                </a:lnTo>
                <a:lnTo>
                  <a:pt x="142172" y="34470"/>
                </a:lnTo>
                <a:lnTo>
                  <a:pt x="145961" y="40417"/>
                </a:lnTo>
                <a:lnTo>
                  <a:pt x="149218" y="46672"/>
                </a:lnTo>
                <a:lnTo>
                  <a:pt x="151916" y="53187"/>
                </a:lnTo>
                <a:lnTo>
                  <a:pt x="107048" y="149231"/>
                </a:lnTo>
                <a:lnTo>
                  <a:pt x="107048" y="180320"/>
                </a:lnTo>
                <a:lnTo>
                  <a:pt x="44868" y="180320"/>
                </a:lnTo>
                <a:lnTo>
                  <a:pt x="44868" y="149231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6720291" y="4137843"/>
            <a:ext cx="55962" cy="0"/>
          </a:xfrm>
          <a:custGeom>
            <a:avLst/>
            <a:gdLst/>
            <a:ahLst/>
            <a:cxnLst/>
            <a:rect l="l" t="t" r="r" b="b"/>
            <a:pathLst>
              <a:path w="55962" h="0">
                <a:moveTo>
                  <a:pt x="0" y="0"/>
                </a:moveTo>
                <a:lnTo>
                  <a:pt x="55962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6729618" y="4162715"/>
            <a:ext cx="37308" cy="0"/>
          </a:xfrm>
          <a:custGeom>
            <a:avLst/>
            <a:gdLst/>
            <a:ahLst/>
            <a:cxnLst/>
            <a:rect l="l" t="t" r="r" b="b"/>
            <a:pathLst>
              <a:path w="37308" h="0">
                <a:moveTo>
                  <a:pt x="0" y="0"/>
                </a:moveTo>
                <a:lnTo>
                  <a:pt x="3730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6748272" y="4001049"/>
            <a:ext cx="0" cy="74615"/>
          </a:xfrm>
          <a:custGeom>
            <a:avLst/>
            <a:gdLst/>
            <a:ahLst/>
            <a:cxnLst/>
            <a:rect l="l" t="t" r="r" b="b"/>
            <a:pathLst>
              <a:path w="0" h="74615">
                <a:moveTo>
                  <a:pt x="0" y="7461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6748272" y="3997940"/>
            <a:ext cx="34199" cy="34198"/>
          </a:xfrm>
          <a:custGeom>
            <a:avLst/>
            <a:gdLst/>
            <a:ahLst/>
            <a:cxnLst/>
            <a:rect l="l" t="t" r="r" b="b"/>
            <a:pathLst>
              <a:path w="34199" h="34198">
                <a:moveTo>
                  <a:pt x="0" y="34198"/>
                </a:moveTo>
                <a:lnTo>
                  <a:pt x="34199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6714073" y="3997940"/>
            <a:ext cx="34199" cy="34198"/>
          </a:xfrm>
          <a:custGeom>
            <a:avLst/>
            <a:gdLst/>
            <a:ahLst/>
            <a:cxnLst/>
            <a:rect l="l" t="t" r="r" b="b"/>
            <a:pathLst>
              <a:path w="34199" h="34198">
                <a:moveTo>
                  <a:pt x="34199" y="34198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0024" y="3913632"/>
            <a:ext cx="412394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Guarde estas informações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2824" y="4352544"/>
            <a:ext cx="202265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Onde criar a conta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15476" y="4352544"/>
            <a:ext cx="25584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gov.br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92824" y="4626864"/>
            <a:ext cx="202265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Onde usar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15476" y="4626864"/>
            <a:ext cx="25584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mtr.sinir.gov.br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92824" y="4901183"/>
            <a:ext cx="202265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Suporte do MTR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5476" y="4901183"/>
            <a:ext cx="25584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mtr.sinir@mma.gov.br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5888736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 (restrição de e-mails Microsoft e canal de atendimento) e portal gov.br (níveis de conta).  [CONFIRMAR — nível mínimo exigido pelo MTR Nacional]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2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Abra o endereço do sistema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 mtr.sinir.gov.br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12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Digite o endereço no navegador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https://mtr.sinir.gov.br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1518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1518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633472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Ignore os campos CNPJ, CPF e Senha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889504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Eles pertencem ao login antigo, já descontinuado.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401568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401568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419856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Clique em “Entrar com GOV.BR”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675888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É o único caminho de acesso a partir de 01/08/2026.</a:t>
            </a:r>
          </a:p>
        </p:txBody>
      </p:sp>
      <p:pic>
        <p:nvPicPr>
          <p:cNvPr id="21" name="Picture 20" descr="guia_fig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192" y="1847088"/>
            <a:ext cx="6606912" cy="3246120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4676192" y="1847088"/>
            <a:ext cx="6606912" cy="324612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76192" y="5166360"/>
            <a:ext cx="660691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1 — tela inicial do MTR Nacional. O destaque marca o botão “Entrar com GOV.BR”.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25666" y="4281677"/>
            <a:ext cx="766401" cy="168798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306941" y="4062953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06941" y="4062953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86400"/>
            <a:ext cx="10637489" cy="45720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77240" y="5486400"/>
            <a:ext cx="32004" cy="45720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Freeform 28"/>
          <p:cNvSpPr/>
          <p:nvPr/>
        </p:nvSpPr>
        <p:spPr>
          <a:xfrm>
            <a:off x="1085122" y="5616245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27455" y="5791810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135685" y="5813755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152144" y="5671109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52144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121969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72184" y="5486400"/>
            <a:ext cx="9668225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Salve o endereço nos favoritos do navegador. Desconfie de links de e-mail: confira sempre se o domínio termina em mtr.sinir.gov.br.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3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Informe o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número do CPF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13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Digite o CPF do responsável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mesmo CPF que está vinculado à unidade no MTR.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1518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1518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633472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Clique em “Continuar”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889504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Gov.br segue para a tela de senha.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401568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401568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419856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Sem conta ainda?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675888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A própria tela oferece a opção de criar a conta gov.br.</a:t>
            </a:r>
          </a:p>
        </p:txBody>
      </p:sp>
      <p:pic>
        <p:nvPicPr>
          <p:cNvPr id="21" name="Picture 20" descr="guia_fig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207" y="1847088"/>
            <a:ext cx="6858881" cy="3246120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4550207" y="1847088"/>
            <a:ext cx="6858881" cy="324612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50207" y="5166360"/>
            <a:ext cx="685888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2 — tela de identificação do Gov.br. Os destaques marcam o campo de CPF e o botão “Continuar”.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7008" y="2736524"/>
            <a:ext cx="1234598" cy="194767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618284" y="2517800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18284" y="2517800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98891" y="2983230"/>
            <a:ext cx="569287" cy="188274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0049158" y="3152485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49158" y="3152485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486400"/>
            <a:ext cx="10637489" cy="45720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77240" y="5486400"/>
            <a:ext cx="32004" cy="45720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Freeform 31"/>
          <p:cNvSpPr/>
          <p:nvPr/>
        </p:nvSpPr>
        <p:spPr>
          <a:xfrm>
            <a:off x="1085122" y="5616245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27455" y="5791810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135685" y="5813755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152144" y="5671109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152144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121969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72184" y="5486400"/>
            <a:ext cx="9668225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Também existem outras formas de identificação no Gov.br, como login pelo banco, QR code e certificado digital.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4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Informe 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senha da conta 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14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Digite a senha da conta Gov.br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Não é a antiga senha do sistema MTR.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1518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1518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633472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Clique em “Entrar”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889504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Gov.br devolve você ao MTR Nacional autenticado.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401568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401568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419856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Esqueceu a senha?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675888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Use “Esqueci minha senha” — a recuperação é feita no Gov.br.</a:t>
            </a:r>
          </a:p>
        </p:txBody>
      </p:sp>
      <p:pic>
        <p:nvPicPr>
          <p:cNvPr id="21" name="Picture 20" descr="guia_fig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4568" y="1847088"/>
            <a:ext cx="6870161" cy="2552273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4544568" y="1847088"/>
            <a:ext cx="6870161" cy="2552273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44568" y="4472513"/>
            <a:ext cx="687016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3 — tela de senha do Gov.br. Os destaques marcam o campo de senha e o botão “Entrar”.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70482" y="2806742"/>
            <a:ext cx="1428993" cy="178659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351758" y="2588018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51758" y="2588018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05589" y="3207449"/>
            <a:ext cx="618314" cy="193972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904884" y="3382403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904884" y="3382403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486400"/>
            <a:ext cx="10637489" cy="45720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77240" y="5486400"/>
            <a:ext cx="32004" cy="45720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Freeform 31"/>
          <p:cNvSpPr/>
          <p:nvPr/>
        </p:nvSpPr>
        <p:spPr>
          <a:xfrm>
            <a:off x="1085122" y="5616245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27455" y="5791810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135685" y="5813755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152144" y="5671109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152144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121969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72184" y="5486400"/>
            <a:ext cx="9668225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 recuperação de senha agora é sempre pelo Gov.br. O sistema MTR não envia mais senha por e-mail.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5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Selecione 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unidade (empreendimento)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69848" y="1997050"/>
            <a:ext cx="164592" cy="202996"/>
          </a:xfrm>
          <a:custGeom>
            <a:avLst/>
            <a:gdLst/>
            <a:ahLst/>
            <a:cxnLst/>
            <a:rect l="l" t="t" r="r" b="b"/>
            <a:pathLst>
              <a:path w="164592" h="202996">
                <a:moveTo>
                  <a:pt x="0" y="0"/>
                </a:moveTo>
                <a:lnTo>
                  <a:pt x="164592" y="0"/>
                </a:lnTo>
                <a:lnTo>
                  <a:pt x="164592" y="202996"/>
                </a:lnTo>
                <a:lnTo>
                  <a:pt x="0" y="20299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19226" y="1969618"/>
            <a:ext cx="65836" cy="49377"/>
          </a:xfrm>
          <a:custGeom>
            <a:avLst/>
            <a:gdLst/>
            <a:ahLst/>
            <a:cxnLst/>
            <a:rect l="l" t="t" r="r" b="b"/>
            <a:pathLst>
              <a:path w="65836" h="49377">
                <a:moveTo>
                  <a:pt x="0" y="0"/>
                </a:moveTo>
                <a:lnTo>
                  <a:pt x="65836" y="0"/>
                </a:lnTo>
                <a:lnTo>
                  <a:pt x="65836" y="49377"/>
                </a:lnTo>
                <a:lnTo>
                  <a:pt x="0" y="4937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02766" y="207385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02766" y="2112264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02766" y="215066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 o seu CPF já estiver vinculado a uma ou mais unidades, o sistema lista todas elas. Clique no ícone da coluna “Selecionar” correspondente à unidade desejada.</a:t>
            </a:r>
          </a:p>
        </p:txBody>
      </p:sp>
      <p:pic>
        <p:nvPicPr>
          <p:cNvPr id="17" name="Picture 16" descr="guia_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5172440" cy="1536338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777240" y="2560320"/>
            <a:ext cx="5172440" cy="153633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169810"/>
            <a:ext cx="517244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4 — lista de unidades encontradas. Destaques: o botão “Pesquisar CPF/CNPJ” e a coluna “Selecionar”.</a:t>
            </a:r>
          </a:p>
        </p:txBody>
      </p:sp>
      <p:pic>
        <p:nvPicPr>
          <p:cNvPr id="20" name="Picture 19" descr="guia_fig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4849" y="2560320"/>
            <a:ext cx="4807319" cy="2212848"/>
          </a:xfrm>
          <a:prstGeom prst="rect">
            <a:avLst/>
          </a:prstGeom>
          <a:effectLst/>
        </p:spPr>
      </p:pic>
      <p:sp>
        <p:nvSpPr>
          <p:cNvPr id="21" name="Rectangle 20"/>
          <p:cNvSpPr/>
          <p:nvPr/>
        </p:nvSpPr>
        <p:spPr>
          <a:xfrm>
            <a:off x="6424849" y="2560320"/>
            <a:ext cx="4807319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24849" y="4846320"/>
            <a:ext cx="4807319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5 — tela inicial do sistema, já dentro da unidade escolhida.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75535" y="3351534"/>
            <a:ext cx="331036" cy="261177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4787551" y="3132809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787551" y="3132809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12080"/>
            <a:ext cx="10637489" cy="47548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77240" y="5212080"/>
            <a:ext cx="32004" cy="47548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1085122" y="5351069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27455" y="5526634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35685" y="5548579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152144" y="5405933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152144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21969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2184" y="5212080"/>
            <a:ext cx="9668225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Trabalha com mais de um CNPJ ou filial? Cada unidade aparece como uma linha separada e é selecionada individualmente.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6072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6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CPF sem vínculo?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Solicite o acesso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69848" y="1997050"/>
            <a:ext cx="164592" cy="202996"/>
          </a:xfrm>
          <a:custGeom>
            <a:avLst/>
            <a:gdLst/>
            <a:ahLst/>
            <a:cxnLst/>
            <a:rect l="l" t="t" r="r" b="b"/>
            <a:pathLst>
              <a:path w="164592" h="202996">
                <a:moveTo>
                  <a:pt x="0" y="0"/>
                </a:moveTo>
                <a:lnTo>
                  <a:pt x="164592" y="0"/>
                </a:lnTo>
                <a:lnTo>
                  <a:pt x="164592" y="202996"/>
                </a:lnTo>
                <a:lnTo>
                  <a:pt x="0" y="20299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19226" y="1969618"/>
            <a:ext cx="65836" cy="49377"/>
          </a:xfrm>
          <a:custGeom>
            <a:avLst/>
            <a:gdLst/>
            <a:ahLst/>
            <a:cxnLst/>
            <a:rect l="l" t="t" r="r" b="b"/>
            <a:pathLst>
              <a:path w="65836" h="49377">
                <a:moveTo>
                  <a:pt x="0" y="0"/>
                </a:moveTo>
                <a:lnTo>
                  <a:pt x="65836" y="0"/>
                </a:lnTo>
                <a:lnTo>
                  <a:pt x="65836" y="49377"/>
                </a:lnTo>
                <a:lnTo>
                  <a:pt x="0" y="4937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02766" y="207385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02766" y="2112264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02766" y="215066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 o CPF ainda não estiver vinculado a nenhum empreendimento, o sistema avisa e oferece o botão “Pesquisar CPF/CNPJ” para localizar a empresa.</a:t>
            </a:r>
          </a:p>
        </p:txBody>
      </p:sp>
      <p:pic>
        <p:nvPicPr>
          <p:cNvPr id="17" name="Picture 16" descr="guia_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97" y="2560320"/>
            <a:ext cx="4787526" cy="2212848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969697" y="2560320"/>
            <a:ext cx="4787526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697" y="4846320"/>
            <a:ext cx="478752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6 — aviso de CPF sem vínculo com nenhum empreendimento.</a:t>
            </a:r>
          </a:p>
        </p:txBody>
      </p:sp>
      <p:pic>
        <p:nvPicPr>
          <p:cNvPr id="20" name="Picture 19" descr="guia_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416" y="2560320"/>
            <a:ext cx="4420184" cy="2212848"/>
          </a:xfrm>
          <a:prstGeom prst="rect">
            <a:avLst/>
          </a:prstGeom>
          <a:effectLst/>
        </p:spPr>
      </p:pic>
      <p:sp>
        <p:nvSpPr>
          <p:cNvPr id="21" name="Rectangle 20"/>
          <p:cNvSpPr/>
          <p:nvPr/>
        </p:nvSpPr>
        <p:spPr>
          <a:xfrm>
            <a:off x="6618416" y="2560320"/>
            <a:ext cx="4420184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18416" y="4846320"/>
            <a:ext cx="442018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7 — destaque no botão “Pesquisar CPF/CNPJ”.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5416" y="3011740"/>
            <a:ext cx="400468" cy="12834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456692" y="2793016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456692" y="2793016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12080"/>
            <a:ext cx="10637489" cy="47548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77240" y="5212080"/>
            <a:ext cx="32004" cy="47548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1085122" y="5351069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27455" y="5526634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35685" y="5548579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152144" y="5405933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152144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21969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2184" y="5212080"/>
            <a:ext cx="9668225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É exatamente por aqui que a Nunes &amp; Lucato solicita acesso à sua unidade na Rota B do Caminho 1 (slide 8).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6072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6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Escolha o empreendimento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preencha seus dados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69848" y="1997050"/>
            <a:ext cx="164592" cy="202996"/>
          </a:xfrm>
          <a:custGeom>
            <a:avLst/>
            <a:gdLst/>
            <a:ahLst/>
            <a:cxnLst/>
            <a:rect l="l" t="t" r="r" b="b"/>
            <a:pathLst>
              <a:path w="164592" h="202996">
                <a:moveTo>
                  <a:pt x="0" y="0"/>
                </a:moveTo>
                <a:lnTo>
                  <a:pt x="164592" y="0"/>
                </a:lnTo>
                <a:lnTo>
                  <a:pt x="164592" y="202996"/>
                </a:lnTo>
                <a:lnTo>
                  <a:pt x="0" y="20299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19226" y="1969618"/>
            <a:ext cx="65836" cy="49377"/>
          </a:xfrm>
          <a:custGeom>
            <a:avLst/>
            <a:gdLst/>
            <a:ahLst/>
            <a:cxnLst/>
            <a:rect l="l" t="t" r="r" b="b"/>
            <a:pathLst>
              <a:path w="65836" h="49377">
                <a:moveTo>
                  <a:pt x="0" y="0"/>
                </a:moveTo>
                <a:lnTo>
                  <a:pt x="65836" y="0"/>
                </a:lnTo>
                <a:lnTo>
                  <a:pt x="65836" y="49377"/>
                </a:lnTo>
                <a:lnTo>
                  <a:pt x="0" y="4937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02766" y="207385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02766" y="2112264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02766" y="215066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Na coluna “Solicitar acesso”, selecione o empreendimento desejado e preencha os dados cadastrais. Depois, aguarde a aprovação do Administrador da unidade.</a:t>
            </a:r>
          </a:p>
        </p:txBody>
      </p:sp>
      <p:pic>
        <p:nvPicPr>
          <p:cNvPr id="17" name="Picture 16" descr="guia_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40" y="2578608"/>
            <a:ext cx="4206240" cy="2103120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1260340" y="2578608"/>
            <a:ext cx="4206240" cy="210312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60340" y="4754879"/>
            <a:ext cx="420624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8 — coluna “Solicitar acesso”.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46770" y="3129625"/>
            <a:ext cx="302849" cy="1430121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30600" y="2910900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30600" y="2910900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pic>
        <p:nvPicPr>
          <p:cNvPr id="23" name="Picture 22" descr="guia_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635" y="2578608"/>
            <a:ext cx="4547747" cy="2103120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6554635" y="2578608"/>
            <a:ext cx="4547747" cy="210312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54635" y="4754879"/>
            <a:ext cx="4547747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9 — janela “Dados Cadastrais” e botão “Enviar”.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60545" y="3996110"/>
            <a:ext cx="213744" cy="109362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041820" y="3777386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41820" y="3777386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138928"/>
            <a:ext cx="10637489" cy="530352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77240" y="5138928"/>
            <a:ext cx="32004" cy="53035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1047902" y="5327294"/>
            <a:ext cx="197511" cy="159106"/>
          </a:xfrm>
          <a:custGeom>
            <a:avLst/>
            <a:gdLst/>
            <a:ahLst/>
            <a:cxnLst/>
            <a:rect l="l" t="t" r="r" b="b"/>
            <a:pathLst>
              <a:path w="197511" h="159106">
                <a:moveTo>
                  <a:pt x="0" y="159106"/>
                </a:moveTo>
                <a:lnTo>
                  <a:pt x="65837" y="159106"/>
                </a:lnTo>
                <a:lnTo>
                  <a:pt x="65837" y="65837"/>
                </a:lnTo>
                <a:lnTo>
                  <a:pt x="142647" y="65837"/>
                </a:lnTo>
                <a:lnTo>
                  <a:pt x="142647" y="0"/>
                </a:lnTo>
                <a:lnTo>
                  <a:pt x="197511" y="0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235871" y="5310552"/>
            <a:ext cx="31487" cy="33485"/>
          </a:xfrm>
          <a:custGeom>
            <a:avLst/>
            <a:gdLst/>
            <a:ahLst/>
            <a:cxnLst/>
            <a:rect l="l" t="t" r="r" b="b"/>
            <a:pathLst>
              <a:path w="31487" h="33485">
                <a:moveTo>
                  <a:pt x="31487" y="16742"/>
                </a:moveTo>
                <a:lnTo>
                  <a:pt x="0" y="33485"/>
                </a:lnTo>
                <a:lnTo>
                  <a:pt x="0" y="0"/>
                </a:lnTo>
                <a:close/>
              </a:path>
            </a:pathLst>
          </a:custGeom>
          <a:solidFill>
            <a:srgbClr val="12A87B"/>
          </a:solidFill>
          <a:ln w="952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00" y="5467197"/>
            <a:ext cx="38404" cy="38404"/>
          </a:xfrm>
          <a:prstGeom prst="ellipse">
            <a:avLst/>
          </a:prstGeom>
          <a:solidFill>
            <a:srgbClr val="FFFFFF"/>
          </a:solidFill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472184" y="5138928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Depois do envio, o sistema informa o status da solicitação. A unidade responsável pode entrar em contato por e-mail ou telefone antes de aprovar.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42432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  ·  Figuras 8, 9 e 10.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7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Empresa ainda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não cadastrada no MTR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69848" y="1997050"/>
            <a:ext cx="164592" cy="202996"/>
          </a:xfrm>
          <a:custGeom>
            <a:avLst/>
            <a:gdLst/>
            <a:ahLst/>
            <a:cxnLst/>
            <a:rect l="l" t="t" r="r" b="b"/>
            <a:pathLst>
              <a:path w="164592" h="202996">
                <a:moveTo>
                  <a:pt x="0" y="0"/>
                </a:moveTo>
                <a:lnTo>
                  <a:pt x="164592" y="0"/>
                </a:lnTo>
                <a:lnTo>
                  <a:pt x="164592" y="202996"/>
                </a:lnTo>
                <a:lnTo>
                  <a:pt x="0" y="20299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19226" y="1969618"/>
            <a:ext cx="65836" cy="49377"/>
          </a:xfrm>
          <a:custGeom>
            <a:avLst/>
            <a:gdLst/>
            <a:ahLst/>
            <a:cxnLst/>
            <a:rect l="l" t="t" r="r" b="b"/>
            <a:pathLst>
              <a:path w="65836" h="49377">
                <a:moveTo>
                  <a:pt x="0" y="0"/>
                </a:moveTo>
                <a:lnTo>
                  <a:pt x="65836" y="0"/>
                </a:lnTo>
                <a:lnTo>
                  <a:pt x="65836" y="49377"/>
                </a:lnTo>
                <a:lnTo>
                  <a:pt x="0" y="4937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02766" y="207385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02766" y="2112264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02766" y="215066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 a busca não encontrar o CNPJ, é porque o empreendimento ainda não existe no MTR Nacional. Nesse caso, o próprio sistema oferece o cadastro.</a:t>
            </a:r>
          </a:p>
        </p:txBody>
      </p:sp>
      <p:pic>
        <p:nvPicPr>
          <p:cNvPr id="17" name="Picture 16" descr="guia_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877" y="2560320"/>
            <a:ext cx="4661165" cy="2212848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1032877" y="2560320"/>
            <a:ext cx="4661165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32877" y="4846320"/>
            <a:ext cx="466116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12 — janela “Pesquisar Empreendimento”: informe o CPF ou CNPJ.</a:t>
            </a:r>
          </a:p>
        </p:txBody>
      </p:sp>
      <p:pic>
        <p:nvPicPr>
          <p:cNvPr id="20" name="Picture 19" descr="guia_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4827" y="2560320"/>
            <a:ext cx="4667362" cy="2212848"/>
          </a:xfrm>
          <a:prstGeom prst="rect">
            <a:avLst/>
          </a:prstGeom>
          <a:effectLst/>
        </p:spPr>
      </p:pic>
      <p:sp>
        <p:nvSpPr>
          <p:cNvPr id="21" name="Rectangle 20"/>
          <p:cNvSpPr/>
          <p:nvPr/>
        </p:nvSpPr>
        <p:spPr>
          <a:xfrm>
            <a:off x="6494827" y="2560320"/>
            <a:ext cx="4667362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4827" y="4846320"/>
            <a:ext cx="466736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13 — aviso de empreendimento não localizado e botão “Cadastrar Empreendimento”.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4733" y="3786016"/>
            <a:ext cx="561950" cy="98914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326009" y="3567292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26009" y="3567292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12080"/>
            <a:ext cx="10637489" cy="47548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77240" y="5212080"/>
            <a:ext cx="32004" cy="47548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1085122" y="5351069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27455" y="5526634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35685" y="5548579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152144" y="5405933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152144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21969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2184" y="5212080"/>
            <a:ext cx="9668225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Atenção: quem solicita o cadastro passa a ser o Administrador da unidade, responsável pela gestão de acessos e pela aprovação de novos usuários.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6072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7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Preencha o cadastro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solicite o acesso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19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Preencha o formulário completo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Perfil do declarante, dados do empreendimento e do responsável.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1518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1518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633472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Aceite os termos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889504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Termos de Uso e Política de Privacidade do sistema.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401568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401568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419856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Clique em “Solicitar Acesso”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675888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sistema segue para a liberação e envia as informações de login.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187951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187951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1" y="4206240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Guarde quem ficou Administrador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1" y="4462272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É essa pessoa que vai autorizar os demais usuários.</a:t>
            </a:r>
          </a:p>
        </p:txBody>
      </p:sp>
      <p:pic>
        <p:nvPicPr>
          <p:cNvPr id="25" name="Picture 24" descr="guia_fi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071" y="1847088"/>
            <a:ext cx="3273153" cy="3246120"/>
          </a:xfrm>
          <a:prstGeom prst="rect">
            <a:avLst/>
          </a:prstGeom>
          <a:effectLst/>
        </p:spPr>
      </p:pic>
      <p:sp>
        <p:nvSpPr>
          <p:cNvPr id="26" name="Rectangle 25"/>
          <p:cNvSpPr/>
          <p:nvPr/>
        </p:nvSpPr>
        <p:spPr>
          <a:xfrm>
            <a:off x="6343071" y="1847088"/>
            <a:ext cx="3273153" cy="324612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43071" y="5166360"/>
            <a:ext cx="3273153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15 — formulário de cadastro do empreendimento. O destaque marca o botão “Solicitar Acesso”.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7254" y="4671212"/>
            <a:ext cx="294583" cy="8764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528530" y="4452487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528530" y="4452487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86400"/>
            <a:ext cx="10637489" cy="45720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777240" y="5486400"/>
            <a:ext cx="32004" cy="45720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Freeform 32"/>
          <p:cNvSpPr/>
          <p:nvPr/>
        </p:nvSpPr>
        <p:spPr>
          <a:xfrm>
            <a:off x="1085122" y="5616245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127455" y="5791810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135685" y="5813755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152144" y="5671109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152144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1969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2184" y="5486400"/>
            <a:ext cx="9668225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Marque o perfil correto do declarante: Gerador, Transportador, Armazenador Temporário ou Destinador. É isso que define o que a sua unidade pode fazer no sistema.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8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Emitindo o MTR: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dados do gerador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20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Abra a emissão de MTR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No menu do sistema, escolha a opção de novo MTR.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88336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706624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Confirme o gerador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962656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Razão social, CNPJ e endereço da unidade que gerou o resíduo.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547872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566160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Informe o responsável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822191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Quem responde pela carga na sua empresa, e a UF.</a:t>
            </a:r>
          </a:p>
        </p:txBody>
      </p:sp>
      <p:pic>
        <p:nvPicPr>
          <p:cNvPr id="21" name="Picture 20" descr="mtr_gerad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847088"/>
            <a:ext cx="7007321" cy="2621562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4407408" y="1847088"/>
            <a:ext cx="7007321" cy="2621562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07408" y="4541802"/>
            <a:ext cx="700732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Tela real de emissão de MTR — bloco de identificação do gerador (conta da Nunes &amp; Lucato).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7481" y="1899519"/>
            <a:ext cx="3363514" cy="471881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407408" y="1847088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07408" y="1847088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77481" y="3891906"/>
            <a:ext cx="2172269" cy="49809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407408" y="4230906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407408" y="4230906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266944"/>
            <a:ext cx="10637489" cy="530352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77240" y="5266944"/>
            <a:ext cx="32004" cy="530352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Freeform 31"/>
          <p:cNvSpPr/>
          <p:nvPr/>
        </p:nvSpPr>
        <p:spPr>
          <a:xfrm>
            <a:off x="1034186" y="5422392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52144" y="5499202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41856" y="5586298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472184" y="5266944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[PRINT PENDENTE — tela do menu de emissão / botão de novo MTR]  Envie-nos esse print e nós o inserimos no passo 1 deste slide.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870448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Print próprio da Nunes &amp; Lucato. O CPF do usuário administrador foi tarjado por se tratar de material distribuído a clientes.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8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Dados do transportador: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use os nossos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21</a:t>
            </a:r>
          </a:p>
        </p:txBody>
      </p:sp>
      <p:pic>
        <p:nvPicPr>
          <p:cNvPr id="9" name="Picture 8" descr="mtr_transportad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47088"/>
            <a:ext cx="6309360" cy="2790963"/>
          </a:xfrm>
          <a:prstGeom prst="rect">
            <a:avLst/>
          </a:prstGeom>
          <a:effectLst/>
        </p:spPr>
      </p:pic>
      <p:sp>
        <p:nvSpPr>
          <p:cNvPr id="10" name="Rectangle 9"/>
          <p:cNvSpPr/>
          <p:nvPr/>
        </p:nvSpPr>
        <p:spPr>
          <a:xfrm>
            <a:off x="777240" y="1847088"/>
            <a:ext cx="6309360" cy="2790963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4711203"/>
            <a:ext cx="630936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Tela real de emissão — bloco “Dados do Transportador”, com motorista e placa.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333" y="2265732"/>
            <a:ext cx="3028492" cy="36282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77240" y="2047008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047008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0333" y="4135678"/>
            <a:ext cx="3533241" cy="418644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77240" y="4400307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400307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1847088"/>
            <a:ext cx="4005072" cy="279806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06640" y="1847088"/>
            <a:ext cx="4005072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Freeform 19"/>
          <p:cNvSpPr/>
          <p:nvPr/>
        </p:nvSpPr>
        <p:spPr>
          <a:xfrm>
            <a:off x="7669256" y="2178101"/>
            <a:ext cx="136794" cy="105704"/>
          </a:xfrm>
          <a:custGeom>
            <a:avLst/>
            <a:gdLst/>
            <a:ahLst/>
            <a:cxnLst/>
            <a:rect l="l" t="t" r="r" b="b"/>
            <a:pathLst>
              <a:path w="136794" h="105704">
                <a:moveTo>
                  <a:pt x="0" y="0"/>
                </a:moveTo>
                <a:lnTo>
                  <a:pt x="136794" y="0"/>
                </a:lnTo>
                <a:lnTo>
                  <a:pt x="136794" y="105704"/>
                </a:lnTo>
                <a:lnTo>
                  <a:pt x="0" y="10570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806050" y="2215408"/>
            <a:ext cx="105705" cy="68397"/>
          </a:xfrm>
          <a:custGeom>
            <a:avLst/>
            <a:gdLst/>
            <a:ahLst/>
            <a:cxnLst/>
            <a:rect l="l" t="t" r="r" b="b"/>
            <a:pathLst>
              <a:path w="105705" h="68397">
                <a:moveTo>
                  <a:pt x="0" y="0"/>
                </a:moveTo>
                <a:lnTo>
                  <a:pt x="62179" y="0"/>
                </a:lnTo>
                <a:lnTo>
                  <a:pt x="105705" y="40417"/>
                </a:lnTo>
                <a:lnTo>
                  <a:pt x="105705" y="68397"/>
                </a:lnTo>
                <a:lnTo>
                  <a:pt x="0" y="6839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669256" y="2283805"/>
            <a:ext cx="242499" cy="0"/>
          </a:xfrm>
          <a:custGeom>
            <a:avLst/>
            <a:gdLst/>
            <a:ahLst/>
            <a:cxnLst/>
            <a:rect l="l" t="t" r="r" b="b"/>
            <a:pathLst>
              <a:path w="242499" h="0">
                <a:moveTo>
                  <a:pt x="0" y="0"/>
                </a:moveTo>
                <a:lnTo>
                  <a:pt x="242499" y="0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01899" y="2283805"/>
            <a:ext cx="46634" cy="46634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844911" y="2283805"/>
            <a:ext cx="46634" cy="46634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101583" y="2103120"/>
            <a:ext cx="307238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Nunes &amp; Lucato — transportadora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2542032"/>
            <a:ext cx="1602028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Razão social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6412" y="2542032"/>
            <a:ext cx="1927555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2E"/>
                </a:solidFill>
                <a:latin typeface="Montserrat SemiBold"/>
              </a:rPr>
              <a:t>Nunes&amp;Lucato GSA Ltda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44383" y="2807208"/>
            <a:ext cx="1602028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CNPJ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412" y="2807208"/>
            <a:ext cx="1927555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2E"/>
                </a:solidFill>
                <a:latin typeface="Montserrat SemiBold"/>
              </a:rPr>
              <a:t>13.762.164/0001-06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4383" y="3072384"/>
            <a:ext cx="1602028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Código no SINIR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412" y="3072384"/>
            <a:ext cx="1927555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2E"/>
                </a:solidFill>
                <a:latin typeface="Montserrat SemiBold"/>
              </a:rPr>
              <a:t>39087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4383" y="3337560"/>
            <a:ext cx="1602028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Endereço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6412" y="3337560"/>
            <a:ext cx="1927555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2E"/>
                </a:solidFill>
                <a:latin typeface="Montserrat SemiBold"/>
              </a:rPr>
              <a:t>Mário Augusto do Carmo, 275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44383" y="3602736"/>
            <a:ext cx="1602028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CEP / Bairro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46412" y="3602736"/>
            <a:ext cx="1927555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2E"/>
                </a:solidFill>
                <a:latin typeface="Montserrat SemiBold"/>
              </a:rPr>
              <a:t>03227-070 · Jardim Avelino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44383" y="3867912"/>
            <a:ext cx="1602028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Cidade / UF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46412" y="3867912"/>
            <a:ext cx="1927555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2E"/>
                </a:solidFill>
                <a:latin typeface="Montserrat SemiBold"/>
              </a:rPr>
              <a:t>São Paulo · SP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44383" y="4133088"/>
            <a:ext cx="1602028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Licença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6412" y="4133088"/>
            <a:ext cx="1927555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2E"/>
                </a:solidFill>
                <a:latin typeface="Montserrat SemiBold"/>
              </a:rPr>
              <a:t>[INSERIR]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44383" y="4398264"/>
            <a:ext cx="1602028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Órgão emissor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46412" y="4398264"/>
            <a:ext cx="1927555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2E"/>
                </a:solidFill>
                <a:latin typeface="Montserrat SemiBold"/>
              </a:rPr>
              <a:t>[INSERIR]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047488"/>
            <a:ext cx="1063748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777240" y="5047488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Freeform 43"/>
          <p:cNvSpPr/>
          <p:nvPr/>
        </p:nvSpPr>
        <p:spPr>
          <a:xfrm>
            <a:off x="1047902" y="5235854"/>
            <a:ext cx="197511" cy="159106"/>
          </a:xfrm>
          <a:custGeom>
            <a:avLst/>
            <a:gdLst/>
            <a:ahLst/>
            <a:cxnLst/>
            <a:rect l="l" t="t" r="r" b="b"/>
            <a:pathLst>
              <a:path w="197511" h="159106">
                <a:moveTo>
                  <a:pt x="0" y="159106"/>
                </a:moveTo>
                <a:lnTo>
                  <a:pt x="65837" y="159106"/>
                </a:lnTo>
                <a:lnTo>
                  <a:pt x="65837" y="65837"/>
                </a:lnTo>
                <a:lnTo>
                  <a:pt x="142647" y="65837"/>
                </a:lnTo>
                <a:lnTo>
                  <a:pt x="142647" y="0"/>
                </a:lnTo>
                <a:lnTo>
                  <a:pt x="197511" y="0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235871" y="5219112"/>
            <a:ext cx="31487" cy="33485"/>
          </a:xfrm>
          <a:custGeom>
            <a:avLst/>
            <a:gdLst/>
            <a:ahLst/>
            <a:cxnLst/>
            <a:rect l="l" t="t" r="r" b="b"/>
            <a:pathLst>
              <a:path w="31487" h="33485">
                <a:moveTo>
                  <a:pt x="31487" y="16742"/>
                </a:moveTo>
                <a:lnTo>
                  <a:pt x="0" y="33485"/>
                </a:lnTo>
                <a:lnTo>
                  <a:pt x="0" y="0"/>
                </a:lnTo>
                <a:close/>
              </a:path>
            </a:pathLst>
          </a:custGeom>
          <a:solidFill>
            <a:srgbClr val="3432C9"/>
          </a:solidFill>
          <a:ln w="952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8700" y="5375757"/>
            <a:ext cx="38404" cy="38404"/>
          </a:xfrm>
          <a:prstGeom prst="ellipse">
            <a:avLst/>
          </a:prstGeom>
          <a:solidFill>
            <a:srgbClr val="FFFFFF"/>
          </a:solidFill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472184" y="5047488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Motorista e placa mudam a cada coleta: confirme com a nossa equipe antes de emitir, ou deixe que informemos no ato da retirada.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66928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Dados extraídos do nosso próprio cadastro no MTR Nacional. [CONFIRMAR — rótulo exato do código 39087 e campos de licença ambiental]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Passo 9 de 9  ·  Caminho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Resíduos, emissão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acompanhamento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3392424" cy="1975104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110082" y="2190537"/>
            <a:ext cx="230428" cy="284195"/>
          </a:xfrm>
          <a:custGeom>
            <a:avLst/>
            <a:gdLst/>
            <a:ahLst/>
            <a:cxnLst/>
            <a:rect l="l" t="t" r="r" b="b"/>
            <a:pathLst>
              <a:path w="230428" h="284195">
                <a:moveTo>
                  <a:pt x="0" y="0"/>
                </a:moveTo>
                <a:lnTo>
                  <a:pt x="230428" y="0"/>
                </a:lnTo>
                <a:lnTo>
                  <a:pt x="230428" y="284195"/>
                </a:lnTo>
                <a:lnTo>
                  <a:pt x="0" y="284195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79210" y="2152132"/>
            <a:ext cx="92172" cy="69128"/>
          </a:xfrm>
          <a:custGeom>
            <a:avLst/>
            <a:gdLst/>
            <a:ahLst/>
            <a:cxnLst/>
            <a:rect l="l" t="t" r="r" b="b"/>
            <a:pathLst>
              <a:path w="92172" h="69128">
                <a:moveTo>
                  <a:pt x="0" y="0"/>
                </a:moveTo>
                <a:lnTo>
                  <a:pt x="92172" y="0"/>
                </a:lnTo>
                <a:lnTo>
                  <a:pt x="92172" y="69128"/>
                </a:lnTo>
                <a:lnTo>
                  <a:pt x="0" y="69128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56167" y="2298070"/>
            <a:ext cx="138258" cy="0"/>
          </a:xfrm>
          <a:custGeom>
            <a:avLst/>
            <a:gdLst/>
            <a:ahLst/>
            <a:cxnLst/>
            <a:rect l="l" t="t" r="r" b="b"/>
            <a:pathLst>
              <a:path w="138258" h="0">
                <a:moveTo>
                  <a:pt x="0" y="0"/>
                </a:moveTo>
                <a:lnTo>
                  <a:pt x="13825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56167" y="2351837"/>
            <a:ext cx="138258" cy="0"/>
          </a:xfrm>
          <a:custGeom>
            <a:avLst/>
            <a:gdLst/>
            <a:ahLst/>
            <a:cxnLst/>
            <a:rect l="l" t="t" r="r" b="b"/>
            <a:pathLst>
              <a:path w="138258" h="0">
                <a:moveTo>
                  <a:pt x="0" y="0"/>
                </a:moveTo>
                <a:lnTo>
                  <a:pt x="13825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56167" y="2405604"/>
            <a:ext cx="138258" cy="0"/>
          </a:xfrm>
          <a:custGeom>
            <a:avLst/>
            <a:gdLst/>
            <a:ahLst/>
            <a:cxnLst/>
            <a:rect l="l" t="t" r="r" b="b"/>
            <a:pathLst>
              <a:path w="138258" h="0">
                <a:moveTo>
                  <a:pt x="0" y="0"/>
                </a:moveTo>
                <a:lnTo>
                  <a:pt x="13825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1" y="2651760"/>
            <a:ext cx="288036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Identifique o resíduo</a:t>
            </a:r>
          </a:p>
        </p:txBody>
      </p:sp>
      <p:sp>
        <p:nvSpPr>
          <p:cNvPr id="17" name="Oval 16"/>
          <p:cNvSpPr/>
          <p:nvPr/>
        </p:nvSpPr>
        <p:spPr>
          <a:xfrm>
            <a:off x="1033271" y="3064428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21638" y="3035808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Código e descrição do resíduo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1" y="328464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21638" y="3256026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Classe (I, II-A, II-B)</a:t>
            </a:r>
          </a:p>
        </p:txBody>
      </p:sp>
      <p:sp>
        <p:nvSpPr>
          <p:cNvPr id="21" name="Oval 20"/>
          <p:cNvSpPr/>
          <p:nvPr/>
        </p:nvSpPr>
        <p:spPr>
          <a:xfrm>
            <a:off x="1033271" y="3504864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21638" y="3476244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Estado físico e acondicionamento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7" y="1847088"/>
            <a:ext cx="3392424" cy="1975104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407407" y="1847088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Freeform 24"/>
          <p:cNvSpPr/>
          <p:nvPr/>
        </p:nvSpPr>
        <p:spPr>
          <a:xfrm>
            <a:off x="4855464" y="2205899"/>
            <a:ext cx="0" cy="238109"/>
          </a:xfrm>
          <a:custGeom>
            <a:avLst/>
            <a:gdLst/>
            <a:ahLst/>
            <a:cxnLst/>
            <a:rect l="l" t="t" r="r" b="b"/>
            <a:pathLst>
              <a:path w="0" h="238109">
                <a:moveTo>
                  <a:pt x="0" y="0"/>
                </a:moveTo>
                <a:lnTo>
                  <a:pt x="0" y="238109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724888" y="2236622"/>
            <a:ext cx="261152" cy="0"/>
          </a:xfrm>
          <a:custGeom>
            <a:avLst/>
            <a:gdLst/>
            <a:ahLst/>
            <a:cxnLst/>
            <a:rect l="l" t="t" r="r" b="b"/>
            <a:pathLst>
              <a:path w="261152" h="0">
                <a:moveTo>
                  <a:pt x="0" y="0"/>
                </a:moveTo>
                <a:lnTo>
                  <a:pt x="261152" y="0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786335" y="2444008"/>
            <a:ext cx="138258" cy="0"/>
          </a:xfrm>
          <a:custGeom>
            <a:avLst/>
            <a:gdLst/>
            <a:ahLst/>
            <a:cxnLst/>
            <a:rect l="l" t="t" r="r" b="b"/>
            <a:pathLst>
              <a:path w="138258" h="0">
                <a:moveTo>
                  <a:pt x="0" y="0"/>
                </a:moveTo>
                <a:lnTo>
                  <a:pt x="138258" y="0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674961" y="2236622"/>
            <a:ext cx="49927" cy="61448"/>
          </a:xfrm>
          <a:custGeom>
            <a:avLst/>
            <a:gdLst/>
            <a:ahLst/>
            <a:cxnLst/>
            <a:rect l="l" t="t" r="r" b="b"/>
            <a:pathLst>
              <a:path w="49927" h="61448">
                <a:moveTo>
                  <a:pt x="49927" y="0"/>
                </a:moveTo>
                <a:lnTo>
                  <a:pt x="0" y="61448"/>
                </a:lnTo>
              </a:path>
            </a:pathLst>
          </a:custGeom>
          <a:noFill/>
          <a:ln w="952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24888" y="2236622"/>
            <a:ext cx="49926" cy="61448"/>
          </a:xfrm>
          <a:custGeom>
            <a:avLst/>
            <a:gdLst/>
            <a:ahLst/>
            <a:cxnLst/>
            <a:rect l="l" t="t" r="r" b="b"/>
            <a:pathLst>
              <a:path w="49926" h="61448">
                <a:moveTo>
                  <a:pt x="0" y="0"/>
                </a:moveTo>
                <a:lnTo>
                  <a:pt x="49926" y="61448"/>
                </a:lnTo>
              </a:path>
            </a:pathLst>
          </a:custGeom>
          <a:noFill/>
          <a:ln w="952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674961" y="2298070"/>
            <a:ext cx="99853" cy="46086"/>
          </a:xfrm>
          <a:custGeom>
            <a:avLst/>
            <a:gdLst/>
            <a:ahLst/>
            <a:cxnLst/>
            <a:rect l="l" t="t" r="r" b="b"/>
            <a:pathLst>
              <a:path w="99853" h="46086">
                <a:moveTo>
                  <a:pt x="99853" y="0"/>
                </a:moveTo>
                <a:lnTo>
                  <a:pt x="99094" y="8003"/>
                </a:lnTo>
                <a:lnTo>
                  <a:pt x="96842" y="15762"/>
                </a:lnTo>
                <a:lnTo>
                  <a:pt x="93164" y="23043"/>
                </a:lnTo>
                <a:lnTo>
                  <a:pt x="88172" y="29623"/>
                </a:lnTo>
                <a:lnTo>
                  <a:pt x="82019" y="35304"/>
                </a:lnTo>
                <a:lnTo>
                  <a:pt x="74890" y="39912"/>
                </a:lnTo>
                <a:lnTo>
                  <a:pt x="67002" y="43307"/>
                </a:lnTo>
                <a:lnTo>
                  <a:pt x="58596" y="45386"/>
                </a:lnTo>
                <a:lnTo>
                  <a:pt x="49927" y="46086"/>
                </a:lnTo>
                <a:lnTo>
                  <a:pt x="41257" y="45386"/>
                </a:lnTo>
                <a:lnTo>
                  <a:pt x="32851" y="43307"/>
                </a:lnTo>
                <a:lnTo>
                  <a:pt x="24964" y="39912"/>
                </a:lnTo>
                <a:lnTo>
                  <a:pt x="17835" y="35304"/>
                </a:lnTo>
                <a:lnTo>
                  <a:pt x="11681" y="29623"/>
                </a:lnTo>
                <a:lnTo>
                  <a:pt x="6689" y="23043"/>
                </a:lnTo>
                <a:lnTo>
                  <a:pt x="3011" y="15762"/>
                </a:lnTo>
                <a:lnTo>
                  <a:pt x="759" y="8003"/>
                </a:lnTo>
                <a:lnTo>
                  <a:pt x="0" y="0"/>
                </a:lnTo>
              </a:path>
            </a:pathLst>
          </a:cu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36114" y="2236622"/>
            <a:ext cx="49926" cy="61448"/>
          </a:xfrm>
          <a:custGeom>
            <a:avLst/>
            <a:gdLst/>
            <a:ahLst/>
            <a:cxnLst/>
            <a:rect l="l" t="t" r="r" b="b"/>
            <a:pathLst>
              <a:path w="49926" h="61448">
                <a:moveTo>
                  <a:pt x="49926" y="0"/>
                </a:moveTo>
                <a:lnTo>
                  <a:pt x="0" y="61448"/>
                </a:lnTo>
              </a:path>
            </a:pathLst>
          </a:custGeom>
          <a:noFill/>
          <a:ln w="952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986040" y="2236622"/>
            <a:ext cx="49927" cy="61448"/>
          </a:xfrm>
          <a:custGeom>
            <a:avLst/>
            <a:gdLst/>
            <a:ahLst/>
            <a:cxnLst/>
            <a:rect l="l" t="t" r="r" b="b"/>
            <a:pathLst>
              <a:path w="49927" h="61448">
                <a:moveTo>
                  <a:pt x="0" y="0"/>
                </a:moveTo>
                <a:lnTo>
                  <a:pt x="49927" y="61448"/>
                </a:lnTo>
              </a:path>
            </a:pathLst>
          </a:custGeom>
          <a:noFill/>
          <a:ln w="952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936114" y="2298070"/>
            <a:ext cx="99853" cy="46086"/>
          </a:xfrm>
          <a:custGeom>
            <a:avLst/>
            <a:gdLst/>
            <a:ahLst/>
            <a:cxnLst/>
            <a:rect l="l" t="t" r="r" b="b"/>
            <a:pathLst>
              <a:path w="99853" h="46086">
                <a:moveTo>
                  <a:pt x="99853" y="0"/>
                </a:moveTo>
                <a:lnTo>
                  <a:pt x="99094" y="8003"/>
                </a:lnTo>
                <a:lnTo>
                  <a:pt x="96842" y="15762"/>
                </a:lnTo>
                <a:lnTo>
                  <a:pt x="93164" y="23043"/>
                </a:lnTo>
                <a:lnTo>
                  <a:pt x="88172" y="29623"/>
                </a:lnTo>
                <a:lnTo>
                  <a:pt x="82018" y="35304"/>
                </a:lnTo>
                <a:lnTo>
                  <a:pt x="74889" y="39912"/>
                </a:lnTo>
                <a:lnTo>
                  <a:pt x="67002" y="43307"/>
                </a:lnTo>
                <a:lnTo>
                  <a:pt x="58596" y="45386"/>
                </a:lnTo>
                <a:lnTo>
                  <a:pt x="49926" y="46086"/>
                </a:lnTo>
                <a:lnTo>
                  <a:pt x="41257" y="45386"/>
                </a:lnTo>
                <a:lnTo>
                  <a:pt x="32851" y="43307"/>
                </a:lnTo>
                <a:lnTo>
                  <a:pt x="24963" y="39912"/>
                </a:lnTo>
                <a:lnTo>
                  <a:pt x="17834" y="35304"/>
                </a:lnTo>
                <a:lnTo>
                  <a:pt x="11681" y="29623"/>
                </a:lnTo>
                <a:lnTo>
                  <a:pt x="6689" y="23043"/>
                </a:lnTo>
                <a:lnTo>
                  <a:pt x="3011" y="15762"/>
                </a:lnTo>
                <a:lnTo>
                  <a:pt x="759" y="8003"/>
                </a:lnTo>
                <a:lnTo>
                  <a:pt x="0" y="0"/>
                </a:lnTo>
              </a:path>
            </a:pathLst>
          </a:cu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30500" y="2173254"/>
            <a:ext cx="49926" cy="49926"/>
          </a:xfrm>
          <a:prstGeom prst="ellipse">
            <a:avLst/>
          </a:prstGeom>
          <a:solidFill>
            <a:srgbClr val="FFFFFF"/>
          </a:solidFill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663440" y="2651760"/>
            <a:ext cx="288036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Informe a quantidade</a:t>
            </a:r>
          </a:p>
        </p:txBody>
      </p:sp>
      <p:sp>
        <p:nvSpPr>
          <p:cNvPr id="36" name="Oval 35"/>
          <p:cNvSpPr/>
          <p:nvPr/>
        </p:nvSpPr>
        <p:spPr>
          <a:xfrm>
            <a:off x="4663440" y="3064428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851806" y="3035808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Quantidade enviada</a:t>
            </a:r>
          </a:p>
        </p:txBody>
      </p:sp>
      <p:sp>
        <p:nvSpPr>
          <p:cNvPr id="38" name="Oval 37"/>
          <p:cNvSpPr/>
          <p:nvPr/>
        </p:nvSpPr>
        <p:spPr>
          <a:xfrm>
            <a:off x="4663440" y="328464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851806" y="3256026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Unidade de medida</a:t>
            </a:r>
          </a:p>
        </p:txBody>
      </p:sp>
      <p:sp>
        <p:nvSpPr>
          <p:cNvPr id="40" name="Oval 39"/>
          <p:cNvSpPr/>
          <p:nvPr/>
        </p:nvSpPr>
        <p:spPr>
          <a:xfrm>
            <a:off x="4663440" y="3504864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851806" y="3476244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Tecnologia de destinação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7575" y="1847088"/>
            <a:ext cx="3392424" cy="1975104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037575" y="1847088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Freeform 43"/>
          <p:cNvSpPr/>
          <p:nvPr/>
        </p:nvSpPr>
        <p:spPr>
          <a:xfrm>
            <a:off x="8370418" y="2152132"/>
            <a:ext cx="222747" cy="322600"/>
          </a:xfrm>
          <a:custGeom>
            <a:avLst/>
            <a:gdLst/>
            <a:ahLst/>
            <a:cxnLst/>
            <a:rect l="l" t="t" r="r" b="b"/>
            <a:pathLst>
              <a:path w="222747" h="322600">
                <a:moveTo>
                  <a:pt x="0" y="0"/>
                </a:moveTo>
                <a:lnTo>
                  <a:pt x="161300" y="0"/>
                </a:lnTo>
                <a:lnTo>
                  <a:pt x="222747" y="69128"/>
                </a:lnTo>
                <a:lnTo>
                  <a:pt x="222747" y="322600"/>
                </a:lnTo>
                <a:lnTo>
                  <a:pt x="0" y="322600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531718" y="2152132"/>
            <a:ext cx="61447" cy="69128"/>
          </a:xfrm>
          <a:custGeom>
            <a:avLst/>
            <a:gdLst/>
            <a:ahLst/>
            <a:cxnLst/>
            <a:rect l="l" t="t" r="r" b="b"/>
            <a:pathLst>
              <a:path w="61447" h="69128">
                <a:moveTo>
                  <a:pt x="0" y="0"/>
                </a:moveTo>
                <a:lnTo>
                  <a:pt x="0" y="69128"/>
                </a:lnTo>
                <a:lnTo>
                  <a:pt x="61447" y="69128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412663" y="2282708"/>
            <a:ext cx="138257" cy="0"/>
          </a:xfrm>
          <a:custGeom>
            <a:avLst/>
            <a:gdLst/>
            <a:ahLst/>
            <a:cxnLst/>
            <a:rect l="l" t="t" r="r" b="b"/>
            <a:pathLst>
              <a:path w="138257" h="0">
                <a:moveTo>
                  <a:pt x="0" y="0"/>
                </a:moveTo>
                <a:lnTo>
                  <a:pt x="138257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412663" y="2328794"/>
            <a:ext cx="138257" cy="0"/>
          </a:xfrm>
          <a:custGeom>
            <a:avLst/>
            <a:gdLst/>
            <a:ahLst/>
            <a:cxnLst/>
            <a:rect l="l" t="t" r="r" b="b"/>
            <a:pathLst>
              <a:path w="138257" h="0">
                <a:moveTo>
                  <a:pt x="0" y="0"/>
                </a:moveTo>
                <a:lnTo>
                  <a:pt x="138257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420344" y="2359518"/>
            <a:ext cx="126736" cy="76809"/>
          </a:xfrm>
          <a:custGeom>
            <a:avLst/>
            <a:gdLst/>
            <a:ahLst/>
            <a:cxnLst/>
            <a:rect l="l" t="t" r="r" b="b"/>
            <a:pathLst>
              <a:path w="126736" h="76809">
                <a:moveTo>
                  <a:pt x="0" y="38405"/>
                </a:moveTo>
                <a:lnTo>
                  <a:pt x="42245" y="76809"/>
                </a:lnTo>
                <a:lnTo>
                  <a:pt x="126736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93607" y="2651760"/>
            <a:ext cx="288036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Gere e imprima</a:t>
            </a:r>
          </a:p>
        </p:txBody>
      </p:sp>
      <p:sp>
        <p:nvSpPr>
          <p:cNvPr id="50" name="Oval 49"/>
          <p:cNvSpPr/>
          <p:nvPr/>
        </p:nvSpPr>
        <p:spPr>
          <a:xfrm>
            <a:off x="8293607" y="3064428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481974" y="3035808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Confira antes de salvar</a:t>
            </a:r>
          </a:p>
        </p:txBody>
      </p:sp>
      <p:sp>
        <p:nvSpPr>
          <p:cNvPr id="52" name="Oval 51"/>
          <p:cNvSpPr/>
          <p:nvPr/>
        </p:nvSpPr>
        <p:spPr>
          <a:xfrm>
            <a:off x="8293607" y="328464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481974" y="3256026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Salve e gere o MTR</a:t>
            </a:r>
          </a:p>
        </p:txBody>
      </p:sp>
      <p:sp>
        <p:nvSpPr>
          <p:cNvPr id="54" name="Oval 53"/>
          <p:cNvSpPr/>
          <p:nvPr/>
        </p:nvSpPr>
        <p:spPr>
          <a:xfrm>
            <a:off x="8293607" y="3504864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481974" y="3476244"/>
            <a:ext cx="2642615" cy="4320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Imprima: acompanha a carga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77240" y="4059936"/>
            <a:ext cx="10637489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57" name="Freeform 56"/>
          <p:cNvSpPr/>
          <p:nvPr/>
        </p:nvSpPr>
        <p:spPr>
          <a:xfrm>
            <a:off x="834299" y="4365711"/>
            <a:ext cx="342351" cy="275783"/>
          </a:xfrm>
          <a:custGeom>
            <a:avLst/>
            <a:gdLst/>
            <a:ahLst/>
            <a:cxnLst/>
            <a:rect l="l" t="t" r="r" b="b"/>
            <a:pathLst>
              <a:path w="342351" h="275783">
                <a:moveTo>
                  <a:pt x="0" y="275783"/>
                </a:moveTo>
                <a:lnTo>
                  <a:pt x="114117" y="275783"/>
                </a:lnTo>
                <a:lnTo>
                  <a:pt x="114117" y="114117"/>
                </a:lnTo>
                <a:lnTo>
                  <a:pt x="247253" y="114117"/>
                </a:lnTo>
                <a:lnTo>
                  <a:pt x="247253" y="0"/>
                </a:lnTo>
                <a:lnTo>
                  <a:pt x="342351" y="0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60111" y="4336692"/>
            <a:ext cx="54578" cy="58039"/>
          </a:xfrm>
          <a:custGeom>
            <a:avLst/>
            <a:gdLst/>
            <a:ahLst/>
            <a:cxnLst/>
            <a:rect l="l" t="t" r="r" b="b"/>
            <a:pathLst>
              <a:path w="54578" h="58039">
                <a:moveTo>
                  <a:pt x="54578" y="29019"/>
                </a:moveTo>
                <a:lnTo>
                  <a:pt x="0" y="58039"/>
                </a:lnTo>
                <a:lnTo>
                  <a:pt x="0" y="0"/>
                </a:lnTo>
                <a:close/>
              </a:path>
            </a:pathLst>
          </a:custGeom>
          <a:solidFill>
            <a:srgbClr val="12A87B"/>
          </a:solidFill>
          <a:ln w="952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01014" y="4608210"/>
            <a:ext cx="66568" cy="66568"/>
          </a:xfrm>
          <a:prstGeom prst="ellipse">
            <a:avLst/>
          </a:prstGeom>
          <a:solidFill>
            <a:srgbClr val="FFFFFF"/>
          </a:solidFill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453895" y="4242816"/>
            <a:ext cx="877824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700" b="0" i="0">
                <a:solidFill>
                  <a:srgbClr val="14142E"/>
                </a:solidFill>
                <a:latin typeface="Montserrat Light"/>
              </a:rPr>
              <a:t>Depois da emissão: acompanhe o MTR até o CDF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53895" y="4645152"/>
            <a:ext cx="10058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6E7288"/>
                </a:solidFill>
                <a:latin typeface="Montserrat"/>
              </a:rPr>
              <a:t>O destinador confirma o recebimento e informa o tratamento dado à carga. Com isso, o Certificado de Destinação Final fica disponível para você.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240" y="5138928"/>
            <a:ext cx="10637489" cy="694944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777240" y="5138928"/>
            <a:ext cx="32004" cy="694944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4" name="Freeform 63"/>
          <p:cNvSpPr/>
          <p:nvPr/>
        </p:nvSpPr>
        <p:spPr>
          <a:xfrm>
            <a:off x="1034186" y="5376672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52144" y="5453482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41856" y="5540578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472184" y="5138928"/>
            <a:ext cx="9668225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[PRINTS PENDENTES — bloco de resíduos, tela de MTR gerado/impressão, consulta de MTRs emitidos, emissão em lote e modelos salvos, e download do CDF]  Não descrevemos telas que não temos.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" y="5888736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Fluxo de destinação e CDF conforme os serviços descritos em gov.br (Emitir o MTR e Emitir o Certificado de Destinação Final).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Perguntas frequentes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que mais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costuma gerar dúvida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33271" y="2029968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Vou perder meu cadastro e meu histórico?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450592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Não. A mudança é na forma de entrar. Cadastro da empresa, unidades e MTRs já emitidos continuam.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44" y="1847088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33144" y="1847088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176" y="2029968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Minha senha antiga do MTR ainda funciona?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176" y="2450592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Não. Desde 01/08/2026 o acesso é apenas pelo Login Único Gov.br.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200400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77240" y="3200400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33271" y="3383280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Preciso de certificado digital?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3803904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O acesso descrito aqui é por CPF e senha Gov.br. [CONFIRMAR — exigência de certificado digital para o seu perfil]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144" y="3200400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33144" y="3200400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89176" y="3383280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Mais de uma pessoa pode emitir MTR?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9176" y="3803904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Sim. O Administrador da unidade cadastra quantos usuários precisar, cada um com o seu CPF.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553712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77240" y="4553712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33271" y="4736592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A Nunes &amp; Lucato pode continuar emitindo?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1" y="5157216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Sim, desde que a sua empresa nos autorize como usuário da unidade (Caminho 1).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3144" y="4553712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233144" y="4553712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89176" y="4736592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Quem tira dúvidas sobre o sistema?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9176" y="5157216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O canal oficial do módulo MTR Nacional é mtr.sinir@mma.gov.br. Nossa equipe também apoia.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Erros comuns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Problema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solução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65376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997610" y="2075688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15568" y="2152498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5281" y="2239594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417319" y="1956816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“Usuário não vinculado a nenhum empreendimento”</a:t>
            </a:r>
          </a:p>
        </p:txBody>
      </p:sp>
      <p:sp>
        <p:nvSpPr>
          <p:cNvPr id="14" name="Freeform 13"/>
          <p:cNvSpPr/>
          <p:nvPr/>
        </p:nvSpPr>
        <p:spPr>
          <a:xfrm>
            <a:off x="6172200" y="2203704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6390004" y="21736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956816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Use “Pesquisar CPF/CNPJ”, solicite acesso e aguarde o Administrador aprovar (passo 6).</a:t>
            </a:r>
          </a:p>
        </p:txBody>
      </p:sp>
      <p:sp>
        <p:nvSpPr>
          <p:cNvPr id="17" name="Freeform 16"/>
          <p:cNvSpPr/>
          <p:nvPr/>
        </p:nvSpPr>
        <p:spPr>
          <a:xfrm>
            <a:off x="997610" y="2825496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115568" y="2902306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5281" y="2989402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17319" y="2706624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“Nenhum empreendimento localizado para o CPF/CNPJ”</a:t>
            </a:r>
          </a:p>
        </p:txBody>
      </p:sp>
      <p:sp>
        <p:nvSpPr>
          <p:cNvPr id="21" name="Freeform 20"/>
          <p:cNvSpPr/>
          <p:nvPr/>
        </p:nvSpPr>
        <p:spPr>
          <a:xfrm>
            <a:off x="6172200" y="2953512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6390004" y="2923462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2706624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 empresa ainda não existe no MTR. Clique em “Cadastrar Empreendimento” (passo 7).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364991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Freeform 24"/>
          <p:cNvSpPr/>
          <p:nvPr/>
        </p:nvSpPr>
        <p:spPr>
          <a:xfrm>
            <a:off x="997610" y="3575304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115568" y="3652114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5281" y="3739210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17319" y="3456432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Não consigo concluir o cadastro com meu e-mail</a:t>
            </a:r>
          </a:p>
        </p:txBody>
      </p:sp>
      <p:sp>
        <p:nvSpPr>
          <p:cNvPr id="29" name="Freeform 28"/>
          <p:cNvSpPr/>
          <p:nvPr/>
        </p:nvSpPr>
        <p:spPr>
          <a:xfrm>
            <a:off x="6172200" y="3703320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390004" y="3673270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2824" y="3456432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E-mails Outlook, Hotmail e Live não são aceitos no momento. Use outro provedor.</a:t>
            </a:r>
          </a:p>
        </p:txBody>
      </p:sp>
      <p:sp>
        <p:nvSpPr>
          <p:cNvPr id="32" name="Freeform 31"/>
          <p:cNvSpPr/>
          <p:nvPr/>
        </p:nvSpPr>
        <p:spPr>
          <a:xfrm>
            <a:off x="997610" y="4325112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15568" y="4401922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05281" y="4489018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417319" y="4206240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 senha antiga do MTR não funciona</a:t>
            </a:r>
          </a:p>
        </p:txBody>
      </p:sp>
      <p:sp>
        <p:nvSpPr>
          <p:cNvPr id="36" name="Freeform 35"/>
          <p:cNvSpPr/>
          <p:nvPr/>
        </p:nvSpPr>
        <p:spPr>
          <a:xfrm>
            <a:off x="6172200" y="4453128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390004" y="4423078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92824" y="4206240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É esperado. Entre pelo botão “Entrar com GOV.BR” e use a senha da conta Gov.br.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864608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997610" y="507492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115568" y="515173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5281" y="523882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417319" y="4956048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O Administrador saiu da empresa</a:t>
            </a:r>
          </a:p>
        </p:txBody>
      </p:sp>
      <p:sp>
        <p:nvSpPr>
          <p:cNvPr id="44" name="Freeform 43"/>
          <p:cNvSpPr/>
          <p:nvPr/>
        </p:nvSpPr>
        <p:spPr>
          <a:xfrm>
            <a:off x="6172200" y="5202936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6390004" y="5172886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92824" y="4956048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Outro Administrador deve assumir antes da inativação: só é possível inativar se houver outro cadastrado.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614416"/>
            <a:ext cx="10637489" cy="43891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777240" y="5614416"/>
            <a:ext cx="32004" cy="43891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1119225" y="5746089"/>
            <a:ext cx="65836" cy="65836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0" name="Freeform 49"/>
          <p:cNvSpPr/>
          <p:nvPr/>
        </p:nvSpPr>
        <p:spPr>
          <a:xfrm>
            <a:off x="1079203" y="5866790"/>
            <a:ext cx="145882" cy="58938"/>
          </a:xfrm>
          <a:custGeom>
            <a:avLst/>
            <a:gdLst/>
            <a:ahLst/>
            <a:cxnLst/>
            <a:rect l="l" t="t" r="r" b="b"/>
            <a:pathLst>
              <a:path w="145882" h="58938">
                <a:moveTo>
                  <a:pt x="0" y="58938"/>
                </a:moveTo>
                <a:lnTo>
                  <a:pt x="2215" y="50146"/>
                </a:lnTo>
                <a:lnTo>
                  <a:pt x="5568" y="41695"/>
                </a:lnTo>
                <a:lnTo>
                  <a:pt x="10005" y="33720"/>
                </a:lnTo>
                <a:lnTo>
                  <a:pt x="15455" y="26351"/>
                </a:lnTo>
                <a:lnTo>
                  <a:pt x="21829" y="19705"/>
                </a:lnTo>
                <a:lnTo>
                  <a:pt x="29026" y="13889"/>
                </a:lnTo>
                <a:lnTo>
                  <a:pt x="36930" y="8998"/>
                </a:lnTo>
                <a:lnTo>
                  <a:pt x="45413" y="5109"/>
                </a:lnTo>
                <a:lnTo>
                  <a:pt x="54339" y="2286"/>
                </a:lnTo>
                <a:lnTo>
                  <a:pt x="63565" y="574"/>
                </a:lnTo>
                <a:lnTo>
                  <a:pt x="72941" y="0"/>
                </a:lnTo>
                <a:lnTo>
                  <a:pt x="82317" y="574"/>
                </a:lnTo>
                <a:lnTo>
                  <a:pt x="91543" y="2286"/>
                </a:lnTo>
                <a:lnTo>
                  <a:pt x="100469" y="5109"/>
                </a:lnTo>
                <a:lnTo>
                  <a:pt x="108952" y="8998"/>
                </a:lnTo>
                <a:lnTo>
                  <a:pt x="116856" y="13889"/>
                </a:lnTo>
                <a:lnTo>
                  <a:pt x="124053" y="19705"/>
                </a:lnTo>
                <a:lnTo>
                  <a:pt x="130427" y="26351"/>
                </a:lnTo>
                <a:lnTo>
                  <a:pt x="135877" y="33720"/>
                </a:lnTo>
                <a:lnTo>
                  <a:pt x="140314" y="41695"/>
                </a:lnTo>
                <a:lnTo>
                  <a:pt x="143667" y="50146"/>
                </a:lnTo>
                <a:lnTo>
                  <a:pt x="145882" y="58938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34186" y="5781751"/>
            <a:ext cx="49377" cy="49377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2" name="Freeform 51"/>
          <p:cNvSpPr/>
          <p:nvPr/>
        </p:nvSpPr>
        <p:spPr>
          <a:xfrm>
            <a:off x="1013830" y="5899709"/>
            <a:ext cx="90091" cy="36598"/>
          </a:xfrm>
          <a:custGeom>
            <a:avLst/>
            <a:gdLst/>
            <a:ahLst/>
            <a:cxnLst/>
            <a:rect l="l" t="t" r="r" b="b"/>
            <a:pathLst>
              <a:path w="90091" h="36598">
                <a:moveTo>
                  <a:pt x="0" y="36598"/>
                </a:moveTo>
                <a:lnTo>
                  <a:pt x="2225" y="29820"/>
                </a:lnTo>
                <a:lnTo>
                  <a:pt x="5354" y="23455"/>
                </a:lnTo>
                <a:lnTo>
                  <a:pt x="9321" y="17638"/>
                </a:lnTo>
                <a:lnTo>
                  <a:pt x="14043" y="12491"/>
                </a:lnTo>
                <a:lnTo>
                  <a:pt x="19419" y="8123"/>
                </a:lnTo>
                <a:lnTo>
                  <a:pt x="25337" y="4626"/>
                </a:lnTo>
                <a:lnTo>
                  <a:pt x="31670" y="2074"/>
                </a:lnTo>
                <a:lnTo>
                  <a:pt x="38286" y="521"/>
                </a:lnTo>
                <a:lnTo>
                  <a:pt x="45045" y="0"/>
                </a:lnTo>
                <a:lnTo>
                  <a:pt x="51804" y="521"/>
                </a:lnTo>
                <a:lnTo>
                  <a:pt x="58420" y="2074"/>
                </a:lnTo>
                <a:lnTo>
                  <a:pt x="64754" y="4626"/>
                </a:lnTo>
                <a:lnTo>
                  <a:pt x="70671" y="8123"/>
                </a:lnTo>
                <a:lnTo>
                  <a:pt x="76048" y="12491"/>
                </a:lnTo>
                <a:lnTo>
                  <a:pt x="80769" y="17638"/>
                </a:lnTo>
                <a:lnTo>
                  <a:pt x="84737" y="23455"/>
                </a:lnTo>
                <a:lnTo>
                  <a:pt x="87866" y="29820"/>
                </a:lnTo>
                <a:lnTo>
                  <a:pt x="90091" y="36598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20724" y="5781751"/>
            <a:ext cx="49377" cy="49377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Freeform 53"/>
          <p:cNvSpPr/>
          <p:nvPr/>
        </p:nvSpPr>
        <p:spPr>
          <a:xfrm>
            <a:off x="1200367" y="5899709"/>
            <a:ext cx="90091" cy="36598"/>
          </a:xfrm>
          <a:custGeom>
            <a:avLst/>
            <a:gdLst/>
            <a:ahLst/>
            <a:cxnLst/>
            <a:rect l="l" t="t" r="r" b="b"/>
            <a:pathLst>
              <a:path w="90091" h="36598">
                <a:moveTo>
                  <a:pt x="0" y="36598"/>
                </a:moveTo>
                <a:lnTo>
                  <a:pt x="2225" y="29820"/>
                </a:lnTo>
                <a:lnTo>
                  <a:pt x="5354" y="23455"/>
                </a:lnTo>
                <a:lnTo>
                  <a:pt x="9322" y="17638"/>
                </a:lnTo>
                <a:lnTo>
                  <a:pt x="14043" y="12491"/>
                </a:lnTo>
                <a:lnTo>
                  <a:pt x="19420" y="8123"/>
                </a:lnTo>
                <a:lnTo>
                  <a:pt x="25337" y="4626"/>
                </a:lnTo>
                <a:lnTo>
                  <a:pt x="31671" y="2074"/>
                </a:lnTo>
                <a:lnTo>
                  <a:pt x="38287" y="521"/>
                </a:lnTo>
                <a:lnTo>
                  <a:pt x="45046" y="0"/>
                </a:lnTo>
                <a:lnTo>
                  <a:pt x="51805" y="521"/>
                </a:lnTo>
                <a:lnTo>
                  <a:pt x="58421" y="2074"/>
                </a:lnTo>
                <a:lnTo>
                  <a:pt x="64754" y="4626"/>
                </a:lnTo>
                <a:lnTo>
                  <a:pt x="70672" y="8123"/>
                </a:lnTo>
                <a:lnTo>
                  <a:pt x="76048" y="12491"/>
                </a:lnTo>
                <a:lnTo>
                  <a:pt x="80770" y="17638"/>
                </a:lnTo>
                <a:lnTo>
                  <a:pt x="84737" y="23455"/>
                </a:lnTo>
                <a:lnTo>
                  <a:pt x="87866" y="29820"/>
                </a:lnTo>
                <a:lnTo>
                  <a:pt x="90091" y="36598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2184" y="5614416"/>
            <a:ext cx="9668225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Travou em alguma dessas telas? Fale com a gente antes de tentar várias vezes — resolvemos junto.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O que fazer agora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Um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checklist curto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para a sua equipe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901952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34440" y="184708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Defina quem responde pelo MTR na sua empresa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2140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É o CPF dessa pessoa que vai acessar o sistema.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96896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Confirme se essa pessoa tem conta Gov.br ativa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16352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Se não tiver, crie antes de qualquer outra coisa.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291840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Verifique se o CPF já está vinculado à sua unidade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511296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Entre em mtr.sinir.gov.br e confira.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34440" y="3931920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Escolha o caminho: nos autorizar ou emitir por conta própria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206240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Os dois funcionam e podem coexistir.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681728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34440" y="4626864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Se optar por nos autorizar, nos avise por escrito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901184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Cadastre o CPF do nosso responsável ou aprove a nossa solicitação.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376672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4440" y="532180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Revise periodicamente os usuários da unidade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59612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Desative quem saiu da empresa.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847088"/>
            <a:ext cx="3273552" cy="221284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8414309" y="2195292"/>
            <a:ext cx="307238" cy="245790"/>
          </a:xfrm>
          <a:custGeom>
            <a:avLst/>
            <a:gdLst/>
            <a:ahLst/>
            <a:cxnLst/>
            <a:rect l="l" t="t" r="r" b="b"/>
            <a:pathLst>
              <a:path w="307238" h="245790">
                <a:moveTo>
                  <a:pt x="0" y="0"/>
                </a:moveTo>
                <a:lnTo>
                  <a:pt x="307238" y="0"/>
                </a:lnTo>
                <a:lnTo>
                  <a:pt x="307238" y="245790"/>
                </a:lnTo>
                <a:lnTo>
                  <a:pt x="0" y="245790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8414309" y="2264420"/>
            <a:ext cx="307238" cy="0"/>
          </a:xfrm>
          <a:custGeom>
            <a:avLst/>
            <a:gdLst/>
            <a:ahLst/>
            <a:cxnLst/>
            <a:rect l="l" t="t" r="r" b="b"/>
            <a:pathLst>
              <a:path w="307238" h="0">
                <a:moveTo>
                  <a:pt x="0" y="0"/>
                </a:moveTo>
                <a:lnTo>
                  <a:pt x="307238" y="0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491118" y="2156887"/>
            <a:ext cx="0" cy="69128"/>
          </a:xfrm>
          <a:custGeom>
            <a:avLst/>
            <a:gdLst/>
            <a:ahLst/>
            <a:cxnLst/>
            <a:rect l="l" t="t" r="r" b="b"/>
            <a:pathLst>
              <a:path w="0" h="69128">
                <a:moveTo>
                  <a:pt x="0" y="0"/>
                </a:moveTo>
                <a:lnTo>
                  <a:pt x="0" y="69128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8644738" y="2156887"/>
            <a:ext cx="0" cy="69128"/>
          </a:xfrm>
          <a:custGeom>
            <a:avLst/>
            <a:gdLst/>
            <a:ahLst/>
            <a:cxnLst/>
            <a:rect l="l" t="t" r="r" b="b"/>
            <a:pathLst>
              <a:path w="0" h="69128">
                <a:moveTo>
                  <a:pt x="0" y="0"/>
                </a:moveTo>
                <a:lnTo>
                  <a:pt x="0" y="69128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65195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526642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588090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649538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465195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526642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588090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649538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375904" y="2651760"/>
            <a:ext cx="279806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spc="100" cap="all">
                <a:solidFill>
                  <a:srgbClr val="FFFFFF"/>
                </a:solidFill>
                <a:latin typeface="Montserrat SemiBold"/>
              </a:rPr>
              <a:t>Já em vigor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904" y="2999232"/>
            <a:ext cx="2798064" cy="8229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0" i="0">
                <a:solidFill>
                  <a:srgbClr val="FFFFFF"/>
                </a:solidFill>
                <a:latin typeface="Montserrat Light"/>
              </a:rPr>
              <a:t>1º de agosto
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5904" y="3675887"/>
            <a:ext cx="27980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Login exclusivo pelo Gov.br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4224528"/>
            <a:ext cx="3273552" cy="731520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8138160" y="4224528"/>
            <a:ext cx="32004" cy="731520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Freeform 44"/>
          <p:cNvSpPr/>
          <p:nvPr/>
        </p:nvSpPr>
        <p:spPr>
          <a:xfrm>
            <a:off x="8395106" y="448056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513064" y="455737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02777" y="464446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833104" y="4224528"/>
            <a:ext cx="2304288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40" b="0" i="0">
                <a:solidFill>
                  <a:srgbClr val="3A3C55"/>
                </a:solidFill>
                <a:latin typeface="Montserrat"/>
              </a:rPr>
              <a:t>Sem acesso, sem MTR. Sem MTR, a carga não pode ser transportada. Resolver o acesso é o que destrava a coleta.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flip="none" rotWithShape="1">
            <a:gsLst>
              <a:gs pos="0">
                <a:srgbClr val="17165D"/>
              </a:gs>
              <a:gs pos="52000">
                <a:srgbClr val="24238E"/>
              </a:gs>
              <a:gs pos="100000">
                <a:srgbClr val="3432C9"/>
              </a:gs>
            </a:gsLst>
            <a:lin ang="210000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-68580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" name="Connector 3"/>
          <p:cNvCxnSpPr/>
          <p:nvPr/>
        </p:nvCxnSpPr>
        <p:spPr>
          <a:xfrm flipV="1">
            <a:off x="-6437376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5" name="Connector 4"/>
          <p:cNvCxnSpPr/>
          <p:nvPr/>
        </p:nvCxnSpPr>
        <p:spPr>
          <a:xfrm flipV="1">
            <a:off x="-6016752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6" name="Connector 5"/>
          <p:cNvCxnSpPr/>
          <p:nvPr/>
        </p:nvCxnSpPr>
        <p:spPr>
          <a:xfrm flipV="1">
            <a:off x="-55961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7" name="Connector 6"/>
          <p:cNvCxnSpPr/>
          <p:nvPr/>
        </p:nvCxnSpPr>
        <p:spPr>
          <a:xfrm flipV="1">
            <a:off x="-5175504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-475487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9" name="Connector 8"/>
          <p:cNvCxnSpPr/>
          <p:nvPr/>
        </p:nvCxnSpPr>
        <p:spPr>
          <a:xfrm flipV="1">
            <a:off x="-43342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-391363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1" name="Connector 10"/>
          <p:cNvCxnSpPr/>
          <p:nvPr/>
        </p:nvCxnSpPr>
        <p:spPr>
          <a:xfrm flipV="1">
            <a:off x="-34930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2" name="Connector 11"/>
          <p:cNvCxnSpPr/>
          <p:nvPr/>
        </p:nvCxnSpPr>
        <p:spPr>
          <a:xfrm flipV="1">
            <a:off x="-307238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3" name="Connector 12"/>
          <p:cNvCxnSpPr/>
          <p:nvPr/>
        </p:nvCxnSpPr>
        <p:spPr>
          <a:xfrm flipV="1">
            <a:off x="-265175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-223113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-181051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-1389887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-96926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8" name="Connector 17"/>
          <p:cNvCxnSpPr/>
          <p:nvPr/>
        </p:nvCxnSpPr>
        <p:spPr>
          <a:xfrm flipV="1">
            <a:off x="-54863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9" name="Connector 18"/>
          <p:cNvCxnSpPr/>
          <p:nvPr/>
        </p:nvCxnSpPr>
        <p:spPr>
          <a:xfrm flipV="1">
            <a:off x="-12801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2926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132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1338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15544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9751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3957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281635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23697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576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407822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49884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91947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34009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76072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618134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60196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02259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44321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86384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828446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870508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912571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954633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996696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038758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08082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12288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116494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20700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24907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sp>
        <p:nvSpPr>
          <p:cNvPr id="50" name="Rectangle 49"/>
          <p:cNvSpPr/>
          <p:nvPr/>
        </p:nvSpPr>
        <p:spPr>
          <a:xfrm>
            <a:off x="5120627" y="0"/>
            <a:ext cx="7071342" cy="6858000"/>
          </a:xfrm>
          <a:prstGeom prst="rect">
            <a:avLst/>
          </a:prstGeom>
          <a:gradFill flip="none" rotWithShape="1">
            <a:gsLst>
              <a:gs pos="0">
                <a:srgbClr val="3432C9">
                  <a:alpha val="0"/>
                </a:srgbClr>
              </a:gs>
              <a:gs pos="100000">
                <a:srgbClr val="3432C9">
                  <a:alpha val="32000"/>
                </a:srgbClr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51" name="Connector 50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9525" cap="rnd">
            <a:solidFill>
              <a:srgbClr val="FFFFFF">
                <a:alpha val="18000"/>
              </a:srgbClr>
            </a:solidFill>
            <a:round/>
          </a:ln>
          <a:effectLst/>
        </p:spPr>
      </p:cxnSp>
      <p:sp>
        <p:nvSpPr>
          <p:cNvPr id="52" name="Freeform 51"/>
          <p:cNvSpPr/>
          <p:nvPr/>
        </p:nvSpPr>
        <p:spPr>
          <a:xfrm>
            <a:off x="10829496" y="894846"/>
            <a:ext cx="257218" cy="334839"/>
          </a:xfrm>
          <a:custGeom>
            <a:avLst/>
            <a:gdLst/>
            <a:ahLst/>
            <a:cxnLst/>
            <a:rect l="l" t="t" r="r" b="b"/>
            <a:pathLst>
              <a:path w="257218" h="334839">
                <a:moveTo>
                  <a:pt x="185446" y="0"/>
                </a:moveTo>
                <a:lnTo>
                  <a:pt x="198981" y="11655"/>
                </a:lnTo>
                <a:lnTo>
                  <a:pt x="211343" y="24546"/>
                </a:lnTo>
                <a:lnTo>
                  <a:pt x="222421" y="38556"/>
                </a:lnTo>
                <a:lnTo>
                  <a:pt x="232113" y="53558"/>
                </a:lnTo>
                <a:lnTo>
                  <a:pt x="240333" y="69415"/>
                </a:lnTo>
                <a:lnTo>
                  <a:pt x="247005" y="85983"/>
                </a:lnTo>
                <a:lnTo>
                  <a:pt x="252067" y="103112"/>
                </a:lnTo>
                <a:lnTo>
                  <a:pt x="255475" y="120644"/>
                </a:lnTo>
                <a:lnTo>
                  <a:pt x="257198" y="138422"/>
                </a:lnTo>
                <a:lnTo>
                  <a:pt x="257218" y="156283"/>
                </a:lnTo>
                <a:lnTo>
                  <a:pt x="255537" y="174064"/>
                </a:lnTo>
                <a:lnTo>
                  <a:pt x="252170" y="191605"/>
                </a:lnTo>
                <a:lnTo>
                  <a:pt x="247147" y="208745"/>
                </a:lnTo>
                <a:lnTo>
                  <a:pt x="240514" y="225328"/>
                </a:lnTo>
                <a:lnTo>
                  <a:pt x="232332" y="241205"/>
                </a:lnTo>
                <a:lnTo>
                  <a:pt x="222674" y="256229"/>
                </a:lnTo>
                <a:lnTo>
                  <a:pt x="211629" y="270265"/>
                </a:lnTo>
                <a:lnTo>
                  <a:pt x="199296" y="283185"/>
                </a:lnTo>
                <a:lnTo>
                  <a:pt x="185789" y="294871"/>
                </a:lnTo>
                <a:lnTo>
                  <a:pt x="171231" y="305218"/>
                </a:lnTo>
                <a:lnTo>
                  <a:pt x="155752" y="314130"/>
                </a:lnTo>
                <a:lnTo>
                  <a:pt x="139495" y="321528"/>
                </a:lnTo>
                <a:lnTo>
                  <a:pt x="122608" y="327342"/>
                </a:lnTo>
                <a:lnTo>
                  <a:pt x="105243" y="331522"/>
                </a:lnTo>
                <a:lnTo>
                  <a:pt x="87559" y="334028"/>
                </a:lnTo>
                <a:lnTo>
                  <a:pt x="69716" y="334839"/>
                </a:lnTo>
                <a:lnTo>
                  <a:pt x="51878" y="333945"/>
                </a:lnTo>
                <a:lnTo>
                  <a:pt x="34205" y="331357"/>
                </a:lnTo>
                <a:lnTo>
                  <a:pt x="16860" y="327096"/>
                </a:lnTo>
                <a:lnTo>
                  <a:pt x="0" y="321203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0829496" y="1199166"/>
            <a:ext cx="109902" cy="98555"/>
          </a:xfrm>
          <a:custGeom>
            <a:avLst/>
            <a:gdLst/>
            <a:ahLst/>
            <a:cxnLst/>
            <a:rect l="l" t="t" r="r" b="b"/>
            <a:pathLst>
              <a:path w="109902" h="98555">
                <a:moveTo>
                  <a:pt x="0" y="16883"/>
                </a:moveTo>
                <a:lnTo>
                  <a:pt x="109902" y="0"/>
                </a:lnTo>
                <a:lnTo>
                  <a:pt x="75453" y="98555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712582" y="855147"/>
            <a:ext cx="257218" cy="334839"/>
          </a:xfrm>
          <a:custGeom>
            <a:avLst/>
            <a:gdLst/>
            <a:ahLst/>
            <a:cxnLst/>
            <a:rect l="l" t="t" r="r" b="b"/>
            <a:pathLst>
              <a:path w="257218" h="334839">
                <a:moveTo>
                  <a:pt x="71772" y="334839"/>
                </a:moveTo>
                <a:lnTo>
                  <a:pt x="58237" y="323184"/>
                </a:lnTo>
                <a:lnTo>
                  <a:pt x="45875" y="310293"/>
                </a:lnTo>
                <a:lnTo>
                  <a:pt x="34797" y="296283"/>
                </a:lnTo>
                <a:lnTo>
                  <a:pt x="25105" y="281281"/>
                </a:lnTo>
                <a:lnTo>
                  <a:pt x="16885" y="265424"/>
                </a:lnTo>
                <a:lnTo>
                  <a:pt x="10213" y="248856"/>
                </a:lnTo>
                <a:lnTo>
                  <a:pt x="5151" y="231727"/>
                </a:lnTo>
                <a:lnTo>
                  <a:pt x="1743" y="214195"/>
                </a:lnTo>
                <a:lnTo>
                  <a:pt x="20" y="196417"/>
                </a:lnTo>
                <a:lnTo>
                  <a:pt x="0" y="178556"/>
                </a:lnTo>
                <a:lnTo>
                  <a:pt x="1681" y="160775"/>
                </a:lnTo>
                <a:lnTo>
                  <a:pt x="5048" y="143234"/>
                </a:lnTo>
                <a:lnTo>
                  <a:pt x="10071" y="126094"/>
                </a:lnTo>
                <a:lnTo>
                  <a:pt x="16704" y="109511"/>
                </a:lnTo>
                <a:lnTo>
                  <a:pt x="24886" y="93634"/>
                </a:lnTo>
                <a:lnTo>
                  <a:pt x="34544" y="78610"/>
                </a:lnTo>
                <a:lnTo>
                  <a:pt x="45589" y="64574"/>
                </a:lnTo>
                <a:lnTo>
                  <a:pt x="57922" y="51654"/>
                </a:lnTo>
                <a:lnTo>
                  <a:pt x="71429" y="39968"/>
                </a:lnTo>
                <a:lnTo>
                  <a:pt x="85987" y="29621"/>
                </a:lnTo>
                <a:lnTo>
                  <a:pt x="101466" y="20709"/>
                </a:lnTo>
                <a:lnTo>
                  <a:pt x="117723" y="13311"/>
                </a:lnTo>
                <a:lnTo>
                  <a:pt x="134610" y="7497"/>
                </a:lnTo>
                <a:lnTo>
                  <a:pt x="151975" y="3317"/>
                </a:lnTo>
                <a:lnTo>
                  <a:pt x="169659" y="811"/>
                </a:lnTo>
                <a:lnTo>
                  <a:pt x="187502" y="0"/>
                </a:lnTo>
                <a:lnTo>
                  <a:pt x="205340" y="894"/>
                </a:lnTo>
                <a:lnTo>
                  <a:pt x="223013" y="3482"/>
                </a:lnTo>
                <a:lnTo>
                  <a:pt x="240358" y="7743"/>
                </a:lnTo>
                <a:lnTo>
                  <a:pt x="257218" y="13636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10859898" y="787111"/>
            <a:ext cx="109902" cy="98555"/>
          </a:xfrm>
          <a:custGeom>
            <a:avLst/>
            <a:gdLst/>
            <a:ahLst/>
            <a:cxnLst/>
            <a:rect l="l" t="t" r="r" b="b"/>
            <a:pathLst>
              <a:path w="109902" h="98555">
                <a:moveTo>
                  <a:pt x="109902" y="81672"/>
                </a:moveTo>
                <a:lnTo>
                  <a:pt x="0" y="98555"/>
                </a:lnTo>
                <a:lnTo>
                  <a:pt x="34449" y="0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777240" y="1163116"/>
            <a:ext cx="274320" cy="0"/>
          </a:xfrm>
          <a:prstGeom prst="line">
            <a:avLst/>
          </a:prstGeom>
          <a:ln w="20320" cap="rnd">
            <a:solidFill>
              <a:srgbClr val="FFFFFF"/>
            </a:solidFill>
            <a:round/>
          </a:ln>
          <a:effectLst/>
        </p:spPr>
      </p:cxnSp>
      <p:sp>
        <p:nvSpPr>
          <p:cNvPr id="57" name="TextBox 56"/>
          <p:cNvSpPr txBox="1"/>
          <p:nvPr/>
        </p:nvSpPr>
        <p:spPr>
          <a:xfrm>
            <a:off x="1197863" y="1074420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 spc="190" cap="all">
                <a:solidFill>
                  <a:srgbClr val="FFFFFF"/>
                </a:solidFill>
                <a:latin typeface="Montserrat SemiBold"/>
              </a:rPr>
              <a:t>Nunes &amp; Lucato  ·  Gestão Ambiental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" y="1481328"/>
            <a:ext cx="667512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1700" b="0" i="0">
                <a:solidFill>
                  <a:srgbClr val="FFFFFF"/>
                </a:solidFill>
                <a:latin typeface="Montserrat Light"/>
              </a:rPr>
              <a:t>A mudança é só no acesso. O nosso compromisso com a </a:t>
            </a:r>
            <a:r>
              <a:rPr sz="1700" b="0" i="0">
                <a:solidFill>
                  <a:srgbClr val="FFFFFF"/>
                </a:solidFill>
                <a:latin typeface="Montserrat SemiBold"/>
              </a:rPr>
              <a:t>rastreabilidade dos seus resíduos</a:t>
            </a:r>
            <a:r>
              <a:rPr sz="1700" b="0" i="0">
                <a:solidFill>
                  <a:srgbClr val="FFFFFF"/>
                </a:solidFill>
                <a:latin typeface="Montserrat Light"/>
              </a:rPr>
              <a:t> e com a regularidade da sua documentação continua </a:t>
            </a:r>
            <a:r>
              <a:rPr sz="1700" b="0" i="0">
                <a:solidFill>
                  <a:srgbClr val="FFFFFF"/>
                </a:solidFill>
                <a:latin typeface="Montserrat SemiBold"/>
              </a:rPr>
              <a:t>exatamente o mesmo</a:t>
            </a:r>
            <a:r>
              <a:rPr sz="1700" b="0" i="0">
                <a:solidFill>
                  <a:srgbClr val="FFFFFF"/>
                </a:solidFill>
                <a:latin typeface="Montserrat Light"/>
              </a:rPr>
              <a:t>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77240" y="3584448"/>
            <a:ext cx="960120" cy="0"/>
          </a:xfrm>
          <a:prstGeom prst="line">
            <a:avLst/>
          </a:prstGeom>
          <a:ln w="22860" cap="rnd">
            <a:solidFill>
              <a:srgbClr val="FFFFFF">
                <a:alpha val="75000"/>
              </a:srgbClr>
            </a:solidFill>
            <a:round/>
          </a:ln>
          <a:effectLst/>
        </p:spPr>
      </p:cxnSp>
      <p:sp>
        <p:nvSpPr>
          <p:cNvPr id="60" name="TextBox 59"/>
          <p:cNvSpPr txBox="1"/>
          <p:nvPr/>
        </p:nvSpPr>
        <p:spPr>
          <a:xfrm>
            <a:off x="777240" y="3822191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Fale com a nossa equipe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69080" y="3794759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[INSERIR RESPONSÁVEL]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224528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Telefone / WhatsApp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4197096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[INSERIR TELEFONE]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4626864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E-mail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599431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[INSERIR E-MAIL]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" y="5029200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Suporte oficial do MTR Nacional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9080" y="5001768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mtr.sinir@mma.gov.br</a:t>
            </a:r>
          </a:p>
        </p:txBody>
      </p:sp>
      <p:pic>
        <p:nvPicPr>
          <p:cNvPr id="68" name="Picture 67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481328"/>
            <a:ext cx="2044798" cy="420624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092440" y="2212848"/>
            <a:ext cx="382219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19" b="0" i="0" spc="160" cap="all">
                <a:solidFill>
                  <a:srgbClr val="FFFFFF"/>
                </a:solidFill>
                <a:latin typeface="Montserrat SemiBold"/>
              </a:rPr>
              <a:t>Fontes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92440" y="2487168"/>
            <a:ext cx="3822192" cy="0"/>
          </a:xfrm>
          <a:prstGeom prst="line">
            <a:avLst/>
          </a:prstGeom>
          <a:ln w="9525" cap="rnd">
            <a:solidFill>
              <a:srgbClr val="FFFFFF">
                <a:alpha val="30000"/>
              </a:srgbClr>
            </a:solidFill>
            <a:round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8092440" y="2615184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Portal do SINIR — Sistema MTR: sinir.gov.br/sistemas/mtr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3182112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Comunicado “Login Único (Gov.br) — Sistema MTR Nacional”, SINIR.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92440" y="3749039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Guia Rápido “Login Único GOV.BR — MTR Nacional/Sinir”, MMA/SINIR, v. 1.0, 05/01/2026 — origem das Figuras 1 a 15.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4315968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gov.br — serviços Emitir o MTR, Emitir o CDF e Criar conta gov.br.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92440" y="4882896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Prints das telas de emissão: acervo próprio da Nunes &amp; Lucato.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2440" y="5541264"/>
            <a:ext cx="382219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Reprodução das figuras oficiais permitida sem fins lucrativos, citada a fonte (MMA).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FFFFFF">
                <a:alpha val="22000"/>
              </a:srgbClr>
            </a:solidFill>
            <a:round/>
          </a:ln>
          <a:effectLst/>
        </p:spPr>
      </p:cxnSp>
      <p:pic>
        <p:nvPicPr>
          <p:cNvPr id="78" name="Picture 77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FFFFFF"/>
                </a:solidFill>
                <a:latin typeface="Montserrat"/>
              </a:rPr>
              <a:t>MTR Nacional  ·  Login Único Gov.br    |    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