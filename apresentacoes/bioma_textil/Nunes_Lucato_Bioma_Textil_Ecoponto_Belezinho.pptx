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flip="none" rotWithShape="1">
            <a:gsLst>
              <a:gs pos="0">
                <a:srgbClr val="090818"/>
              </a:gs>
              <a:gs pos="34000">
                <a:srgbClr val="0E0D28"/>
              </a:gs>
              <a:gs pos="70000">
                <a:srgbClr val="24238E"/>
              </a:gs>
              <a:gs pos="100000">
                <a:srgbClr val="3432C9"/>
              </a:gs>
            </a:gsLst>
            <a:lin ang="0" scaled="0"/>
          </a:gradFill>
          <a:ln w="12700" cap="rnd">
            <a:noFill/>
            <a:round/>
          </a:ln>
          <a:effectLst/>
        </p:spPr>
        <p:txBody>
          <a:bodyPr rtlCol="0" anchor="ctr"/>
          <a:lstStyle/>
          <a:p/>
        </p:txBody>
      </p:sp>
      <p:cxnSp>
        <p:nvCxnSpPr>
          <p:cNvPr id="3" name="Connector 2"/>
          <p:cNvCxnSpPr/>
          <p:nvPr/>
        </p:nvCxnSpPr>
        <p:spPr>
          <a:xfrm flipV="1">
            <a:off x="-6858000" y="0"/>
            <a:ext cx="6858000" cy="6858000"/>
          </a:xfrm>
          <a:prstGeom prst="line">
            <a:avLst/>
          </a:prstGeom>
          <a:ln w="6350" cap="rnd">
            <a:solidFill>
              <a:srgbClr val="FFFFFF">
                <a:alpha val="5500"/>
              </a:srgbClr>
            </a:solidFill>
            <a:round/>
          </a:ln>
          <a:effectLst/>
        </p:spPr>
      </p:cxnSp>
      <p:cxnSp>
        <p:nvCxnSpPr>
          <p:cNvPr id="4" name="Connector 3"/>
          <p:cNvCxnSpPr/>
          <p:nvPr/>
        </p:nvCxnSpPr>
        <p:spPr>
          <a:xfrm flipV="1">
            <a:off x="-6437376" y="0"/>
            <a:ext cx="6857999" cy="6858000"/>
          </a:xfrm>
          <a:prstGeom prst="line">
            <a:avLst/>
          </a:prstGeom>
          <a:ln w="6350" cap="rnd">
            <a:solidFill>
              <a:srgbClr val="FFFFFF">
                <a:alpha val="5500"/>
              </a:srgbClr>
            </a:solidFill>
            <a:round/>
          </a:ln>
          <a:effectLst/>
        </p:spPr>
      </p:cxnSp>
      <p:cxnSp>
        <p:nvCxnSpPr>
          <p:cNvPr id="5" name="Connector 4"/>
          <p:cNvCxnSpPr/>
          <p:nvPr/>
        </p:nvCxnSpPr>
        <p:spPr>
          <a:xfrm flipV="1">
            <a:off x="-6016752" y="0"/>
            <a:ext cx="6857999" cy="6858000"/>
          </a:xfrm>
          <a:prstGeom prst="line">
            <a:avLst/>
          </a:prstGeom>
          <a:ln w="6350" cap="rnd">
            <a:solidFill>
              <a:srgbClr val="FFFFFF">
                <a:alpha val="5500"/>
              </a:srgbClr>
            </a:solidFill>
            <a:round/>
          </a:ln>
          <a:effectLst/>
        </p:spPr>
      </p:cxnSp>
      <p:cxnSp>
        <p:nvCxnSpPr>
          <p:cNvPr id="6" name="Connector 5"/>
          <p:cNvCxnSpPr/>
          <p:nvPr/>
        </p:nvCxnSpPr>
        <p:spPr>
          <a:xfrm flipV="1">
            <a:off x="-5596128" y="0"/>
            <a:ext cx="6858000" cy="6858000"/>
          </a:xfrm>
          <a:prstGeom prst="line">
            <a:avLst/>
          </a:prstGeom>
          <a:ln w="6350" cap="rnd">
            <a:solidFill>
              <a:srgbClr val="FFFFFF">
                <a:alpha val="5500"/>
              </a:srgbClr>
            </a:solidFill>
            <a:round/>
          </a:ln>
          <a:effectLst/>
        </p:spPr>
      </p:cxnSp>
      <p:cxnSp>
        <p:nvCxnSpPr>
          <p:cNvPr id="7" name="Connector 6"/>
          <p:cNvCxnSpPr/>
          <p:nvPr/>
        </p:nvCxnSpPr>
        <p:spPr>
          <a:xfrm flipV="1">
            <a:off x="-5175504" y="0"/>
            <a:ext cx="6857999" cy="6858000"/>
          </a:xfrm>
          <a:prstGeom prst="line">
            <a:avLst/>
          </a:prstGeom>
          <a:ln w="6350" cap="rnd">
            <a:solidFill>
              <a:srgbClr val="FFFFFF">
                <a:alpha val="5500"/>
              </a:srgbClr>
            </a:solidFill>
            <a:round/>
          </a:ln>
          <a:effectLst/>
        </p:spPr>
      </p:cxnSp>
      <p:cxnSp>
        <p:nvCxnSpPr>
          <p:cNvPr id="8" name="Connector 7"/>
          <p:cNvCxnSpPr/>
          <p:nvPr/>
        </p:nvCxnSpPr>
        <p:spPr>
          <a:xfrm flipV="1">
            <a:off x="-4754879" y="0"/>
            <a:ext cx="6857999" cy="6858000"/>
          </a:xfrm>
          <a:prstGeom prst="line">
            <a:avLst/>
          </a:prstGeom>
          <a:ln w="6350" cap="rnd">
            <a:solidFill>
              <a:srgbClr val="FFFFFF">
                <a:alpha val="5500"/>
              </a:srgbClr>
            </a:solidFill>
            <a:round/>
          </a:ln>
          <a:effectLst/>
        </p:spPr>
      </p:cxnSp>
      <p:cxnSp>
        <p:nvCxnSpPr>
          <p:cNvPr id="9" name="Connector 8"/>
          <p:cNvCxnSpPr/>
          <p:nvPr/>
        </p:nvCxnSpPr>
        <p:spPr>
          <a:xfrm flipV="1">
            <a:off x="-4334256" y="0"/>
            <a:ext cx="6858000" cy="6858000"/>
          </a:xfrm>
          <a:prstGeom prst="line">
            <a:avLst/>
          </a:prstGeom>
          <a:ln w="6350" cap="rnd">
            <a:solidFill>
              <a:srgbClr val="FFFFFF">
                <a:alpha val="5500"/>
              </a:srgbClr>
            </a:solidFill>
            <a:round/>
          </a:ln>
          <a:effectLst/>
        </p:spPr>
      </p:cxnSp>
      <p:cxnSp>
        <p:nvCxnSpPr>
          <p:cNvPr id="10" name="Connector 9"/>
          <p:cNvCxnSpPr/>
          <p:nvPr/>
        </p:nvCxnSpPr>
        <p:spPr>
          <a:xfrm flipV="1">
            <a:off x="-3913631" y="0"/>
            <a:ext cx="6857999" cy="6858000"/>
          </a:xfrm>
          <a:prstGeom prst="line">
            <a:avLst/>
          </a:prstGeom>
          <a:ln w="6350" cap="rnd">
            <a:solidFill>
              <a:srgbClr val="FFFFFF">
                <a:alpha val="5500"/>
              </a:srgbClr>
            </a:solidFill>
            <a:round/>
          </a:ln>
          <a:effectLst/>
        </p:spPr>
      </p:cxnSp>
      <p:cxnSp>
        <p:nvCxnSpPr>
          <p:cNvPr id="11" name="Connector 10"/>
          <p:cNvCxnSpPr/>
          <p:nvPr/>
        </p:nvCxnSpPr>
        <p:spPr>
          <a:xfrm flipV="1">
            <a:off x="-3493008" y="0"/>
            <a:ext cx="6858000" cy="6858000"/>
          </a:xfrm>
          <a:prstGeom prst="line">
            <a:avLst/>
          </a:prstGeom>
          <a:ln w="6350" cap="rnd">
            <a:solidFill>
              <a:srgbClr val="FFFFFF">
                <a:alpha val="5500"/>
              </a:srgbClr>
            </a:solidFill>
            <a:round/>
          </a:ln>
          <a:effectLst/>
        </p:spPr>
      </p:cxnSp>
      <p:cxnSp>
        <p:nvCxnSpPr>
          <p:cNvPr id="12" name="Connector 11"/>
          <p:cNvCxnSpPr/>
          <p:nvPr/>
        </p:nvCxnSpPr>
        <p:spPr>
          <a:xfrm flipV="1">
            <a:off x="-3072383" y="0"/>
            <a:ext cx="6857999" cy="6858000"/>
          </a:xfrm>
          <a:prstGeom prst="line">
            <a:avLst/>
          </a:prstGeom>
          <a:ln w="6350" cap="rnd">
            <a:solidFill>
              <a:srgbClr val="FFFFFF">
                <a:alpha val="5500"/>
              </a:srgbClr>
            </a:solidFill>
            <a:round/>
          </a:ln>
          <a:effectLst/>
        </p:spPr>
      </p:cxnSp>
      <p:cxnSp>
        <p:nvCxnSpPr>
          <p:cNvPr id="13" name="Connector 12"/>
          <p:cNvCxnSpPr/>
          <p:nvPr/>
        </p:nvCxnSpPr>
        <p:spPr>
          <a:xfrm flipV="1">
            <a:off x="-2651759" y="0"/>
            <a:ext cx="6857999" cy="6858000"/>
          </a:xfrm>
          <a:prstGeom prst="line">
            <a:avLst/>
          </a:prstGeom>
          <a:ln w="6350" cap="rnd">
            <a:solidFill>
              <a:srgbClr val="FFFFFF">
                <a:alpha val="5500"/>
              </a:srgbClr>
            </a:solidFill>
            <a:round/>
          </a:ln>
          <a:effectLst/>
        </p:spPr>
      </p:cxnSp>
      <p:cxnSp>
        <p:nvCxnSpPr>
          <p:cNvPr id="14" name="Connector 13"/>
          <p:cNvCxnSpPr/>
          <p:nvPr/>
        </p:nvCxnSpPr>
        <p:spPr>
          <a:xfrm flipV="1">
            <a:off x="-2231135" y="0"/>
            <a:ext cx="6857999" cy="6858000"/>
          </a:xfrm>
          <a:prstGeom prst="line">
            <a:avLst/>
          </a:prstGeom>
          <a:ln w="6350" cap="rnd">
            <a:solidFill>
              <a:srgbClr val="FFFFFF">
                <a:alpha val="5500"/>
              </a:srgbClr>
            </a:solidFill>
            <a:round/>
          </a:ln>
          <a:effectLst/>
        </p:spPr>
      </p:cxnSp>
      <p:cxnSp>
        <p:nvCxnSpPr>
          <p:cNvPr id="15" name="Connector 14"/>
          <p:cNvCxnSpPr/>
          <p:nvPr/>
        </p:nvCxnSpPr>
        <p:spPr>
          <a:xfrm flipV="1">
            <a:off x="-1810511" y="0"/>
            <a:ext cx="6857999" cy="6858000"/>
          </a:xfrm>
          <a:prstGeom prst="line">
            <a:avLst/>
          </a:prstGeom>
          <a:ln w="6350" cap="rnd">
            <a:solidFill>
              <a:srgbClr val="FFFFFF">
                <a:alpha val="5500"/>
              </a:srgbClr>
            </a:solidFill>
            <a:round/>
          </a:ln>
          <a:effectLst/>
        </p:spPr>
      </p:cxnSp>
      <p:cxnSp>
        <p:nvCxnSpPr>
          <p:cNvPr id="16" name="Connector 15"/>
          <p:cNvCxnSpPr/>
          <p:nvPr/>
        </p:nvCxnSpPr>
        <p:spPr>
          <a:xfrm flipV="1">
            <a:off x="-1389887" y="0"/>
            <a:ext cx="6857999" cy="6858000"/>
          </a:xfrm>
          <a:prstGeom prst="line">
            <a:avLst/>
          </a:prstGeom>
          <a:ln w="6350" cap="rnd">
            <a:solidFill>
              <a:srgbClr val="FFFFFF">
                <a:alpha val="5500"/>
              </a:srgbClr>
            </a:solidFill>
            <a:round/>
          </a:ln>
          <a:effectLst/>
        </p:spPr>
      </p:cxnSp>
      <p:cxnSp>
        <p:nvCxnSpPr>
          <p:cNvPr id="17" name="Connector 16"/>
          <p:cNvCxnSpPr/>
          <p:nvPr/>
        </p:nvCxnSpPr>
        <p:spPr>
          <a:xfrm flipV="1">
            <a:off x="-969263" y="0"/>
            <a:ext cx="6857999" cy="6858000"/>
          </a:xfrm>
          <a:prstGeom prst="line">
            <a:avLst/>
          </a:prstGeom>
          <a:ln w="6350" cap="rnd">
            <a:solidFill>
              <a:srgbClr val="FFFFFF">
                <a:alpha val="5500"/>
              </a:srgbClr>
            </a:solidFill>
            <a:round/>
          </a:ln>
          <a:effectLst/>
        </p:spPr>
      </p:cxnSp>
      <p:cxnSp>
        <p:nvCxnSpPr>
          <p:cNvPr id="18" name="Connector 17"/>
          <p:cNvCxnSpPr/>
          <p:nvPr/>
        </p:nvCxnSpPr>
        <p:spPr>
          <a:xfrm flipV="1">
            <a:off x="-548639" y="0"/>
            <a:ext cx="6857999" cy="6858000"/>
          </a:xfrm>
          <a:prstGeom prst="line">
            <a:avLst/>
          </a:prstGeom>
          <a:ln w="6350" cap="rnd">
            <a:solidFill>
              <a:srgbClr val="FFFFFF">
                <a:alpha val="5500"/>
              </a:srgbClr>
            </a:solidFill>
            <a:round/>
          </a:ln>
          <a:effectLst/>
        </p:spPr>
      </p:cxnSp>
      <p:cxnSp>
        <p:nvCxnSpPr>
          <p:cNvPr id="19" name="Connector 18"/>
          <p:cNvCxnSpPr/>
          <p:nvPr/>
        </p:nvCxnSpPr>
        <p:spPr>
          <a:xfrm flipV="1">
            <a:off x="-128015" y="0"/>
            <a:ext cx="6857999" cy="6858000"/>
          </a:xfrm>
          <a:prstGeom prst="line">
            <a:avLst/>
          </a:prstGeom>
          <a:ln w="6350" cap="rnd">
            <a:solidFill>
              <a:srgbClr val="FFFFFF">
                <a:alpha val="5500"/>
              </a:srgbClr>
            </a:solidFill>
            <a:round/>
          </a:ln>
          <a:effectLst/>
        </p:spPr>
      </p:cxnSp>
      <p:cxnSp>
        <p:nvCxnSpPr>
          <p:cNvPr id="20" name="Connector 19"/>
          <p:cNvCxnSpPr/>
          <p:nvPr/>
        </p:nvCxnSpPr>
        <p:spPr>
          <a:xfrm flipV="1">
            <a:off x="292608" y="0"/>
            <a:ext cx="6858000" cy="6858000"/>
          </a:xfrm>
          <a:prstGeom prst="line">
            <a:avLst/>
          </a:prstGeom>
          <a:ln w="6350" cap="rnd">
            <a:solidFill>
              <a:srgbClr val="FFFFFF">
                <a:alpha val="5500"/>
              </a:srgbClr>
            </a:solidFill>
            <a:round/>
          </a:ln>
          <a:effectLst/>
        </p:spPr>
      </p:cxnSp>
      <p:cxnSp>
        <p:nvCxnSpPr>
          <p:cNvPr id="21" name="Connector 20"/>
          <p:cNvCxnSpPr/>
          <p:nvPr/>
        </p:nvCxnSpPr>
        <p:spPr>
          <a:xfrm flipV="1">
            <a:off x="713232" y="0"/>
            <a:ext cx="6858000" cy="6858000"/>
          </a:xfrm>
          <a:prstGeom prst="line">
            <a:avLst/>
          </a:prstGeom>
          <a:ln w="6350" cap="rnd">
            <a:solidFill>
              <a:srgbClr val="FFFFFF">
                <a:alpha val="5500"/>
              </a:srgbClr>
            </a:solidFill>
            <a:round/>
          </a:ln>
          <a:effectLst/>
        </p:spPr>
      </p:cxnSp>
      <p:cxnSp>
        <p:nvCxnSpPr>
          <p:cNvPr id="22" name="Connector 21"/>
          <p:cNvCxnSpPr/>
          <p:nvPr/>
        </p:nvCxnSpPr>
        <p:spPr>
          <a:xfrm flipV="1">
            <a:off x="1133856" y="0"/>
            <a:ext cx="6858000" cy="6858000"/>
          </a:xfrm>
          <a:prstGeom prst="line">
            <a:avLst/>
          </a:prstGeom>
          <a:ln w="6350" cap="rnd">
            <a:solidFill>
              <a:srgbClr val="FFFFFF">
                <a:alpha val="5500"/>
              </a:srgbClr>
            </a:solidFill>
            <a:round/>
          </a:ln>
          <a:effectLst/>
        </p:spPr>
      </p:cxnSp>
      <p:cxnSp>
        <p:nvCxnSpPr>
          <p:cNvPr id="23" name="Connector 22"/>
          <p:cNvCxnSpPr/>
          <p:nvPr/>
        </p:nvCxnSpPr>
        <p:spPr>
          <a:xfrm flipV="1">
            <a:off x="1554480" y="0"/>
            <a:ext cx="6858000" cy="6858000"/>
          </a:xfrm>
          <a:prstGeom prst="line">
            <a:avLst/>
          </a:prstGeom>
          <a:ln w="6350" cap="rnd">
            <a:solidFill>
              <a:srgbClr val="FFFFFF">
                <a:alpha val="5500"/>
              </a:srgbClr>
            </a:solidFill>
            <a:round/>
          </a:ln>
          <a:effectLst/>
        </p:spPr>
      </p:cxnSp>
      <p:cxnSp>
        <p:nvCxnSpPr>
          <p:cNvPr id="24" name="Connector 23"/>
          <p:cNvCxnSpPr/>
          <p:nvPr/>
        </p:nvCxnSpPr>
        <p:spPr>
          <a:xfrm flipV="1">
            <a:off x="1975104" y="0"/>
            <a:ext cx="6858000" cy="6858000"/>
          </a:xfrm>
          <a:prstGeom prst="line">
            <a:avLst/>
          </a:prstGeom>
          <a:ln w="6350" cap="rnd">
            <a:solidFill>
              <a:srgbClr val="FFFFFF">
                <a:alpha val="5500"/>
              </a:srgbClr>
            </a:solidFill>
            <a:round/>
          </a:ln>
          <a:effectLst/>
        </p:spPr>
      </p:cxnSp>
      <p:cxnSp>
        <p:nvCxnSpPr>
          <p:cNvPr id="25" name="Connector 24"/>
          <p:cNvCxnSpPr/>
          <p:nvPr/>
        </p:nvCxnSpPr>
        <p:spPr>
          <a:xfrm flipV="1">
            <a:off x="2395728" y="0"/>
            <a:ext cx="6858000" cy="6858000"/>
          </a:xfrm>
          <a:prstGeom prst="line">
            <a:avLst/>
          </a:prstGeom>
          <a:ln w="6350" cap="rnd">
            <a:solidFill>
              <a:srgbClr val="FFFFFF">
                <a:alpha val="5500"/>
              </a:srgbClr>
            </a:solidFill>
            <a:round/>
          </a:ln>
          <a:effectLst/>
        </p:spPr>
      </p:cxnSp>
      <p:cxnSp>
        <p:nvCxnSpPr>
          <p:cNvPr id="26" name="Connector 25"/>
          <p:cNvCxnSpPr/>
          <p:nvPr/>
        </p:nvCxnSpPr>
        <p:spPr>
          <a:xfrm flipV="1">
            <a:off x="2816352" y="0"/>
            <a:ext cx="6858000" cy="6858000"/>
          </a:xfrm>
          <a:prstGeom prst="line">
            <a:avLst/>
          </a:prstGeom>
          <a:ln w="6350" cap="rnd">
            <a:solidFill>
              <a:srgbClr val="FFFFFF">
                <a:alpha val="5500"/>
              </a:srgbClr>
            </a:solidFill>
            <a:round/>
          </a:ln>
          <a:effectLst/>
        </p:spPr>
      </p:cxnSp>
      <p:cxnSp>
        <p:nvCxnSpPr>
          <p:cNvPr id="27" name="Connector 26"/>
          <p:cNvCxnSpPr/>
          <p:nvPr/>
        </p:nvCxnSpPr>
        <p:spPr>
          <a:xfrm flipV="1">
            <a:off x="3236976" y="0"/>
            <a:ext cx="6858000" cy="6858000"/>
          </a:xfrm>
          <a:prstGeom prst="line">
            <a:avLst/>
          </a:prstGeom>
          <a:ln w="6350" cap="rnd">
            <a:solidFill>
              <a:srgbClr val="FFFFFF">
                <a:alpha val="5500"/>
              </a:srgbClr>
            </a:solidFill>
            <a:round/>
          </a:ln>
          <a:effectLst/>
        </p:spPr>
      </p:cxnSp>
      <p:cxnSp>
        <p:nvCxnSpPr>
          <p:cNvPr id="28" name="Connector 27"/>
          <p:cNvCxnSpPr/>
          <p:nvPr/>
        </p:nvCxnSpPr>
        <p:spPr>
          <a:xfrm flipV="1">
            <a:off x="3657600" y="0"/>
            <a:ext cx="6858000" cy="6858000"/>
          </a:xfrm>
          <a:prstGeom prst="line">
            <a:avLst/>
          </a:prstGeom>
          <a:ln w="6350" cap="rnd">
            <a:solidFill>
              <a:srgbClr val="FFFFFF">
                <a:alpha val="5500"/>
              </a:srgbClr>
            </a:solidFill>
            <a:round/>
          </a:ln>
          <a:effectLst/>
        </p:spPr>
      </p:cxnSp>
      <p:cxnSp>
        <p:nvCxnSpPr>
          <p:cNvPr id="29" name="Connector 28"/>
          <p:cNvCxnSpPr/>
          <p:nvPr/>
        </p:nvCxnSpPr>
        <p:spPr>
          <a:xfrm flipV="1">
            <a:off x="4078224" y="0"/>
            <a:ext cx="6858000" cy="6858000"/>
          </a:xfrm>
          <a:prstGeom prst="line">
            <a:avLst/>
          </a:prstGeom>
          <a:ln w="6350" cap="rnd">
            <a:solidFill>
              <a:srgbClr val="FFFFFF">
                <a:alpha val="5500"/>
              </a:srgbClr>
            </a:solidFill>
            <a:round/>
          </a:ln>
          <a:effectLst/>
        </p:spPr>
      </p:cxnSp>
      <p:cxnSp>
        <p:nvCxnSpPr>
          <p:cNvPr id="30" name="Connector 29"/>
          <p:cNvCxnSpPr/>
          <p:nvPr/>
        </p:nvCxnSpPr>
        <p:spPr>
          <a:xfrm flipV="1">
            <a:off x="4498848" y="0"/>
            <a:ext cx="6858000" cy="6858000"/>
          </a:xfrm>
          <a:prstGeom prst="line">
            <a:avLst/>
          </a:prstGeom>
          <a:ln w="6350" cap="rnd">
            <a:solidFill>
              <a:srgbClr val="FFFFFF">
                <a:alpha val="5500"/>
              </a:srgbClr>
            </a:solidFill>
            <a:round/>
          </a:ln>
          <a:effectLst/>
        </p:spPr>
      </p:cxnSp>
      <p:cxnSp>
        <p:nvCxnSpPr>
          <p:cNvPr id="31" name="Connector 30"/>
          <p:cNvCxnSpPr/>
          <p:nvPr/>
        </p:nvCxnSpPr>
        <p:spPr>
          <a:xfrm flipV="1">
            <a:off x="4919472" y="0"/>
            <a:ext cx="6858000" cy="6858000"/>
          </a:xfrm>
          <a:prstGeom prst="line">
            <a:avLst/>
          </a:prstGeom>
          <a:ln w="6350" cap="rnd">
            <a:solidFill>
              <a:srgbClr val="FFFFFF">
                <a:alpha val="5500"/>
              </a:srgbClr>
            </a:solidFill>
            <a:round/>
          </a:ln>
          <a:effectLst/>
        </p:spPr>
      </p:cxnSp>
      <p:cxnSp>
        <p:nvCxnSpPr>
          <p:cNvPr id="32" name="Connector 31"/>
          <p:cNvCxnSpPr/>
          <p:nvPr/>
        </p:nvCxnSpPr>
        <p:spPr>
          <a:xfrm flipV="1">
            <a:off x="5340096" y="0"/>
            <a:ext cx="6858000" cy="6858000"/>
          </a:xfrm>
          <a:prstGeom prst="line">
            <a:avLst/>
          </a:prstGeom>
          <a:ln w="6350" cap="rnd">
            <a:solidFill>
              <a:srgbClr val="FFFFFF">
                <a:alpha val="5500"/>
              </a:srgbClr>
            </a:solidFill>
            <a:round/>
          </a:ln>
          <a:effectLst/>
        </p:spPr>
      </p:cxnSp>
      <p:cxnSp>
        <p:nvCxnSpPr>
          <p:cNvPr id="33" name="Connector 32"/>
          <p:cNvCxnSpPr/>
          <p:nvPr/>
        </p:nvCxnSpPr>
        <p:spPr>
          <a:xfrm flipV="1">
            <a:off x="5760720" y="0"/>
            <a:ext cx="6858000" cy="6858000"/>
          </a:xfrm>
          <a:prstGeom prst="line">
            <a:avLst/>
          </a:prstGeom>
          <a:ln w="6350" cap="rnd">
            <a:solidFill>
              <a:srgbClr val="FFFFFF">
                <a:alpha val="5500"/>
              </a:srgbClr>
            </a:solidFill>
            <a:round/>
          </a:ln>
          <a:effectLst/>
        </p:spPr>
      </p:cxnSp>
      <p:cxnSp>
        <p:nvCxnSpPr>
          <p:cNvPr id="34" name="Connector 33"/>
          <p:cNvCxnSpPr/>
          <p:nvPr/>
        </p:nvCxnSpPr>
        <p:spPr>
          <a:xfrm flipV="1">
            <a:off x="6181344" y="0"/>
            <a:ext cx="6858000" cy="6858000"/>
          </a:xfrm>
          <a:prstGeom prst="line">
            <a:avLst/>
          </a:prstGeom>
          <a:ln w="6350" cap="rnd">
            <a:solidFill>
              <a:srgbClr val="FFFFFF">
                <a:alpha val="5500"/>
              </a:srgbClr>
            </a:solidFill>
            <a:round/>
          </a:ln>
          <a:effectLst/>
        </p:spPr>
      </p:cxnSp>
      <p:cxnSp>
        <p:nvCxnSpPr>
          <p:cNvPr id="35" name="Connector 34"/>
          <p:cNvCxnSpPr/>
          <p:nvPr/>
        </p:nvCxnSpPr>
        <p:spPr>
          <a:xfrm flipV="1">
            <a:off x="6601968" y="0"/>
            <a:ext cx="6858000" cy="6858000"/>
          </a:xfrm>
          <a:prstGeom prst="line">
            <a:avLst/>
          </a:prstGeom>
          <a:ln w="6350" cap="rnd">
            <a:solidFill>
              <a:srgbClr val="FFFFFF">
                <a:alpha val="5500"/>
              </a:srgbClr>
            </a:solidFill>
            <a:round/>
          </a:ln>
          <a:effectLst/>
        </p:spPr>
      </p:cxnSp>
      <p:cxnSp>
        <p:nvCxnSpPr>
          <p:cNvPr id="36" name="Connector 35"/>
          <p:cNvCxnSpPr/>
          <p:nvPr/>
        </p:nvCxnSpPr>
        <p:spPr>
          <a:xfrm flipV="1">
            <a:off x="7022592" y="0"/>
            <a:ext cx="6858000" cy="6858000"/>
          </a:xfrm>
          <a:prstGeom prst="line">
            <a:avLst/>
          </a:prstGeom>
          <a:ln w="6350" cap="rnd">
            <a:solidFill>
              <a:srgbClr val="FFFFFF">
                <a:alpha val="5500"/>
              </a:srgbClr>
            </a:solidFill>
            <a:round/>
          </a:ln>
          <a:effectLst/>
        </p:spPr>
      </p:cxnSp>
      <p:cxnSp>
        <p:nvCxnSpPr>
          <p:cNvPr id="37" name="Connector 36"/>
          <p:cNvCxnSpPr/>
          <p:nvPr/>
        </p:nvCxnSpPr>
        <p:spPr>
          <a:xfrm flipV="1">
            <a:off x="7443216" y="0"/>
            <a:ext cx="6858000" cy="6858000"/>
          </a:xfrm>
          <a:prstGeom prst="line">
            <a:avLst/>
          </a:prstGeom>
          <a:ln w="6350" cap="rnd">
            <a:solidFill>
              <a:srgbClr val="FFFFFF">
                <a:alpha val="5500"/>
              </a:srgbClr>
            </a:solidFill>
            <a:round/>
          </a:ln>
          <a:effectLst/>
        </p:spPr>
      </p:cxnSp>
      <p:cxnSp>
        <p:nvCxnSpPr>
          <p:cNvPr id="38" name="Connector 37"/>
          <p:cNvCxnSpPr/>
          <p:nvPr/>
        </p:nvCxnSpPr>
        <p:spPr>
          <a:xfrm flipV="1">
            <a:off x="7863840" y="0"/>
            <a:ext cx="6858000" cy="6858000"/>
          </a:xfrm>
          <a:prstGeom prst="line">
            <a:avLst/>
          </a:prstGeom>
          <a:ln w="6350" cap="rnd">
            <a:solidFill>
              <a:srgbClr val="FFFFFF">
                <a:alpha val="5500"/>
              </a:srgbClr>
            </a:solidFill>
            <a:round/>
          </a:ln>
          <a:effectLst/>
        </p:spPr>
      </p:cxnSp>
      <p:cxnSp>
        <p:nvCxnSpPr>
          <p:cNvPr id="39" name="Connector 38"/>
          <p:cNvCxnSpPr/>
          <p:nvPr/>
        </p:nvCxnSpPr>
        <p:spPr>
          <a:xfrm flipV="1">
            <a:off x="8284464" y="0"/>
            <a:ext cx="6858000" cy="6858000"/>
          </a:xfrm>
          <a:prstGeom prst="line">
            <a:avLst/>
          </a:prstGeom>
          <a:ln w="6350" cap="rnd">
            <a:solidFill>
              <a:srgbClr val="FFFFFF">
                <a:alpha val="5500"/>
              </a:srgbClr>
            </a:solidFill>
            <a:round/>
          </a:ln>
          <a:effectLst/>
        </p:spPr>
      </p:cxnSp>
      <p:cxnSp>
        <p:nvCxnSpPr>
          <p:cNvPr id="40" name="Connector 39"/>
          <p:cNvCxnSpPr/>
          <p:nvPr/>
        </p:nvCxnSpPr>
        <p:spPr>
          <a:xfrm flipV="1">
            <a:off x="8705088" y="0"/>
            <a:ext cx="6858000" cy="6858000"/>
          </a:xfrm>
          <a:prstGeom prst="line">
            <a:avLst/>
          </a:prstGeom>
          <a:ln w="6350" cap="rnd">
            <a:solidFill>
              <a:srgbClr val="FFFFFF">
                <a:alpha val="5500"/>
              </a:srgbClr>
            </a:solidFill>
            <a:round/>
          </a:ln>
          <a:effectLst/>
        </p:spPr>
      </p:cxnSp>
      <p:cxnSp>
        <p:nvCxnSpPr>
          <p:cNvPr id="41" name="Connector 40"/>
          <p:cNvCxnSpPr/>
          <p:nvPr/>
        </p:nvCxnSpPr>
        <p:spPr>
          <a:xfrm flipV="1">
            <a:off x="9125712" y="0"/>
            <a:ext cx="6858000" cy="6858000"/>
          </a:xfrm>
          <a:prstGeom prst="line">
            <a:avLst/>
          </a:prstGeom>
          <a:ln w="6350" cap="rnd">
            <a:solidFill>
              <a:srgbClr val="FFFFFF">
                <a:alpha val="5500"/>
              </a:srgbClr>
            </a:solidFill>
            <a:round/>
          </a:ln>
          <a:effectLst/>
        </p:spPr>
      </p:cxnSp>
      <p:cxnSp>
        <p:nvCxnSpPr>
          <p:cNvPr id="42" name="Connector 41"/>
          <p:cNvCxnSpPr/>
          <p:nvPr/>
        </p:nvCxnSpPr>
        <p:spPr>
          <a:xfrm flipV="1">
            <a:off x="9546336" y="0"/>
            <a:ext cx="6858000" cy="6858000"/>
          </a:xfrm>
          <a:prstGeom prst="line">
            <a:avLst/>
          </a:prstGeom>
          <a:ln w="6350" cap="rnd">
            <a:solidFill>
              <a:srgbClr val="FFFFFF">
                <a:alpha val="5500"/>
              </a:srgbClr>
            </a:solidFill>
            <a:round/>
          </a:ln>
          <a:effectLst/>
        </p:spPr>
      </p:cxnSp>
      <p:cxnSp>
        <p:nvCxnSpPr>
          <p:cNvPr id="43" name="Connector 42"/>
          <p:cNvCxnSpPr/>
          <p:nvPr/>
        </p:nvCxnSpPr>
        <p:spPr>
          <a:xfrm flipV="1">
            <a:off x="9966960" y="0"/>
            <a:ext cx="6858000" cy="6858000"/>
          </a:xfrm>
          <a:prstGeom prst="line">
            <a:avLst/>
          </a:prstGeom>
          <a:ln w="6350" cap="rnd">
            <a:solidFill>
              <a:srgbClr val="FFFFFF">
                <a:alpha val="5500"/>
              </a:srgbClr>
            </a:solidFill>
            <a:round/>
          </a:ln>
          <a:effectLst/>
        </p:spPr>
      </p:cxnSp>
      <p:cxnSp>
        <p:nvCxnSpPr>
          <p:cNvPr id="44" name="Connector 43"/>
          <p:cNvCxnSpPr/>
          <p:nvPr/>
        </p:nvCxnSpPr>
        <p:spPr>
          <a:xfrm flipV="1">
            <a:off x="10387584" y="0"/>
            <a:ext cx="6858000" cy="6858000"/>
          </a:xfrm>
          <a:prstGeom prst="line">
            <a:avLst/>
          </a:prstGeom>
          <a:ln w="6350" cap="rnd">
            <a:solidFill>
              <a:srgbClr val="FFFFFF">
                <a:alpha val="5500"/>
              </a:srgbClr>
            </a:solidFill>
            <a:round/>
          </a:ln>
          <a:effectLst/>
        </p:spPr>
      </p:cxnSp>
      <p:cxnSp>
        <p:nvCxnSpPr>
          <p:cNvPr id="45" name="Connector 44"/>
          <p:cNvCxnSpPr/>
          <p:nvPr/>
        </p:nvCxnSpPr>
        <p:spPr>
          <a:xfrm flipV="1">
            <a:off x="10808208" y="0"/>
            <a:ext cx="6858000" cy="6858000"/>
          </a:xfrm>
          <a:prstGeom prst="line">
            <a:avLst/>
          </a:prstGeom>
          <a:ln w="6350" cap="rnd">
            <a:solidFill>
              <a:srgbClr val="FFFFFF">
                <a:alpha val="5500"/>
              </a:srgbClr>
            </a:solidFill>
            <a:round/>
          </a:ln>
          <a:effectLst/>
        </p:spPr>
      </p:cxnSp>
      <p:cxnSp>
        <p:nvCxnSpPr>
          <p:cNvPr id="46" name="Connector 45"/>
          <p:cNvCxnSpPr/>
          <p:nvPr/>
        </p:nvCxnSpPr>
        <p:spPr>
          <a:xfrm flipV="1">
            <a:off x="11228832" y="0"/>
            <a:ext cx="6858000" cy="6858000"/>
          </a:xfrm>
          <a:prstGeom prst="line">
            <a:avLst/>
          </a:prstGeom>
          <a:ln w="6350" cap="rnd">
            <a:solidFill>
              <a:srgbClr val="FFFFFF">
                <a:alpha val="5500"/>
              </a:srgbClr>
            </a:solidFill>
            <a:round/>
          </a:ln>
          <a:effectLst/>
        </p:spPr>
      </p:cxnSp>
      <p:cxnSp>
        <p:nvCxnSpPr>
          <p:cNvPr id="47" name="Connector 46"/>
          <p:cNvCxnSpPr/>
          <p:nvPr/>
        </p:nvCxnSpPr>
        <p:spPr>
          <a:xfrm flipV="1">
            <a:off x="11649456" y="0"/>
            <a:ext cx="6858000" cy="6858000"/>
          </a:xfrm>
          <a:prstGeom prst="line">
            <a:avLst/>
          </a:prstGeom>
          <a:ln w="6350" cap="rnd">
            <a:solidFill>
              <a:srgbClr val="FFFFFF">
                <a:alpha val="5500"/>
              </a:srgbClr>
            </a:solidFill>
            <a:round/>
          </a:ln>
          <a:effectLst/>
        </p:spPr>
      </p:cxnSp>
      <p:cxnSp>
        <p:nvCxnSpPr>
          <p:cNvPr id="48" name="Connector 47"/>
          <p:cNvCxnSpPr/>
          <p:nvPr/>
        </p:nvCxnSpPr>
        <p:spPr>
          <a:xfrm flipV="1">
            <a:off x="12070080" y="0"/>
            <a:ext cx="6858000" cy="6858000"/>
          </a:xfrm>
          <a:prstGeom prst="line">
            <a:avLst/>
          </a:prstGeom>
          <a:ln w="6350" cap="rnd">
            <a:solidFill>
              <a:srgbClr val="FFFFFF">
                <a:alpha val="5500"/>
              </a:srgbClr>
            </a:solidFill>
            <a:round/>
          </a:ln>
          <a:effectLst/>
        </p:spPr>
      </p:cxnSp>
      <p:cxnSp>
        <p:nvCxnSpPr>
          <p:cNvPr id="49" name="Connector 48"/>
          <p:cNvCxnSpPr/>
          <p:nvPr/>
        </p:nvCxnSpPr>
        <p:spPr>
          <a:xfrm flipV="1">
            <a:off x="12490704" y="0"/>
            <a:ext cx="6858000" cy="6858000"/>
          </a:xfrm>
          <a:prstGeom prst="line">
            <a:avLst/>
          </a:prstGeom>
          <a:ln w="6350" cap="rnd">
            <a:solidFill>
              <a:srgbClr val="FFFFFF">
                <a:alpha val="5500"/>
              </a:srgbClr>
            </a:solidFill>
            <a:round/>
          </a:ln>
          <a:effectLst/>
        </p:spPr>
      </p:cxnSp>
      <p:sp>
        <p:nvSpPr>
          <p:cNvPr id="50" name="Rectangle 49"/>
          <p:cNvSpPr/>
          <p:nvPr/>
        </p:nvSpPr>
        <p:spPr>
          <a:xfrm>
            <a:off x="5120627" y="0"/>
            <a:ext cx="7071342" cy="6858000"/>
          </a:xfrm>
          <a:prstGeom prst="rect">
            <a:avLst/>
          </a:prstGeom>
          <a:gradFill flip="none" rotWithShape="1">
            <a:gsLst>
              <a:gs pos="0">
                <a:srgbClr val="3432C9">
                  <a:alpha val="0"/>
                </a:srgbClr>
              </a:gs>
              <a:gs pos="100000">
                <a:srgbClr val="3432C9">
                  <a:alpha val="32000"/>
                </a:srgbClr>
              </a:gs>
            </a:gsLst>
            <a:lin ang="0" scaled="0"/>
          </a:gradFill>
          <a:ln w="12700" cap="rnd">
            <a:noFill/>
            <a:round/>
          </a:ln>
          <a:effectLst/>
        </p:spPr>
        <p:txBody>
          <a:bodyPr rtlCol="0" anchor="ctr"/>
          <a:lstStyle/>
          <a:p/>
        </p:txBody>
      </p:sp>
      <p:pic>
        <p:nvPicPr>
          <p:cNvPr id="51" name="Picture 50" descr="duo_area_tall.jpg"/>
          <p:cNvPicPr>
            <a:picLocks noChangeAspect="1"/>
          </p:cNvPicPr>
          <p:nvPr/>
        </p:nvPicPr>
        <p:blipFill>
          <a:blip r:embed="rId2"/>
          <a:srcRect t="545" b="446"/>
          <a:stretch>
            <a:fillRect/>
          </a:stretch>
        </p:blipFill>
        <p:spPr>
          <a:xfrm>
            <a:off x="7574249" y="0"/>
            <a:ext cx="4617720" cy="6858000"/>
          </a:xfrm>
          <a:prstGeom prst="rect">
            <a:avLst/>
          </a:prstGeom>
          <a:effectLst/>
        </p:spPr>
      </p:pic>
      <p:sp>
        <p:nvSpPr>
          <p:cNvPr id="52" name="Rectangle 51"/>
          <p:cNvSpPr/>
          <p:nvPr/>
        </p:nvSpPr>
        <p:spPr>
          <a:xfrm>
            <a:off x="7574249" y="0"/>
            <a:ext cx="4617720" cy="6858000"/>
          </a:xfrm>
          <a:prstGeom prst="rect">
            <a:avLst/>
          </a:prstGeom>
          <a:gradFill flip="none" rotWithShape="1">
            <a:gsLst>
              <a:gs pos="0">
                <a:srgbClr val="0E0D28">
                  <a:alpha val="96000"/>
                </a:srgbClr>
              </a:gs>
              <a:gs pos="55000">
                <a:srgbClr val="0E0D28">
                  <a:alpha val="42000"/>
                </a:srgbClr>
              </a:gs>
              <a:gs pos="100000">
                <a:srgbClr val="0E0D28">
                  <a:alpha val="20000"/>
                </a:srgbClr>
              </a:gs>
            </a:gsLst>
            <a:lin ang="0" scaled="0"/>
          </a:gradFill>
          <a:ln w="12700" cap="rnd">
            <a:noFill/>
            <a:round/>
          </a:ln>
          <a:effectLst/>
        </p:spPr>
        <p:txBody>
          <a:bodyPr rtlCol="0" anchor="ctr"/>
          <a:lstStyle/>
          <a:p/>
        </p:txBody>
      </p:sp>
      <p:cxnSp>
        <p:nvCxnSpPr>
          <p:cNvPr id="53" name="Connector 52"/>
          <p:cNvCxnSpPr/>
          <p:nvPr/>
        </p:nvCxnSpPr>
        <p:spPr>
          <a:xfrm>
            <a:off x="7574249" y="0"/>
            <a:ext cx="0" cy="6858000"/>
          </a:xfrm>
          <a:prstGeom prst="line">
            <a:avLst/>
          </a:prstGeom>
          <a:ln w="9525" cap="rnd">
            <a:solidFill>
              <a:srgbClr val="FFFFFF">
                <a:alpha val="20000"/>
              </a:srgbClr>
            </a:solidFill>
            <a:round/>
          </a:ln>
          <a:effectLst/>
        </p:spPr>
      </p:cxnSp>
      <p:sp>
        <p:nvSpPr>
          <p:cNvPr id="54" name="Freeform 53"/>
          <p:cNvSpPr/>
          <p:nvPr/>
        </p:nvSpPr>
        <p:spPr>
          <a:xfrm>
            <a:off x="0" y="5311750"/>
            <a:ext cx="12191970" cy="460857"/>
          </a:xfrm>
          <a:custGeom>
            <a:avLst/>
            <a:gdLst/>
            <a:ahLst/>
            <a:cxnLst/>
            <a:rect l="l" t="t" r="r" b="b"/>
            <a:pathLst>
              <a:path w="12191970" h="460857">
                <a:moveTo>
                  <a:pt x="0" y="115214"/>
                </a:moveTo>
                <a:lnTo>
                  <a:pt x="487679" y="115214"/>
                </a:lnTo>
                <a:lnTo>
                  <a:pt x="487679" y="326440"/>
                </a:lnTo>
                <a:lnTo>
                  <a:pt x="1097277" y="326440"/>
                </a:lnTo>
                <a:lnTo>
                  <a:pt x="1097277" y="211226"/>
                </a:lnTo>
                <a:lnTo>
                  <a:pt x="1584956" y="211226"/>
                </a:lnTo>
                <a:lnTo>
                  <a:pt x="1584956" y="422452"/>
                </a:lnTo>
                <a:lnTo>
                  <a:pt x="2072635" y="422452"/>
                </a:lnTo>
                <a:lnTo>
                  <a:pt x="2072635" y="153619"/>
                </a:lnTo>
                <a:lnTo>
                  <a:pt x="2438394" y="153619"/>
                </a:lnTo>
                <a:lnTo>
                  <a:pt x="2438394" y="57607"/>
                </a:lnTo>
                <a:lnTo>
                  <a:pt x="2804153" y="57607"/>
                </a:lnTo>
                <a:lnTo>
                  <a:pt x="2804153" y="153619"/>
                </a:lnTo>
                <a:lnTo>
                  <a:pt x="3291832" y="153619"/>
                </a:lnTo>
                <a:lnTo>
                  <a:pt x="3291832" y="364845"/>
                </a:lnTo>
                <a:lnTo>
                  <a:pt x="3901430" y="364845"/>
                </a:lnTo>
                <a:lnTo>
                  <a:pt x="3901430" y="249631"/>
                </a:lnTo>
                <a:lnTo>
                  <a:pt x="4389109" y="249631"/>
                </a:lnTo>
                <a:lnTo>
                  <a:pt x="4389109" y="460857"/>
                </a:lnTo>
                <a:lnTo>
                  <a:pt x="4998708" y="460857"/>
                </a:lnTo>
                <a:lnTo>
                  <a:pt x="4998708" y="192024"/>
                </a:lnTo>
                <a:lnTo>
                  <a:pt x="5486386" y="192024"/>
                </a:lnTo>
                <a:lnTo>
                  <a:pt x="5486386" y="307238"/>
                </a:lnTo>
                <a:lnTo>
                  <a:pt x="6095985" y="307238"/>
                </a:lnTo>
                <a:lnTo>
                  <a:pt x="6095985" y="96012"/>
                </a:lnTo>
                <a:lnTo>
                  <a:pt x="6461744" y="96012"/>
                </a:lnTo>
                <a:lnTo>
                  <a:pt x="6461744" y="0"/>
                </a:lnTo>
                <a:lnTo>
                  <a:pt x="6827503" y="0"/>
                </a:lnTo>
                <a:lnTo>
                  <a:pt x="6827503" y="96012"/>
                </a:lnTo>
                <a:lnTo>
                  <a:pt x="7315182" y="96012"/>
                </a:lnTo>
                <a:lnTo>
                  <a:pt x="7315182" y="384048"/>
                </a:lnTo>
                <a:lnTo>
                  <a:pt x="7924780" y="384048"/>
                </a:lnTo>
                <a:lnTo>
                  <a:pt x="7924780" y="230428"/>
                </a:lnTo>
                <a:lnTo>
                  <a:pt x="8412459" y="230428"/>
                </a:lnTo>
                <a:lnTo>
                  <a:pt x="8412459" y="441655"/>
                </a:lnTo>
                <a:lnTo>
                  <a:pt x="9022057" y="441655"/>
                </a:lnTo>
                <a:lnTo>
                  <a:pt x="9022057" y="172821"/>
                </a:lnTo>
                <a:lnTo>
                  <a:pt x="9509736" y="172821"/>
                </a:lnTo>
                <a:lnTo>
                  <a:pt x="9509736" y="345643"/>
                </a:lnTo>
                <a:lnTo>
                  <a:pt x="10119335" y="345643"/>
                </a:lnTo>
                <a:lnTo>
                  <a:pt x="10119335" y="268833"/>
                </a:lnTo>
                <a:lnTo>
                  <a:pt x="10607013" y="268833"/>
                </a:lnTo>
                <a:lnTo>
                  <a:pt x="10607013" y="403250"/>
                </a:lnTo>
                <a:lnTo>
                  <a:pt x="11216612" y="403250"/>
                </a:lnTo>
                <a:lnTo>
                  <a:pt x="11216612" y="134416"/>
                </a:lnTo>
                <a:lnTo>
                  <a:pt x="11704291" y="134416"/>
                </a:lnTo>
                <a:lnTo>
                  <a:pt x="11704291" y="288036"/>
                </a:lnTo>
                <a:lnTo>
                  <a:pt x="12191970" y="288036"/>
                </a:lnTo>
              </a:path>
            </a:pathLst>
          </a:custGeom>
          <a:noFill/>
          <a:ln w="11430" cap="rnd">
            <a:solidFill>
              <a:srgbClr val="FFFFFF">
                <a:alpha val="13000"/>
              </a:srgbClr>
            </a:solidFill>
            <a:round/>
          </a:ln>
          <a:effectLst/>
        </p:spPr>
        <p:txBody>
          <a:bodyPr rtlCol="0" anchor="ctr"/>
          <a:lstStyle/>
          <a:p>
            <a:pPr algn="ctr"/>
          </a:p>
        </p:txBody>
      </p:sp>
      <p:sp>
        <p:nvSpPr>
          <p:cNvPr id="55" name="Freeform 54"/>
          <p:cNvSpPr/>
          <p:nvPr/>
        </p:nvSpPr>
        <p:spPr>
          <a:xfrm>
            <a:off x="10671625" y="1096013"/>
            <a:ext cx="116656" cy="202053"/>
          </a:xfrm>
          <a:custGeom>
            <a:avLst/>
            <a:gdLst/>
            <a:ahLst/>
            <a:cxnLst/>
            <a:rect l="l" t="t" r="r" b="b"/>
            <a:pathLst>
              <a:path w="116656" h="202053">
                <a:moveTo>
                  <a:pt x="0" y="0"/>
                </a:moveTo>
                <a:lnTo>
                  <a:pt x="116656" y="202053"/>
                </a:lnTo>
              </a:path>
            </a:pathLst>
          </a:custGeom>
          <a:noFill/>
          <a:ln w="15875" cap="rnd">
            <a:solidFill>
              <a:srgbClr val="FFFFFF"/>
            </a:solidFill>
            <a:round/>
          </a:ln>
          <a:effectLst/>
        </p:spPr>
        <p:txBody>
          <a:bodyPr rtlCol="0" anchor="ctr"/>
          <a:lstStyle/>
          <a:p>
            <a:pPr algn="ctr"/>
          </a:p>
        </p:txBody>
      </p:sp>
      <p:sp>
        <p:nvSpPr>
          <p:cNvPr id="56" name="Freeform 55"/>
          <p:cNvSpPr/>
          <p:nvPr/>
        </p:nvSpPr>
        <p:spPr>
          <a:xfrm>
            <a:off x="10735395" y="1235742"/>
            <a:ext cx="52886" cy="62324"/>
          </a:xfrm>
          <a:custGeom>
            <a:avLst/>
            <a:gdLst/>
            <a:ahLst/>
            <a:cxnLst/>
            <a:rect l="l" t="t" r="r" b="b"/>
            <a:pathLst>
              <a:path w="52886" h="62324">
                <a:moveTo>
                  <a:pt x="52886" y="62324"/>
                </a:moveTo>
                <a:lnTo>
                  <a:pt x="0" y="29277"/>
                </a:lnTo>
                <a:lnTo>
                  <a:pt x="50709" y="0"/>
                </a:lnTo>
                <a:close/>
              </a:path>
            </a:pathLst>
          </a:custGeom>
          <a:solidFill>
            <a:srgbClr val="FFFFFF"/>
          </a:solidFill>
          <a:ln w="9525" cap="rnd">
            <a:solidFill>
              <a:srgbClr val="FFFFFF"/>
            </a:solidFill>
            <a:round/>
          </a:ln>
          <a:effectLst/>
        </p:spPr>
        <p:txBody>
          <a:bodyPr rtlCol="0" anchor="ctr"/>
          <a:lstStyle/>
          <a:p>
            <a:pPr algn="ctr"/>
          </a:p>
        </p:txBody>
      </p:sp>
      <p:sp>
        <p:nvSpPr>
          <p:cNvPr id="57" name="Freeform 56"/>
          <p:cNvSpPr/>
          <p:nvPr/>
        </p:nvSpPr>
        <p:spPr>
          <a:xfrm>
            <a:off x="10571172" y="1359804"/>
            <a:ext cx="233311" cy="0"/>
          </a:xfrm>
          <a:custGeom>
            <a:avLst/>
            <a:gdLst/>
            <a:ahLst/>
            <a:cxnLst/>
            <a:rect l="l" t="t" r="r" b="b"/>
            <a:pathLst>
              <a:path w="233311" h="0">
                <a:moveTo>
                  <a:pt x="233311" y="0"/>
                </a:moveTo>
                <a:lnTo>
                  <a:pt x="0" y="0"/>
                </a:lnTo>
              </a:path>
            </a:pathLst>
          </a:custGeom>
          <a:noFill/>
          <a:ln w="15875" cap="rnd">
            <a:solidFill>
              <a:srgbClr val="FFFFFF"/>
            </a:solidFill>
            <a:round/>
          </a:ln>
          <a:effectLst/>
        </p:spPr>
        <p:txBody>
          <a:bodyPr rtlCol="0" anchor="ctr"/>
          <a:lstStyle/>
          <a:p>
            <a:pPr algn="ctr"/>
          </a:p>
        </p:txBody>
      </p:sp>
      <p:sp>
        <p:nvSpPr>
          <p:cNvPr id="58" name="Freeform 57"/>
          <p:cNvSpPr/>
          <p:nvPr/>
        </p:nvSpPr>
        <p:spPr>
          <a:xfrm>
            <a:off x="10571172" y="1330527"/>
            <a:ext cx="55062" cy="58554"/>
          </a:xfrm>
          <a:custGeom>
            <a:avLst/>
            <a:gdLst/>
            <a:ahLst/>
            <a:cxnLst/>
            <a:rect l="l" t="t" r="r" b="b"/>
            <a:pathLst>
              <a:path w="55062" h="58554">
                <a:moveTo>
                  <a:pt x="0" y="29277"/>
                </a:moveTo>
                <a:lnTo>
                  <a:pt x="55062" y="0"/>
                </a:lnTo>
                <a:lnTo>
                  <a:pt x="55062" y="58554"/>
                </a:lnTo>
                <a:close/>
              </a:path>
            </a:pathLst>
          </a:custGeom>
          <a:solidFill>
            <a:srgbClr val="FFFFFF"/>
          </a:solidFill>
          <a:ln w="9525" cap="rnd">
            <a:solidFill>
              <a:srgbClr val="FFFFFF"/>
            </a:solidFill>
            <a:round/>
          </a:ln>
          <a:effectLst/>
        </p:spPr>
        <p:txBody>
          <a:bodyPr rtlCol="0" anchor="ctr"/>
          <a:lstStyle/>
          <a:p>
            <a:pPr algn="ctr"/>
          </a:p>
        </p:txBody>
      </p:sp>
      <p:sp>
        <p:nvSpPr>
          <p:cNvPr id="59" name="Freeform 58"/>
          <p:cNvSpPr/>
          <p:nvPr/>
        </p:nvSpPr>
        <p:spPr>
          <a:xfrm>
            <a:off x="10509604" y="1140913"/>
            <a:ext cx="116655" cy="202053"/>
          </a:xfrm>
          <a:custGeom>
            <a:avLst/>
            <a:gdLst/>
            <a:ahLst/>
            <a:cxnLst/>
            <a:rect l="l" t="t" r="r" b="b"/>
            <a:pathLst>
              <a:path w="116655" h="202053">
                <a:moveTo>
                  <a:pt x="0" y="202053"/>
                </a:moveTo>
                <a:lnTo>
                  <a:pt x="116655" y="0"/>
                </a:lnTo>
              </a:path>
            </a:pathLst>
          </a:custGeom>
          <a:noFill/>
          <a:ln w="15875" cap="rnd">
            <a:solidFill>
              <a:srgbClr val="FFFFFF"/>
            </a:solidFill>
            <a:round/>
          </a:ln>
          <a:effectLst/>
        </p:spPr>
        <p:txBody>
          <a:bodyPr rtlCol="0" anchor="ctr"/>
          <a:lstStyle/>
          <a:p>
            <a:pPr algn="ctr"/>
          </a:p>
        </p:txBody>
      </p:sp>
      <p:sp>
        <p:nvSpPr>
          <p:cNvPr id="60" name="Freeform 59"/>
          <p:cNvSpPr/>
          <p:nvPr/>
        </p:nvSpPr>
        <p:spPr>
          <a:xfrm>
            <a:off x="10573373" y="1140913"/>
            <a:ext cx="52886" cy="62324"/>
          </a:xfrm>
          <a:custGeom>
            <a:avLst/>
            <a:gdLst/>
            <a:ahLst/>
            <a:cxnLst/>
            <a:rect l="l" t="t" r="r" b="b"/>
            <a:pathLst>
              <a:path w="52886" h="62324">
                <a:moveTo>
                  <a:pt x="52886" y="0"/>
                </a:moveTo>
                <a:lnTo>
                  <a:pt x="50710" y="62324"/>
                </a:lnTo>
                <a:lnTo>
                  <a:pt x="0" y="33047"/>
                </a:lnTo>
                <a:close/>
              </a:path>
            </a:pathLst>
          </a:custGeom>
          <a:solidFill>
            <a:srgbClr val="FFFFFF"/>
          </a:solidFill>
          <a:ln w="9525" cap="rnd">
            <a:solidFill>
              <a:srgbClr val="FFFFFF"/>
            </a:solidFill>
            <a:round/>
          </a:ln>
          <a:effectLst/>
        </p:spPr>
        <p:txBody>
          <a:bodyPr rtlCol="0" anchor="ctr"/>
          <a:lstStyle/>
          <a:p>
            <a:pPr algn="ctr"/>
          </a:p>
        </p:txBody>
      </p:sp>
      <p:cxnSp>
        <p:nvCxnSpPr>
          <p:cNvPr id="61" name="Connector 60"/>
          <p:cNvCxnSpPr/>
          <p:nvPr/>
        </p:nvCxnSpPr>
        <p:spPr>
          <a:xfrm>
            <a:off x="777240" y="1364284"/>
            <a:ext cx="274320" cy="0"/>
          </a:xfrm>
          <a:prstGeom prst="line">
            <a:avLst/>
          </a:prstGeom>
          <a:ln w="20320" cap="rnd">
            <a:solidFill>
              <a:srgbClr val="FFFFFF"/>
            </a:solidFill>
            <a:round/>
          </a:ln>
          <a:effectLst/>
        </p:spPr>
      </p:cxnSp>
      <p:sp>
        <p:nvSpPr>
          <p:cNvPr id="62" name="TextBox 61"/>
          <p:cNvSpPr txBox="1"/>
          <p:nvPr/>
        </p:nvSpPr>
        <p:spPr>
          <a:xfrm>
            <a:off x="1197863" y="1275588"/>
            <a:ext cx="7315200" cy="182880"/>
          </a:xfrm>
          <a:prstGeom prst="rect">
            <a:avLst/>
          </a:prstGeom>
          <a:noFill/>
          <a:effectLst/>
        </p:spPr>
        <p:txBody>
          <a:bodyPr wrap="square" lIns="0" rIns="0" tIns="0" bIns="0" anchor="t">
            <a:spAutoFit/>
          </a:bodyPr>
          <a:lstStyle/>
          <a:p>
            <a:pPr algn="l">
              <a:lnSpc>
                <a:spcPct val="100000"/>
              </a:lnSpc>
            </a:pPr>
            <a:r>
              <a:rPr sz="860" b="0" i="0" spc="190" cap="all">
                <a:solidFill>
                  <a:srgbClr val="FFFFFF"/>
                </a:solidFill>
                <a:latin typeface="Montserrat SemiBold"/>
              </a:rPr>
              <a:t>Proposta institucional  ·  Prefeitura de São Paulo</a:t>
            </a:r>
          </a:p>
        </p:txBody>
      </p:sp>
      <p:sp>
        <p:nvSpPr>
          <p:cNvPr id="63" name="TextBox 62"/>
          <p:cNvSpPr txBox="1"/>
          <p:nvPr/>
        </p:nvSpPr>
        <p:spPr>
          <a:xfrm>
            <a:off x="777240" y="1645920"/>
            <a:ext cx="6400800" cy="1371600"/>
          </a:xfrm>
          <a:prstGeom prst="rect">
            <a:avLst/>
          </a:prstGeom>
          <a:noFill/>
          <a:effectLst/>
        </p:spPr>
        <p:txBody>
          <a:bodyPr wrap="square" lIns="0" rIns="0" tIns="0" bIns="0" anchor="t">
            <a:spAutoFit/>
          </a:bodyPr>
          <a:lstStyle/>
          <a:p>
            <a:pPr algn="l">
              <a:lnSpc>
                <a:spcPct val="114000"/>
              </a:lnSpc>
            </a:pPr>
            <a:r>
              <a:rPr sz="3300" b="0" i="0">
                <a:solidFill>
                  <a:srgbClr val="FFFFFF"/>
                </a:solidFill>
                <a:latin typeface="Montserrat Light"/>
              </a:rPr>
              <a:t>Projeto de Assunção da
Área Livre do </a:t>
            </a:r>
            <a:r>
              <a:rPr sz="3300" b="0" i="0">
                <a:solidFill>
                  <a:srgbClr val="FFFFFF"/>
                </a:solidFill>
                <a:latin typeface="Montserrat SemiBold"/>
              </a:rPr>
              <a:t>Ecoponto
Belezinho</a:t>
            </a:r>
          </a:p>
        </p:txBody>
      </p:sp>
      <p:cxnSp>
        <p:nvCxnSpPr>
          <p:cNvPr id="64" name="Connector 63"/>
          <p:cNvCxnSpPr/>
          <p:nvPr/>
        </p:nvCxnSpPr>
        <p:spPr>
          <a:xfrm>
            <a:off x="777240" y="3913632"/>
            <a:ext cx="960120" cy="0"/>
          </a:xfrm>
          <a:prstGeom prst="line">
            <a:avLst/>
          </a:prstGeom>
          <a:ln w="22860" cap="rnd">
            <a:solidFill>
              <a:srgbClr val="FFFFFF">
                <a:alpha val="75000"/>
              </a:srgbClr>
            </a:solidFill>
            <a:round/>
          </a:ln>
          <a:effectLst/>
        </p:spPr>
      </p:cxnSp>
      <p:sp>
        <p:nvSpPr>
          <p:cNvPr id="65" name="TextBox 64"/>
          <p:cNvSpPr txBox="1"/>
          <p:nvPr/>
        </p:nvSpPr>
        <p:spPr>
          <a:xfrm>
            <a:off x="777240" y="4133087"/>
            <a:ext cx="5943600" cy="822960"/>
          </a:xfrm>
          <a:prstGeom prst="rect">
            <a:avLst/>
          </a:prstGeom>
          <a:noFill/>
          <a:effectLst/>
        </p:spPr>
        <p:txBody>
          <a:bodyPr wrap="square" lIns="0" rIns="0" tIns="0" bIns="0" anchor="t">
            <a:spAutoFit/>
          </a:bodyPr>
          <a:lstStyle/>
          <a:p>
            <a:pPr algn="l">
              <a:lnSpc>
                <a:spcPct val="136000"/>
              </a:lnSpc>
            </a:pPr>
            <a:r>
              <a:rPr sz="1400" b="0" i="0">
                <a:solidFill>
                  <a:srgbClr val="FFFFFF"/>
                </a:solidFill>
                <a:latin typeface="Montserrat Light"/>
              </a:rPr>
              <a:t>Criação do Primeiro Bioma Sustentável de Reciclagem</a:t>
            </a:r>
          </a:p>
          <a:p>
            <a:pPr algn="l">
              <a:lnSpc>
                <a:spcPct val="136000"/>
              </a:lnSpc>
            </a:pPr>
            <a:r>
              <a:rPr sz="1400" b="0" i="0">
                <a:solidFill>
                  <a:srgbClr val="FFFFFF"/>
                </a:solidFill>
                <a:latin typeface="Montserrat Light"/>
              </a:rPr>
              <a:t>Têxtil da Cidade de São Paulo</a:t>
            </a:r>
          </a:p>
        </p:txBody>
      </p:sp>
      <p:sp>
        <p:nvSpPr>
          <p:cNvPr id="66" name="TextBox 65"/>
          <p:cNvSpPr txBox="1"/>
          <p:nvPr/>
        </p:nvSpPr>
        <p:spPr>
          <a:xfrm>
            <a:off x="777240" y="5468112"/>
            <a:ext cx="3657600" cy="201168"/>
          </a:xfrm>
          <a:prstGeom prst="rect">
            <a:avLst/>
          </a:prstGeom>
          <a:noFill/>
          <a:effectLst/>
        </p:spPr>
        <p:txBody>
          <a:bodyPr wrap="square" lIns="0" rIns="0" tIns="0" bIns="0" anchor="t">
            <a:spAutoFit/>
          </a:bodyPr>
          <a:lstStyle/>
          <a:p>
            <a:pPr algn="l">
              <a:lnSpc>
                <a:spcPct val="135000"/>
              </a:lnSpc>
            </a:pPr>
            <a:r>
              <a:rPr sz="819" b="0" i="0" spc="150" cap="all">
                <a:solidFill>
                  <a:srgbClr val="FFFFFF"/>
                </a:solidFill>
                <a:latin typeface="Montserrat"/>
              </a:rPr>
              <a:t>Proposta apresentada pela</a:t>
            </a:r>
          </a:p>
        </p:txBody>
      </p:sp>
      <p:pic>
        <p:nvPicPr>
          <p:cNvPr id="67" name="Picture 66" descr="logo_white.png"/>
          <p:cNvPicPr>
            <a:picLocks noChangeAspect="1"/>
          </p:cNvPicPr>
          <p:nvPr/>
        </p:nvPicPr>
        <p:blipFill>
          <a:blip r:embed="rId3"/>
          <a:stretch>
            <a:fillRect/>
          </a:stretch>
        </p:blipFill>
        <p:spPr>
          <a:xfrm>
            <a:off x="777240" y="5760720"/>
            <a:ext cx="1778085" cy="3657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Quem somos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Gestão ambiental especializada em </a:t>
            </a:r>
            <a:r>
              <a:rPr sz="2550" b="0" i="0">
                <a:solidFill>
                  <a:srgbClr val="14142E"/>
                </a:solidFill>
                <a:latin typeface="Montserrat SemiBold"/>
              </a:rPr>
              <a:t>resíduos têxteis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02</a:t>
            </a:r>
          </a:p>
        </p:txBody>
      </p:sp>
      <p:sp>
        <p:nvSpPr>
          <p:cNvPr id="9" name="TextBox 8"/>
          <p:cNvSpPr txBox="1"/>
          <p:nvPr/>
        </p:nvSpPr>
        <p:spPr>
          <a:xfrm>
            <a:off x="777240" y="1810512"/>
            <a:ext cx="5303520" cy="1371600"/>
          </a:xfrm>
          <a:prstGeom prst="rect">
            <a:avLst/>
          </a:prstGeom>
          <a:noFill/>
          <a:effectLst/>
        </p:spPr>
        <p:txBody>
          <a:bodyPr wrap="square" lIns="0" rIns="0" tIns="0" bIns="0" anchor="t">
            <a:spAutoFit/>
          </a:bodyPr>
          <a:lstStyle/>
          <a:p>
            <a:pPr algn="l">
              <a:lnSpc>
                <a:spcPct val="142000"/>
              </a:lnSpc>
            </a:pPr>
            <a:r>
              <a:rPr sz="1080" b="0" i="0">
                <a:solidFill>
                  <a:srgbClr val="6E7288"/>
                </a:solidFill>
                <a:latin typeface="Montserrat"/>
              </a:rPr>
              <a:t>A Nunes &amp; Lucato atua na cadeia de resíduos têxteis com estrutura própria de transformação, equipe treinada e rastreabilidade documental completa — da coleta à destinação final ambientalmente adequada.</a:t>
            </a:r>
          </a:p>
        </p:txBody>
      </p:sp>
      <p:cxnSp>
        <p:nvCxnSpPr>
          <p:cNvPr id="10" name="Connector 9"/>
          <p:cNvCxnSpPr/>
          <p:nvPr/>
        </p:nvCxnSpPr>
        <p:spPr>
          <a:xfrm>
            <a:off x="777240" y="3035808"/>
            <a:ext cx="5303519" cy="0"/>
          </a:xfrm>
          <a:prstGeom prst="line">
            <a:avLst/>
          </a:prstGeom>
          <a:ln w="12700" cap="rnd">
            <a:solidFill>
              <a:srgbClr val="DFE2F0"/>
            </a:solidFill>
            <a:round/>
          </a:ln>
          <a:effectLst/>
        </p:spPr>
      </p:cxnSp>
      <p:sp>
        <p:nvSpPr>
          <p:cNvPr id="11" name="TextBox 10"/>
          <p:cNvSpPr txBox="1"/>
          <p:nvPr/>
        </p:nvSpPr>
        <p:spPr>
          <a:xfrm>
            <a:off x="777240" y="3236976"/>
            <a:ext cx="5303520" cy="640080"/>
          </a:xfrm>
          <a:prstGeom prst="rect">
            <a:avLst/>
          </a:prstGeom>
          <a:noFill/>
          <a:effectLst/>
        </p:spPr>
        <p:txBody>
          <a:bodyPr wrap="square" lIns="0" rIns="0" tIns="0" bIns="0" anchor="t">
            <a:spAutoFit/>
          </a:bodyPr>
          <a:lstStyle/>
          <a:p>
            <a:pPr algn="l">
              <a:lnSpc>
                <a:spcPct val="124000"/>
              </a:lnSpc>
            </a:pPr>
            <a:r>
              <a:rPr sz="1350" b="0" i="0">
                <a:solidFill>
                  <a:srgbClr val="3432C9"/>
                </a:solidFill>
                <a:latin typeface="Montserrat SemiBold"/>
              </a:rPr>
              <a:t>Da coleta à destinação final</a:t>
            </a:r>
            <a:r>
              <a:rPr sz="1350" b="0" i="0">
                <a:solidFill>
                  <a:srgbClr val="14142E"/>
                </a:solidFill>
                <a:latin typeface="Montserrat Light"/>
              </a:rPr>
              <a:t>  ·  com respaldo documental</a:t>
            </a:r>
          </a:p>
        </p:txBody>
      </p:sp>
      <p:pic>
        <p:nvPicPr>
          <p:cNvPr id="12" name="Picture 11" descr="eco_fachada.jpg"/>
          <p:cNvPicPr>
            <a:picLocks noChangeAspect="1"/>
          </p:cNvPicPr>
          <p:nvPr/>
        </p:nvPicPr>
        <p:blipFill>
          <a:blip r:embed="rId3"/>
          <a:srcRect t="20227" b="20227"/>
          <a:stretch>
            <a:fillRect/>
          </a:stretch>
        </p:blipFill>
        <p:spPr>
          <a:xfrm>
            <a:off x="6720840" y="1810512"/>
            <a:ext cx="4709160" cy="2103120"/>
          </a:xfrm>
          <a:prstGeom prst="rect">
            <a:avLst/>
          </a:prstGeom>
          <a:effectLst/>
        </p:spPr>
      </p:pic>
      <p:sp>
        <p:nvSpPr>
          <p:cNvPr id="13" name="Rectangle 12"/>
          <p:cNvSpPr/>
          <p:nvPr/>
        </p:nvSpPr>
        <p:spPr>
          <a:xfrm>
            <a:off x="6720840" y="1810512"/>
            <a:ext cx="4709160" cy="2103120"/>
          </a:xfrm>
          <a:prstGeom prst="rect">
            <a:avLst/>
          </a:prstGeom>
          <a:noFill/>
          <a:ln w="9525" cap="rnd">
            <a:solidFill>
              <a:srgbClr val="DFE2F0"/>
            </a:solidFill>
            <a:round/>
          </a:ln>
          <a:effectLst/>
        </p:spPr>
        <p:txBody>
          <a:bodyPr rtlCol="0" anchor="ctr"/>
          <a:lstStyle/>
          <a:p/>
        </p:txBody>
      </p:sp>
      <p:sp>
        <p:nvSpPr>
          <p:cNvPr id="14" name="Rectangle 13"/>
          <p:cNvSpPr/>
          <p:nvPr/>
        </p:nvSpPr>
        <p:spPr>
          <a:xfrm>
            <a:off x="777240"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15" name="Rectangle 14"/>
          <p:cNvSpPr/>
          <p:nvPr/>
        </p:nvSpPr>
        <p:spPr>
          <a:xfrm>
            <a:off x="777240" y="4224528"/>
            <a:ext cx="2487168" cy="50292"/>
          </a:xfrm>
          <a:prstGeom prst="rect">
            <a:avLst/>
          </a:prstGeom>
          <a:solidFill>
            <a:srgbClr val="3432C9"/>
          </a:solidFill>
          <a:ln w="12700" cap="rnd">
            <a:noFill/>
            <a:round/>
          </a:ln>
          <a:effectLst/>
        </p:spPr>
        <p:txBody>
          <a:bodyPr rtlCol="0" anchor="ctr"/>
          <a:lstStyle/>
          <a:p/>
        </p:txBody>
      </p:sp>
      <p:sp>
        <p:nvSpPr>
          <p:cNvPr id="16" name="Freeform 15"/>
          <p:cNvSpPr/>
          <p:nvPr/>
        </p:nvSpPr>
        <p:spPr>
          <a:xfrm>
            <a:off x="1025957" y="4590288"/>
            <a:ext cx="160934" cy="124358"/>
          </a:xfrm>
          <a:custGeom>
            <a:avLst/>
            <a:gdLst/>
            <a:ahLst/>
            <a:cxnLst/>
            <a:rect l="l" t="t" r="r" b="b"/>
            <a:pathLst>
              <a:path w="160934" h="124358">
                <a:moveTo>
                  <a:pt x="0" y="0"/>
                </a:moveTo>
                <a:lnTo>
                  <a:pt x="160934" y="0"/>
                </a:lnTo>
                <a:lnTo>
                  <a:pt x="160934" y="124358"/>
                </a:lnTo>
                <a:lnTo>
                  <a:pt x="0" y="124358"/>
                </a:lnTo>
                <a:close/>
              </a:path>
            </a:pathLst>
          </a:custGeom>
          <a:noFill/>
          <a:ln w="15875" cap="rnd">
            <a:solidFill>
              <a:srgbClr val="3432C9"/>
            </a:solidFill>
            <a:round/>
          </a:ln>
          <a:effectLst/>
        </p:spPr>
        <p:txBody>
          <a:bodyPr rtlCol="0" anchor="ctr"/>
          <a:lstStyle/>
          <a:p>
            <a:pPr algn="ctr"/>
          </a:p>
        </p:txBody>
      </p:sp>
      <p:sp>
        <p:nvSpPr>
          <p:cNvPr id="17" name="Freeform 16"/>
          <p:cNvSpPr/>
          <p:nvPr/>
        </p:nvSpPr>
        <p:spPr>
          <a:xfrm>
            <a:off x="1186891" y="4634179"/>
            <a:ext cx="124359" cy="80467"/>
          </a:xfrm>
          <a:custGeom>
            <a:avLst/>
            <a:gdLst/>
            <a:ahLst/>
            <a:cxnLst/>
            <a:rect l="l" t="t" r="r" b="b"/>
            <a:pathLst>
              <a:path w="124359" h="80467">
                <a:moveTo>
                  <a:pt x="0" y="0"/>
                </a:moveTo>
                <a:lnTo>
                  <a:pt x="73152" y="0"/>
                </a:lnTo>
                <a:lnTo>
                  <a:pt x="124359" y="47549"/>
                </a:lnTo>
                <a:lnTo>
                  <a:pt x="124359" y="80467"/>
                </a:lnTo>
                <a:lnTo>
                  <a:pt x="0" y="80467"/>
                </a:lnTo>
                <a:close/>
              </a:path>
            </a:pathLst>
          </a:custGeom>
          <a:noFill/>
          <a:ln w="15875" cap="rnd">
            <a:solidFill>
              <a:srgbClr val="3432C9"/>
            </a:solidFill>
            <a:round/>
          </a:ln>
          <a:effectLst/>
        </p:spPr>
        <p:txBody>
          <a:bodyPr rtlCol="0" anchor="ctr"/>
          <a:lstStyle/>
          <a:p>
            <a:pPr algn="ctr"/>
          </a:p>
        </p:txBody>
      </p:sp>
      <p:sp>
        <p:nvSpPr>
          <p:cNvPr id="18" name="Freeform 17"/>
          <p:cNvSpPr/>
          <p:nvPr/>
        </p:nvSpPr>
        <p:spPr>
          <a:xfrm>
            <a:off x="1025957" y="4714646"/>
            <a:ext cx="285293" cy="0"/>
          </a:xfrm>
          <a:custGeom>
            <a:avLst/>
            <a:gdLst/>
            <a:ahLst/>
            <a:cxnLst/>
            <a:rect l="l" t="t" r="r" b="b"/>
            <a:pathLst>
              <a:path w="285293" h="0">
                <a:moveTo>
                  <a:pt x="0" y="0"/>
                </a:moveTo>
                <a:lnTo>
                  <a:pt x="285293" y="0"/>
                </a:lnTo>
              </a:path>
            </a:pathLst>
          </a:custGeom>
          <a:noFill/>
          <a:ln w="15875" cap="rnd">
            <a:solidFill>
              <a:srgbClr val="3432C9"/>
            </a:solidFill>
            <a:round/>
          </a:ln>
          <a:effectLst/>
        </p:spPr>
        <p:txBody>
          <a:bodyPr rtlCol="0" anchor="ctr"/>
          <a:lstStyle/>
          <a:p>
            <a:pPr algn="ctr"/>
          </a:p>
        </p:txBody>
      </p:sp>
      <p:sp>
        <p:nvSpPr>
          <p:cNvPr id="19" name="Oval 18"/>
          <p:cNvSpPr/>
          <p:nvPr/>
        </p:nvSpPr>
        <p:spPr>
          <a:xfrm>
            <a:off x="1064361" y="4714646"/>
            <a:ext cx="54864" cy="54864"/>
          </a:xfrm>
          <a:prstGeom prst="ellipse">
            <a:avLst/>
          </a:prstGeom>
          <a:noFill/>
          <a:ln w="15875" cap="rnd">
            <a:solidFill>
              <a:srgbClr val="3432C9"/>
            </a:solidFill>
            <a:round/>
          </a:ln>
          <a:effectLst/>
        </p:spPr>
        <p:txBody>
          <a:bodyPr rtlCol="0" anchor="ctr"/>
          <a:lstStyle/>
          <a:p/>
        </p:txBody>
      </p:sp>
      <p:sp>
        <p:nvSpPr>
          <p:cNvPr id="20" name="Oval 19"/>
          <p:cNvSpPr/>
          <p:nvPr/>
        </p:nvSpPr>
        <p:spPr>
          <a:xfrm>
            <a:off x="1232611" y="4714646"/>
            <a:ext cx="54864" cy="54864"/>
          </a:xfrm>
          <a:prstGeom prst="ellipse">
            <a:avLst/>
          </a:prstGeom>
          <a:noFill/>
          <a:ln w="15875" cap="rnd">
            <a:solidFill>
              <a:srgbClr val="3432C9"/>
            </a:solidFill>
            <a:round/>
          </a:ln>
          <a:effectLst/>
        </p:spPr>
        <p:txBody>
          <a:bodyPr rtlCol="0" anchor="ctr"/>
          <a:lstStyle/>
          <a:p/>
        </p:txBody>
      </p:sp>
      <p:sp>
        <p:nvSpPr>
          <p:cNvPr id="21" name="TextBox 20"/>
          <p:cNvSpPr txBox="1"/>
          <p:nvPr/>
        </p:nvSpPr>
        <p:spPr>
          <a:xfrm>
            <a:off x="996695"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Coleta e transporte</a:t>
            </a:r>
          </a:p>
        </p:txBody>
      </p:sp>
      <p:sp>
        <p:nvSpPr>
          <p:cNvPr id="22" name="TextBox 21"/>
          <p:cNvSpPr txBox="1"/>
          <p:nvPr/>
        </p:nvSpPr>
        <p:spPr>
          <a:xfrm>
            <a:off x="996695"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Montserrat"/>
              </a:rPr>
              <a:t>Com emissão de MTR, dando respaldo legal à logística.</a:t>
            </a:r>
          </a:p>
        </p:txBody>
      </p:sp>
      <p:sp>
        <p:nvSpPr>
          <p:cNvPr id="23" name="Rectangle 22"/>
          <p:cNvSpPr/>
          <p:nvPr/>
        </p:nvSpPr>
        <p:spPr>
          <a:xfrm>
            <a:off x="3488436"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24" name="Rectangle 23"/>
          <p:cNvSpPr/>
          <p:nvPr/>
        </p:nvSpPr>
        <p:spPr>
          <a:xfrm>
            <a:off x="3488436" y="4224528"/>
            <a:ext cx="2487168" cy="50292"/>
          </a:xfrm>
          <a:prstGeom prst="rect">
            <a:avLst/>
          </a:prstGeom>
          <a:solidFill>
            <a:srgbClr val="3432C9"/>
          </a:solidFill>
          <a:ln w="12700" cap="rnd">
            <a:noFill/>
            <a:round/>
          </a:ln>
          <a:effectLst/>
        </p:spPr>
        <p:txBody>
          <a:bodyPr rtlCol="0" anchor="ctr"/>
          <a:lstStyle/>
          <a:p/>
        </p:txBody>
      </p:sp>
      <p:sp>
        <p:nvSpPr>
          <p:cNvPr id="25" name="Freeform 24"/>
          <p:cNvSpPr/>
          <p:nvPr/>
        </p:nvSpPr>
        <p:spPr>
          <a:xfrm>
            <a:off x="3795674" y="4546397"/>
            <a:ext cx="153620" cy="175565"/>
          </a:xfrm>
          <a:custGeom>
            <a:avLst/>
            <a:gdLst/>
            <a:ahLst/>
            <a:cxnLst/>
            <a:rect l="l" t="t" r="r" b="b"/>
            <a:pathLst>
              <a:path w="153620" h="175565">
                <a:moveTo>
                  <a:pt x="0" y="0"/>
                </a:moveTo>
                <a:lnTo>
                  <a:pt x="153620" y="175565"/>
                </a:lnTo>
              </a:path>
            </a:pathLst>
          </a:custGeom>
          <a:noFill/>
          <a:ln w="15875" cap="rnd">
            <a:solidFill>
              <a:srgbClr val="3432C9"/>
            </a:solidFill>
            <a:round/>
          </a:ln>
          <a:effectLst/>
        </p:spPr>
        <p:txBody>
          <a:bodyPr rtlCol="0" anchor="ctr"/>
          <a:lstStyle/>
          <a:p>
            <a:pPr algn="ctr"/>
          </a:p>
        </p:txBody>
      </p:sp>
      <p:sp>
        <p:nvSpPr>
          <p:cNvPr id="26" name="Freeform 25"/>
          <p:cNvSpPr/>
          <p:nvPr/>
        </p:nvSpPr>
        <p:spPr>
          <a:xfrm>
            <a:off x="3832250" y="4546397"/>
            <a:ext cx="153620" cy="175565"/>
          </a:xfrm>
          <a:custGeom>
            <a:avLst/>
            <a:gdLst/>
            <a:ahLst/>
            <a:cxnLst/>
            <a:rect l="l" t="t" r="r" b="b"/>
            <a:pathLst>
              <a:path w="153620" h="175565">
                <a:moveTo>
                  <a:pt x="153620" y="0"/>
                </a:moveTo>
                <a:lnTo>
                  <a:pt x="0" y="175565"/>
                </a:lnTo>
              </a:path>
            </a:pathLst>
          </a:custGeom>
          <a:noFill/>
          <a:ln w="15875" cap="rnd">
            <a:solidFill>
              <a:srgbClr val="3432C9"/>
            </a:solidFill>
            <a:round/>
          </a:ln>
          <a:effectLst/>
        </p:spPr>
        <p:txBody>
          <a:bodyPr rtlCol="0" anchor="ctr"/>
          <a:lstStyle/>
          <a:p>
            <a:pPr algn="ctr"/>
          </a:p>
        </p:txBody>
      </p:sp>
      <p:sp>
        <p:nvSpPr>
          <p:cNvPr id="27" name="Oval 26"/>
          <p:cNvSpPr/>
          <p:nvPr/>
        </p:nvSpPr>
        <p:spPr>
          <a:xfrm>
            <a:off x="3770071" y="4732934"/>
            <a:ext cx="80467" cy="80467"/>
          </a:xfrm>
          <a:prstGeom prst="ellipse">
            <a:avLst/>
          </a:prstGeom>
          <a:noFill/>
          <a:ln w="15875" cap="rnd">
            <a:solidFill>
              <a:srgbClr val="3432C9"/>
            </a:solidFill>
            <a:round/>
          </a:ln>
          <a:effectLst/>
        </p:spPr>
        <p:txBody>
          <a:bodyPr rtlCol="0" anchor="ctr"/>
          <a:lstStyle/>
          <a:p/>
        </p:txBody>
      </p:sp>
      <p:sp>
        <p:nvSpPr>
          <p:cNvPr id="28" name="Oval 27"/>
          <p:cNvSpPr/>
          <p:nvPr/>
        </p:nvSpPr>
        <p:spPr>
          <a:xfrm>
            <a:off x="3931005" y="4732934"/>
            <a:ext cx="80467" cy="80467"/>
          </a:xfrm>
          <a:prstGeom prst="ellipse">
            <a:avLst/>
          </a:prstGeom>
          <a:noFill/>
          <a:ln w="15875" cap="rnd">
            <a:solidFill>
              <a:srgbClr val="3432C9"/>
            </a:solidFill>
            <a:round/>
          </a:ln>
          <a:effectLst/>
        </p:spPr>
        <p:txBody>
          <a:bodyPr rtlCol="0" anchor="ctr"/>
          <a:lstStyle/>
          <a:p/>
        </p:txBody>
      </p:sp>
      <p:sp>
        <p:nvSpPr>
          <p:cNvPr id="29" name="TextBox 28"/>
          <p:cNvSpPr txBox="1"/>
          <p:nvPr/>
        </p:nvSpPr>
        <p:spPr>
          <a:xfrm>
            <a:off x="3707892"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Descaracterização</a:t>
            </a:r>
          </a:p>
        </p:txBody>
      </p:sp>
      <p:sp>
        <p:nvSpPr>
          <p:cNvPr id="30" name="TextBox 29"/>
          <p:cNvSpPr txBox="1"/>
          <p:nvPr/>
        </p:nvSpPr>
        <p:spPr>
          <a:xfrm>
            <a:off x="3707892"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Montserrat"/>
              </a:rPr>
              <a:t>Avaliação e descaracterização peça por peça.</a:t>
            </a:r>
          </a:p>
        </p:txBody>
      </p:sp>
      <p:sp>
        <p:nvSpPr>
          <p:cNvPr id="31" name="Rectangle 30"/>
          <p:cNvSpPr/>
          <p:nvPr/>
        </p:nvSpPr>
        <p:spPr>
          <a:xfrm>
            <a:off x="6199632"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32" name="Rectangle 31"/>
          <p:cNvSpPr/>
          <p:nvPr/>
        </p:nvSpPr>
        <p:spPr>
          <a:xfrm>
            <a:off x="6199632" y="4224528"/>
            <a:ext cx="2487168" cy="50292"/>
          </a:xfrm>
          <a:prstGeom prst="rect">
            <a:avLst/>
          </a:prstGeom>
          <a:solidFill>
            <a:srgbClr val="3432C9"/>
          </a:solidFill>
          <a:ln w="12700" cap="rnd">
            <a:noFill/>
            <a:round/>
          </a:ln>
          <a:effectLst/>
        </p:spPr>
        <p:txBody>
          <a:bodyPr rtlCol="0" anchor="ctr"/>
          <a:lstStyle/>
          <a:p/>
        </p:txBody>
      </p:sp>
      <p:sp>
        <p:nvSpPr>
          <p:cNvPr id="33" name="Freeform 32"/>
          <p:cNvSpPr/>
          <p:nvPr/>
        </p:nvSpPr>
        <p:spPr>
          <a:xfrm>
            <a:off x="6448349" y="4604918"/>
            <a:ext cx="102413" cy="117044"/>
          </a:xfrm>
          <a:custGeom>
            <a:avLst/>
            <a:gdLst/>
            <a:ahLst/>
            <a:cxnLst/>
            <a:rect l="l" t="t" r="r" b="b"/>
            <a:pathLst>
              <a:path w="102413" h="117044">
                <a:moveTo>
                  <a:pt x="0" y="0"/>
                </a:moveTo>
                <a:lnTo>
                  <a:pt x="102413" y="0"/>
                </a:lnTo>
                <a:lnTo>
                  <a:pt x="102413" y="117044"/>
                </a:lnTo>
                <a:lnTo>
                  <a:pt x="0" y="117044"/>
                </a:lnTo>
                <a:close/>
              </a:path>
            </a:pathLst>
          </a:custGeom>
          <a:noFill/>
          <a:ln w="15875" cap="rnd">
            <a:solidFill>
              <a:srgbClr val="3432C9"/>
            </a:solidFill>
            <a:round/>
          </a:ln>
          <a:effectLst/>
        </p:spPr>
        <p:txBody>
          <a:bodyPr rtlCol="0" anchor="ctr"/>
          <a:lstStyle/>
          <a:p>
            <a:pPr algn="ctr"/>
          </a:p>
        </p:txBody>
      </p:sp>
      <p:sp>
        <p:nvSpPr>
          <p:cNvPr id="34" name="Freeform 33"/>
          <p:cNvSpPr/>
          <p:nvPr/>
        </p:nvSpPr>
        <p:spPr>
          <a:xfrm>
            <a:off x="6550762" y="4546397"/>
            <a:ext cx="190195" cy="117043"/>
          </a:xfrm>
          <a:custGeom>
            <a:avLst/>
            <a:gdLst/>
            <a:ahLst/>
            <a:cxnLst/>
            <a:rect l="l" t="t" r="r" b="b"/>
            <a:pathLst>
              <a:path w="190195" h="117043">
                <a:moveTo>
                  <a:pt x="0" y="117043"/>
                </a:moveTo>
                <a:lnTo>
                  <a:pt x="80467" y="52669"/>
                </a:lnTo>
                <a:lnTo>
                  <a:pt x="190195" y="0"/>
                </a:lnTo>
              </a:path>
            </a:pathLst>
          </a:custGeom>
          <a:noFill/>
          <a:ln w="11430" cap="rnd">
            <a:solidFill>
              <a:srgbClr val="3432C9"/>
            </a:solidFill>
            <a:round/>
          </a:ln>
          <a:effectLst/>
        </p:spPr>
        <p:txBody>
          <a:bodyPr rtlCol="0" anchor="ctr"/>
          <a:lstStyle/>
          <a:p>
            <a:pPr algn="ctr"/>
          </a:p>
        </p:txBody>
      </p:sp>
      <p:sp>
        <p:nvSpPr>
          <p:cNvPr id="35" name="Freeform 34"/>
          <p:cNvSpPr/>
          <p:nvPr/>
        </p:nvSpPr>
        <p:spPr>
          <a:xfrm>
            <a:off x="6550762" y="4597603"/>
            <a:ext cx="190195" cy="65837"/>
          </a:xfrm>
          <a:custGeom>
            <a:avLst/>
            <a:gdLst/>
            <a:ahLst/>
            <a:cxnLst/>
            <a:rect l="l" t="t" r="r" b="b"/>
            <a:pathLst>
              <a:path w="190195" h="65837">
                <a:moveTo>
                  <a:pt x="0" y="65837"/>
                </a:moveTo>
                <a:lnTo>
                  <a:pt x="80467" y="29627"/>
                </a:lnTo>
                <a:lnTo>
                  <a:pt x="190195" y="0"/>
                </a:lnTo>
              </a:path>
            </a:pathLst>
          </a:custGeom>
          <a:noFill/>
          <a:ln w="11430" cap="rnd">
            <a:solidFill>
              <a:srgbClr val="3432C9"/>
            </a:solidFill>
            <a:round/>
          </a:ln>
          <a:effectLst/>
        </p:spPr>
        <p:txBody>
          <a:bodyPr rtlCol="0" anchor="ctr"/>
          <a:lstStyle/>
          <a:p>
            <a:pPr algn="ctr"/>
          </a:p>
        </p:txBody>
      </p:sp>
      <p:sp>
        <p:nvSpPr>
          <p:cNvPr id="36" name="Freeform 35"/>
          <p:cNvSpPr/>
          <p:nvPr/>
        </p:nvSpPr>
        <p:spPr>
          <a:xfrm>
            <a:off x="6550762" y="4648810"/>
            <a:ext cx="190195" cy="14630"/>
          </a:xfrm>
          <a:custGeom>
            <a:avLst/>
            <a:gdLst/>
            <a:ahLst/>
            <a:cxnLst/>
            <a:rect l="l" t="t" r="r" b="b"/>
            <a:pathLst>
              <a:path w="190195" h="14630">
                <a:moveTo>
                  <a:pt x="0" y="14630"/>
                </a:moveTo>
                <a:lnTo>
                  <a:pt x="80467" y="6583"/>
                </a:lnTo>
                <a:lnTo>
                  <a:pt x="190195" y="0"/>
                </a:lnTo>
              </a:path>
            </a:pathLst>
          </a:custGeom>
          <a:noFill/>
          <a:ln w="11430" cap="rnd">
            <a:solidFill>
              <a:srgbClr val="3432C9"/>
            </a:solidFill>
            <a:round/>
          </a:ln>
          <a:effectLst/>
        </p:spPr>
        <p:txBody>
          <a:bodyPr rtlCol="0" anchor="ctr"/>
          <a:lstStyle/>
          <a:p>
            <a:pPr algn="ctr"/>
          </a:p>
        </p:txBody>
      </p:sp>
      <p:sp>
        <p:nvSpPr>
          <p:cNvPr id="37" name="Freeform 36"/>
          <p:cNvSpPr/>
          <p:nvPr/>
        </p:nvSpPr>
        <p:spPr>
          <a:xfrm>
            <a:off x="6550762" y="4663440"/>
            <a:ext cx="190195" cy="36576"/>
          </a:xfrm>
          <a:custGeom>
            <a:avLst/>
            <a:gdLst/>
            <a:ahLst/>
            <a:cxnLst/>
            <a:rect l="l" t="t" r="r" b="b"/>
            <a:pathLst>
              <a:path w="190195" h="36576">
                <a:moveTo>
                  <a:pt x="0" y="0"/>
                </a:moveTo>
                <a:lnTo>
                  <a:pt x="80467" y="20117"/>
                </a:lnTo>
                <a:lnTo>
                  <a:pt x="190195" y="36576"/>
                </a:lnTo>
              </a:path>
            </a:pathLst>
          </a:custGeom>
          <a:noFill/>
          <a:ln w="11430" cap="rnd">
            <a:solidFill>
              <a:srgbClr val="3432C9"/>
            </a:solidFill>
            <a:round/>
          </a:ln>
          <a:effectLst/>
        </p:spPr>
        <p:txBody>
          <a:bodyPr rtlCol="0" anchor="ctr"/>
          <a:lstStyle/>
          <a:p>
            <a:pPr algn="ctr"/>
          </a:p>
        </p:txBody>
      </p:sp>
      <p:sp>
        <p:nvSpPr>
          <p:cNvPr id="38" name="Freeform 37"/>
          <p:cNvSpPr/>
          <p:nvPr/>
        </p:nvSpPr>
        <p:spPr>
          <a:xfrm>
            <a:off x="6550762" y="4663440"/>
            <a:ext cx="190195" cy="87782"/>
          </a:xfrm>
          <a:custGeom>
            <a:avLst/>
            <a:gdLst/>
            <a:ahLst/>
            <a:cxnLst/>
            <a:rect l="l" t="t" r="r" b="b"/>
            <a:pathLst>
              <a:path w="190195" h="87782">
                <a:moveTo>
                  <a:pt x="0" y="0"/>
                </a:moveTo>
                <a:lnTo>
                  <a:pt x="80467" y="48280"/>
                </a:lnTo>
                <a:lnTo>
                  <a:pt x="190195" y="87782"/>
                </a:lnTo>
              </a:path>
            </a:pathLst>
          </a:custGeom>
          <a:noFill/>
          <a:ln w="11430" cap="rnd">
            <a:solidFill>
              <a:srgbClr val="3432C9"/>
            </a:solidFill>
            <a:round/>
          </a:ln>
          <a:effectLst/>
        </p:spPr>
        <p:txBody>
          <a:bodyPr rtlCol="0" anchor="ctr"/>
          <a:lstStyle/>
          <a:p>
            <a:pPr algn="ctr"/>
          </a:p>
        </p:txBody>
      </p:sp>
      <p:sp>
        <p:nvSpPr>
          <p:cNvPr id="39" name="Freeform 38"/>
          <p:cNvSpPr/>
          <p:nvPr/>
        </p:nvSpPr>
        <p:spPr>
          <a:xfrm>
            <a:off x="6550762" y="4663440"/>
            <a:ext cx="190195" cy="138989"/>
          </a:xfrm>
          <a:custGeom>
            <a:avLst/>
            <a:gdLst/>
            <a:ahLst/>
            <a:cxnLst/>
            <a:rect l="l" t="t" r="r" b="b"/>
            <a:pathLst>
              <a:path w="190195" h="138989">
                <a:moveTo>
                  <a:pt x="0" y="0"/>
                </a:moveTo>
                <a:lnTo>
                  <a:pt x="80467" y="76444"/>
                </a:lnTo>
                <a:lnTo>
                  <a:pt x="190195" y="138989"/>
                </a:lnTo>
              </a:path>
            </a:pathLst>
          </a:custGeom>
          <a:noFill/>
          <a:ln w="11430" cap="rnd">
            <a:solidFill>
              <a:srgbClr val="3432C9"/>
            </a:solidFill>
            <a:round/>
          </a:ln>
          <a:effectLst/>
        </p:spPr>
        <p:txBody>
          <a:bodyPr rtlCol="0" anchor="ctr"/>
          <a:lstStyle/>
          <a:p>
            <a:pPr algn="ctr"/>
          </a:p>
        </p:txBody>
      </p:sp>
      <p:sp>
        <p:nvSpPr>
          <p:cNvPr id="40" name="TextBox 39"/>
          <p:cNvSpPr txBox="1"/>
          <p:nvPr/>
        </p:nvSpPr>
        <p:spPr>
          <a:xfrm>
            <a:off x="6419088"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Desfibramento</a:t>
            </a:r>
          </a:p>
        </p:txBody>
      </p:sp>
      <p:sp>
        <p:nvSpPr>
          <p:cNvPr id="41" name="TextBox 40"/>
          <p:cNvSpPr txBox="1"/>
          <p:nvPr/>
        </p:nvSpPr>
        <p:spPr>
          <a:xfrm>
            <a:off x="6419088"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Montserrat"/>
              </a:rPr>
              <a:t>Etiquetas, logos e referências de marca.</a:t>
            </a:r>
          </a:p>
        </p:txBody>
      </p:sp>
      <p:sp>
        <p:nvSpPr>
          <p:cNvPr id="42" name="Rectangle 41"/>
          <p:cNvSpPr/>
          <p:nvPr/>
        </p:nvSpPr>
        <p:spPr>
          <a:xfrm>
            <a:off x="8910828"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43" name="Rectangle 42"/>
          <p:cNvSpPr/>
          <p:nvPr/>
        </p:nvSpPr>
        <p:spPr>
          <a:xfrm>
            <a:off x="8910828" y="4224528"/>
            <a:ext cx="2487168" cy="50292"/>
          </a:xfrm>
          <a:prstGeom prst="rect">
            <a:avLst/>
          </a:prstGeom>
          <a:solidFill>
            <a:srgbClr val="12A87B"/>
          </a:solidFill>
          <a:ln w="12700" cap="rnd">
            <a:noFill/>
            <a:round/>
          </a:ln>
          <a:effectLst/>
        </p:spPr>
        <p:txBody>
          <a:bodyPr rtlCol="0" anchor="ctr"/>
          <a:lstStyle/>
          <a:p/>
        </p:txBody>
      </p:sp>
      <p:sp>
        <p:nvSpPr>
          <p:cNvPr id="44" name="Freeform 43"/>
          <p:cNvSpPr/>
          <p:nvPr/>
        </p:nvSpPr>
        <p:spPr>
          <a:xfrm>
            <a:off x="9196159" y="4553726"/>
            <a:ext cx="223082" cy="233997"/>
          </a:xfrm>
          <a:custGeom>
            <a:avLst/>
            <a:gdLst/>
            <a:ahLst/>
            <a:cxnLst/>
            <a:rect l="l" t="t" r="r" b="b"/>
            <a:pathLst>
              <a:path w="223082" h="233997">
                <a:moveTo>
                  <a:pt x="184138" y="212905"/>
                </a:moveTo>
                <a:lnTo>
                  <a:pt x="169713" y="221533"/>
                </a:lnTo>
                <a:lnTo>
                  <a:pt x="154200" y="228005"/>
                </a:lnTo>
                <a:lnTo>
                  <a:pt x="137921" y="232188"/>
                </a:lnTo>
                <a:lnTo>
                  <a:pt x="121210" y="233997"/>
                </a:lnTo>
                <a:lnTo>
                  <a:pt x="104412" y="233393"/>
                </a:lnTo>
                <a:lnTo>
                  <a:pt x="87874" y="230389"/>
                </a:lnTo>
                <a:lnTo>
                  <a:pt x="71937" y="225048"/>
                </a:lnTo>
                <a:lnTo>
                  <a:pt x="56929" y="217478"/>
                </a:lnTo>
                <a:lnTo>
                  <a:pt x="43161" y="207837"/>
                </a:lnTo>
                <a:lnTo>
                  <a:pt x="30915" y="196324"/>
                </a:lnTo>
                <a:lnTo>
                  <a:pt x="20445" y="183175"/>
                </a:lnTo>
                <a:lnTo>
                  <a:pt x="11966" y="168661"/>
                </a:lnTo>
                <a:lnTo>
                  <a:pt x="5653" y="153083"/>
                </a:lnTo>
                <a:lnTo>
                  <a:pt x="1637" y="136762"/>
                </a:lnTo>
                <a:lnTo>
                  <a:pt x="0" y="120033"/>
                </a:lnTo>
                <a:lnTo>
                  <a:pt x="777" y="103242"/>
                </a:lnTo>
                <a:lnTo>
                  <a:pt x="3950" y="86736"/>
                </a:lnTo>
                <a:lnTo>
                  <a:pt x="9455" y="70855"/>
                </a:lnTo>
                <a:lnTo>
                  <a:pt x="17178" y="55926"/>
                </a:lnTo>
                <a:lnTo>
                  <a:pt x="26960" y="42257"/>
                </a:lnTo>
                <a:lnTo>
                  <a:pt x="38599" y="30130"/>
                </a:lnTo>
                <a:lnTo>
                  <a:pt x="51854" y="19795"/>
                </a:lnTo>
                <a:lnTo>
                  <a:pt x="66454" y="11465"/>
                </a:lnTo>
                <a:lnTo>
                  <a:pt x="82096" y="5313"/>
                </a:lnTo>
                <a:lnTo>
                  <a:pt x="98458" y="1465"/>
                </a:lnTo>
                <a:lnTo>
                  <a:pt x="115203" y="0"/>
                </a:lnTo>
                <a:lnTo>
                  <a:pt x="131984" y="948"/>
                </a:lnTo>
                <a:lnTo>
                  <a:pt x="148457" y="4291"/>
                </a:lnTo>
                <a:lnTo>
                  <a:pt x="164281" y="9959"/>
                </a:lnTo>
                <a:lnTo>
                  <a:pt x="179130" y="17835"/>
                </a:lnTo>
                <a:lnTo>
                  <a:pt x="192698" y="27756"/>
                </a:lnTo>
                <a:lnTo>
                  <a:pt x="204705" y="39519"/>
                </a:lnTo>
                <a:lnTo>
                  <a:pt x="214903" y="52880"/>
                </a:lnTo>
                <a:lnTo>
                  <a:pt x="223082" y="67565"/>
                </a:lnTo>
              </a:path>
            </a:pathLst>
          </a:custGeom>
          <a:noFill/>
          <a:ln w="15875" cap="rnd">
            <a:solidFill>
              <a:srgbClr val="12A87B"/>
            </a:solidFill>
            <a:round/>
          </a:ln>
          <a:effectLst/>
        </p:spPr>
        <p:txBody>
          <a:bodyPr rtlCol="0" anchor="ctr"/>
          <a:lstStyle/>
          <a:p>
            <a:pPr algn="ctr"/>
          </a:p>
        </p:txBody>
      </p:sp>
      <p:sp>
        <p:nvSpPr>
          <p:cNvPr id="45" name="Freeform 44"/>
          <p:cNvSpPr/>
          <p:nvPr/>
        </p:nvSpPr>
        <p:spPr>
          <a:xfrm>
            <a:off x="9379310" y="4573751"/>
            <a:ext cx="39931" cy="47540"/>
          </a:xfrm>
          <a:custGeom>
            <a:avLst/>
            <a:gdLst/>
            <a:ahLst/>
            <a:cxnLst/>
            <a:rect l="l" t="t" r="r" b="b"/>
            <a:pathLst>
              <a:path w="39931" h="47540">
                <a:moveTo>
                  <a:pt x="39931" y="47540"/>
                </a:moveTo>
                <a:lnTo>
                  <a:pt x="0" y="21725"/>
                </a:lnTo>
                <a:lnTo>
                  <a:pt x="39004" y="0"/>
                </a:lnTo>
                <a:close/>
              </a:path>
            </a:pathLst>
          </a:custGeom>
          <a:solidFill>
            <a:srgbClr val="12A87B"/>
          </a:solidFill>
          <a:ln w="9525" cap="rnd">
            <a:solidFill>
              <a:srgbClr val="12A87B"/>
            </a:solidFill>
            <a:round/>
          </a:ln>
          <a:effectLst/>
        </p:spPr>
        <p:txBody>
          <a:bodyPr rtlCol="0" anchor="ctr"/>
          <a:lstStyle/>
          <a:p>
            <a:pPr algn="ctr"/>
          </a:p>
        </p:txBody>
      </p:sp>
      <p:sp>
        <p:nvSpPr>
          <p:cNvPr id="46" name="Freeform 45"/>
          <p:cNvSpPr/>
          <p:nvPr/>
        </p:nvSpPr>
        <p:spPr>
          <a:xfrm>
            <a:off x="9254642" y="4626864"/>
            <a:ext cx="117044" cy="73152"/>
          </a:xfrm>
          <a:custGeom>
            <a:avLst/>
            <a:gdLst/>
            <a:ahLst/>
            <a:cxnLst/>
            <a:rect l="l" t="t" r="r" b="b"/>
            <a:pathLst>
              <a:path w="117044" h="73152">
                <a:moveTo>
                  <a:pt x="0" y="73152"/>
                </a:moveTo>
                <a:lnTo>
                  <a:pt x="58522" y="0"/>
                </a:lnTo>
                <a:lnTo>
                  <a:pt x="117044" y="73152"/>
                </a:lnTo>
              </a:path>
            </a:pathLst>
          </a:custGeom>
          <a:noFill/>
          <a:ln w="16669" cap="rnd">
            <a:solidFill>
              <a:srgbClr val="12A87B"/>
            </a:solidFill>
            <a:round/>
          </a:ln>
          <a:effectLst/>
        </p:spPr>
        <p:txBody>
          <a:bodyPr rtlCol="0" anchor="ctr"/>
          <a:lstStyle/>
          <a:p>
            <a:pPr algn="ctr"/>
          </a:p>
        </p:txBody>
      </p:sp>
      <p:sp>
        <p:nvSpPr>
          <p:cNvPr id="47" name="Freeform 46"/>
          <p:cNvSpPr/>
          <p:nvPr/>
        </p:nvSpPr>
        <p:spPr>
          <a:xfrm>
            <a:off x="9313164" y="4626864"/>
            <a:ext cx="0" cy="124358"/>
          </a:xfrm>
          <a:custGeom>
            <a:avLst/>
            <a:gdLst/>
            <a:ahLst/>
            <a:cxnLst/>
            <a:rect l="l" t="t" r="r" b="b"/>
            <a:pathLst>
              <a:path w="0" h="124358">
                <a:moveTo>
                  <a:pt x="0" y="0"/>
                </a:moveTo>
                <a:lnTo>
                  <a:pt x="0" y="124358"/>
                </a:lnTo>
              </a:path>
            </a:pathLst>
          </a:custGeom>
          <a:noFill/>
          <a:ln w="16669" cap="rnd">
            <a:solidFill>
              <a:srgbClr val="12A87B"/>
            </a:solidFill>
            <a:round/>
          </a:ln>
          <a:effectLst/>
        </p:spPr>
        <p:txBody>
          <a:bodyPr rtlCol="0" anchor="ctr"/>
          <a:lstStyle/>
          <a:p>
            <a:pPr algn="ctr"/>
          </a:p>
        </p:txBody>
      </p:sp>
      <p:sp>
        <p:nvSpPr>
          <p:cNvPr id="48" name="TextBox 47"/>
          <p:cNvSpPr txBox="1"/>
          <p:nvPr/>
        </p:nvSpPr>
        <p:spPr>
          <a:xfrm>
            <a:off x="9130284"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Upcycle</a:t>
            </a:r>
          </a:p>
        </p:txBody>
      </p:sp>
      <p:sp>
        <p:nvSpPr>
          <p:cNvPr id="49" name="TextBox 48"/>
          <p:cNvSpPr txBox="1"/>
          <p:nvPr/>
        </p:nvSpPr>
        <p:spPr>
          <a:xfrm>
            <a:off x="9130284"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Montserrat"/>
              </a:rPr>
              <a:t>Transformação em produtos de maior valor agregado.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Como trabalhamos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Estrutura própria, equipe treinada e </a:t>
            </a:r>
            <a:r>
              <a:rPr sz="2550" b="0" i="0">
                <a:solidFill>
                  <a:srgbClr val="14142E"/>
                </a:solidFill>
                <a:latin typeface="Montserrat SemiBold"/>
              </a:rPr>
              <a:t>rastreabilidade</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03</a:t>
            </a:r>
          </a:p>
        </p:txBody>
      </p:sp>
      <p:sp>
        <p:nvSpPr>
          <p:cNvPr id="9" name="Rectangle 8"/>
          <p:cNvSpPr/>
          <p:nvPr/>
        </p:nvSpPr>
        <p:spPr>
          <a:xfrm>
            <a:off x="777240" y="1901952"/>
            <a:ext cx="3017520" cy="1755648"/>
          </a:xfrm>
          <a:prstGeom prst="rect">
            <a:avLst/>
          </a:prstGeom>
          <a:solidFill>
            <a:srgbClr val="F4F5FC"/>
          </a:solidFill>
          <a:ln w="12700" cap="rnd">
            <a:noFill/>
            <a:round/>
          </a:ln>
          <a:effectLst/>
        </p:spPr>
        <p:txBody>
          <a:bodyPr rtlCol="0" anchor="ctr"/>
          <a:lstStyle/>
          <a:p/>
        </p:txBody>
      </p:sp>
      <p:sp>
        <p:nvSpPr>
          <p:cNvPr id="10" name="Oval 9"/>
          <p:cNvSpPr/>
          <p:nvPr/>
        </p:nvSpPr>
        <p:spPr>
          <a:xfrm>
            <a:off x="1153972" y="2205532"/>
            <a:ext cx="87782" cy="87782"/>
          </a:xfrm>
          <a:prstGeom prst="ellipse">
            <a:avLst/>
          </a:prstGeom>
          <a:noFill/>
          <a:ln w="15875" cap="rnd">
            <a:solidFill>
              <a:srgbClr val="3432C9"/>
            </a:solidFill>
            <a:round/>
          </a:ln>
          <a:effectLst/>
        </p:spPr>
        <p:txBody>
          <a:bodyPr rtlCol="0" anchor="ctr"/>
          <a:lstStyle/>
          <a:p/>
        </p:txBody>
      </p:sp>
      <p:sp>
        <p:nvSpPr>
          <p:cNvPr id="11" name="Freeform 10"/>
          <p:cNvSpPr/>
          <p:nvPr/>
        </p:nvSpPr>
        <p:spPr>
          <a:xfrm>
            <a:off x="1100609" y="2366467"/>
            <a:ext cx="194510" cy="78584"/>
          </a:xfrm>
          <a:custGeom>
            <a:avLst/>
            <a:gdLst/>
            <a:ahLst/>
            <a:cxnLst/>
            <a:rect l="l" t="t" r="r" b="b"/>
            <a:pathLst>
              <a:path w="194510" h="78584">
                <a:moveTo>
                  <a:pt x="0" y="78584"/>
                </a:moveTo>
                <a:lnTo>
                  <a:pt x="2953" y="66861"/>
                </a:lnTo>
                <a:lnTo>
                  <a:pt x="7424" y="55593"/>
                </a:lnTo>
                <a:lnTo>
                  <a:pt x="13340" y="44960"/>
                </a:lnTo>
                <a:lnTo>
                  <a:pt x="20607" y="35134"/>
                </a:lnTo>
                <a:lnTo>
                  <a:pt x="29106" y="26272"/>
                </a:lnTo>
                <a:lnTo>
                  <a:pt x="38702" y="18519"/>
                </a:lnTo>
                <a:lnTo>
                  <a:pt x="49241" y="11997"/>
                </a:lnTo>
                <a:lnTo>
                  <a:pt x="60551" y="6812"/>
                </a:lnTo>
                <a:lnTo>
                  <a:pt x="72453" y="3048"/>
                </a:lnTo>
                <a:lnTo>
                  <a:pt x="84753" y="765"/>
                </a:lnTo>
                <a:lnTo>
                  <a:pt x="97255" y="0"/>
                </a:lnTo>
                <a:lnTo>
                  <a:pt x="109757" y="765"/>
                </a:lnTo>
                <a:lnTo>
                  <a:pt x="122057" y="3048"/>
                </a:lnTo>
                <a:lnTo>
                  <a:pt x="133959" y="6812"/>
                </a:lnTo>
                <a:lnTo>
                  <a:pt x="145269" y="11997"/>
                </a:lnTo>
                <a:lnTo>
                  <a:pt x="155808" y="18519"/>
                </a:lnTo>
                <a:lnTo>
                  <a:pt x="165404" y="26272"/>
                </a:lnTo>
                <a:lnTo>
                  <a:pt x="173903" y="35134"/>
                </a:lnTo>
                <a:lnTo>
                  <a:pt x="181170" y="44960"/>
                </a:lnTo>
                <a:lnTo>
                  <a:pt x="187086" y="55593"/>
                </a:lnTo>
                <a:lnTo>
                  <a:pt x="191557" y="66861"/>
                </a:lnTo>
                <a:lnTo>
                  <a:pt x="194510" y="78584"/>
                </a:lnTo>
              </a:path>
            </a:pathLst>
          </a:custGeom>
          <a:noFill/>
          <a:ln w="15875" cap="rnd">
            <a:solidFill>
              <a:srgbClr val="3432C9"/>
            </a:solidFill>
            <a:round/>
          </a:ln>
          <a:effectLst/>
        </p:spPr>
        <p:txBody>
          <a:bodyPr rtlCol="0" anchor="ctr"/>
          <a:lstStyle/>
          <a:p>
            <a:pPr algn="ctr"/>
          </a:p>
        </p:txBody>
      </p:sp>
      <p:sp>
        <p:nvSpPr>
          <p:cNvPr id="12" name="Oval 11"/>
          <p:cNvSpPr/>
          <p:nvPr/>
        </p:nvSpPr>
        <p:spPr>
          <a:xfrm>
            <a:off x="1040587" y="2253081"/>
            <a:ext cx="65836" cy="65836"/>
          </a:xfrm>
          <a:prstGeom prst="ellipse">
            <a:avLst/>
          </a:prstGeom>
          <a:noFill/>
          <a:ln w="13494" cap="rnd">
            <a:solidFill>
              <a:srgbClr val="3432C9"/>
            </a:solidFill>
            <a:round/>
          </a:ln>
          <a:effectLst/>
        </p:spPr>
        <p:txBody>
          <a:bodyPr rtlCol="0" anchor="ctr"/>
          <a:lstStyle/>
          <a:p/>
        </p:txBody>
      </p:sp>
      <p:sp>
        <p:nvSpPr>
          <p:cNvPr id="13" name="Freeform 12"/>
          <p:cNvSpPr/>
          <p:nvPr/>
        </p:nvSpPr>
        <p:spPr>
          <a:xfrm>
            <a:off x="1013445" y="2410358"/>
            <a:ext cx="120121" cy="48797"/>
          </a:xfrm>
          <a:custGeom>
            <a:avLst/>
            <a:gdLst/>
            <a:ahLst/>
            <a:cxnLst/>
            <a:rect l="l" t="t" r="r" b="b"/>
            <a:pathLst>
              <a:path w="120121" h="48797">
                <a:moveTo>
                  <a:pt x="0" y="48797"/>
                </a:moveTo>
                <a:lnTo>
                  <a:pt x="2967" y="39761"/>
                </a:lnTo>
                <a:lnTo>
                  <a:pt x="7139" y="31274"/>
                </a:lnTo>
                <a:lnTo>
                  <a:pt x="12429" y="23518"/>
                </a:lnTo>
                <a:lnTo>
                  <a:pt x="18724" y="16655"/>
                </a:lnTo>
                <a:lnTo>
                  <a:pt x="25893" y="10831"/>
                </a:lnTo>
                <a:lnTo>
                  <a:pt x="33783" y="6169"/>
                </a:lnTo>
                <a:lnTo>
                  <a:pt x="42227" y="2766"/>
                </a:lnTo>
                <a:lnTo>
                  <a:pt x="51049" y="696"/>
                </a:lnTo>
                <a:lnTo>
                  <a:pt x="60061" y="0"/>
                </a:lnTo>
                <a:lnTo>
                  <a:pt x="69072" y="696"/>
                </a:lnTo>
                <a:lnTo>
                  <a:pt x="77894" y="2766"/>
                </a:lnTo>
                <a:lnTo>
                  <a:pt x="86339" y="6169"/>
                </a:lnTo>
                <a:lnTo>
                  <a:pt x="94229" y="10831"/>
                </a:lnTo>
                <a:lnTo>
                  <a:pt x="101397" y="16655"/>
                </a:lnTo>
                <a:lnTo>
                  <a:pt x="107693" y="23518"/>
                </a:lnTo>
                <a:lnTo>
                  <a:pt x="112982" y="31274"/>
                </a:lnTo>
                <a:lnTo>
                  <a:pt x="117155" y="39761"/>
                </a:lnTo>
                <a:lnTo>
                  <a:pt x="120121" y="48797"/>
                </a:lnTo>
              </a:path>
            </a:pathLst>
          </a:custGeom>
          <a:noFill/>
          <a:ln w="13494" cap="rnd">
            <a:solidFill>
              <a:srgbClr val="3432C9"/>
            </a:solidFill>
            <a:round/>
          </a:ln>
          <a:effectLst/>
        </p:spPr>
        <p:txBody>
          <a:bodyPr rtlCol="0" anchor="ctr"/>
          <a:lstStyle/>
          <a:p>
            <a:pPr algn="ctr"/>
          </a:p>
        </p:txBody>
      </p:sp>
      <p:sp>
        <p:nvSpPr>
          <p:cNvPr id="14" name="Oval 13"/>
          <p:cNvSpPr/>
          <p:nvPr/>
        </p:nvSpPr>
        <p:spPr>
          <a:xfrm>
            <a:off x="1289304" y="2253081"/>
            <a:ext cx="65836" cy="65836"/>
          </a:xfrm>
          <a:prstGeom prst="ellipse">
            <a:avLst/>
          </a:prstGeom>
          <a:noFill/>
          <a:ln w="13494" cap="rnd">
            <a:solidFill>
              <a:srgbClr val="3432C9"/>
            </a:solidFill>
            <a:round/>
          </a:ln>
          <a:effectLst/>
        </p:spPr>
        <p:txBody>
          <a:bodyPr rtlCol="0" anchor="ctr"/>
          <a:lstStyle/>
          <a:p/>
        </p:txBody>
      </p:sp>
      <p:sp>
        <p:nvSpPr>
          <p:cNvPr id="15" name="Freeform 14"/>
          <p:cNvSpPr/>
          <p:nvPr/>
        </p:nvSpPr>
        <p:spPr>
          <a:xfrm>
            <a:off x="1262162" y="2410358"/>
            <a:ext cx="120121" cy="48797"/>
          </a:xfrm>
          <a:custGeom>
            <a:avLst/>
            <a:gdLst/>
            <a:ahLst/>
            <a:cxnLst/>
            <a:rect l="l" t="t" r="r" b="b"/>
            <a:pathLst>
              <a:path w="120121" h="48797">
                <a:moveTo>
                  <a:pt x="0" y="48797"/>
                </a:moveTo>
                <a:lnTo>
                  <a:pt x="2966" y="39761"/>
                </a:lnTo>
                <a:lnTo>
                  <a:pt x="7139" y="31274"/>
                </a:lnTo>
                <a:lnTo>
                  <a:pt x="12428" y="23518"/>
                </a:lnTo>
                <a:lnTo>
                  <a:pt x="18724" y="16655"/>
                </a:lnTo>
                <a:lnTo>
                  <a:pt x="25892" y="10831"/>
                </a:lnTo>
                <a:lnTo>
                  <a:pt x="33782" y="6169"/>
                </a:lnTo>
                <a:lnTo>
                  <a:pt x="42227" y="2766"/>
                </a:lnTo>
                <a:lnTo>
                  <a:pt x="51049" y="696"/>
                </a:lnTo>
                <a:lnTo>
                  <a:pt x="60060" y="0"/>
                </a:lnTo>
                <a:lnTo>
                  <a:pt x="69072" y="696"/>
                </a:lnTo>
                <a:lnTo>
                  <a:pt x="77894" y="2766"/>
                </a:lnTo>
                <a:lnTo>
                  <a:pt x="86338" y="6169"/>
                </a:lnTo>
                <a:lnTo>
                  <a:pt x="94228" y="10831"/>
                </a:lnTo>
                <a:lnTo>
                  <a:pt x="101397" y="16655"/>
                </a:lnTo>
                <a:lnTo>
                  <a:pt x="107692" y="23518"/>
                </a:lnTo>
                <a:lnTo>
                  <a:pt x="112982" y="31274"/>
                </a:lnTo>
                <a:lnTo>
                  <a:pt x="117154" y="39761"/>
                </a:lnTo>
                <a:lnTo>
                  <a:pt x="120121" y="48797"/>
                </a:lnTo>
              </a:path>
            </a:pathLst>
          </a:custGeom>
          <a:noFill/>
          <a:ln w="13494" cap="rnd">
            <a:solidFill>
              <a:srgbClr val="3432C9"/>
            </a:solidFill>
            <a:round/>
          </a:ln>
          <a:effectLst/>
        </p:spPr>
        <p:txBody>
          <a:bodyPr rtlCol="0" anchor="ctr"/>
          <a:lstStyle/>
          <a:p>
            <a:pPr algn="ctr"/>
          </a:p>
        </p:txBody>
      </p:sp>
      <p:sp>
        <p:nvSpPr>
          <p:cNvPr id="16" name="TextBox 15"/>
          <p:cNvSpPr txBox="1"/>
          <p:nvPr/>
        </p:nvSpPr>
        <p:spPr>
          <a:xfrm>
            <a:off x="1014983" y="2651760"/>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Equipe capacitada</a:t>
            </a:r>
          </a:p>
        </p:txBody>
      </p:sp>
      <p:sp>
        <p:nvSpPr>
          <p:cNvPr id="17" name="TextBox 16"/>
          <p:cNvSpPr txBox="1"/>
          <p:nvPr/>
        </p:nvSpPr>
        <p:spPr>
          <a:xfrm>
            <a:off x="1014983" y="2944368"/>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Colaboradores treinados e artesãs com capacitação.</a:t>
            </a:r>
          </a:p>
        </p:txBody>
      </p:sp>
      <p:sp>
        <p:nvSpPr>
          <p:cNvPr id="18" name="Rectangle 17"/>
          <p:cNvSpPr/>
          <p:nvPr/>
        </p:nvSpPr>
        <p:spPr>
          <a:xfrm>
            <a:off x="4032503" y="1901952"/>
            <a:ext cx="3017520" cy="1755648"/>
          </a:xfrm>
          <a:prstGeom prst="rect">
            <a:avLst/>
          </a:prstGeom>
          <a:solidFill>
            <a:srgbClr val="F4F5FC"/>
          </a:solidFill>
          <a:ln w="12700" cap="rnd">
            <a:noFill/>
            <a:round/>
          </a:ln>
          <a:effectLst/>
        </p:spPr>
        <p:txBody>
          <a:bodyPr rtlCol="0" anchor="ctr"/>
          <a:lstStyle/>
          <a:p/>
        </p:txBody>
      </p:sp>
      <p:sp>
        <p:nvSpPr>
          <p:cNvPr id="19" name="Freeform 18"/>
          <p:cNvSpPr/>
          <p:nvPr/>
        </p:nvSpPr>
        <p:spPr>
          <a:xfrm>
            <a:off x="4343400" y="2176272"/>
            <a:ext cx="219456" cy="299923"/>
          </a:xfrm>
          <a:custGeom>
            <a:avLst/>
            <a:gdLst/>
            <a:ahLst/>
            <a:cxnLst/>
            <a:rect l="l" t="t" r="r" b="b"/>
            <a:pathLst>
              <a:path w="219456" h="299923">
                <a:moveTo>
                  <a:pt x="32139" y="187317"/>
                </a:moveTo>
                <a:lnTo>
                  <a:pt x="20956" y="174225"/>
                </a:lnTo>
                <a:lnTo>
                  <a:pt x="11960" y="159543"/>
                </a:lnTo>
                <a:lnTo>
                  <a:pt x="5370" y="143636"/>
                </a:lnTo>
                <a:lnTo>
                  <a:pt x="1351" y="126893"/>
                </a:lnTo>
                <a:lnTo>
                  <a:pt x="0" y="109728"/>
                </a:lnTo>
                <a:lnTo>
                  <a:pt x="1351" y="92563"/>
                </a:lnTo>
                <a:lnTo>
                  <a:pt x="5370" y="75820"/>
                </a:lnTo>
                <a:lnTo>
                  <a:pt x="11960" y="59913"/>
                </a:lnTo>
                <a:lnTo>
                  <a:pt x="20956" y="45231"/>
                </a:lnTo>
                <a:lnTo>
                  <a:pt x="32139" y="32139"/>
                </a:lnTo>
                <a:lnTo>
                  <a:pt x="45231" y="20956"/>
                </a:lnTo>
                <a:lnTo>
                  <a:pt x="59913" y="11960"/>
                </a:lnTo>
                <a:lnTo>
                  <a:pt x="75820" y="5370"/>
                </a:lnTo>
                <a:lnTo>
                  <a:pt x="92563" y="1351"/>
                </a:lnTo>
                <a:lnTo>
                  <a:pt x="109728" y="0"/>
                </a:lnTo>
                <a:lnTo>
                  <a:pt x="126893" y="1351"/>
                </a:lnTo>
                <a:lnTo>
                  <a:pt x="143636" y="5370"/>
                </a:lnTo>
                <a:lnTo>
                  <a:pt x="159543" y="11960"/>
                </a:lnTo>
                <a:lnTo>
                  <a:pt x="174225" y="20956"/>
                </a:lnTo>
                <a:lnTo>
                  <a:pt x="187317" y="32139"/>
                </a:lnTo>
                <a:lnTo>
                  <a:pt x="198500" y="45231"/>
                </a:lnTo>
                <a:lnTo>
                  <a:pt x="207496" y="59913"/>
                </a:lnTo>
                <a:lnTo>
                  <a:pt x="214086" y="75820"/>
                </a:lnTo>
                <a:lnTo>
                  <a:pt x="218105" y="92563"/>
                </a:lnTo>
                <a:lnTo>
                  <a:pt x="219456" y="109728"/>
                </a:lnTo>
                <a:lnTo>
                  <a:pt x="218105" y="126893"/>
                </a:lnTo>
                <a:lnTo>
                  <a:pt x="214086" y="143636"/>
                </a:lnTo>
                <a:lnTo>
                  <a:pt x="207496" y="159543"/>
                </a:lnTo>
                <a:lnTo>
                  <a:pt x="198500" y="174225"/>
                </a:lnTo>
                <a:lnTo>
                  <a:pt x="187317" y="187317"/>
                </a:lnTo>
                <a:lnTo>
                  <a:pt x="109728" y="299923"/>
                </a:lnTo>
                <a:close/>
              </a:path>
            </a:pathLst>
          </a:custGeom>
          <a:noFill/>
          <a:ln w="15875" cap="rnd">
            <a:solidFill>
              <a:srgbClr val="3432C9"/>
            </a:solidFill>
            <a:round/>
          </a:ln>
          <a:effectLst/>
        </p:spPr>
        <p:txBody>
          <a:bodyPr rtlCol="0" anchor="ctr"/>
          <a:lstStyle/>
          <a:p>
            <a:pPr algn="ctr"/>
          </a:p>
        </p:txBody>
      </p:sp>
      <p:sp>
        <p:nvSpPr>
          <p:cNvPr id="20" name="Oval 19"/>
          <p:cNvSpPr/>
          <p:nvPr/>
        </p:nvSpPr>
        <p:spPr>
          <a:xfrm>
            <a:off x="4416551" y="2249424"/>
            <a:ext cx="73152" cy="73152"/>
          </a:xfrm>
          <a:prstGeom prst="ellipse">
            <a:avLst/>
          </a:prstGeom>
          <a:noFill/>
          <a:ln w="13494" cap="rnd">
            <a:solidFill>
              <a:srgbClr val="3432C9"/>
            </a:solidFill>
            <a:round/>
          </a:ln>
          <a:effectLst/>
        </p:spPr>
        <p:txBody>
          <a:bodyPr rtlCol="0" anchor="ctr"/>
          <a:lstStyle/>
          <a:p/>
        </p:txBody>
      </p:sp>
      <p:sp>
        <p:nvSpPr>
          <p:cNvPr id="21" name="TextBox 20"/>
          <p:cNvSpPr txBox="1"/>
          <p:nvPr/>
        </p:nvSpPr>
        <p:spPr>
          <a:xfrm>
            <a:off x="4270247" y="2651760"/>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Atendimento local</a:t>
            </a:r>
          </a:p>
        </p:txBody>
      </p:sp>
      <p:sp>
        <p:nvSpPr>
          <p:cNvPr id="22" name="TextBox 21"/>
          <p:cNvSpPr txBox="1"/>
          <p:nvPr/>
        </p:nvSpPr>
        <p:spPr>
          <a:xfrm>
            <a:off x="4270247" y="2944368"/>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Operação e atendimento na Capital, próximos à origem do resíduo.</a:t>
            </a:r>
          </a:p>
        </p:txBody>
      </p:sp>
      <p:sp>
        <p:nvSpPr>
          <p:cNvPr id="23" name="Rectangle 22"/>
          <p:cNvSpPr/>
          <p:nvPr/>
        </p:nvSpPr>
        <p:spPr>
          <a:xfrm>
            <a:off x="777240" y="3895344"/>
            <a:ext cx="3017520" cy="1755648"/>
          </a:xfrm>
          <a:prstGeom prst="rect">
            <a:avLst/>
          </a:prstGeom>
          <a:solidFill>
            <a:srgbClr val="F4F5FC"/>
          </a:solidFill>
          <a:ln w="12700" cap="rnd">
            <a:noFill/>
            <a:round/>
          </a:ln>
          <a:effectLst/>
        </p:spPr>
        <p:txBody>
          <a:bodyPr rtlCol="0" anchor="ctr"/>
          <a:lstStyle/>
          <a:p/>
        </p:txBody>
      </p:sp>
      <p:sp>
        <p:nvSpPr>
          <p:cNvPr id="24" name="Oval 23"/>
          <p:cNvSpPr/>
          <p:nvPr/>
        </p:nvSpPr>
        <p:spPr>
          <a:xfrm>
            <a:off x="1113739" y="4231843"/>
            <a:ext cx="168249" cy="168249"/>
          </a:xfrm>
          <a:prstGeom prst="ellipse">
            <a:avLst/>
          </a:prstGeom>
          <a:noFill/>
          <a:ln w="15875" cap="rnd">
            <a:solidFill>
              <a:srgbClr val="3432C9"/>
            </a:solidFill>
            <a:round/>
          </a:ln>
          <a:effectLst/>
        </p:spPr>
        <p:txBody>
          <a:bodyPr rtlCol="0" anchor="ctr"/>
          <a:lstStyle/>
          <a:p/>
        </p:txBody>
      </p:sp>
      <p:sp>
        <p:nvSpPr>
          <p:cNvPr id="25" name="Oval 24"/>
          <p:cNvSpPr/>
          <p:nvPr/>
        </p:nvSpPr>
        <p:spPr>
          <a:xfrm>
            <a:off x="1164945" y="4283049"/>
            <a:ext cx="65836" cy="65836"/>
          </a:xfrm>
          <a:prstGeom prst="ellipse">
            <a:avLst/>
          </a:prstGeom>
          <a:noFill/>
          <a:ln w="15875" cap="rnd">
            <a:solidFill>
              <a:srgbClr val="3432C9"/>
            </a:solidFill>
            <a:round/>
          </a:ln>
          <a:effectLst/>
        </p:spPr>
        <p:txBody>
          <a:bodyPr rtlCol="0" anchor="ctr"/>
          <a:lstStyle/>
          <a:p/>
        </p:txBody>
      </p:sp>
      <p:sp>
        <p:nvSpPr>
          <p:cNvPr id="26" name="Freeform 25"/>
          <p:cNvSpPr/>
          <p:nvPr/>
        </p:nvSpPr>
        <p:spPr>
          <a:xfrm>
            <a:off x="1289304" y="4315968"/>
            <a:ext cx="32918" cy="0"/>
          </a:xfrm>
          <a:custGeom>
            <a:avLst/>
            <a:gdLst/>
            <a:ahLst/>
            <a:cxnLst/>
            <a:rect l="l" t="t" r="r" b="b"/>
            <a:pathLst>
              <a:path w="32918" h="0">
                <a:moveTo>
                  <a:pt x="0" y="0"/>
                </a:moveTo>
                <a:lnTo>
                  <a:pt x="32918" y="0"/>
                </a:lnTo>
              </a:path>
            </a:pathLst>
          </a:custGeom>
          <a:noFill/>
          <a:ln w="14288" cap="rnd">
            <a:solidFill>
              <a:srgbClr val="3432C9"/>
            </a:solidFill>
            <a:round/>
          </a:ln>
          <a:effectLst/>
        </p:spPr>
        <p:txBody>
          <a:bodyPr rtlCol="0" anchor="ctr"/>
          <a:lstStyle/>
          <a:p>
            <a:pPr algn="ctr"/>
          </a:p>
        </p:txBody>
      </p:sp>
      <p:sp>
        <p:nvSpPr>
          <p:cNvPr id="27" name="Freeform 26"/>
          <p:cNvSpPr/>
          <p:nvPr/>
        </p:nvSpPr>
        <p:spPr>
          <a:xfrm>
            <a:off x="1262522" y="4380626"/>
            <a:ext cx="23277" cy="23277"/>
          </a:xfrm>
          <a:custGeom>
            <a:avLst/>
            <a:gdLst/>
            <a:ahLst/>
            <a:cxnLst/>
            <a:rect l="l" t="t" r="r" b="b"/>
            <a:pathLst>
              <a:path w="23277" h="23277">
                <a:moveTo>
                  <a:pt x="0" y="0"/>
                </a:moveTo>
                <a:lnTo>
                  <a:pt x="23277" y="23277"/>
                </a:lnTo>
              </a:path>
            </a:pathLst>
          </a:custGeom>
          <a:noFill/>
          <a:ln w="14288" cap="rnd">
            <a:solidFill>
              <a:srgbClr val="3432C9"/>
            </a:solidFill>
            <a:round/>
          </a:ln>
          <a:effectLst/>
        </p:spPr>
        <p:txBody>
          <a:bodyPr rtlCol="0" anchor="ctr"/>
          <a:lstStyle/>
          <a:p>
            <a:pPr algn="ctr"/>
          </a:p>
        </p:txBody>
      </p:sp>
      <p:sp>
        <p:nvSpPr>
          <p:cNvPr id="28" name="Freeform 27"/>
          <p:cNvSpPr/>
          <p:nvPr/>
        </p:nvSpPr>
        <p:spPr>
          <a:xfrm>
            <a:off x="1197864" y="4407408"/>
            <a:ext cx="0" cy="32918"/>
          </a:xfrm>
          <a:custGeom>
            <a:avLst/>
            <a:gdLst/>
            <a:ahLst/>
            <a:cxnLst/>
            <a:rect l="l" t="t" r="r" b="b"/>
            <a:pathLst>
              <a:path w="0" h="32918">
                <a:moveTo>
                  <a:pt x="0" y="0"/>
                </a:moveTo>
                <a:lnTo>
                  <a:pt x="0" y="32918"/>
                </a:lnTo>
              </a:path>
            </a:pathLst>
          </a:custGeom>
          <a:noFill/>
          <a:ln w="14288" cap="rnd">
            <a:solidFill>
              <a:srgbClr val="3432C9"/>
            </a:solidFill>
            <a:round/>
          </a:ln>
          <a:effectLst/>
        </p:spPr>
        <p:txBody>
          <a:bodyPr rtlCol="0" anchor="ctr"/>
          <a:lstStyle/>
          <a:p>
            <a:pPr algn="ctr"/>
          </a:p>
        </p:txBody>
      </p:sp>
      <p:sp>
        <p:nvSpPr>
          <p:cNvPr id="29" name="Freeform 28"/>
          <p:cNvSpPr/>
          <p:nvPr/>
        </p:nvSpPr>
        <p:spPr>
          <a:xfrm>
            <a:off x="1109929" y="4380626"/>
            <a:ext cx="23277" cy="23277"/>
          </a:xfrm>
          <a:custGeom>
            <a:avLst/>
            <a:gdLst/>
            <a:ahLst/>
            <a:cxnLst/>
            <a:rect l="l" t="t" r="r" b="b"/>
            <a:pathLst>
              <a:path w="23277" h="23277">
                <a:moveTo>
                  <a:pt x="23277" y="0"/>
                </a:moveTo>
                <a:lnTo>
                  <a:pt x="0" y="23277"/>
                </a:lnTo>
              </a:path>
            </a:pathLst>
          </a:custGeom>
          <a:noFill/>
          <a:ln w="14288" cap="rnd">
            <a:solidFill>
              <a:srgbClr val="3432C9"/>
            </a:solidFill>
            <a:round/>
          </a:ln>
          <a:effectLst/>
        </p:spPr>
        <p:txBody>
          <a:bodyPr rtlCol="0" anchor="ctr"/>
          <a:lstStyle/>
          <a:p>
            <a:pPr algn="ctr"/>
          </a:p>
        </p:txBody>
      </p:sp>
      <p:sp>
        <p:nvSpPr>
          <p:cNvPr id="30" name="Freeform 29"/>
          <p:cNvSpPr/>
          <p:nvPr/>
        </p:nvSpPr>
        <p:spPr>
          <a:xfrm>
            <a:off x="1073506" y="4315968"/>
            <a:ext cx="32918" cy="0"/>
          </a:xfrm>
          <a:custGeom>
            <a:avLst/>
            <a:gdLst/>
            <a:ahLst/>
            <a:cxnLst/>
            <a:rect l="l" t="t" r="r" b="b"/>
            <a:pathLst>
              <a:path w="32918" h="0">
                <a:moveTo>
                  <a:pt x="32918" y="0"/>
                </a:moveTo>
                <a:lnTo>
                  <a:pt x="0" y="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1109929" y="4228033"/>
            <a:ext cx="23277" cy="23277"/>
          </a:xfrm>
          <a:custGeom>
            <a:avLst/>
            <a:gdLst/>
            <a:ahLst/>
            <a:cxnLst/>
            <a:rect l="l" t="t" r="r" b="b"/>
            <a:pathLst>
              <a:path w="23277" h="23277">
                <a:moveTo>
                  <a:pt x="23277" y="23277"/>
                </a:moveTo>
                <a:lnTo>
                  <a:pt x="0" y="0"/>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1197864" y="4191610"/>
            <a:ext cx="0" cy="32918"/>
          </a:xfrm>
          <a:custGeom>
            <a:avLst/>
            <a:gdLst/>
            <a:ahLst/>
            <a:cxnLst/>
            <a:rect l="l" t="t" r="r" b="b"/>
            <a:pathLst>
              <a:path w="0" h="32918">
                <a:moveTo>
                  <a:pt x="0" y="32918"/>
                </a:moveTo>
                <a:lnTo>
                  <a:pt x="0" y="0"/>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1262522" y="4228033"/>
            <a:ext cx="23277" cy="23277"/>
          </a:xfrm>
          <a:custGeom>
            <a:avLst/>
            <a:gdLst/>
            <a:ahLst/>
            <a:cxnLst/>
            <a:rect l="l" t="t" r="r" b="b"/>
            <a:pathLst>
              <a:path w="23277" h="23277">
                <a:moveTo>
                  <a:pt x="0" y="23277"/>
                </a:moveTo>
                <a:lnTo>
                  <a:pt x="23277" y="0"/>
                </a:lnTo>
              </a:path>
            </a:pathLst>
          </a:custGeom>
          <a:noFill/>
          <a:ln w="14288" cap="rnd">
            <a:solidFill>
              <a:srgbClr val="3432C9"/>
            </a:solidFill>
            <a:round/>
          </a:ln>
          <a:effectLst/>
        </p:spPr>
        <p:txBody>
          <a:bodyPr rtlCol="0" anchor="ctr"/>
          <a:lstStyle/>
          <a:p>
            <a:pPr algn="ctr"/>
          </a:p>
        </p:txBody>
      </p:sp>
      <p:sp>
        <p:nvSpPr>
          <p:cNvPr id="34" name="TextBox 33"/>
          <p:cNvSpPr txBox="1"/>
          <p:nvPr/>
        </p:nvSpPr>
        <p:spPr>
          <a:xfrm>
            <a:off x="1014983" y="4645152"/>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Unidade de transformação</a:t>
            </a:r>
          </a:p>
        </p:txBody>
      </p:sp>
      <p:sp>
        <p:nvSpPr>
          <p:cNvPr id="35" name="TextBox 34"/>
          <p:cNvSpPr txBox="1"/>
          <p:nvPr/>
        </p:nvSpPr>
        <p:spPr>
          <a:xfrm>
            <a:off x="1014983" y="4937759"/>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Processo registrado em fotografia e vídeo, peça por peça.</a:t>
            </a:r>
          </a:p>
        </p:txBody>
      </p:sp>
      <p:sp>
        <p:nvSpPr>
          <p:cNvPr id="36" name="Rectangle 35"/>
          <p:cNvSpPr/>
          <p:nvPr/>
        </p:nvSpPr>
        <p:spPr>
          <a:xfrm>
            <a:off x="4032503" y="3895344"/>
            <a:ext cx="3017520" cy="1755648"/>
          </a:xfrm>
          <a:prstGeom prst="rect">
            <a:avLst/>
          </a:prstGeom>
          <a:solidFill>
            <a:srgbClr val="F4F5FC"/>
          </a:solidFill>
          <a:ln w="12700" cap="rnd">
            <a:noFill/>
            <a:round/>
          </a:ln>
          <a:effectLst/>
        </p:spPr>
        <p:txBody>
          <a:bodyPr rtlCol="0" anchor="ctr"/>
          <a:lstStyle/>
          <a:p/>
        </p:txBody>
      </p:sp>
      <p:sp>
        <p:nvSpPr>
          <p:cNvPr id="37" name="Freeform 36"/>
          <p:cNvSpPr/>
          <p:nvPr/>
        </p:nvSpPr>
        <p:spPr>
          <a:xfrm>
            <a:off x="4343400" y="4162349"/>
            <a:ext cx="212141" cy="307238"/>
          </a:xfrm>
          <a:custGeom>
            <a:avLst/>
            <a:gdLst/>
            <a:ahLst/>
            <a:cxnLst/>
            <a:rect l="l" t="t" r="r" b="b"/>
            <a:pathLst>
              <a:path w="212141" h="307238">
                <a:moveTo>
                  <a:pt x="0" y="0"/>
                </a:moveTo>
                <a:lnTo>
                  <a:pt x="153619" y="0"/>
                </a:lnTo>
                <a:lnTo>
                  <a:pt x="212141" y="65837"/>
                </a:lnTo>
                <a:lnTo>
                  <a:pt x="212141" y="307238"/>
                </a:lnTo>
                <a:lnTo>
                  <a:pt x="0" y="307238"/>
                </a:lnTo>
                <a:close/>
              </a:path>
            </a:pathLst>
          </a:custGeom>
          <a:noFill/>
          <a:ln w="15875" cap="rnd">
            <a:solidFill>
              <a:srgbClr val="3432C9"/>
            </a:solidFill>
            <a:round/>
          </a:ln>
          <a:effectLst/>
        </p:spPr>
        <p:txBody>
          <a:bodyPr rtlCol="0" anchor="ctr"/>
          <a:lstStyle/>
          <a:p>
            <a:pPr algn="ctr"/>
          </a:p>
        </p:txBody>
      </p:sp>
      <p:sp>
        <p:nvSpPr>
          <p:cNvPr id="38" name="Freeform 37"/>
          <p:cNvSpPr/>
          <p:nvPr/>
        </p:nvSpPr>
        <p:spPr>
          <a:xfrm>
            <a:off x="4497019" y="4162349"/>
            <a:ext cx="58522" cy="65837"/>
          </a:xfrm>
          <a:custGeom>
            <a:avLst/>
            <a:gdLst/>
            <a:ahLst/>
            <a:cxnLst/>
            <a:rect l="l" t="t" r="r" b="b"/>
            <a:pathLst>
              <a:path w="58522" h="65837">
                <a:moveTo>
                  <a:pt x="0" y="0"/>
                </a:moveTo>
                <a:lnTo>
                  <a:pt x="0" y="65837"/>
                </a:lnTo>
                <a:lnTo>
                  <a:pt x="58522" y="65837"/>
                </a:lnTo>
              </a:path>
            </a:pathLst>
          </a:custGeom>
          <a:noFill/>
          <a:ln w="12700" cap="rnd">
            <a:solidFill>
              <a:srgbClr val="3432C9"/>
            </a:solidFill>
            <a:round/>
          </a:ln>
          <a:effectLst/>
        </p:spPr>
        <p:txBody>
          <a:bodyPr rtlCol="0" anchor="ctr"/>
          <a:lstStyle/>
          <a:p>
            <a:pPr algn="ctr"/>
          </a:p>
        </p:txBody>
      </p:sp>
      <p:sp>
        <p:nvSpPr>
          <p:cNvPr id="39" name="Freeform 38"/>
          <p:cNvSpPr/>
          <p:nvPr/>
        </p:nvSpPr>
        <p:spPr>
          <a:xfrm>
            <a:off x="4383634" y="4286707"/>
            <a:ext cx="131673" cy="0"/>
          </a:xfrm>
          <a:custGeom>
            <a:avLst/>
            <a:gdLst/>
            <a:ahLst/>
            <a:cxnLst/>
            <a:rect l="l" t="t" r="r" b="b"/>
            <a:pathLst>
              <a:path w="131673" h="0">
                <a:moveTo>
                  <a:pt x="0" y="0"/>
                </a:moveTo>
                <a:lnTo>
                  <a:pt x="131673" y="0"/>
                </a:lnTo>
              </a:path>
            </a:pathLst>
          </a:custGeom>
          <a:noFill/>
          <a:ln w="11112" cap="rnd">
            <a:solidFill>
              <a:srgbClr val="3432C9"/>
            </a:solidFill>
            <a:round/>
          </a:ln>
          <a:effectLst/>
        </p:spPr>
        <p:txBody>
          <a:bodyPr rtlCol="0" anchor="ctr"/>
          <a:lstStyle/>
          <a:p>
            <a:pPr algn="ctr"/>
          </a:p>
        </p:txBody>
      </p:sp>
      <p:sp>
        <p:nvSpPr>
          <p:cNvPr id="40" name="Freeform 39"/>
          <p:cNvSpPr/>
          <p:nvPr/>
        </p:nvSpPr>
        <p:spPr>
          <a:xfrm>
            <a:off x="4383634" y="4330598"/>
            <a:ext cx="131673" cy="0"/>
          </a:xfrm>
          <a:custGeom>
            <a:avLst/>
            <a:gdLst/>
            <a:ahLst/>
            <a:cxnLst/>
            <a:rect l="l" t="t" r="r" b="b"/>
            <a:pathLst>
              <a:path w="131673" h="0">
                <a:moveTo>
                  <a:pt x="0" y="0"/>
                </a:moveTo>
                <a:lnTo>
                  <a:pt x="131673" y="0"/>
                </a:lnTo>
              </a:path>
            </a:pathLst>
          </a:custGeom>
          <a:noFill/>
          <a:ln w="11112" cap="rnd">
            <a:solidFill>
              <a:srgbClr val="3432C9"/>
            </a:solidFill>
            <a:round/>
          </a:ln>
          <a:effectLst/>
        </p:spPr>
        <p:txBody>
          <a:bodyPr rtlCol="0" anchor="ctr"/>
          <a:lstStyle/>
          <a:p>
            <a:pPr algn="ctr"/>
          </a:p>
        </p:txBody>
      </p:sp>
      <p:sp>
        <p:nvSpPr>
          <p:cNvPr id="41" name="Freeform 40"/>
          <p:cNvSpPr/>
          <p:nvPr/>
        </p:nvSpPr>
        <p:spPr>
          <a:xfrm>
            <a:off x="4390949" y="4359859"/>
            <a:ext cx="120701" cy="73152"/>
          </a:xfrm>
          <a:custGeom>
            <a:avLst/>
            <a:gdLst/>
            <a:ahLst/>
            <a:cxnLst/>
            <a:rect l="l" t="t" r="r" b="b"/>
            <a:pathLst>
              <a:path w="120701" h="73152">
                <a:moveTo>
                  <a:pt x="0" y="36576"/>
                </a:moveTo>
                <a:lnTo>
                  <a:pt x="40233" y="73152"/>
                </a:lnTo>
                <a:lnTo>
                  <a:pt x="120701" y="0"/>
                </a:lnTo>
              </a:path>
            </a:pathLst>
          </a:custGeom>
          <a:noFill/>
          <a:ln w="17462" cap="rnd">
            <a:solidFill>
              <a:srgbClr val="3432C9"/>
            </a:solidFill>
            <a:round/>
          </a:ln>
          <a:effectLst/>
        </p:spPr>
        <p:txBody>
          <a:bodyPr rtlCol="0" anchor="ctr"/>
          <a:lstStyle/>
          <a:p>
            <a:pPr algn="ctr"/>
          </a:p>
        </p:txBody>
      </p:sp>
      <p:sp>
        <p:nvSpPr>
          <p:cNvPr id="42" name="TextBox 41"/>
          <p:cNvSpPr txBox="1"/>
          <p:nvPr/>
        </p:nvSpPr>
        <p:spPr>
          <a:xfrm>
            <a:off x="4270247" y="4645152"/>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Documentação ambiental</a:t>
            </a:r>
          </a:p>
        </p:txBody>
      </p:sp>
      <p:sp>
        <p:nvSpPr>
          <p:cNvPr id="43" name="TextBox 42"/>
          <p:cNvSpPr txBox="1"/>
          <p:nvPr/>
        </p:nvSpPr>
        <p:spPr>
          <a:xfrm>
            <a:off x="4270247" y="4937759"/>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Atestado de descaracterização e documentação de destinação.</a:t>
            </a:r>
          </a:p>
        </p:txBody>
      </p:sp>
      <p:pic>
        <p:nvPicPr>
          <p:cNvPr id="44" name="Picture 43" descr="duo_corredor_tall.jpg"/>
          <p:cNvPicPr>
            <a:picLocks noChangeAspect="1"/>
          </p:cNvPicPr>
          <p:nvPr/>
        </p:nvPicPr>
        <p:blipFill>
          <a:blip r:embed="rId3"/>
          <a:srcRect t="19080" b="19080"/>
          <a:stretch>
            <a:fillRect/>
          </a:stretch>
        </p:blipFill>
        <p:spPr>
          <a:xfrm>
            <a:off x="7287767" y="1901952"/>
            <a:ext cx="4041648" cy="3749039"/>
          </a:xfrm>
          <a:prstGeom prst="rect">
            <a:avLst/>
          </a:prstGeom>
          <a:effectLst/>
        </p:spPr>
      </p:pic>
      <p:sp>
        <p:nvSpPr>
          <p:cNvPr id="45" name="Rectangle 44"/>
          <p:cNvSpPr/>
          <p:nvPr/>
        </p:nvSpPr>
        <p:spPr>
          <a:xfrm>
            <a:off x="7287767" y="1901952"/>
            <a:ext cx="4041648" cy="3749039"/>
          </a:xfrm>
          <a:prstGeom prst="rect">
            <a:avLst/>
          </a:prstGeom>
          <a:gradFill flip="none" rotWithShape="1">
            <a:gsLst>
              <a:gs pos="0">
                <a:srgbClr val="0E0D28">
                  <a:alpha val="8000"/>
                </a:srgbClr>
              </a:gs>
              <a:gs pos="52000">
                <a:srgbClr val="0E0D28">
                  <a:alpha val="45000"/>
                </a:srgbClr>
              </a:gs>
              <a:gs pos="100000">
                <a:srgbClr val="0E0D28">
                  <a:alpha val="88000"/>
                </a:srgbClr>
              </a:gs>
            </a:gsLst>
            <a:lin ang="5400000" scaled="0"/>
          </a:gradFill>
          <a:ln w="12700" cap="rnd">
            <a:noFill/>
            <a:round/>
          </a:ln>
          <a:effectLst/>
        </p:spPr>
        <p:txBody>
          <a:bodyPr rtlCol="0" anchor="ctr"/>
          <a:lstStyle/>
          <a:p/>
        </p:txBody>
      </p:sp>
      <p:sp>
        <p:nvSpPr>
          <p:cNvPr id="46" name="TextBox 45"/>
          <p:cNvSpPr txBox="1"/>
          <p:nvPr/>
        </p:nvSpPr>
        <p:spPr>
          <a:xfrm>
            <a:off x="7562088" y="4809744"/>
            <a:ext cx="3474720" cy="640080"/>
          </a:xfrm>
          <a:prstGeom prst="rect">
            <a:avLst/>
          </a:prstGeom>
          <a:noFill/>
          <a:effectLst/>
        </p:spPr>
        <p:txBody>
          <a:bodyPr wrap="square" lIns="0" rIns="0" tIns="0" bIns="0" anchor="t">
            <a:spAutoFit/>
          </a:bodyPr>
          <a:lstStyle/>
          <a:p>
            <a:pPr algn="l">
              <a:lnSpc>
                <a:spcPct val="128000"/>
              </a:lnSpc>
            </a:pPr>
            <a:r>
              <a:rPr sz="1400" b="0" i="0">
                <a:solidFill>
                  <a:srgbClr val="FFFFFF"/>
                </a:solidFill>
                <a:latin typeface="Montserrat Light"/>
              </a:rPr>
              <a:t>Rastreabilidade completa</a:t>
            </a:r>
          </a:p>
          <a:p>
            <a:pPr algn="l">
              <a:lnSpc>
                <a:spcPct val="128000"/>
              </a:lnSpc>
            </a:pPr>
            <a:r>
              <a:rPr sz="1400" b="0" i="0">
                <a:solidFill>
                  <a:srgbClr val="FFFFFF"/>
                </a:solidFill>
                <a:latin typeface="Montserrat Light"/>
              </a:rPr>
              <a:t>do material</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Visão geral do projeto</a:t>
            </a:r>
          </a:p>
        </p:txBody>
      </p:sp>
      <p:sp>
        <p:nvSpPr>
          <p:cNvPr id="5" name="TextBox 4"/>
          <p:cNvSpPr txBox="1"/>
          <p:nvPr/>
        </p:nvSpPr>
        <p:spPr>
          <a:xfrm>
            <a:off x="777240" y="914400"/>
            <a:ext cx="6400800" cy="1371600"/>
          </a:xfrm>
          <a:prstGeom prst="rect">
            <a:avLst/>
          </a:prstGeom>
          <a:noFill/>
          <a:effectLst/>
        </p:spPr>
        <p:txBody>
          <a:bodyPr wrap="square" lIns="0" rIns="0" tIns="0" bIns="0" anchor="t">
            <a:spAutoFit/>
          </a:bodyPr>
          <a:lstStyle/>
          <a:p>
            <a:pPr algn="l">
              <a:lnSpc>
                <a:spcPct val="116000"/>
              </a:lnSpc>
            </a:pPr>
            <a:r>
              <a:rPr sz="2400" b="0" i="0">
                <a:solidFill>
                  <a:srgbClr val="14142E"/>
                </a:solidFill>
                <a:latin typeface="Montserrat Light"/>
              </a:rPr>
              <a:t>Oportunidade para transformar um espaço público em </a:t>
            </a:r>
            <a:r>
              <a:rPr sz="2400" b="0" i="0">
                <a:solidFill>
                  <a:srgbClr val="14142E"/>
                </a:solidFill>
                <a:latin typeface="Montserrat SemiBold"/>
              </a:rPr>
              <a:t>referência nacional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04</a:t>
            </a:r>
          </a:p>
        </p:txBody>
      </p:sp>
      <p:sp>
        <p:nvSpPr>
          <p:cNvPr id="9" name="TextBox 8"/>
          <p:cNvSpPr txBox="1"/>
          <p:nvPr/>
        </p:nvSpPr>
        <p:spPr>
          <a:xfrm>
            <a:off x="777240" y="2212848"/>
            <a:ext cx="5394960" cy="1737360"/>
          </a:xfrm>
          <a:prstGeom prst="rect">
            <a:avLst/>
          </a:prstGeom>
          <a:noFill/>
          <a:effectLst/>
        </p:spPr>
        <p:txBody>
          <a:bodyPr wrap="square" lIns="0" rIns="0" tIns="0" bIns="0" anchor="t">
            <a:spAutoFit/>
          </a:bodyPr>
          <a:lstStyle/>
          <a:p>
            <a:pPr algn="l">
              <a:lnSpc>
                <a:spcPct val="146000"/>
              </a:lnSpc>
            </a:pPr>
            <a:r>
              <a:rPr sz="1080" b="0" i="0">
                <a:solidFill>
                  <a:srgbClr val="6E7288"/>
                </a:solidFill>
                <a:latin typeface="Montserrat"/>
              </a:rPr>
              <a:t>O projeto propõe a assunção da área livre do Ecoponto Belezinho, localizado na Rua Herval, para implantação do primeiro Bioma Sustentável de Reciclagem Têxtil do Município de São Paulo, promovendo economia circular, redução de resíduos e destinação ambientalmente adequada dos materiais têxteis.</a:t>
            </a:r>
          </a:p>
        </p:txBody>
      </p:sp>
      <p:sp>
        <p:nvSpPr>
          <p:cNvPr id="10" name="Rectangle 9"/>
          <p:cNvSpPr/>
          <p:nvPr/>
        </p:nvSpPr>
        <p:spPr>
          <a:xfrm>
            <a:off x="777240" y="4114800"/>
            <a:ext cx="5394960" cy="877824"/>
          </a:xfrm>
          <a:prstGeom prst="rect">
            <a:avLst/>
          </a:prstGeom>
          <a:solidFill>
            <a:srgbClr val="F4F5FC"/>
          </a:solidFill>
          <a:ln w="12700" cap="rnd">
            <a:noFill/>
            <a:round/>
          </a:ln>
          <a:effectLst/>
        </p:spPr>
        <p:txBody>
          <a:bodyPr rtlCol="0" anchor="ctr"/>
          <a:lstStyle/>
          <a:p/>
        </p:txBody>
      </p:sp>
      <p:sp>
        <p:nvSpPr>
          <p:cNvPr id="11" name="Rectangle 10"/>
          <p:cNvSpPr/>
          <p:nvPr/>
        </p:nvSpPr>
        <p:spPr>
          <a:xfrm>
            <a:off x="777240" y="4114800"/>
            <a:ext cx="32004" cy="877824"/>
          </a:xfrm>
          <a:prstGeom prst="rect">
            <a:avLst/>
          </a:prstGeom>
          <a:solidFill>
            <a:srgbClr val="12A87B"/>
          </a:solidFill>
          <a:ln w="12700" cap="rnd">
            <a:noFill/>
            <a:round/>
          </a:ln>
          <a:effectLst/>
        </p:spPr>
        <p:txBody>
          <a:bodyPr rtlCol="0" anchor="ctr"/>
          <a:lstStyle/>
          <a:p/>
        </p:txBody>
      </p:sp>
      <p:sp>
        <p:nvSpPr>
          <p:cNvPr id="12" name="Freeform 11"/>
          <p:cNvSpPr/>
          <p:nvPr/>
        </p:nvSpPr>
        <p:spPr>
          <a:xfrm>
            <a:off x="1152871" y="4383923"/>
            <a:ext cx="236290" cy="339578"/>
          </a:xfrm>
          <a:custGeom>
            <a:avLst/>
            <a:gdLst/>
            <a:ahLst/>
            <a:cxnLst/>
            <a:rect l="l" t="t" r="r" b="b"/>
            <a:pathLst>
              <a:path w="236290" h="339578">
                <a:moveTo>
                  <a:pt x="179943" y="339578"/>
                </a:moveTo>
                <a:lnTo>
                  <a:pt x="163822" y="330655"/>
                </a:lnTo>
                <a:lnTo>
                  <a:pt x="146593" y="322134"/>
                </a:lnTo>
                <a:lnTo>
                  <a:pt x="129224" y="313665"/>
                </a:lnTo>
                <a:lnTo>
                  <a:pt x="112104" y="305106"/>
                </a:lnTo>
                <a:lnTo>
                  <a:pt x="95527" y="296348"/>
                </a:lnTo>
                <a:lnTo>
                  <a:pt x="79743" y="287302"/>
                </a:lnTo>
                <a:lnTo>
                  <a:pt x="64971" y="277888"/>
                </a:lnTo>
                <a:lnTo>
                  <a:pt x="51405" y="268035"/>
                </a:lnTo>
                <a:lnTo>
                  <a:pt x="39209" y="257683"/>
                </a:lnTo>
                <a:lnTo>
                  <a:pt x="28522" y="246782"/>
                </a:lnTo>
                <a:lnTo>
                  <a:pt x="19451" y="235293"/>
                </a:lnTo>
                <a:lnTo>
                  <a:pt x="12075" y="223186"/>
                </a:lnTo>
                <a:lnTo>
                  <a:pt x="6442" y="210446"/>
                </a:lnTo>
                <a:lnTo>
                  <a:pt x="2568" y="197065"/>
                </a:lnTo>
                <a:lnTo>
                  <a:pt x="436" y="183050"/>
                </a:lnTo>
                <a:lnTo>
                  <a:pt x="0" y="168418"/>
                </a:lnTo>
                <a:lnTo>
                  <a:pt x="1180" y="153197"/>
                </a:lnTo>
                <a:lnTo>
                  <a:pt x="3868" y="137428"/>
                </a:lnTo>
                <a:lnTo>
                  <a:pt x="7927" y="121160"/>
                </a:lnTo>
                <a:lnTo>
                  <a:pt x="13191" y="104453"/>
                </a:lnTo>
                <a:lnTo>
                  <a:pt x="19468" y="87378"/>
                </a:lnTo>
                <a:lnTo>
                  <a:pt x="26538" y="70013"/>
                </a:lnTo>
                <a:lnTo>
                  <a:pt x="34150" y="52452"/>
                </a:lnTo>
                <a:lnTo>
                  <a:pt x="42012" y="34800"/>
                </a:lnTo>
                <a:lnTo>
                  <a:pt x="49733" y="17198"/>
                </a:lnTo>
                <a:lnTo>
                  <a:pt x="56347" y="0"/>
                </a:lnTo>
                <a:lnTo>
                  <a:pt x="56347" y="0"/>
                </a:lnTo>
                <a:lnTo>
                  <a:pt x="72468" y="8923"/>
                </a:lnTo>
                <a:lnTo>
                  <a:pt x="89697" y="17444"/>
                </a:lnTo>
                <a:lnTo>
                  <a:pt x="107066" y="25913"/>
                </a:lnTo>
                <a:lnTo>
                  <a:pt x="124186" y="34472"/>
                </a:lnTo>
                <a:lnTo>
                  <a:pt x="140763" y="43230"/>
                </a:lnTo>
                <a:lnTo>
                  <a:pt x="156547" y="52276"/>
                </a:lnTo>
                <a:lnTo>
                  <a:pt x="171319" y="61690"/>
                </a:lnTo>
                <a:lnTo>
                  <a:pt x="184885" y="71543"/>
                </a:lnTo>
                <a:lnTo>
                  <a:pt x="197081" y="81895"/>
                </a:lnTo>
                <a:lnTo>
                  <a:pt x="207768" y="92796"/>
                </a:lnTo>
                <a:lnTo>
                  <a:pt x="216839" y="104285"/>
                </a:lnTo>
                <a:lnTo>
                  <a:pt x="224215" y="116392"/>
                </a:lnTo>
                <a:lnTo>
                  <a:pt x="229848" y="129132"/>
                </a:lnTo>
                <a:lnTo>
                  <a:pt x="233722" y="142513"/>
                </a:lnTo>
                <a:lnTo>
                  <a:pt x="235854" y="156528"/>
                </a:lnTo>
                <a:lnTo>
                  <a:pt x="236290" y="171160"/>
                </a:lnTo>
                <a:lnTo>
                  <a:pt x="235110" y="186381"/>
                </a:lnTo>
                <a:lnTo>
                  <a:pt x="232422" y="202150"/>
                </a:lnTo>
                <a:lnTo>
                  <a:pt x="228363" y="218418"/>
                </a:lnTo>
                <a:lnTo>
                  <a:pt x="223099" y="235125"/>
                </a:lnTo>
                <a:lnTo>
                  <a:pt x="216822" y="252200"/>
                </a:lnTo>
                <a:lnTo>
                  <a:pt x="209752" y="269565"/>
                </a:lnTo>
                <a:lnTo>
                  <a:pt x="202140" y="287126"/>
                </a:lnTo>
                <a:lnTo>
                  <a:pt x="194278" y="304778"/>
                </a:lnTo>
                <a:lnTo>
                  <a:pt x="186557" y="322380"/>
                </a:lnTo>
                <a:lnTo>
                  <a:pt x="179943" y="339578"/>
                </a:lnTo>
                <a:close/>
              </a:path>
            </a:pathLst>
          </a:custGeom>
          <a:noFill/>
          <a:ln w="15875" cap="rnd">
            <a:solidFill>
              <a:srgbClr val="12A87B"/>
            </a:solidFill>
            <a:round/>
          </a:ln>
          <a:effectLst/>
        </p:spPr>
        <p:txBody>
          <a:bodyPr rtlCol="0" anchor="ctr"/>
          <a:lstStyle/>
          <a:p>
            <a:pPr algn="ctr"/>
          </a:p>
        </p:txBody>
      </p:sp>
      <p:sp>
        <p:nvSpPr>
          <p:cNvPr id="13" name="Freeform 12"/>
          <p:cNvSpPr/>
          <p:nvPr/>
        </p:nvSpPr>
        <p:spPr>
          <a:xfrm>
            <a:off x="1209218" y="4383923"/>
            <a:ext cx="123596" cy="339578"/>
          </a:xfrm>
          <a:custGeom>
            <a:avLst/>
            <a:gdLst/>
            <a:ahLst/>
            <a:cxnLst/>
            <a:rect l="l" t="t" r="r" b="b"/>
            <a:pathLst>
              <a:path w="123596" h="339578">
                <a:moveTo>
                  <a:pt x="123596" y="339578"/>
                </a:moveTo>
                <a:lnTo>
                  <a:pt x="0" y="0"/>
                </a:lnTo>
              </a:path>
            </a:pathLst>
          </a:custGeom>
          <a:noFill/>
          <a:ln w="12700" cap="rnd">
            <a:solidFill>
              <a:srgbClr val="12A87B"/>
            </a:solidFill>
            <a:round/>
          </a:ln>
          <a:effectLst/>
        </p:spPr>
        <p:txBody>
          <a:bodyPr rtlCol="0" anchor="ctr"/>
          <a:lstStyle/>
          <a:p>
            <a:pPr algn="ctr"/>
          </a:p>
        </p:txBody>
      </p:sp>
      <p:sp>
        <p:nvSpPr>
          <p:cNvPr id="14" name="Freeform 13"/>
          <p:cNvSpPr/>
          <p:nvPr/>
        </p:nvSpPr>
        <p:spPr>
          <a:xfrm>
            <a:off x="1220213" y="4602968"/>
            <a:ext cx="77994" cy="25451"/>
          </a:xfrm>
          <a:custGeom>
            <a:avLst/>
            <a:gdLst/>
            <a:ahLst/>
            <a:cxnLst/>
            <a:rect l="l" t="t" r="r" b="b"/>
            <a:pathLst>
              <a:path w="77994" h="25451">
                <a:moveTo>
                  <a:pt x="77994" y="25451"/>
                </a:moveTo>
                <a:lnTo>
                  <a:pt x="0"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298207" y="4558789"/>
            <a:ext cx="43387" cy="69630"/>
          </a:xfrm>
          <a:custGeom>
            <a:avLst/>
            <a:gdLst/>
            <a:ahLst/>
            <a:cxnLst/>
            <a:rect l="l" t="t" r="r" b="b"/>
            <a:pathLst>
              <a:path w="43387" h="69630">
                <a:moveTo>
                  <a:pt x="0" y="69630"/>
                </a:moveTo>
                <a:lnTo>
                  <a:pt x="43387"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175930" y="4542173"/>
            <a:ext cx="97558" cy="18331"/>
          </a:xfrm>
          <a:custGeom>
            <a:avLst/>
            <a:gdLst/>
            <a:ahLst/>
            <a:cxnLst/>
            <a:rect l="l" t="t" r="r" b="b"/>
            <a:pathLst>
              <a:path w="97558" h="18331">
                <a:moveTo>
                  <a:pt x="97558" y="18331"/>
                </a:moveTo>
                <a:lnTo>
                  <a:pt x="0"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273488" y="4483752"/>
            <a:ext cx="62951" cy="76752"/>
          </a:xfrm>
          <a:custGeom>
            <a:avLst/>
            <a:gdLst/>
            <a:ahLst/>
            <a:cxnLst/>
            <a:rect l="l" t="t" r="r" b="b"/>
            <a:pathLst>
              <a:path w="62951" h="76752">
                <a:moveTo>
                  <a:pt x="0" y="76752"/>
                </a:moveTo>
                <a:lnTo>
                  <a:pt x="62951"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164472" y="4469431"/>
            <a:ext cx="84297" cy="23157"/>
          </a:xfrm>
          <a:custGeom>
            <a:avLst/>
            <a:gdLst/>
            <a:ahLst/>
            <a:cxnLst/>
            <a:rect l="l" t="t" r="r" b="b"/>
            <a:pathLst>
              <a:path w="84297" h="23157">
                <a:moveTo>
                  <a:pt x="84297" y="23157"/>
                </a:moveTo>
                <a:lnTo>
                  <a:pt x="0"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1248769" y="4420664"/>
            <a:ext cx="49689" cy="71924"/>
          </a:xfrm>
          <a:custGeom>
            <a:avLst/>
            <a:gdLst/>
            <a:ahLst/>
            <a:cxnLst/>
            <a:rect l="l" t="t" r="r" b="b"/>
            <a:pathLst>
              <a:path w="49689" h="71924">
                <a:moveTo>
                  <a:pt x="0" y="71924"/>
                </a:moveTo>
                <a:lnTo>
                  <a:pt x="49689" y="0"/>
                </a:lnTo>
              </a:path>
            </a:pathLst>
          </a:custGeom>
          <a:noFill/>
          <a:ln w="9525" cap="rnd">
            <a:solidFill>
              <a:srgbClr val="12A87B"/>
            </a:solidFill>
            <a:round/>
          </a:ln>
          <a:effectLst/>
        </p:spPr>
        <p:txBody>
          <a:bodyPr rtlCol="0" anchor="ctr"/>
          <a:lstStyle/>
          <a:p>
            <a:pPr algn="ctr"/>
          </a:p>
        </p:txBody>
      </p:sp>
      <p:sp>
        <p:nvSpPr>
          <p:cNvPr id="20" name="TextBox 19"/>
          <p:cNvSpPr txBox="1"/>
          <p:nvPr/>
        </p:nvSpPr>
        <p:spPr>
          <a:xfrm>
            <a:off x="1691640" y="4279392"/>
            <a:ext cx="4206240" cy="548640"/>
          </a:xfrm>
          <a:prstGeom prst="rect">
            <a:avLst/>
          </a:prstGeom>
          <a:noFill/>
          <a:effectLst/>
        </p:spPr>
        <p:txBody>
          <a:bodyPr wrap="square" lIns="0" rIns="0" tIns="0" bIns="0" anchor="t">
            <a:spAutoFit/>
          </a:bodyPr>
          <a:lstStyle/>
          <a:p>
            <a:pPr algn="l">
              <a:lnSpc>
                <a:spcPct val="134000"/>
              </a:lnSpc>
            </a:pPr>
            <a:r>
              <a:rPr sz="1400" b="0" i="0">
                <a:solidFill>
                  <a:srgbClr val="14142E"/>
                </a:solidFill>
                <a:latin typeface="Montserrat SemiBold"/>
              </a:rPr>
              <a:t>Bioma Sustentável</a:t>
            </a:r>
            <a:r>
              <a:rPr sz="919" b="0" i="0">
                <a:solidFill>
                  <a:srgbClr val="6E7288"/>
                </a:solidFill>
                <a:latin typeface="Montserrat"/>
              </a:rPr>
              <a:t>
Economia circular aplicada ao resíduo têxtil</a:t>
            </a:r>
          </a:p>
        </p:txBody>
      </p:sp>
      <p:sp>
        <p:nvSpPr>
          <p:cNvPr id="21" name="Freeform 20"/>
          <p:cNvSpPr/>
          <p:nvPr/>
        </p:nvSpPr>
        <p:spPr>
          <a:xfrm>
            <a:off x="839419" y="5261458"/>
            <a:ext cx="186538" cy="254934"/>
          </a:xfrm>
          <a:custGeom>
            <a:avLst/>
            <a:gdLst/>
            <a:ahLst/>
            <a:cxnLst/>
            <a:rect l="l" t="t" r="r" b="b"/>
            <a:pathLst>
              <a:path w="186538" h="254934">
                <a:moveTo>
                  <a:pt x="27318" y="159219"/>
                </a:moveTo>
                <a:lnTo>
                  <a:pt x="17813" y="148090"/>
                </a:lnTo>
                <a:lnTo>
                  <a:pt x="10166" y="135612"/>
                </a:lnTo>
                <a:lnTo>
                  <a:pt x="4565" y="122090"/>
                </a:lnTo>
                <a:lnTo>
                  <a:pt x="1148" y="107859"/>
                </a:lnTo>
                <a:lnTo>
                  <a:pt x="0" y="93268"/>
                </a:lnTo>
                <a:lnTo>
                  <a:pt x="1148" y="78678"/>
                </a:lnTo>
                <a:lnTo>
                  <a:pt x="4565" y="64447"/>
                </a:lnTo>
                <a:lnTo>
                  <a:pt x="10166" y="50925"/>
                </a:lnTo>
                <a:lnTo>
                  <a:pt x="17813" y="38446"/>
                </a:lnTo>
                <a:lnTo>
                  <a:pt x="27318" y="27317"/>
                </a:lnTo>
                <a:lnTo>
                  <a:pt x="38447" y="17812"/>
                </a:lnTo>
                <a:lnTo>
                  <a:pt x="50926" y="10165"/>
                </a:lnTo>
                <a:lnTo>
                  <a:pt x="64447" y="4564"/>
                </a:lnTo>
                <a:lnTo>
                  <a:pt x="78679" y="1148"/>
                </a:lnTo>
                <a:lnTo>
                  <a:pt x="93269" y="0"/>
                </a:lnTo>
                <a:lnTo>
                  <a:pt x="107859" y="1148"/>
                </a:lnTo>
                <a:lnTo>
                  <a:pt x="122091" y="4564"/>
                </a:lnTo>
                <a:lnTo>
                  <a:pt x="135612" y="10165"/>
                </a:lnTo>
                <a:lnTo>
                  <a:pt x="148091" y="17812"/>
                </a:lnTo>
                <a:lnTo>
                  <a:pt x="159220" y="27317"/>
                </a:lnTo>
                <a:lnTo>
                  <a:pt x="168725" y="38446"/>
                </a:lnTo>
                <a:lnTo>
                  <a:pt x="176372" y="50925"/>
                </a:lnTo>
                <a:lnTo>
                  <a:pt x="181973" y="64447"/>
                </a:lnTo>
                <a:lnTo>
                  <a:pt x="185390" y="78678"/>
                </a:lnTo>
                <a:lnTo>
                  <a:pt x="186538" y="93268"/>
                </a:lnTo>
                <a:lnTo>
                  <a:pt x="185390" y="107859"/>
                </a:lnTo>
                <a:lnTo>
                  <a:pt x="181973" y="122090"/>
                </a:lnTo>
                <a:lnTo>
                  <a:pt x="176372" y="135612"/>
                </a:lnTo>
                <a:lnTo>
                  <a:pt x="168725" y="148090"/>
                </a:lnTo>
                <a:lnTo>
                  <a:pt x="159220" y="159219"/>
                </a:lnTo>
                <a:lnTo>
                  <a:pt x="93269" y="254934"/>
                </a:lnTo>
                <a:close/>
              </a:path>
            </a:pathLst>
          </a:custGeom>
          <a:noFill/>
          <a:ln w="15875" cap="rnd">
            <a:solidFill>
              <a:srgbClr val="3432C9"/>
            </a:solidFill>
            <a:round/>
          </a:ln>
          <a:effectLst/>
        </p:spPr>
        <p:txBody>
          <a:bodyPr rtlCol="0" anchor="ctr"/>
          <a:lstStyle/>
          <a:p>
            <a:pPr algn="ctr"/>
          </a:p>
        </p:txBody>
      </p:sp>
      <p:sp>
        <p:nvSpPr>
          <p:cNvPr id="22" name="Oval 21"/>
          <p:cNvSpPr/>
          <p:nvPr/>
        </p:nvSpPr>
        <p:spPr>
          <a:xfrm>
            <a:off x="901598" y="5323636"/>
            <a:ext cx="62179" cy="62179"/>
          </a:xfrm>
          <a:prstGeom prst="ellipse">
            <a:avLst/>
          </a:prstGeom>
          <a:noFill/>
          <a:ln w="13494" cap="rnd">
            <a:solidFill>
              <a:srgbClr val="3432C9"/>
            </a:solidFill>
            <a:round/>
          </a:ln>
          <a:effectLst/>
        </p:spPr>
        <p:txBody>
          <a:bodyPr rtlCol="0" anchor="ctr"/>
          <a:lstStyle/>
          <a:p/>
        </p:txBody>
      </p:sp>
      <p:sp>
        <p:nvSpPr>
          <p:cNvPr id="23" name="TextBox 22"/>
          <p:cNvSpPr txBox="1"/>
          <p:nvPr/>
        </p:nvSpPr>
        <p:spPr>
          <a:xfrm>
            <a:off x="1197864" y="5248656"/>
            <a:ext cx="4754880" cy="457200"/>
          </a:xfrm>
          <a:prstGeom prst="rect">
            <a:avLst/>
          </a:prstGeom>
          <a:noFill/>
          <a:effectLst/>
        </p:spPr>
        <p:txBody>
          <a:bodyPr wrap="square" lIns="0" rIns="0" tIns="0" bIns="0" anchor="t">
            <a:spAutoFit/>
          </a:bodyPr>
          <a:lstStyle/>
          <a:p>
            <a:pPr algn="l">
              <a:lnSpc>
                <a:spcPct val="135000"/>
              </a:lnSpc>
            </a:pPr>
            <a:r>
              <a:rPr sz="960" b="0" i="0">
                <a:solidFill>
                  <a:srgbClr val="3A3C55"/>
                </a:solidFill>
                <a:latin typeface="Montserrat Medium"/>
              </a:rPr>
              <a:t>Rua Herval  ·  Ecoponto Belezinho  ·  São Paulo / SP</a:t>
            </a:r>
          </a:p>
        </p:txBody>
      </p:sp>
      <p:pic>
        <p:nvPicPr>
          <p:cNvPr id="24" name="Picture 23" descr="eco_area_wide.jpg"/>
          <p:cNvPicPr>
            <a:picLocks noChangeAspect="1"/>
          </p:cNvPicPr>
          <p:nvPr/>
        </p:nvPicPr>
        <p:blipFill>
          <a:blip r:embed="rId3"/>
          <a:srcRect l="54" r="54"/>
          <a:stretch>
            <a:fillRect/>
          </a:stretch>
        </p:blipFill>
        <p:spPr>
          <a:xfrm>
            <a:off x="6720840" y="2212848"/>
            <a:ext cx="4709160" cy="2651760"/>
          </a:xfrm>
          <a:prstGeom prst="rect">
            <a:avLst/>
          </a:prstGeom>
          <a:effectLst/>
        </p:spPr>
      </p:pic>
      <p:sp>
        <p:nvSpPr>
          <p:cNvPr id="25" name="Rectangle 24"/>
          <p:cNvSpPr/>
          <p:nvPr/>
        </p:nvSpPr>
        <p:spPr>
          <a:xfrm>
            <a:off x="6720840" y="2212848"/>
            <a:ext cx="4709160" cy="2651760"/>
          </a:xfrm>
          <a:prstGeom prst="rect">
            <a:avLst/>
          </a:prstGeom>
          <a:noFill/>
          <a:ln w="9525" cap="rnd">
            <a:solidFill>
              <a:srgbClr val="DFE2F0"/>
            </a:solidFill>
            <a:round/>
          </a:ln>
          <a:effectLst/>
        </p:spPr>
        <p:txBody>
          <a:bodyPr rtlCol="0" anchor="ctr"/>
          <a:lstStyle/>
          <a:p/>
        </p:txBody>
      </p:sp>
      <p:sp>
        <p:nvSpPr>
          <p:cNvPr id="26" name="TextBox 25"/>
          <p:cNvSpPr txBox="1"/>
          <p:nvPr/>
        </p:nvSpPr>
        <p:spPr>
          <a:xfrm>
            <a:off x="6720840" y="4956048"/>
            <a:ext cx="4709160" cy="292608"/>
          </a:xfrm>
          <a:prstGeom prst="rect">
            <a:avLst/>
          </a:prstGeom>
          <a:noFill/>
          <a:effectLst/>
        </p:spPr>
        <p:txBody>
          <a:bodyPr wrap="square" lIns="0" rIns="0" tIns="0" bIns="0" anchor="t">
            <a:spAutoFit/>
          </a:bodyPr>
          <a:lstStyle/>
          <a:p>
            <a:pPr algn="l">
              <a:lnSpc>
                <a:spcPct val="125000"/>
              </a:lnSpc>
            </a:pPr>
            <a:r>
              <a:rPr sz="780" b="0" i="0" spc="30">
                <a:solidFill>
                  <a:srgbClr val="9A9DB0"/>
                </a:solidFill>
                <a:latin typeface="Montserrat"/>
              </a:rPr>
              <a:t>Área livre do Ecoponto Belezinho — situação atual</a:t>
            </a:r>
          </a:p>
        </p:txBody>
      </p:sp>
      <p:sp>
        <p:nvSpPr>
          <p:cNvPr id="27" name="Freeform 26"/>
          <p:cNvSpPr/>
          <p:nvPr/>
        </p:nvSpPr>
        <p:spPr>
          <a:xfrm>
            <a:off x="6720840" y="5460431"/>
            <a:ext cx="4709160" cy="272125"/>
          </a:xfrm>
          <a:custGeom>
            <a:avLst/>
            <a:gdLst/>
            <a:ahLst/>
            <a:cxnLst/>
            <a:rect l="l" t="t" r="r" b="b"/>
            <a:pathLst>
              <a:path w="4709160" h="272125">
                <a:moveTo>
                  <a:pt x="0" y="68031"/>
                </a:moveTo>
                <a:lnTo>
                  <a:pt x="188366" y="68031"/>
                </a:lnTo>
                <a:lnTo>
                  <a:pt x="188366" y="192756"/>
                </a:lnTo>
                <a:lnTo>
                  <a:pt x="423824" y="192756"/>
                </a:lnTo>
                <a:lnTo>
                  <a:pt x="423824" y="124724"/>
                </a:lnTo>
                <a:lnTo>
                  <a:pt x="612191" y="124724"/>
                </a:lnTo>
                <a:lnTo>
                  <a:pt x="612191" y="249448"/>
                </a:lnTo>
                <a:lnTo>
                  <a:pt x="800557" y="249448"/>
                </a:lnTo>
                <a:lnTo>
                  <a:pt x="800557" y="90709"/>
                </a:lnTo>
                <a:lnTo>
                  <a:pt x="941832" y="90709"/>
                </a:lnTo>
                <a:lnTo>
                  <a:pt x="941832" y="34016"/>
                </a:lnTo>
                <a:lnTo>
                  <a:pt x="1083107" y="34016"/>
                </a:lnTo>
                <a:lnTo>
                  <a:pt x="1083107" y="90709"/>
                </a:lnTo>
                <a:lnTo>
                  <a:pt x="1271473" y="90709"/>
                </a:lnTo>
                <a:lnTo>
                  <a:pt x="1271473" y="215433"/>
                </a:lnTo>
                <a:lnTo>
                  <a:pt x="1506931" y="215433"/>
                </a:lnTo>
                <a:lnTo>
                  <a:pt x="1506931" y="147401"/>
                </a:lnTo>
                <a:lnTo>
                  <a:pt x="1695298" y="147401"/>
                </a:lnTo>
                <a:lnTo>
                  <a:pt x="1695298" y="272125"/>
                </a:lnTo>
                <a:lnTo>
                  <a:pt x="1930756" y="272125"/>
                </a:lnTo>
                <a:lnTo>
                  <a:pt x="1930756" y="113386"/>
                </a:lnTo>
                <a:lnTo>
                  <a:pt x="2119122" y="113386"/>
                </a:lnTo>
                <a:lnTo>
                  <a:pt x="2119122" y="181417"/>
                </a:lnTo>
                <a:lnTo>
                  <a:pt x="2354580" y="181417"/>
                </a:lnTo>
                <a:lnTo>
                  <a:pt x="2354580" y="56693"/>
                </a:lnTo>
                <a:lnTo>
                  <a:pt x="2495855" y="56693"/>
                </a:lnTo>
                <a:lnTo>
                  <a:pt x="2495855" y="0"/>
                </a:lnTo>
                <a:lnTo>
                  <a:pt x="2637130" y="0"/>
                </a:lnTo>
                <a:lnTo>
                  <a:pt x="2637130" y="56693"/>
                </a:lnTo>
                <a:lnTo>
                  <a:pt x="2825496" y="56693"/>
                </a:lnTo>
                <a:lnTo>
                  <a:pt x="2825496" y="226771"/>
                </a:lnTo>
                <a:lnTo>
                  <a:pt x="3060954" y="226771"/>
                </a:lnTo>
                <a:lnTo>
                  <a:pt x="3060954" y="136063"/>
                </a:lnTo>
                <a:lnTo>
                  <a:pt x="3249320" y="136063"/>
                </a:lnTo>
                <a:lnTo>
                  <a:pt x="3249320" y="260787"/>
                </a:lnTo>
                <a:lnTo>
                  <a:pt x="3484778" y="260787"/>
                </a:lnTo>
                <a:lnTo>
                  <a:pt x="3484778" y="102047"/>
                </a:lnTo>
                <a:lnTo>
                  <a:pt x="3673145" y="102047"/>
                </a:lnTo>
                <a:lnTo>
                  <a:pt x="3673145" y="204094"/>
                </a:lnTo>
                <a:lnTo>
                  <a:pt x="3908603" y="204094"/>
                </a:lnTo>
                <a:lnTo>
                  <a:pt x="3908603" y="158740"/>
                </a:lnTo>
                <a:lnTo>
                  <a:pt x="4096969" y="158740"/>
                </a:lnTo>
                <a:lnTo>
                  <a:pt x="4096969" y="238110"/>
                </a:lnTo>
                <a:lnTo>
                  <a:pt x="4332427" y="238110"/>
                </a:lnTo>
                <a:lnTo>
                  <a:pt x="4332427" y="79370"/>
                </a:lnTo>
                <a:lnTo>
                  <a:pt x="4520794" y="79370"/>
                </a:lnTo>
                <a:lnTo>
                  <a:pt x="4520794" y="170078"/>
                </a:lnTo>
                <a:lnTo>
                  <a:pt x="4709160" y="170078"/>
                </a:lnTo>
              </a:path>
            </a:pathLst>
          </a:custGeom>
          <a:noFill/>
          <a:ln w="12700" cap="rnd">
            <a:solidFill>
              <a:srgbClr val="DFE2F0">
                <a:alpha val="100000"/>
              </a:srgbClr>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Objetivo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Objetivo Principal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05</a:t>
            </a:r>
          </a:p>
        </p:txBody>
      </p:sp>
      <p:sp>
        <p:nvSpPr>
          <p:cNvPr id="9" name="TextBox 8"/>
          <p:cNvSpPr txBox="1"/>
          <p:nvPr/>
        </p:nvSpPr>
        <p:spPr>
          <a:xfrm>
            <a:off x="777240" y="1920240"/>
            <a:ext cx="6629400" cy="2286000"/>
          </a:xfrm>
          <a:prstGeom prst="rect">
            <a:avLst/>
          </a:prstGeom>
          <a:noFill/>
          <a:effectLst/>
        </p:spPr>
        <p:txBody>
          <a:bodyPr wrap="square" lIns="0" rIns="0" tIns="0" bIns="0" anchor="t">
            <a:spAutoFit/>
          </a:bodyPr>
          <a:lstStyle/>
          <a:p>
            <a:pPr algn="l">
              <a:lnSpc>
                <a:spcPct val="144000"/>
              </a:lnSpc>
            </a:pPr>
            <a:r>
              <a:rPr sz="1950" b="0" i="0">
                <a:solidFill>
                  <a:srgbClr val="3A3C55"/>
                </a:solidFill>
                <a:latin typeface="Montserrat Light"/>
              </a:rPr>
              <a:t>Transformar a área livre do Ecoponto Belezinho em um </a:t>
            </a:r>
            <a:r>
              <a:rPr sz="1950" b="0" i="0">
                <a:solidFill>
                  <a:srgbClr val="14142E"/>
                </a:solidFill>
                <a:latin typeface="Montserrat SemiBold"/>
              </a:rPr>
              <a:t>centro de referência para reciclagem têxtil sustentável</a:t>
            </a:r>
            <a:r>
              <a:rPr sz="1950" b="0" i="0">
                <a:solidFill>
                  <a:srgbClr val="3A3C55"/>
                </a:solidFill>
                <a:latin typeface="Montserrat Light"/>
              </a:rPr>
              <a:t>, operando sob o conceito de </a:t>
            </a:r>
            <a:r>
              <a:rPr sz="1950" b="0" i="0">
                <a:solidFill>
                  <a:srgbClr val="3432C9"/>
                </a:solidFill>
                <a:latin typeface="Montserrat SemiBold"/>
              </a:rPr>
              <a:t>Aterro Zero</a:t>
            </a:r>
            <a:r>
              <a:rPr sz="1950" b="0" i="0">
                <a:solidFill>
                  <a:srgbClr val="3A3C55"/>
                </a:solidFill>
                <a:latin typeface="Montserrat Light"/>
              </a:rPr>
              <a:t>.</a:t>
            </a:r>
          </a:p>
        </p:txBody>
      </p:sp>
      <p:sp>
        <p:nvSpPr>
          <p:cNvPr id="10" name="Rectangle 9"/>
          <p:cNvSpPr/>
          <p:nvPr/>
        </p:nvSpPr>
        <p:spPr>
          <a:xfrm>
            <a:off x="7882127" y="1810512"/>
            <a:ext cx="3547872" cy="3017520"/>
          </a:xfrm>
          <a:prstGeom prst="rect">
            <a:avLst/>
          </a:prstGeom>
          <a:solidFill>
            <a:srgbClr val="F4F5FC"/>
          </a:solidFill>
          <a:ln w="12700" cap="rnd">
            <a:noFill/>
            <a:round/>
          </a:ln>
          <a:effectLst/>
        </p:spPr>
        <p:txBody>
          <a:bodyPr rtlCol="0" anchor="ctr"/>
          <a:lstStyle/>
          <a:p/>
        </p:txBody>
      </p:sp>
      <p:sp>
        <p:nvSpPr>
          <p:cNvPr id="11" name="Freeform 10"/>
          <p:cNvSpPr/>
          <p:nvPr/>
        </p:nvSpPr>
        <p:spPr>
          <a:xfrm>
            <a:off x="10836367" y="2116211"/>
            <a:ext cx="236290" cy="339578"/>
          </a:xfrm>
          <a:custGeom>
            <a:avLst/>
            <a:gdLst/>
            <a:ahLst/>
            <a:cxnLst/>
            <a:rect l="l" t="t" r="r" b="b"/>
            <a:pathLst>
              <a:path w="236290" h="339578">
                <a:moveTo>
                  <a:pt x="179943" y="339578"/>
                </a:moveTo>
                <a:lnTo>
                  <a:pt x="163822" y="330655"/>
                </a:lnTo>
                <a:lnTo>
                  <a:pt x="146593" y="322134"/>
                </a:lnTo>
                <a:lnTo>
                  <a:pt x="129224" y="313665"/>
                </a:lnTo>
                <a:lnTo>
                  <a:pt x="112104" y="305106"/>
                </a:lnTo>
                <a:lnTo>
                  <a:pt x="95527" y="296348"/>
                </a:lnTo>
                <a:lnTo>
                  <a:pt x="79743" y="287302"/>
                </a:lnTo>
                <a:lnTo>
                  <a:pt x="64971" y="277888"/>
                </a:lnTo>
                <a:lnTo>
                  <a:pt x="51405" y="268035"/>
                </a:lnTo>
                <a:lnTo>
                  <a:pt x="39209" y="257683"/>
                </a:lnTo>
                <a:lnTo>
                  <a:pt x="28522" y="246782"/>
                </a:lnTo>
                <a:lnTo>
                  <a:pt x="19451" y="235293"/>
                </a:lnTo>
                <a:lnTo>
                  <a:pt x="12075" y="223186"/>
                </a:lnTo>
                <a:lnTo>
                  <a:pt x="6442" y="210446"/>
                </a:lnTo>
                <a:lnTo>
                  <a:pt x="2568" y="197065"/>
                </a:lnTo>
                <a:lnTo>
                  <a:pt x="436" y="183050"/>
                </a:lnTo>
                <a:lnTo>
                  <a:pt x="0" y="168418"/>
                </a:lnTo>
                <a:lnTo>
                  <a:pt x="1180" y="153197"/>
                </a:lnTo>
                <a:lnTo>
                  <a:pt x="3868" y="137428"/>
                </a:lnTo>
                <a:lnTo>
                  <a:pt x="7927" y="121160"/>
                </a:lnTo>
                <a:lnTo>
                  <a:pt x="13191" y="104453"/>
                </a:lnTo>
                <a:lnTo>
                  <a:pt x="19468" y="87378"/>
                </a:lnTo>
                <a:lnTo>
                  <a:pt x="26538" y="70013"/>
                </a:lnTo>
                <a:lnTo>
                  <a:pt x="34150" y="52452"/>
                </a:lnTo>
                <a:lnTo>
                  <a:pt x="42012" y="34800"/>
                </a:lnTo>
                <a:lnTo>
                  <a:pt x="49733" y="17198"/>
                </a:lnTo>
                <a:lnTo>
                  <a:pt x="56347" y="0"/>
                </a:lnTo>
                <a:lnTo>
                  <a:pt x="56347" y="0"/>
                </a:lnTo>
                <a:lnTo>
                  <a:pt x="72468" y="8923"/>
                </a:lnTo>
                <a:lnTo>
                  <a:pt x="89697" y="17444"/>
                </a:lnTo>
                <a:lnTo>
                  <a:pt x="107066" y="25913"/>
                </a:lnTo>
                <a:lnTo>
                  <a:pt x="124186" y="34472"/>
                </a:lnTo>
                <a:lnTo>
                  <a:pt x="140763" y="43230"/>
                </a:lnTo>
                <a:lnTo>
                  <a:pt x="156547" y="52276"/>
                </a:lnTo>
                <a:lnTo>
                  <a:pt x="171319" y="61690"/>
                </a:lnTo>
                <a:lnTo>
                  <a:pt x="184885" y="71543"/>
                </a:lnTo>
                <a:lnTo>
                  <a:pt x="197081" y="81895"/>
                </a:lnTo>
                <a:lnTo>
                  <a:pt x="207768" y="92796"/>
                </a:lnTo>
                <a:lnTo>
                  <a:pt x="216839" y="104285"/>
                </a:lnTo>
                <a:lnTo>
                  <a:pt x="224215" y="116392"/>
                </a:lnTo>
                <a:lnTo>
                  <a:pt x="229848" y="129132"/>
                </a:lnTo>
                <a:lnTo>
                  <a:pt x="233722" y="142513"/>
                </a:lnTo>
                <a:lnTo>
                  <a:pt x="235854" y="156528"/>
                </a:lnTo>
                <a:lnTo>
                  <a:pt x="236290" y="171160"/>
                </a:lnTo>
                <a:lnTo>
                  <a:pt x="235110" y="186381"/>
                </a:lnTo>
                <a:lnTo>
                  <a:pt x="232422" y="202150"/>
                </a:lnTo>
                <a:lnTo>
                  <a:pt x="228363" y="218418"/>
                </a:lnTo>
                <a:lnTo>
                  <a:pt x="223099" y="235125"/>
                </a:lnTo>
                <a:lnTo>
                  <a:pt x="216822" y="252200"/>
                </a:lnTo>
                <a:lnTo>
                  <a:pt x="209752" y="269565"/>
                </a:lnTo>
                <a:lnTo>
                  <a:pt x="202140" y="287126"/>
                </a:lnTo>
                <a:lnTo>
                  <a:pt x="194278" y="304778"/>
                </a:lnTo>
                <a:lnTo>
                  <a:pt x="186557" y="322380"/>
                </a:lnTo>
                <a:lnTo>
                  <a:pt x="179943" y="339578"/>
                </a:lnTo>
                <a:close/>
              </a:path>
            </a:pathLst>
          </a:custGeom>
          <a:noFill/>
          <a:ln w="15875" cap="rnd">
            <a:solidFill>
              <a:srgbClr val="12A87B"/>
            </a:solidFill>
            <a:round/>
          </a:ln>
          <a:effectLst/>
        </p:spPr>
        <p:txBody>
          <a:bodyPr rtlCol="0" anchor="ctr"/>
          <a:lstStyle/>
          <a:p>
            <a:pPr algn="ctr"/>
          </a:p>
        </p:txBody>
      </p:sp>
      <p:sp>
        <p:nvSpPr>
          <p:cNvPr id="12" name="Freeform 11"/>
          <p:cNvSpPr/>
          <p:nvPr/>
        </p:nvSpPr>
        <p:spPr>
          <a:xfrm>
            <a:off x="10892714" y="2116211"/>
            <a:ext cx="123596" cy="339578"/>
          </a:xfrm>
          <a:custGeom>
            <a:avLst/>
            <a:gdLst/>
            <a:ahLst/>
            <a:cxnLst/>
            <a:rect l="l" t="t" r="r" b="b"/>
            <a:pathLst>
              <a:path w="123596" h="339578">
                <a:moveTo>
                  <a:pt x="123596" y="339578"/>
                </a:moveTo>
                <a:lnTo>
                  <a:pt x="0" y="0"/>
                </a:lnTo>
              </a:path>
            </a:pathLst>
          </a:custGeom>
          <a:noFill/>
          <a:ln w="12700" cap="rnd">
            <a:solidFill>
              <a:srgbClr val="12A87B"/>
            </a:solidFill>
            <a:round/>
          </a:ln>
          <a:effectLst/>
        </p:spPr>
        <p:txBody>
          <a:bodyPr rtlCol="0" anchor="ctr"/>
          <a:lstStyle/>
          <a:p>
            <a:pPr algn="ctr"/>
          </a:p>
        </p:txBody>
      </p:sp>
      <p:sp>
        <p:nvSpPr>
          <p:cNvPr id="13" name="Freeform 12"/>
          <p:cNvSpPr/>
          <p:nvPr/>
        </p:nvSpPr>
        <p:spPr>
          <a:xfrm>
            <a:off x="10903709" y="2335256"/>
            <a:ext cx="77994" cy="25451"/>
          </a:xfrm>
          <a:custGeom>
            <a:avLst/>
            <a:gdLst/>
            <a:ahLst/>
            <a:cxnLst/>
            <a:rect l="l" t="t" r="r" b="b"/>
            <a:pathLst>
              <a:path w="77994" h="25451">
                <a:moveTo>
                  <a:pt x="77994" y="25451"/>
                </a:moveTo>
                <a:lnTo>
                  <a:pt x="0" y="0"/>
                </a:lnTo>
              </a:path>
            </a:pathLst>
          </a:custGeom>
          <a:noFill/>
          <a:ln w="9525" cap="rnd">
            <a:solidFill>
              <a:srgbClr val="12A87B"/>
            </a:solidFill>
            <a:round/>
          </a:ln>
          <a:effectLst/>
        </p:spPr>
        <p:txBody>
          <a:bodyPr rtlCol="0" anchor="ctr"/>
          <a:lstStyle/>
          <a:p>
            <a:pPr algn="ctr"/>
          </a:p>
        </p:txBody>
      </p:sp>
      <p:sp>
        <p:nvSpPr>
          <p:cNvPr id="14" name="Freeform 13"/>
          <p:cNvSpPr/>
          <p:nvPr/>
        </p:nvSpPr>
        <p:spPr>
          <a:xfrm>
            <a:off x="10981703" y="2291077"/>
            <a:ext cx="43387" cy="69630"/>
          </a:xfrm>
          <a:custGeom>
            <a:avLst/>
            <a:gdLst/>
            <a:ahLst/>
            <a:cxnLst/>
            <a:rect l="l" t="t" r="r" b="b"/>
            <a:pathLst>
              <a:path w="43387" h="69630">
                <a:moveTo>
                  <a:pt x="0" y="69630"/>
                </a:moveTo>
                <a:lnTo>
                  <a:pt x="43387"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0859426" y="2274461"/>
            <a:ext cx="97558" cy="18331"/>
          </a:xfrm>
          <a:custGeom>
            <a:avLst/>
            <a:gdLst/>
            <a:ahLst/>
            <a:cxnLst/>
            <a:rect l="l" t="t" r="r" b="b"/>
            <a:pathLst>
              <a:path w="97558" h="18331">
                <a:moveTo>
                  <a:pt x="97558" y="18331"/>
                </a:moveTo>
                <a:lnTo>
                  <a:pt x="0"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0956984" y="2216040"/>
            <a:ext cx="62951" cy="76752"/>
          </a:xfrm>
          <a:custGeom>
            <a:avLst/>
            <a:gdLst/>
            <a:ahLst/>
            <a:cxnLst/>
            <a:rect l="l" t="t" r="r" b="b"/>
            <a:pathLst>
              <a:path w="62951" h="76752">
                <a:moveTo>
                  <a:pt x="0" y="76752"/>
                </a:moveTo>
                <a:lnTo>
                  <a:pt x="62951"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0847968" y="2201719"/>
            <a:ext cx="84297" cy="23157"/>
          </a:xfrm>
          <a:custGeom>
            <a:avLst/>
            <a:gdLst/>
            <a:ahLst/>
            <a:cxnLst/>
            <a:rect l="l" t="t" r="r" b="b"/>
            <a:pathLst>
              <a:path w="84297" h="23157">
                <a:moveTo>
                  <a:pt x="84297" y="23157"/>
                </a:moveTo>
                <a:lnTo>
                  <a:pt x="0"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0932265" y="2152952"/>
            <a:ext cx="49689" cy="71924"/>
          </a:xfrm>
          <a:custGeom>
            <a:avLst/>
            <a:gdLst/>
            <a:ahLst/>
            <a:cxnLst/>
            <a:rect l="l" t="t" r="r" b="b"/>
            <a:pathLst>
              <a:path w="49689" h="71924">
                <a:moveTo>
                  <a:pt x="0" y="71924"/>
                </a:moveTo>
                <a:lnTo>
                  <a:pt x="49689"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9294919" y="2839907"/>
            <a:ext cx="787732" cy="1025443"/>
          </a:xfrm>
          <a:custGeom>
            <a:avLst/>
            <a:gdLst/>
            <a:ahLst/>
            <a:cxnLst/>
            <a:rect l="l" t="t" r="r" b="b"/>
            <a:pathLst>
              <a:path w="787732" h="1025443">
                <a:moveTo>
                  <a:pt x="567930" y="0"/>
                </a:moveTo>
                <a:lnTo>
                  <a:pt x="609378" y="35693"/>
                </a:lnTo>
                <a:lnTo>
                  <a:pt x="647238" y="75172"/>
                </a:lnTo>
                <a:lnTo>
                  <a:pt x="681164" y="118079"/>
                </a:lnTo>
                <a:lnTo>
                  <a:pt x="710848" y="164022"/>
                </a:lnTo>
                <a:lnTo>
                  <a:pt x="736020" y="212585"/>
                </a:lnTo>
                <a:lnTo>
                  <a:pt x="756452" y="263324"/>
                </a:lnTo>
                <a:lnTo>
                  <a:pt x="771957" y="315779"/>
                </a:lnTo>
                <a:lnTo>
                  <a:pt x="782394" y="369473"/>
                </a:lnTo>
                <a:lnTo>
                  <a:pt x="787668" y="423917"/>
                </a:lnTo>
                <a:lnTo>
                  <a:pt x="787732" y="478616"/>
                </a:lnTo>
                <a:lnTo>
                  <a:pt x="782584" y="533072"/>
                </a:lnTo>
                <a:lnTo>
                  <a:pt x="772272" y="586790"/>
                </a:lnTo>
                <a:lnTo>
                  <a:pt x="756889" y="639281"/>
                </a:lnTo>
                <a:lnTo>
                  <a:pt x="736576" y="690068"/>
                </a:lnTo>
                <a:lnTo>
                  <a:pt x="711517" y="738689"/>
                </a:lnTo>
                <a:lnTo>
                  <a:pt x="681939" y="784701"/>
                </a:lnTo>
                <a:lnTo>
                  <a:pt x="648113" y="827687"/>
                </a:lnTo>
                <a:lnTo>
                  <a:pt x="610346" y="867254"/>
                </a:lnTo>
                <a:lnTo>
                  <a:pt x="568981" y="903043"/>
                </a:lnTo>
                <a:lnTo>
                  <a:pt x="524394" y="934729"/>
                </a:lnTo>
                <a:lnTo>
                  <a:pt x="476992" y="962024"/>
                </a:lnTo>
                <a:lnTo>
                  <a:pt x="427205" y="984678"/>
                </a:lnTo>
                <a:lnTo>
                  <a:pt x="375486" y="1002486"/>
                </a:lnTo>
                <a:lnTo>
                  <a:pt x="322306" y="1015286"/>
                </a:lnTo>
                <a:lnTo>
                  <a:pt x="268149" y="1022962"/>
                </a:lnTo>
                <a:lnTo>
                  <a:pt x="213506" y="1025443"/>
                </a:lnTo>
                <a:lnTo>
                  <a:pt x="158876" y="1022708"/>
                </a:lnTo>
                <a:lnTo>
                  <a:pt x="104755" y="1014780"/>
                </a:lnTo>
                <a:lnTo>
                  <a:pt x="51635" y="1001732"/>
                </a:lnTo>
                <a:lnTo>
                  <a:pt x="0" y="983684"/>
                </a:lnTo>
              </a:path>
            </a:pathLst>
          </a:custGeom>
          <a:noFill/>
          <a:ln w="15875" cap="rnd">
            <a:solidFill>
              <a:srgbClr val="3432C9"/>
            </a:solidFill>
            <a:round/>
          </a:ln>
          <a:effectLst/>
        </p:spPr>
        <p:txBody>
          <a:bodyPr rtlCol="0" anchor="ctr"/>
          <a:lstStyle/>
          <a:p>
            <a:pPr algn="ctr"/>
          </a:p>
        </p:txBody>
      </p:sp>
      <p:sp>
        <p:nvSpPr>
          <p:cNvPr id="20" name="Freeform 19"/>
          <p:cNvSpPr/>
          <p:nvPr/>
        </p:nvSpPr>
        <p:spPr>
          <a:xfrm>
            <a:off x="9294919" y="3771887"/>
            <a:ext cx="336574" cy="301824"/>
          </a:xfrm>
          <a:custGeom>
            <a:avLst/>
            <a:gdLst/>
            <a:ahLst/>
            <a:cxnLst/>
            <a:rect l="l" t="t" r="r" b="b"/>
            <a:pathLst>
              <a:path w="336574" h="301824">
                <a:moveTo>
                  <a:pt x="0" y="51704"/>
                </a:moveTo>
                <a:lnTo>
                  <a:pt x="336574" y="0"/>
                </a:lnTo>
                <a:lnTo>
                  <a:pt x="231074" y="301824"/>
                </a:lnTo>
                <a:close/>
              </a:path>
            </a:pathLst>
          </a:custGeom>
          <a:solidFill>
            <a:srgbClr val="3432C9"/>
          </a:solidFill>
          <a:ln w="9525" cap="rnd">
            <a:solidFill>
              <a:srgbClr val="3432C9"/>
            </a:solidFill>
            <a:round/>
          </a:ln>
          <a:effectLst/>
        </p:spPr>
        <p:txBody>
          <a:bodyPr rtlCol="0" anchor="ctr"/>
          <a:lstStyle/>
          <a:p>
            <a:pPr algn="ctr"/>
          </a:p>
        </p:txBody>
      </p:sp>
      <p:sp>
        <p:nvSpPr>
          <p:cNvPr id="21" name="Freeform 20"/>
          <p:cNvSpPr/>
          <p:nvPr/>
        </p:nvSpPr>
        <p:spPr>
          <a:xfrm>
            <a:off x="8936869" y="2718330"/>
            <a:ext cx="787732" cy="1025443"/>
          </a:xfrm>
          <a:custGeom>
            <a:avLst/>
            <a:gdLst/>
            <a:ahLst/>
            <a:cxnLst/>
            <a:rect l="l" t="t" r="r" b="b"/>
            <a:pathLst>
              <a:path w="787732" h="1025443">
                <a:moveTo>
                  <a:pt x="219802" y="1025443"/>
                </a:moveTo>
                <a:lnTo>
                  <a:pt x="178354" y="989750"/>
                </a:lnTo>
                <a:lnTo>
                  <a:pt x="140494" y="950271"/>
                </a:lnTo>
                <a:lnTo>
                  <a:pt x="106568" y="907364"/>
                </a:lnTo>
                <a:lnTo>
                  <a:pt x="76884" y="861421"/>
                </a:lnTo>
                <a:lnTo>
                  <a:pt x="51712" y="812858"/>
                </a:lnTo>
                <a:lnTo>
                  <a:pt x="31280" y="762119"/>
                </a:lnTo>
                <a:lnTo>
                  <a:pt x="15775" y="709664"/>
                </a:lnTo>
                <a:lnTo>
                  <a:pt x="5338" y="655970"/>
                </a:lnTo>
                <a:lnTo>
                  <a:pt x="64" y="601526"/>
                </a:lnTo>
                <a:lnTo>
                  <a:pt x="0" y="546827"/>
                </a:lnTo>
                <a:lnTo>
                  <a:pt x="5148" y="492371"/>
                </a:lnTo>
                <a:lnTo>
                  <a:pt x="15460" y="438653"/>
                </a:lnTo>
                <a:lnTo>
                  <a:pt x="30843" y="386162"/>
                </a:lnTo>
                <a:lnTo>
                  <a:pt x="51156" y="335375"/>
                </a:lnTo>
                <a:lnTo>
                  <a:pt x="76215" y="286754"/>
                </a:lnTo>
                <a:lnTo>
                  <a:pt x="105793" y="240742"/>
                </a:lnTo>
                <a:lnTo>
                  <a:pt x="139619" y="197756"/>
                </a:lnTo>
                <a:lnTo>
                  <a:pt x="177386" y="158189"/>
                </a:lnTo>
                <a:lnTo>
                  <a:pt x="218751" y="122400"/>
                </a:lnTo>
                <a:lnTo>
                  <a:pt x="263338" y="90714"/>
                </a:lnTo>
                <a:lnTo>
                  <a:pt x="310740" y="63419"/>
                </a:lnTo>
                <a:lnTo>
                  <a:pt x="360527" y="40765"/>
                </a:lnTo>
                <a:lnTo>
                  <a:pt x="412246" y="22957"/>
                </a:lnTo>
                <a:lnTo>
                  <a:pt x="465426" y="10157"/>
                </a:lnTo>
                <a:lnTo>
                  <a:pt x="519583" y="2481"/>
                </a:lnTo>
                <a:lnTo>
                  <a:pt x="574226" y="0"/>
                </a:lnTo>
                <a:lnTo>
                  <a:pt x="628856" y="2735"/>
                </a:lnTo>
                <a:lnTo>
                  <a:pt x="682977" y="10663"/>
                </a:lnTo>
                <a:lnTo>
                  <a:pt x="736097" y="23711"/>
                </a:lnTo>
                <a:lnTo>
                  <a:pt x="787732" y="41759"/>
                </a:lnTo>
              </a:path>
            </a:pathLst>
          </a:custGeom>
          <a:noFill/>
          <a:ln w="15875" cap="rnd">
            <a:solidFill>
              <a:srgbClr val="3432C9"/>
            </a:solidFill>
            <a:round/>
          </a:ln>
          <a:effectLst/>
        </p:spPr>
        <p:txBody>
          <a:bodyPr rtlCol="0" anchor="ctr"/>
          <a:lstStyle/>
          <a:p>
            <a:pPr algn="ctr"/>
          </a:p>
        </p:txBody>
      </p:sp>
      <p:sp>
        <p:nvSpPr>
          <p:cNvPr id="22" name="Freeform 21"/>
          <p:cNvSpPr/>
          <p:nvPr/>
        </p:nvSpPr>
        <p:spPr>
          <a:xfrm>
            <a:off x="9388027" y="2509969"/>
            <a:ext cx="336574" cy="301824"/>
          </a:xfrm>
          <a:custGeom>
            <a:avLst/>
            <a:gdLst/>
            <a:ahLst/>
            <a:cxnLst/>
            <a:rect l="l" t="t" r="r" b="b"/>
            <a:pathLst>
              <a:path w="336574" h="301824">
                <a:moveTo>
                  <a:pt x="336574" y="250120"/>
                </a:moveTo>
                <a:lnTo>
                  <a:pt x="0" y="301824"/>
                </a:lnTo>
                <a:lnTo>
                  <a:pt x="105500" y="0"/>
                </a:lnTo>
                <a:close/>
              </a:path>
            </a:pathLst>
          </a:custGeom>
          <a:solidFill>
            <a:srgbClr val="3432C9"/>
          </a:solidFill>
          <a:ln w="9525" cap="rnd">
            <a:solidFill>
              <a:srgbClr val="3432C9"/>
            </a:solidFill>
            <a:round/>
          </a:ln>
          <a:effectLst/>
        </p:spPr>
        <p:txBody>
          <a:bodyPr rtlCol="0" anchor="ctr"/>
          <a:lstStyle/>
          <a:p>
            <a:pPr algn="ctr"/>
          </a:p>
        </p:txBody>
      </p:sp>
      <p:sp>
        <p:nvSpPr>
          <p:cNvPr id="23" name="TextBox 22"/>
          <p:cNvSpPr txBox="1"/>
          <p:nvPr/>
        </p:nvSpPr>
        <p:spPr>
          <a:xfrm>
            <a:off x="7882127" y="4352544"/>
            <a:ext cx="3547872" cy="365760"/>
          </a:xfrm>
          <a:prstGeom prst="rect">
            <a:avLst/>
          </a:prstGeom>
          <a:noFill/>
          <a:effectLst/>
        </p:spPr>
        <p:txBody>
          <a:bodyPr wrap="square" lIns="0" rIns="0" tIns="0" bIns="0" anchor="t">
            <a:spAutoFit/>
          </a:bodyPr>
          <a:lstStyle/>
          <a:p>
            <a:pPr algn="ctr">
              <a:lnSpc>
                <a:spcPct val="135000"/>
              </a:lnSpc>
            </a:pPr>
            <a:r>
              <a:rPr sz="940" b="0" i="0" spc="150" cap="all">
                <a:solidFill>
                  <a:srgbClr val="3432C9"/>
                </a:solidFill>
                <a:latin typeface="Montserrat SemiBold"/>
              </a:rPr>
              <a:t>Economia circular</a:t>
            </a:r>
          </a:p>
        </p:txBody>
      </p:sp>
      <p:cxnSp>
        <p:nvCxnSpPr>
          <p:cNvPr id="24" name="Connector 23"/>
          <p:cNvCxnSpPr/>
          <p:nvPr/>
        </p:nvCxnSpPr>
        <p:spPr>
          <a:xfrm>
            <a:off x="777240" y="5138928"/>
            <a:ext cx="10637489" cy="0"/>
          </a:xfrm>
          <a:prstGeom prst="line">
            <a:avLst/>
          </a:prstGeom>
          <a:ln w="12700" cap="rnd">
            <a:solidFill>
              <a:srgbClr val="DFE2F0"/>
            </a:solidFill>
            <a:round/>
          </a:ln>
          <a:effectLst/>
        </p:spPr>
      </p:cxnSp>
      <p:sp>
        <p:nvSpPr>
          <p:cNvPr id="25" name="Oval 24"/>
          <p:cNvSpPr/>
          <p:nvPr/>
        </p:nvSpPr>
        <p:spPr>
          <a:xfrm>
            <a:off x="816924" y="5398068"/>
            <a:ext cx="487558" cy="487558"/>
          </a:xfrm>
          <a:prstGeom prst="ellipse">
            <a:avLst/>
          </a:prstGeom>
          <a:noFill/>
          <a:ln w="15875" cap="rnd">
            <a:solidFill>
              <a:srgbClr val="3432C9"/>
            </a:solidFill>
            <a:round/>
          </a:ln>
          <a:effectLst/>
        </p:spPr>
        <p:txBody>
          <a:bodyPr rtlCol="0" anchor="ctr"/>
          <a:lstStyle/>
          <a:p/>
        </p:txBody>
      </p:sp>
      <p:sp>
        <p:nvSpPr>
          <p:cNvPr id="26" name="Freeform 25"/>
          <p:cNvSpPr/>
          <p:nvPr/>
        </p:nvSpPr>
        <p:spPr>
          <a:xfrm>
            <a:off x="935980" y="5619171"/>
            <a:ext cx="249448" cy="136063"/>
          </a:xfrm>
          <a:custGeom>
            <a:avLst/>
            <a:gdLst/>
            <a:ahLst/>
            <a:cxnLst/>
            <a:rect l="l" t="t" r="r" b="b"/>
            <a:pathLst>
              <a:path w="249448" h="136063">
                <a:moveTo>
                  <a:pt x="0" y="0"/>
                </a:moveTo>
                <a:lnTo>
                  <a:pt x="249448" y="0"/>
                </a:lnTo>
                <a:lnTo>
                  <a:pt x="215432" y="136063"/>
                </a:lnTo>
                <a:lnTo>
                  <a:pt x="34016" y="136063"/>
                </a:lnTo>
                <a:close/>
              </a:path>
            </a:pathLst>
          </a:custGeom>
          <a:noFill/>
          <a:ln w="15081" cap="rnd">
            <a:solidFill>
              <a:srgbClr val="3432C9"/>
            </a:solidFill>
            <a:round/>
          </a:ln>
          <a:effectLst/>
        </p:spPr>
        <p:txBody>
          <a:bodyPr rtlCol="0" anchor="ctr"/>
          <a:lstStyle/>
          <a:p>
            <a:pPr algn="ctr"/>
          </a:p>
        </p:txBody>
      </p:sp>
      <p:sp>
        <p:nvSpPr>
          <p:cNvPr id="27" name="Freeform 26"/>
          <p:cNvSpPr/>
          <p:nvPr/>
        </p:nvSpPr>
        <p:spPr>
          <a:xfrm>
            <a:off x="913303" y="5619171"/>
            <a:ext cx="294802" cy="0"/>
          </a:xfrm>
          <a:custGeom>
            <a:avLst/>
            <a:gdLst/>
            <a:ahLst/>
            <a:cxnLst/>
            <a:rect l="l" t="t" r="r" b="b"/>
            <a:pathLst>
              <a:path w="294802" h="0">
                <a:moveTo>
                  <a:pt x="0" y="0"/>
                </a:moveTo>
                <a:lnTo>
                  <a:pt x="294802" y="0"/>
                </a:lnTo>
              </a:path>
            </a:pathLst>
          </a:custGeom>
          <a:noFill/>
          <a:ln w="15081" cap="rnd">
            <a:solidFill>
              <a:srgbClr val="3432C9"/>
            </a:solidFill>
            <a:round/>
          </a:ln>
          <a:effectLst/>
        </p:spPr>
        <p:txBody>
          <a:bodyPr rtlCol="0" anchor="ctr"/>
          <a:lstStyle/>
          <a:p>
            <a:pPr algn="ctr"/>
          </a:p>
        </p:txBody>
      </p:sp>
      <p:sp>
        <p:nvSpPr>
          <p:cNvPr id="28" name="Freeform 27"/>
          <p:cNvSpPr/>
          <p:nvPr/>
        </p:nvSpPr>
        <p:spPr>
          <a:xfrm>
            <a:off x="981334" y="5528462"/>
            <a:ext cx="158740" cy="90709"/>
          </a:xfrm>
          <a:custGeom>
            <a:avLst/>
            <a:gdLst/>
            <a:ahLst/>
            <a:cxnLst/>
            <a:rect l="l" t="t" r="r" b="b"/>
            <a:pathLst>
              <a:path w="158740" h="90709">
                <a:moveTo>
                  <a:pt x="0" y="90709"/>
                </a:moveTo>
                <a:lnTo>
                  <a:pt x="39685" y="22678"/>
                </a:lnTo>
                <a:lnTo>
                  <a:pt x="79370" y="62362"/>
                </a:lnTo>
                <a:lnTo>
                  <a:pt x="119055" y="0"/>
                </a:lnTo>
                <a:lnTo>
                  <a:pt x="158740" y="90709"/>
                </a:lnTo>
              </a:path>
            </a:pathLst>
          </a:custGeom>
          <a:noFill/>
          <a:ln w="12700" cap="rnd">
            <a:solidFill>
              <a:srgbClr val="3432C9"/>
            </a:solidFill>
            <a:round/>
          </a:ln>
          <a:effectLst/>
        </p:spPr>
        <p:txBody>
          <a:bodyPr rtlCol="0" anchor="ctr"/>
          <a:lstStyle/>
          <a:p>
            <a:pPr algn="ctr"/>
          </a:p>
        </p:txBody>
      </p:sp>
      <p:sp>
        <p:nvSpPr>
          <p:cNvPr id="29" name="Freeform 28"/>
          <p:cNvSpPr/>
          <p:nvPr/>
        </p:nvSpPr>
        <p:spPr>
          <a:xfrm>
            <a:off x="901964" y="5483108"/>
            <a:ext cx="317480" cy="317480"/>
          </a:xfrm>
          <a:custGeom>
            <a:avLst/>
            <a:gdLst/>
            <a:ahLst/>
            <a:cxnLst/>
            <a:rect l="l" t="t" r="r" b="b"/>
            <a:pathLst>
              <a:path w="317480" h="317480">
                <a:moveTo>
                  <a:pt x="0" y="317480"/>
                </a:moveTo>
                <a:lnTo>
                  <a:pt x="317480" y="0"/>
                </a:lnTo>
              </a:path>
            </a:pathLst>
          </a:custGeom>
          <a:noFill/>
          <a:ln w="19050" cap="rnd">
            <a:solidFill>
              <a:srgbClr val="3432C9"/>
            </a:solidFill>
            <a:round/>
          </a:ln>
          <a:effectLst/>
        </p:spPr>
        <p:txBody>
          <a:bodyPr rtlCol="0" anchor="ctr"/>
          <a:lstStyle/>
          <a:p>
            <a:pPr algn="ctr"/>
          </a:p>
        </p:txBody>
      </p:sp>
      <p:sp>
        <p:nvSpPr>
          <p:cNvPr id="30" name="TextBox 29"/>
          <p:cNvSpPr txBox="1"/>
          <p:nvPr/>
        </p:nvSpPr>
        <p:spPr>
          <a:xfrm>
            <a:off x="1563624" y="5303520"/>
            <a:ext cx="7315200" cy="731520"/>
          </a:xfrm>
          <a:prstGeom prst="rect">
            <a:avLst/>
          </a:prstGeom>
          <a:noFill/>
          <a:effectLst/>
        </p:spPr>
        <p:txBody>
          <a:bodyPr wrap="square" lIns="0" rIns="0" tIns="0" bIns="0" anchor="t">
            <a:spAutoFit/>
          </a:bodyPr>
          <a:lstStyle/>
          <a:p>
            <a:pPr algn="l">
              <a:lnSpc>
                <a:spcPct val="105000"/>
              </a:lnSpc>
            </a:pPr>
            <a:r>
              <a:rPr sz="2600" b="0" i="0" spc="200">
                <a:solidFill>
                  <a:srgbClr val="3432C9"/>
                </a:solidFill>
                <a:latin typeface="Montserrat SemiBold"/>
              </a:rPr>
              <a:t>ATERRO ZERO</a:t>
            </a:r>
          </a:p>
        </p:txBody>
      </p:sp>
      <p:sp>
        <p:nvSpPr>
          <p:cNvPr id="31" name="TextBox 30"/>
          <p:cNvSpPr txBox="1"/>
          <p:nvPr/>
        </p:nvSpPr>
        <p:spPr>
          <a:xfrm>
            <a:off x="1563624" y="5760720"/>
            <a:ext cx="6949440" cy="274320"/>
          </a:xfrm>
          <a:prstGeom prst="rect">
            <a:avLst/>
          </a:prstGeom>
          <a:noFill/>
          <a:effectLst/>
        </p:spPr>
        <p:txBody>
          <a:bodyPr wrap="square" lIns="0" rIns="0" tIns="0" bIns="0" anchor="t">
            <a:spAutoFit/>
          </a:bodyPr>
          <a:lstStyle/>
          <a:p>
            <a:pPr algn="l">
              <a:lnSpc>
                <a:spcPct val="135000"/>
              </a:lnSpc>
            </a:pPr>
            <a:r>
              <a:rPr sz="1000" b="0" i="0">
                <a:solidFill>
                  <a:srgbClr val="6E7288"/>
                </a:solidFill>
                <a:latin typeface="Montserrat"/>
              </a:rPr>
              <a:t>Máximo aproveitamento dos materiais</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Alinhamento institucional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400" b="0" i="0">
                <a:solidFill>
                  <a:srgbClr val="14142E"/>
                </a:solidFill>
                <a:latin typeface="Montserrat Light"/>
              </a:rPr>
              <a:t>Integração com as </a:t>
            </a:r>
            <a:r>
              <a:rPr sz="2400" b="0" i="0">
                <a:solidFill>
                  <a:srgbClr val="14142E"/>
                </a:solidFill>
                <a:latin typeface="Montserrat SemiBold"/>
              </a:rPr>
              <a:t>políticas públicas</a:t>
            </a:r>
            <a:r>
              <a:rPr sz="2400" b="0" i="0">
                <a:solidFill>
                  <a:srgbClr val="14142E"/>
                </a:solidFill>
                <a:latin typeface="Montserrat Light"/>
              </a:rPr>
              <a:t> e os compromissos globais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06</a:t>
            </a:r>
          </a:p>
        </p:txBody>
      </p:sp>
      <p:sp>
        <p:nvSpPr>
          <p:cNvPr id="9" name="TextBox 8"/>
          <p:cNvSpPr txBox="1"/>
          <p:nvPr/>
        </p:nvSpPr>
        <p:spPr>
          <a:xfrm>
            <a:off x="777240" y="1847088"/>
            <a:ext cx="10058400" cy="914400"/>
          </a:xfrm>
          <a:prstGeom prst="rect">
            <a:avLst/>
          </a:prstGeom>
          <a:noFill/>
          <a:effectLst/>
        </p:spPr>
        <p:txBody>
          <a:bodyPr wrap="square" lIns="0" rIns="0" tIns="0" bIns="0" anchor="t">
            <a:spAutoFit/>
          </a:bodyPr>
          <a:lstStyle/>
          <a:p>
            <a:pPr algn="l">
              <a:lnSpc>
                <a:spcPct val="146000"/>
              </a:lnSpc>
            </a:pPr>
            <a:r>
              <a:rPr sz="1080" b="0" i="0">
                <a:solidFill>
                  <a:srgbClr val="6E7288"/>
                </a:solidFill>
                <a:latin typeface="Montserrat"/>
              </a:rPr>
              <a:t>Em perfeita integração com os objetivos das ODS e o Plano Municipal de Gerenciamento de Resíduos Sólidos do Município de São Paulo, a atividade integrará coleta, segregação, coworking para costureiras e espaço de integração para oficinas, workshops e cursos de aperfeiçoamento, voltados a artesãos e costureiras autônomas.</a:t>
            </a:r>
          </a:p>
        </p:txBody>
      </p:sp>
      <p:sp>
        <p:nvSpPr>
          <p:cNvPr id="10" name="Rectangle 9"/>
          <p:cNvSpPr/>
          <p:nvPr/>
        </p:nvSpPr>
        <p:spPr>
          <a:xfrm>
            <a:off x="777240"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11" name="Rectangle 10"/>
          <p:cNvSpPr/>
          <p:nvPr/>
        </p:nvSpPr>
        <p:spPr>
          <a:xfrm>
            <a:off x="777240" y="3310128"/>
            <a:ext cx="3392424" cy="50292"/>
          </a:xfrm>
          <a:prstGeom prst="rect">
            <a:avLst/>
          </a:prstGeom>
          <a:solidFill>
            <a:srgbClr val="12A87B"/>
          </a:solidFill>
          <a:ln w="12700" cap="rnd">
            <a:noFill/>
            <a:round/>
          </a:ln>
          <a:effectLst/>
        </p:spPr>
        <p:txBody>
          <a:bodyPr rtlCol="0" anchor="ctr"/>
          <a:lstStyle/>
          <a:p/>
        </p:txBody>
      </p:sp>
      <p:sp>
        <p:nvSpPr>
          <p:cNvPr id="12" name="Freeform 11"/>
          <p:cNvSpPr/>
          <p:nvPr/>
        </p:nvSpPr>
        <p:spPr>
          <a:xfrm>
            <a:off x="1139071" y="3662850"/>
            <a:ext cx="209026" cy="300396"/>
          </a:xfrm>
          <a:custGeom>
            <a:avLst/>
            <a:gdLst/>
            <a:ahLst/>
            <a:cxnLst/>
            <a:rect l="l" t="t" r="r" b="b"/>
            <a:pathLst>
              <a:path w="209026" h="300396">
                <a:moveTo>
                  <a:pt x="159181" y="300396"/>
                </a:moveTo>
                <a:lnTo>
                  <a:pt x="144919" y="292502"/>
                </a:lnTo>
                <a:lnTo>
                  <a:pt x="129679" y="284965"/>
                </a:lnTo>
                <a:lnTo>
                  <a:pt x="114314" y="277473"/>
                </a:lnTo>
                <a:lnTo>
                  <a:pt x="99169" y="269901"/>
                </a:lnTo>
                <a:lnTo>
                  <a:pt x="84505" y="262154"/>
                </a:lnTo>
                <a:lnTo>
                  <a:pt x="70542" y="254152"/>
                </a:lnTo>
                <a:lnTo>
                  <a:pt x="57475" y="245824"/>
                </a:lnTo>
                <a:lnTo>
                  <a:pt x="45474" y="237108"/>
                </a:lnTo>
                <a:lnTo>
                  <a:pt x="34685" y="227950"/>
                </a:lnTo>
                <a:lnTo>
                  <a:pt x="25231" y="218307"/>
                </a:lnTo>
                <a:lnTo>
                  <a:pt x="17207" y="208143"/>
                </a:lnTo>
                <a:lnTo>
                  <a:pt x="10682" y="197434"/>
                </a:lnTo>
                <a:lnTo>
                  <a:pt x="5699" y="186163"/>
                </a:lnTo>
                <a:lnTo>
                  <a:pt x="2271" y="174327"/>
                </a:lnTo>
                <a:lnTo>
                  <a:pt x="386" y="161929"/>
                </a:lnTo>
                <a:lnTo>
                  <a:pt x="0" y="148985"/>
                </a:lnTo>
                <a:lnTo>
                  <a:pt x="1044" y="135521"/>
                </a:lnTo>
                <a:lnTo>
                  <a:pt x="3422" y="121571"/>
                </a:lnTo>
                <a:lnTo>
                  <a:pt x="7013" y="107180"/>
                </a:lnTo>
                <a:lnTo>
                  <a:pt x="11669" y="92401"/>
                </a:lnTo>
                <a:lnTo>
                  <a:pt x="17221" y="77296"/>
                </a:lnTo>
                <a:lnTo>
                  <a:pt x="23476" y="61935"/>
                </a:lnTo>
                <a:lnTo>
                  <a:pt x="30210" y="46400"/>
                </a:lnTo>
                <a:lnTo>
                  <a:pt x="37164" y="30784"/>
                </a:lnTo>
                <a:lnTo>
                  <a:pt x="43995" y="15214"/>
                </a:lnTo>
                <a:lnTo>
                  <a:pt x="49845" y="0"/>
                </a:lnTo>
                <a:lnTo>
                  <a:pt x="49845" y="0"/>
                </a:lnTo>
                <a:lnTo>
                  <a:pt x="64107" y="7894"/>
                </a:lnTo>
                <a:lnTo>
                  <a:pt x="79347" y="15431"/>
                </a:lnTo>
                <a:lnTo>
                  <a:pt x="94712" y="22923"/>
                </a:lnTo>
                <a:lnTo>
                  <a:pt x="109857" y="30495"/>
                </a:lnTo>
                <a:lnTo>
                  <a:pt x="124521" y="38242"/>
                </a:lnTo>
                <a:lnTo>
                  <a:pt x="138484" y="46244"/>
                </a:lnTo>
                <a:lnTo>
                  <a:pt x="151551" y="54572"/>
                </a:lnTo>
                <a:lnTo>
                  <a:pt x="163552" y="63288"/>
                </a:lnTo>
                <a:lnTo>
                  <a:pt x="174341" y="72446"/>
                </a:lnTo>
                <a:lnTo>
                  <a:pt x="183795" y="82089"/>
                </a:lnTo>
                <a:lnTo>
                  <a:pt x="191819" y="92253"/>
                </a:lnTo>
                <a:lnTo>
                  <a:pt x="198344" y="102962"/>
                </a:lnTo>
                <a:lnTo>
                  <a:pt x="203327" y="114233"/>
                </a:lnTo>
                <a:lnTo>
                  <a:pt x="206755" y="126069"/>
                </a:lnTo>
                <a:lnTo>
                  <a:pt x="208640" y="138467"/>
                </a:lnTo>
                <a:lnTo>
                  <a:pt x="209026" y="151411"/>
                </a:lnTo>
                <a:lnTo>
                  <a:pt x="207982" y="164875"/>
                </a:lnTo>
                <a:lnTo>
                  <a:pt x="205604" y="178825"/>
                </a:lnTo>
                <a:lnTo>
                  <a:pt x="202013" y="193216"/>
                </a:lnTo>
                <a:lnTo>
                  <a:pt x="197357" y="207995"/>
                </a:lnTo>
                <a:lnTo>
                  <a:pt x="191805" y="223100"/>
                </a:lnTo>
                <a:lnTo>
                  <a:pt x="185550" y="238461"/>
                </a:lnTo>
                <a:lnTo>
                  <a:pt x="178816" y="253996"/>
                </a:lnTo>
                <a:lnTo>
                  <a:pt x="171862" y="269612"/>
                </a:lnTo>
                <a:lnTo>
                  <a:pt x="165031" y="285182"/>
                </a:lnTo>
                <a:lnTo>
                  <a:pt x="159181" y="300396"/>
                </a:lnTo>
                <a:close/>
              </a:path>
            </a:pathLst>
          </a:custGeom>
          <a:noFill/>
          <a:ln w="15875" cap="rnd">
            <a:solidFill>
              <a:srgbClr val="12A87B"/>
            </a:solidFill>
            <a:round/>
          </a:ln>
          <a:effectLst/>
        </p:spPr>
        <p:txBody>
          <a:bodyPr rtlCol="0" anchor="ctr"/>
          <a:lstStyle/>
          <a:p>
            <a:pPr algn="ctr"/>
          </a:p>
        </p:txBody>
      </p:sp>
      <p:sp>
        <p:nvSpPr>
          <p:cNvPr id="13" name="Freeform 12"/>
          <p:cNvSpPr/>
          <p:nvPr/>
        </p:nvSpPr>
        <p:spPr>
          <a:xfrm>
            <a:off x="1188916" y="3662850"/>
            <a:ext cx="109336" cy="300396"/>
          </a:xfrm>
          <a:custGeom>
            <a:avLst/>
            <a:gdLst/>
            <a:ahLst/>
            <a:cxnLst/>
            <a:rect l="l" t="t" r="r" b="b"/>
            <a:pathLst>
              <a:path w="109336" h="300396">
                <a:moveTo>
                  <a:pt x="109336" y="300396"/>
                </a:moveTo>
                <a:lnTo>
                  <a:pt x="0" y="0"/>
                </a:lnTo>
              </a:path>
            </a:pathLst>
          </a:custGeom>
          <a:noFill/>
          <a:ln w="12700" cap="rnd">
            <a:solidFill>
              <a:srgbClr val="12A87B"/>
            </a:solidFill>
            <a:round/>
          </a:ln>
          <a:effectLst/>
        </p:spPr>
        <p:txBody>
          <a:bodyPr rtlCol="0" anchor="ctr"/>
          <a:lstStyle/>
          <a:p>
            <a:pPr algn="ctr"/>
          </a:p>
        </p:txBody>
      </p:sp>
      <p:sp>
        <p:nvSpPr>
          <p:cNvPr id="14" name="Freeform 13"/>
          <p:cNvSpPr/>
          <p:nvPr/>
        </p:nvSpPr>
        <p:spPr>
          <a:xfrm>
            <a:off x="1198643" y="3856620"/>
            <a:ext cx="68995" cy="22515"/>
          </a:xfrm>
          <a:custGeom>
            <a:avLst/>
            <a:gdLst/>
            <a:ahLst/>
            <a:cxnLst/>
            <a:rect l="l" t="t" r="r" b="b"/>
            <a:pathLst>
              <a:path w="68995" h="22515">
                <a:moveTo>
                  <a:pt x="68995" y="22515"/>
                </a:moveTo>
                <a:lnTo>
                  <a:pt x="0"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267638" y="3817539"/>
            <a:ext cx="38381" cy="61596"/>
          </a:xfrm>
          <a:custGeom>
            <a:avLst/>
            <a:gdLst/>
            <a:ahLst/>
            <a:cxnLst/>
            <a:rect l="l" t="t" r="r" b="b"/>
            <a:pathLst>
              <a:path w="38381" h="61596">
                <a:moveTo>
                  <a:pt x="0" y="61596"/>
                </a:moveTo>
                <a:lnTo>
                  <a:pt x="38381"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159469" y="3802840"/>
            <a:ext cx="86302" cy="16216"/>
          </a:xfrm>
          <a:custGeom>
            <a:avLst/>
            <a:gdLst/>
            <a:ahLst/>
            <a:cxnLst/>
            <a:rect l="l" t="t" r="r" b="b"/>
            <a:pathLst>
              <a:path w="86302" h="16216">
                <a:moveTo>
                  <a:pt x="86302" y="16216"/>
                </a:moveTo>
                <a:lnTo>
                  <a:pt x="0"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245771" y="3751161"/>
            <a:ext cx="55687" cy="67895"/>
          </a:xfrm>
          <a:custGeom>
            <a:avLst/>
            <a:gdLst/>
            <a:ahLst/>
            <a:cxnLst/>
            <a:rect l="l" t="t" r="r" b="b"/>
            <a:pathLst>
              <a:path w="55687" h="67895">
                <a:moveTo>
                  <a:pt x="0" y="67895"/>
                </a:moveTo>
                <a:lnTo>
                  <a:pt x="55687"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149334" y="3738491"/>
            <a:ext cx="74570" cy="20486"/>
          </a:xfrm>
          <a:custGeom>
            <a:avLst/>
            <a:gdLst/>
            <a:ahLst/>
            <a:cxnLst/>
            <a:rect l="l" t="t" r="r" b="b"/>
            <a:pathLst>
              <a:path w="74570" h="20486">
                <a:moveTo>
                  <a:pt x="74570" y="20486"/>
                </a:moveTo>
                <a:lnTo>
                  <a:pt x="0"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1223904" y="3695351"/>
            <a:ext cx="43956" cy="63626"/>
          </a:xfrm>
          <a:custGeom>
            <a:avLst/>
            <a:gdLst/>
            <a:ahLst/>
            <a:cxnLst/>
            <a:rect l="l" t="t" r="r" b="b"/>
            <a:pathLst>
              <a:path w="43956" h="63626">
                <a:moveTo>
                  <a:pt x="0" y="63626"/>
                </a:moveTo>
                <a:lnTo>
                  <a:pt x="43956" y="0"/>
                </a:lnTo>
              </a:path>
            </a:pathLst>
          </a:custGeom>
          <a:noFill/>
          <a:ln w="9525" cap="rnd">
            <a:solidFill>
              <a:srgbClr val="12A87B"/>
            </a:solidFill>
            <a:round/>
          </a:ln>
          <a:effectLst/>
        </p:spPr>
        <p:txBody>
          <a:bodyPr rtlCol="0" anchor="ctr"/>
          <a:lstStyle/>
          <a:p>
            <a:pPr algn="ctr"/>
          </a:p>
        </p:txBody>
      </p:sp>
      <p:sp>
        <p:nvSpPr>
          <p:cNvPr id="20" name="TextBox 19"/>
          <p:cNvSpPr txBox="1"/>
          <p:nvPr/>
        </p:nvSpPr>
        <p:spPr>
          <a:xfrm>
            <a:off x="1033271"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ODS</a:t>
            </a:r>
          </a:p>
        </p:txBody>
      </p:sp>
      <p:sp>
        <p:nvSpPr>
          <p:cNvPr id="21" name="TextBox 20"/>
          <p:cNvSpPr txBox="1"/>
          <p:nvPr/>
        </p:nvSpPr>
        <p:spPr>
          <a:xfrm>
            <a:off x="1033271"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12A87B"/>
                </a:solidFill>
                <a:latin typeface="Montserrat Medium"/>
              </a:rPr>
              <a:t>Objetivos de Desenvolvimento Sustentável</a:t>
            </a:r>
          </a:p>
        </p:txBody>
      </p:sp>
      <p:sp>
        <p:nvSpPr>
          <p:cNvPr id="22" name="TextBox 21"/>
          <p:cNvSpPr txBox="1"/>
          <p:nvPr/>
        </p:nvSpPr>
        <p:spPr>
          <a:xfrm>
            <a:off x="1033271"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Aderência aos compromissos globais de sustentabilidade.</a:t>
            </a:r>
          </a:p>
        </p:txBody>
      </p:sp>
      <p:sp>
        <p:nvSpPr>
          <p:cNvPr id="23" name="Rectangle 22"/>
          <p:cNvSpPr/>
          <p:nvPr/>
        </p:nvSpPr>
        <p:spPr>
          <a:xfrm>
            <a:off x="4407407"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24" name="Rectangle 23"/>
          <p:cNvSpPr/>
          <p:nvPr/>
        </p:nvSpPr>
        <p:spPr>
          <a:xfrm>
            <a:off x="4407407" y="3310128"/>
            <a:ext cx="3392424" cy="50292"/>
          </a:xfrm>
          <a:prstGeom prst="rect">
            <a:avLst/>
          </a:prstGeom>
          <a:solidFill>
            <a:srgbClr val="3432C9"/>
          </a:solidFill>
          <a:ln w="12700" cap="rnd">
            <a:noFill/>
            <a:round/>
          </a:ln>
          <a:effectLst/>
        </p:spPr>
        <p:txBody>
          <a:bodyPr rtlCol="0" anchor="ctr"/>
          <a:lstStyle/>
          <a:p/>
        </p:txBody>
      </p:sp>
      <p:sp>
        <p:nvSpPr>
          <p:cNvPr id="25" name="Freeform 24"/>
          <p:cNvSpPr/>
          <p:nvPr/>
        </p:nvSpPr>
        <p:spPr>
          <a:xfrm>
            <a:off x="4747565" y="3636386"/>
            <a:ext cx="243962" cy="353324"/>
          </a:xfrm>
          <a:custGeom>
            <a:avLst/>
            <a:gdLst/>
            <a:ahLst/>
            <a:cxnLst/>
            <a:rect l="l" t="t" r="r" b="b"/>
            <a:pathLst>
              <a:path w="243962" h="353324">
                <a:moveTo>
                  <a:pt x="0" y="0"/>
                </a:moveTo>
                <a:lnTo>
                  <a:pt x="176662" y="0"/>
                </a:lnTo>
                <a:lnTo>
                  <a:pt x="243962" y="75712"/>
                </a:lnTo>
                <a:lnTo>
                  <a:pt x="243962" y="353324"/>
                </a:lnTo>
                <a:lnTo>
                  <a:pt x="0" y="353324"/>
                </a:lnTo>
                <a:close/>
              </a:path>
            </a:pathLst>
          </a:custGeom>
          <a:noFill/>
          <a:ln w="15875" cap="rnd">
            <a:solidFill>
              <a:srgbClr val="3432C9"/>
            </a:solidFill>
            <a:round/>
          </a:ln>
          <a:effectLst/>
        </p:spPr>
        <p:txBody>
          <a:bodyPr rtlCol="0" anchor="ctr"/>
          <a:lstStyle/>
          <a:p>
            <a:pPr algn="ctr"/>
          </a:p>
        </p:txBody>
      </p:sp>
      <p:sp>
        <p:nvSpPr>
          <p:cNvPr id="26" name="Freeform 25"/>
          <p:cNvSpPr/>
          <p:nvPr/>
        </p:nvSpPr>
        <p:spPr>
          <a:xfrm>
            <a:off x="4924227" y="3636386"/>
            <a:ext cx="67300" cy="75712"/>
          </a:xfrm>
          <a:custGeom>
            <a:avLst/>
            <a:gdLst/>
            <a:ahLst/>
            <a:cxnLst/>
            <a:rect l="l" t="t" r="r" b="b"/>
            <a:pathLst>
              <a:path w="67300" h="75712">
                <a:moveTo>
                  <a:pt x="0" y="0"/>
                </a:moveTo>
                <a:lnTo>
                  <a:pt x="0" y="75712"/>
                </a:lnTo>
                <a:lnTo>
                  <a:pt x="67300" y="75712"/>
                </a:lnTo>
              </a:path>
            </a:pathLst>
          </a:custGeom>
          <a:noFill/>
          <a:ln w="12700" cap="rnd">
            <a:solidFill>
              <a:srgbClr val="3432C9"/>
            </a:solidFill>
            <a:round/>
          </a:ln>
          <a:effectLst/>
        </p:spPr>
        <p:txBody>
          <a:bodyPr rtlCol="0" anchor="ctr"/>
          <a:lstStyle/>
          <a:p>
            <a:pPr algn="ctr"/>
          </a:p>
        </p:txBody>
      </p:sp>
      <p:sp>
        <p:nvSpPr>
          <p:cNvPr id="27" name="Freeform 26"/>
          <p:cNvSpPr/>
          <p:nvPr/>
        </p:nvSpPr>
        <p:spPr>
          <a:xfrm>
            <a:off x="4793833" y="3779398"/>
            <a:ext cx="151425" cy="0"/>
          </a:xfrm>
          <a:custGeom>
            <a:avLst/>
            <a:gdLst/>
            <a:ahLst/>
            <a:cxnLst/>
            <a:rect l="l" t="t" r="r" b="b"/>
            <a:pathLst>
              <a:path w="151425" h="0">
                <a:moveTo>
                  <a:pt x="0" y="0"/>
                </a:moveTo>
                <a:lnTo>
                  <a:pt x="151425" y="0"/>
                </a:lnTo>
              </a:path>
            </a:pathLst>
          </a:custGeom>
          <a:noFill/>
          <a:ln w="11112" cap="rnd">
            <a:solidFill>
              <a:srgbClr val="3432C9"/>
            </a:solidFill>
            <a:round/>
          </a:ln>
          <a:effectLst/>
        </p:spPr>
        <p:txBody>
          <a:bodyPr rtlCol="0" anchor="ctr"/>
          <a:lstStyle/>
          <a:p>
            <a:pPr algn="ctr"/>
          </a:p>
        </p:txBody>
      </p:sp>
      <p:sp>
        <p:nvSpPr>
          <p:cNvPr id="28" name="Freeform 27"/>
          <p:cNvSpPr/>
          <p:nvPr/>
        </p:nvSpPr>
        <p:spPr>
          <a:xfrm>
            <a:off x="4793833" y="3829873"/>
            <a:ext cx="151425" cy="0"/>
          </a:xfrm>
          <a:custGeom>
            <a:avLst/>
            <a:gdLst/>
            <a:ahLst/>
            <a:cxnLst/>
            <a:rect l="l" t="t" r="r" b="b"/>
            <a:pathLst>
              <a:path w="151425" h="0">
                <a:moveTo>
                  <a:pt x="0" y="0"/>
                </a:moveTo>
                <a:lnTo>
                  <a:pt x="151425" y="0"/>
                </a:lnTo>
              </a:path>
            </a:pathLst>
          </a:custGeom>
          <a:noFill/>
          <a:ln w="11112" cap="rnd">
            <a:solidFill>
              <a:srgbClr val="3432C9"/>
            </a:solidFill>
            <a:round/>
          </a:ln>
          <a:effectLst/>
        </p:spPr>
        <p:txBody>
          <a:bodyPr rtlCol="0" anchor="ctr"/>
          <a:lstStyle/>
          <a:p>
            <a:pPr algn="ctr"/>
          </a:p>
        </p:txBody>
      </p:sp>
      <p:sp>
        <p:nvSpPr>
          <p:cNvPr id="29" name="Freeform 28"/>
          <p:cNvSpPr/>
          <p:nvPr/>
        </p:nvSpPr>
        <p:spPr>
          <a:xfrm>
            <a:off x="4802246" y="3863523"/>
            <a:ext cx="138806" cy="84125"/>
          </a:xfrm>
          <a:custGeom>
            <a:avLst/>
            <a:gdLst/>
            <a:ahLst/>
            <a:cxnLst/>
            <a:rect l="l" t="t" r="r" b="b"/>
            <a:pathLst>
              <a:path w="138806" h="84125">
                <a:moveTo>
                  <a:pt x="0" y="42062"/>
                </a:moveTo>
                <a:lnTo>
                  <a:pt x="46269" y="84125"/>
                </a:lnTo>
                <a:lnTo>
                  <a:pt x="138806" y="0"/>
                </a:lnTo>
              </a:path>
            </a:pathLst>
          </a:custGeom>
          <a:noFill/>
          <a:ln w="17462" cap="rnd">
            <a:solidFill>
              <a:srgbClr val="3432C9"/>
            </a:solidFill>
            <a:round/>
          </a:ln>
          <a:effectLst/>
        </p:spPr>
        <p:txBody>
          <a:bodyPr rtlCol="0" anchor="ctr"/>
          <a:lstStyle/>
          <a:p>
            <a:pPr algn="ctr"/>
          </a:p>
        </p:txBody>
      </p:sp>
      <p:sp>
        <p:nvSpPr>
          <p:cNvPr id="30" name="TextBox 29"/>
          <p:cNvSpPr txBox="1"/>
          <p:nvPr/>
        </p:nvSpPr>
        <p:spPr>
          <a:xfrm>
            <a:off x="4663440"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Plano Municipal</a:t>
            </a:r>
          </a:p>
        </p:txBody>
      </p:sp>
      <p:sp>
        <p:nvSpPr>
          <p:cNvPr id="31" name="TextBox 30"/>
          <p:cNvSpPr txBox="1"/>
          <p:nvPr/>
        </p:nvSpPr>
        <p:spPr>
          <a:xfrm>
            <a:off x="4663440"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3432C9"/>
                </a:solidFill>
                <a:latin typeface="Montserrat Medium"/>
              </a:rPr>
              <a:t>Gerenciamento de Resíduos Sólidos</a:t>
            </a:r>
          </a:p>
        </p:txBody>
      </p:sp>
      <p:sp>
        <p:nvSpPr>
          <p:cNvPr id="32" name="TextBox 31"/>
          <p:cNvSpPr txBox="1"/>
          <p:nvPr/>
        </p:nvSpPr>
        <p:spPr>
          <a:xfrm>
            <a:off x="4663440"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Alinhamento ao instrumento de planejamento do Município de São Paulo.</a:t>
            </a:r>
          </a:p>
        </p:txBody>
      </p:sp>
      <p:sp>
        <p:nvSpPr>
          <p:cNvPr id="33" name="Rectangle 32"/>
          <p:cNvSpPr/>
          <p:nvPr/>
        </p:nvSpPr>
        <p:spPr>
          <a:xfrm>
            <a:off x="8037575"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34" name="Rectangle 33"/>
          <p:cNvSpPr/>
          <p:nvPr/>
        </p:nvSpPr>
        <p:spPr>
          <a:xfrm>
            <a:off x="8037575" y="3310128"/>
            <a:ext cx="3392424" cy="50292"/>
          </a:xfrm>
          <a:prstGeom prst="rect">
            <a:avLst/>
          </a:prstGeom>
          <a:solidFill>
            <a:srgbClr val="3432C9"/>
          </a:solidFill>
          <a:ln w="12700" cap="rnd">
            <a:noFill/>
            <a:round/>
          </a:ln>
          <a:effectLst/>
        </p:spPr>
        <p:txBody>
          <a:bodyPr rtlCol="0" anchor="ctr"/>
          <a:lstStyle/>
          <a:p/>
        </p:txBody>
      </p:sp>
      <p:sp>
        <p:nvSpPr>
          <p:cNvPr id="35" name="Oval 34"/>
          <p:cNvSpPr/>
          <p:nvPr/>
        </p:nvSpPr>
        <p:spPr>
          <a:xfrm>
            <a:off x="8453445" y="3678448"/>
            <a:ext cx="100949" cy="100949"/>
          </a:xfrm>
          <a:prstGeom prst="ellipse">
            <a:avLst/>
          </a:prstGeom>
          <a:noFill/>
          <a:ln w="15875" cap="rnd">
            <a:solidFill>
              <a:srgbClr val="3432C9"/>
            </a:solidFill>
            <a:round/>
          </a:ln>
          <a:effectLst/>
        </p:spPr>
        <p:txBody>
          <a:bodyPr rtlCol="0" anchor="ctr"/>
          <a:lstStyle/>
          <a:p/>
        </p:txBody>
      </p:sp>
      <p:sp>
        <p:nvSpPr>
          <p:cNvPr id="36" name="Freeform 35"/>
          <p:cNvSpPr/>
          <p:nvPr/>
        </p:nvSpPr>
        <p:spPr>
          <a:xfrm>
            <a:off x="8392077" y="3863523"/>
            <a:ext cx="223686" cy="90372"/>
          </a:xfrm>
          <a:custGeom>
            <a:avLst/>
            <a:gdLst/>
            <a:ahLst/>
            <a:cxnLst/>
            <a:rect l="l" t="t" r="r" b="b"/>
            <a:pathLst>
              <a:path w="223686" h="90372">
                <a:moveTo>
                  <a:pt x="0" y="90372"/>
                </a:moveTo>
                <a:lnTo>
                  <a:pt x="3396" y="76890"/>
                </a:lnTo>
                <a:lnTo>
                  <a:pt x="8537" y="63931"/>
                </a:lnTo>
                <a:lnTo>
                  <a:pt x="15341" y="51704"/>
                </a:lnTo>
                <a:lnTo>
                  <a:pt x="23697" y="40403"/>
                </a:lnTo>
                <a:lnTo>
                  <a:pt x="33472" y="30213"/>
                </a:lnTo>
                <a:lnTo>
                  <a:pt x="44507" y="21296"/>
                </a:lnTo>
                <a:lnTo>
                  <a:pt x="56626" y="13796"/>
                </a:lnTo>
                <a:lnTo>
                  <a:pt x="69634" y="7834"/>
                </a:lnTo>
                <a:lnTo>
                  <a:pt x="83321" y="3505"/>
                </a:lnTo>
                <a:lnTo>
                  <a:pt x="97466" y="880"/>
                </a:lnTo>
                <a:lnTo>
                  <a:pt x="111843" y="0"/>
                </a:lnTo>
                <a:lnTo>
                  <a:pt x="126220" y="880"/>
                </a:lnTo>
                <a:lnTo>
                  <a:pt x="140365" y="3505"/>
                </a:lnTo>
                <a:lnTo>
                  <a:pt x="154052" y="7834"/>
                </a:lnTo>
                <a:lnTo>
                  <a:pt x="167060" y="13796"/>
                </a:lnTo>
                <a:lnTo>
                  <a:pt x="179179" y="21296"/>
                </a:lnTo>
                <a:lnTo>
                  <a:pt x="190214" y="30213"/>
                </a:lnTo>
                <a:lnTo>
                  <a:pt x="199989" y="40403"/>
                </a:lnTo>
                <a:lnTo>
                  <a:pt x="208345" y="51704"/>
                </a:lnTo>
                <a:lnTo>
                  <a:pt x="215149" y="63931"/>
                </a:lnTo>
                <a:lnTo>
                  <a:pt x="220290" y="76890"/>
                </a:lnTo>
                <a:lnTo>
                  <a:pt x="223686" y="90372"/>
                </a:lnTo>
              </a:path>
            </a:pathLst>
          </a:custGeom>
          <a:noFill/>
          <a:ln w="15875" cap="rnd">
            <a:solidFill>
              <a:srgbClr val="3432C9"/>
            </a:solidFill>
            <a:round/>
          </a:ln>
          <a:effectLst/>
        </p:spPr>
        <p:txBody>
          <a:bodyPr rtlCol="0" anchor="ctr"/>
          <a:lstStyle/>
          <a:p>
            <a:pPr algn="ctr"/>
          </a:p>
        </p:txBody>
      </p:sp>
      <p:sp>
        <p:nvSpPr>
          <p:cNvPr id="37" name="Oval 36"/>
          <p:cNvSpPr/>
          <p:nvPr/>
        </p:nvSpPr>
        <p:spPr>
          <a:xfrm>
            <a:off x="8323051" y="3733129"/>
            <a:ext cx="75712" cy="75712"/>
          </a:xfrm>
          <a:prstGeom prst="ellipse">
            <a:avLst/>
          </a:prstGeom>
          <a:noFill/>
          <a:ln w="13494" cap="rnd">
            <a:solidFill>
              <a:srgbClr val="3432C9"/>
            </a:solidFill>
            <a:round/>
          </a:ln>
          <a:effectLst/>
        </p:spPr>
        <p:txBody>
          <a:bodyPr rtlCol="0" anchor="ctr"/>
          <a:lstStyle/>
          <a:p/>
        </p:txBody>
      </p:sp>
      <p:sp>
        <p:nvSpPr>
          <p:cNvPr id="38" name="Freeform 37"/>
          <p:cNvSpPr/>
          <p:nvPr/>
        </p:nvSpPr>
        <p:spPr>
          <a:xfrm>
            <a:off x="8291838" y="3913998"/>
            <a:ext cx="138139" cy="56116"/>
          </a:xfrm>
          <a:custGeom>
            <a:avLst/>
            <a:gdLst/>
            <a:ahLst/>
            <a:cxnLst/>
            <a:rect l="l" t="t" r="r" b="b"/>
            <a:pathLst>
              <a:path w="138139" h="56116">
                <a:moveTo>
                  <a:pt x="0" y="56116"/>
                </a:moveTo>
                <a:lnTo>
                  <a:pt x="3412" y="45724"/>
                </a:lnTo>
                <a:lnTo>
                  <a:pt x="8210" y="35965"/>
                </a:lnTo>
                <a:lnTo>
                  <a:pt x="14293" y="27045"/>
                </a:lnTo>
                <a:lnTo>
                  <a:pt x="21533" y="19153"/>
                </a:lnTo>
                <a:lnTo>
                  <a:pt x="29777" y="12455"/>
                </a:lnTo>
                <a:lnTo>
                  <a:pt x="38850" y="7093"/>
                </a:lnTo>
                <a:lnTo>
                  <a:pt x="48562" y="3180"/>
                </a:lnTo>
                <a:lnTo>
                  <a:pt x="58706" y="799"/>
                </a:lnTo>
                <a:lnTo>
                  <a:pt x="69070" y="0"/>
                </a:lnTo>
                <a:lnTo>
                  <a:pt x="79433" y="799"/>
                </a:lnTo>
                <a:lnTo>
                  <a:pt x="89578" y="3180"/>
                </a:lnTo>
                <a:lnTo>
                  <a:pt x="99290" y="7093"/>
                </a:lnTo>
                <a:lnTo>
                  <a:pt x="108363" y="12455"/>
                </a:lnTo>
                <a:lnTo>
                  <a:pt x="116607" y="19153"/>
                </a:lnTo>
                <a:lnTo>
                  <a:pt x="123847" y="27045"/>
                </a:lnTo>
                <a:lnTo>
                  <a:pt x="129930" y="35965"/>
                </a:lnTo>
                <a:lnTo>
                  <a:pt x="134728" y="45724"/>
                </a:lnTo>
                <a:lnTo>
                  <a:pt x="138139" y="56116"/>
                </a:lnTo>
              </a:path>
            </a:pathLst>
          </a:custGeom>
          <a:noFill/>
          <a:ln w="13494" cap="rnd">
            <a:solidFill>
              <a:srgbClr val="3432C9"/>
            </a:solidFill>
            <a:round/>
          </a:ln>
          <a:effectLst/>
        </p:spPr>
        <p:txBody>
          <a:bodyPr rtlCol="0" anchor="ctr"/>
          <a:lstStyle/>
          <a:p>
            <a:pPr algn="ctr"/>
          </a:p>
        </p:txBody>
      </p:sp>
      <p:sp>
        <p:nvSpPr>
          <p:cNvPr id="39" name="Oval 38"/>
          <p:cNvSpPr/>
          <p:nvPr/>
        </p:nvSpPr>
        <p:spPr>
          <a:xfrm>
            <a:off x="8609076" y="3733129"/>
            <a:ext cx="75712" cy="75712"/>
          </a:xfrm>
          <a:prstGeom prst="ellipse">
            <a:avLst/>
          </a:prstGeom>
          <a:noFill/>
          <a:ln w="13494" cap="rnd">
            <a:solidFill>
              <a:srgbClr val="3432C9"/>
            </a:solidFill>
            <a:round/>
          </a:ln>
          <a:effectLst/>
        </p:spPr>
        <p:txBody>
          <a:bodyPr rtlCol="0" anchor="ctr"/>
          <a:lstStyle/>
          <a:p/>
        </p:txBody>
      </p:sp>
      <p:sp>
        <p:nvSpPr>
          <p:cNvPr id="40" name="Freeform 39"/>
          <p:cNvSpPr/>
          <p:nvPr/>
        </p:nvSpPr>
        <p:spPr>
          <a:xfrm>
            <a:off x="8577863" y="3913998"/>
            <a:ext cx="138139" cy="56116"/>
          </a:xfrm>
          <a:custGeom>
            <a:avLst/>
            <a:gdLst/>
            <a:ahLst/>
            <a:cxnLst/>
            <a:rect l="l" t="t" r="r" b="b"/>
            <a:pathLst>
              <a:path w="138139" h="56116">
                <a:moveTo>
                  <a:pt x="0" y="56116"/>
                </a:moveTo>
                <a:lnTo>
                  <a:pt x="3411" y="45724"/>
                </a:lnTo>
                <a:lnTo>
                  <a:pt x="8209" y="35965"/>
                </a:lnTo>
                <a:lnTo>
                  <a:pt x="14292" y="27045"/>
                </a:lnTo>
                <a:lnTo>
                  <a:pt x="21532" y="19153"/>
                </a:lnTo>
                <a:lnTo>
                  <a:pt x="29776" y="12455"/>
                </a:lnTo>
                <a:lnTo>
                  <a:pt x="38849" y="7093"/>
                </a:lnTo>
                <a:lnTo>
                  <a:pt x="48561" y="3180"/>
                </a:lnTo>
                <a:lnTo>
                  <a:pt x="58706" y="799"/>
                </a:lnTo>
                <a:lnTo>
                  <a:pt x="69069" y="0"/>
                </a:lnTo>
                <a:lnTo>
                  <a:pt x="79433" y="799"/>
                </a:lnTo>
                <a:lnTo>
                  <a:pt x="89577" y="3180"/>
                </a:lnTo>
                <a:lnTo>
                  <a:pt x="99289" y="7093"/>
                </a:lnTo>
                <a:lnTo>
                  <a:pt x="108362" y="12455"/>
                </a:lnTo>
                <a:lnTo>
                  <a:pt x="116606" y="19153"/>
                </a:lnTo>
                <a:lnTo>
                  <a:pt x="123846" y="27045"/>
                </a:lnTo>
                <a:lnTo>
                  <a:pt x="129929" y="35965"/>
                </a:lnTo>
                <a:lnTo>
                  <a:pt x="134727" y="45724"/>
                </a:lnTo>
                <a:lnTo>
                  <a:pt x="138139" y="56116"/>
                </a:lnTo>
              </a:path>
            </a:pathLst>
          </a:custGeom>
          <a:noFill/>
          <a:ln w="13494" cap="rnd">
            <a:solidFill>
              <a:srgbClr val="3432C9"/>
            </a:solidFill>
            <a:round/>
          </a:ln>
          <a:effectLst/>
        </p:spPr>
        <p:txBody>
          <a:bodyPr rtlCol="0" anchor="ctr"/>
          <a:lstStyle/>
          <a:p>
            <a:pPr algn="ctr"/>
          </a:p>
        </p:txBody>
      </p:sp>
      <p:sp>
        <p:nvSpPr>
          <p:cNvPr id="41" name="TextBox 40"/>
          <p:cNvSpPr txBox="1"/>
          <p:nvPr/>
        </p:nvSpPr>
        <p:spPr>
          <a:xfrm>
            <a:off x="8293607"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Mãos Paulistanas</a:t>
            </a:r>
          </a:p>
        </p:txBody>
      </p:sp>
      <p:sp>
        <p:nvSpPr>
          <p:cNvPr id="42" name="TextBox 41"/>
          <p:cNvSpPr txBox="1"/>
          <p:nvPr/>
        </p:nvSpPr>
        <p:spPr>
          <a:xfrm>
            <a:off x="8293607"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3432C9"/>
                </a:solidFill>
                <a:latin typeface="Montserrat Medium"/>
              </a:rPr>
              <a:t>Possibilidade de integração</a:t>
            </a:r>
          </a:p>
        </p:txBody>
      </p:sp>
      <p:sp>
        <p:nvSpPr>
          <p:cNvPr id="43" name="TextBox 42"/>
          <p:cNvSpPr txBox="1"/>
          <p:nvPr/>
        </p:nvSpPr>
        <p:spPr>
          <a:xfrm>
            <a:off x="8293607"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Montserrat"/>
              </a:rPr>
              <a:t>O espaço poderá integrar o programa, caso seja de interesse da Prefeitura.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Fluxo operacional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Como funcionará o Bioma Têxtil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07</a:t>
            </a:r>
          </a:p>
        </p:txBody>
      </p:sp>
      <p:sp>
        <p:nvSpPr>
          <p:cNvPr id="9" name="Oval 8"/>
          <p:cNvSpPr/>
          <p:nvPr/>
        </p:nvSpPr>
        <p:spPr>
          <a:xfrm>
            <a:off x="1060704" y="2121408"/>
            <a:ext cx="914400" cy="914400"/>
          </a:xfrm>
          <a:prstGeom prst="ellipse">
            <a:avLst/>
          </a:prstGeom>
          <a:solidFill>
            <a:srgbClr val="F4F5FC"/>
          </a:solidFill>
          <a:ln w="12700" cap="rnd">
            <a:noFill/>
            <a:round/>
          </a:ln>
          <a:effectLst/>
        </p:spPr>
        <p:txBody>
          <a:bodyPr rtlCol="0" anchor="ctr"/>
          <a:lstStyle/>
          <a:p/>
        </p:txBody>
      </p:sp>
      <p:sp>
        <p:nvSpPr>
          <p:cNvPr id="10" name="Freeform 9"/>
          <p:cNvSpPr/>
          <p:nvPr/>
        </p:nvSpPr>
        <p:spPr>
          <a:xfrm>
            <a:off x="1318199" y="2483510"/>
            <a:ext cx="209215" cy="161666"/>
          </a:xfrm>
          <a:custGeom>
            <a:avLst/>
            <a:gdLst/>
            <a:ahLst/>
            <a:cxnLst/>
            <a:rect l="l" t="t" r="r" b="b"/>
            <a:pathLst>
              <a:path w="209215" h="161666">
                <a:moveTo>
                  <a:pt x="0" y="0"/>
                </a:moveTo>
                <a:lnTo>
                  <a:pt x="209215" y="0"/>
                </a:lnTo>
                <a:lnTo>
                  <a:pt x="209215" y="161666"/>
                </a:lnTo>
                <a:lnTo>
                  <a:pt x="0" y="161666"/>
                </a:lnTo>
                <a:close/>
              </a:path>
            </a:pathLst>
          </a:custGeom>
          <a:noFill/>
          <a:ln w="15875" cap="rnd">
            <a:solidFill>
              <a:srgbClr val="3432C9"/>
            </a:solidFill>
            <a:round/>
          </a:ln>
          <a:effectLst/>
        </p:spPr>
        <p:txBody>
          <a:bodyPr rtlCol="0" anchor="ctr"/>
          <a:lstStyle/>
          <a:p>
            <a:pPr algn="ctr"/>
          </a:p>
        </p:txBody>
      </p:sp>
      <p:sp>
        <p:nvSpPr>
          <p:cNvPr id="11" name="Freeform 10"/>
          <p:cNvSpPr/>
          <p:nvPr/>
        </p:nvSpPr>
        <p:spPr>
          <a:xfrm>
            <a:off x="1527414" y="2540569"/>
            <a:ext cx="161666" cy="104607"/>
          </a:xfrm>
          <a:custGeom>
            <a:avLst/>
            <a:gdLst/>
            <a:ahLst/>
            <a:cxnLst/>
            <a:rect l="l" t="t" r="r" b="b"/>
            <a:pathLst>
              <a:path w="161666" h="104607">
                <a:moveTo>
                  <a:pt x="0" y="0"/>
                </a:moveTo>
                <a:lnTo>
                  <a:pt x="95097" y="0"/>
                </a:lnTo>
                <a:lnTo>
                  <a:pt x="161666" y="61813"/>
                </a:lnTo>
                <a:lnTo>
                  <a:pt x="161666" y="104607"/>
                </a:lnTo>
                <a:lnTo>
                  <a:pt x="0" y="104607"/>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1318199" y="2645176"/>
            <a:ext cx="370881" cy="0"/>
          </a:xfrm>
          <a:custGeom>
            <a:avLst/>
            <a:gdLst/>
            <a:ahLst/>
            <a:cxnLst/>
            <a:rect l="l" t="t" r="r" b="b"/>
            <a:pathLst>
              <a:path w="370881" h="0">
                <a:moveTo>
                  <a:pt x="0" y="0"/>
                </a:moveTo>
                <a:lnTo>
                  <a:pt x="370881" y="0"/>
                </a:lnTo>
              </a:path>
            </a:pathLst>
          </a:custGeom>
          <a:noFill/>
          <a:ln w="15875" cap="rnd">
            <a:solidFill>
              <a:srgbClr val="3432C9"/>
            </a:solidFill>
            <a:round/>
          </a:ln>
          <a:effectLst/>
        </p:spPr>
        <p:txBody>
          <a:bodyPr rtlCol="0" anchor="ctr"/>
          <a:lstStyle/>
          <a:p>
            <a:pPr algn="ctr"/>
          </a:p>
        </p:txBody>
      </p:sp>
      <p:sp>
        <p:nvSpPr>
          <p:cNvPr id="13" name="Oval 12"/>
          <p:cNvSpPr/>
          <p:nvPr/>
        </p:nvSpPr>
        <p:spPr>
          <a:xfrm>
            <a:off x="1368125" y="2645176"/>
            <a:ext cx="71323" cy="71323"/>
          </a:xfrm>
          <a:prstGeom prst="ellipse">
            <a:avLst/>
          </a:prstGeom>
          <a:noFill/>
          <a:ln w="15875" cap="rnd">
            <a:solidFill>
              <a:srgbClr val="3432C9"/>
            </a:solidFill>
            <a:round/>
          </a:ln>
          <a:effectLst/>
        </p:spPr>
        <p:txBody>
          <a:bodyPr rtlCol="0" anchor="ctr"/>
          <a:lstStyle/>
          <a:p/>
        </p:txBody>
      </p:sp>
      <p:sp>
        <p:nvSpPr>
          <p:cNvPr id="14" name="Oval 13"/>
          <p:cNvSpPr/>
          <p:nvPr/>
        </p:nvSpPr>
        <p:spPr>
          <a:xfrm>
            <a:off x="1586849" y="2645176"/>
            <a:ext cx="71323" cy="71323"/>
          </a:xfrm>
          <a:prstGeom prst="ellipse">
            <a:avLst/>
          </a:prstGeom>
          <a:noFill/>
          <a:ln w="15875" cap="rnd">
            <a:solidFill>
              <a:srgbClr val="3432C9"/>
            </a:solidFill>
            <a:round/>
          </a:ln>
          <a:effectLst/>
        </p:spPr>
        <p:txBody>
          <a:bodyPr rtlCol="0" anchor="ctr"/>
          <a:lstStyle/>
          <a:p/>
        </p:txBody>
      </p:sp>
      <p:sp>
        <p:nvSpPr>
          <p:cNvPr id="15" name="TextBox 14"/>
          <p:cNvSpPr txBox="1"/>
          <p:nvPr/>
        </p:nvSpPr>
        <p:spPr>
          <a:xfrm>
            <a:off x="6858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Coleta</a:t>
            </a:r>
          </a:p>
        </p:txBody>
      </p:sp>
      <p:sp>
        <p:nvSpPr>
          <p:cNvPr id="16" name="TextBox 15"/>
          <p:cNvSpPr txBox="1"/>
          <p:nvPr/>
        </p:nvSpPr>
        <p:spPr>
          <a:xfrm>
            <a:off x="6492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Recolhimento na origem</a:t>
            </a:r>
          </a:p>
        </p:txBody>
      </p:sp>
      <p:sp>
        <p:nvSpPr>
          <p:cNvPr id="17" name="Freeform 16"/>
          <p:cNvSpPr/>
          <p:nvPr/>
        </p:nvSpPr>
        <p:spPr>
          <a:xfrm>
            <a:off x="23042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18" name="Freeform 17"/>
          <p:cNvSpPr/>
          <p:nvPr/>
        </p:nvSpPr>
        <p:spPr>
          <a:xfrm>
            <a:off x="24734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19" name="Oval 18"/>
          <p:cNvSpPr/>
          <p:nvPr/>
        </p:nvSpPr>
        <p:spPr>
          <a:xfrm>
            <a:off x="2889504" y="2121408"/>
            <a:ext cx="914400" cy="914400"/>
          </a:xfrm>
          <a:prstGeom prst="ellipse">
            <a:avLst/>
          </a:prstGeom>
          <a:solidFill>
            <a:srgbClr val="F4F5FC"/>
          </a:solidFill>
          <a:ln w="12700" cap="rnd">
            <a:noFill/>
            <a:round/>
          </a:ln>
          <a:effectLst/>
        </p:spPr>
        <p:txBody>
          <a:bodyPr rtlCol="0" anchor="ctr"/>
          <a:lstStyle/>
          <a:p/>
        </p:txBody>
      </p:sp>
      <p:sp>
        <p:nvSpPr>
          <p:cNvPr id="20" name="Freeform 19"/>
          <p:cNvSpPr/>
          <p:nvPr/>
        </p:nvSpPr>
        <p:spPr>
          <a:xfrm>
            <a:off x="3204058" y="2426452"/>
            <a:ext cx="285292" cy="351861"/>
          </a:xfrm>
          <a:custGeom>
            <a:avLst/>
            <a:gdLst/>
            <a:ahLst/>
            <a:cxnLst/>
            <a:rect l="l" t="t" r="r" b="b"/>
            <a:pathLst>
              <a:path w="285292" h="351861">
                <a:moveTo>
                  <a:pt x="0" y="0"/>
                </a:moveTo>
                <a:lnTo>
                  <a:pt x="285292" y="0"/>
                </a:lnTo>
                <a:lnTo>
                  <a:pt x="285292" y="351861"/>
                </a:lnTo>
                <a:lnTo>
                  <a:pt x="0" y="351861"/>
                </a:lnTo>
                <a:close/>
              </a:path>
            </a:pathLst>
          </a:custGeom>
          <a:noFill/>
          <a:ln w="15875" cap="rnd">
            <a:solidFill>
              <a:srgbClr val="3432C9"/>
            </a:solidFill>
            <a:round/>
          </a:ln>
          <a:effectLst/>
        </p:spPr>
        <p:txBody>
          <a:bodyPr rtlCol="0" anchor="ctr"/>
          <a:lstStyle/>
          <a:p>
            <a:pPr algn="ctr"/>
          </a:p>
        </p:txBody>
      </p:sp>
      <p:sp>
        <p:nvSpPr>
          <p:cNvPr id="21" name="Freeform 20"/>
          <p:cNvSpPr/>
          <p:nvPr/>
        </p:nvSpPr>
        <p:spPr>
          <a:xfrm>
            <a:off x="3289645" y="2378903"/>
            <a:ext cx="114118" cy="85588"/>
          </a:xfrm>
          <a:custGeom>
            <a:avLst/>
            <a:gdLst/>
            <a:ahLst/>
            <a:cxnLst/>
            <a:rect l="l" t="t" r="r" b="b"/>
            <a:pathLst>
              <a:path w="114118" h="85588">
                <a:moveTo>
                  <a:pt x="0" y="0"/>
                </a:moveTo>
                <a:lnTo>
                  <a:pt x="114118" y="0"/>
                </a:lnTo>
                <a:lnTo>
                  <a:pt x="114118" y="85588"/>
                </a:lnTo>
                <a:lnTo>
                  <a:pt x="0" y="85588"/>
                </a:lnTo>
                <a:close/>
              </a:path>
            </a:pathLst>
          </a:custGeom>
          <a:noFill/>
          <a:ln w="15875" cap="rnd">
            <a:solidFill>
              <a:srgbClr val="3432C9"/>
            </a:solidFill>
            <a:round/>
          </a:ln>
          <a:effectLst/>
        </p:spPr>
        <p:txBody>
          <a:bodyPr rtlCol="0" anchor="ctr"/>
          <a:lstStyle/>
          <a:p>
            <a:pPr algn="ctr"/>
          </a:p>
        </p:txBody>
      </p:sp>
      <p:sp>
        <p:nvSpPr>
          <p:cNvPr id="22" name="Freeform 21"/>
          <p:cNvSpPr/>
          <p:nvPr/>
        </p:nvSpPr>
        <p:spPr>
          <a:xfrm>
            <a:off x="3261116" y="2559588"/>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3" name="Freeform 22"/>
          <p:cNvSpPr/>
          <p:nvPr/>
        </p:nvSpPr>
        <p:spPr>
          <a:xfrm>
            <a:off x="3261116" y="2626157"/>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4" name="Freeform 23"/>
          <p:cNvSpPr/>
          <p:nvPr/>
        </p:nvSpPr>
        <p:spPr>
          <a:xfrm>
            <a:off x="3261116" y="2692725"/>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5" name="TextBox 24"/>
          <p:cNvSpPr txBox="1"/>
          <p:nvPr/>
        </p:nvSpPr>
        <p:spPr>
          <a:xfrm>
            <a:off x="25146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Recebimento</a:t>
            </a:r>
          </a:p>
        </p:txBody>
      </p:sp>
      <p:sp>
        <p:nvSpPr>
          <p:cNvPr id="26" name="TextBox 25"/>
          <p:cNvSpPr txBox="1"/>
          <p:nvPr/>
        </p:nvSpPr>
        <p:spPr>
          <a:xfrm>
            <a:off x="24780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Conferência e registro</a:t>
            </a:r>
          </a:p>
        </p:txBody>
      </p:sp>
      <p:sp>
        <p:nvSpPr>
          <p:cNvPr id="27" name="Freeform 26"/>
          <p:cNvSpPr/>
          <p:nvPr/>
        </p:nvSpPr>
        <p:spPr>
          <a:xfrm>
            <a:off x="41330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28" name="Freeform 27"/>
          <p:cNvSpPr/>
          <p:nvPr/>
        </p:nvSpPr>
        <p:spPr>
          <a:xfrm>
            <a:off x="43022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29" name="Oval 28"/>
          <p:cNvSpPr/>
          <p:nvPr/>
        </p:nvSpPr>
        <p:spPr>
          <a:xfrm>
            <a:off x="4718304" y="2121408"/>
            <a:ext cx="914400" cy="914400"/>
          </a:xfrm>
          <a:prstGeom prst="ellipse">
            <a:avLst/>
          </a:prstGeom>
          <a:solidFill>
            <a:srgbClr val="F4F5FC"/>
          </a:solidFill>
          <a:ln w="12700" cap="rnd">
            <a:noFill/>
            <a:round/>
          </a:ln>
          <a:effectLst/>
        </p:spPr>
        <p:txBody>
          <a:bodyPr rtlCol="0" anchor="ctr"/>
          <a:lstStyle/>
          <a:p/>
        </p:txBody>
      </p:sp>
      <p:sp>
        <p:nvSpPr>
          <p:cNvPr id="30" name="Freeform 29"/>
          <p:cNvSpPr/>
          <p:nvPr/>
        </p:nvSpPr>
        <p:spPr>
          <a:xfrm>
            <a:off x="4966289" y="2578608"/>
            <a:ext cx="114117" cy="0"/>
          </a:xfrm>
          <a:custGeom>
            <a:avLst/>
            <a:gdLst/>
            <a:ahLst/>
            <a:cxnLst/>
            <a:rect l="l" t="t" r="r" b="b"/>
            <a:pathLst>
              <a:path w="114117" h="0">
                <a:moveTo>
                  <a:pt x="0" y="0"/>
                </a:moveTo>
                <a:lnTo>
                  <a:pt x="114117"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5080406" y="2426452"/>
            <a:ext cx="171176" cy="152156"/>
          </a:xfrm>
          <a:custGeom>
            <a:avLst/>
            <a:gdLst/>
            <a:ahLst/>
            <a:cxnLst/>
            <a:rect l="l" t="t" r="r" b="b"/>
            <a:pathLst>
              <a:path w="171176" h="152156">
                <a:moveTo>
                  <a:pt x="0" y="152156"/>
                </a:moveTo>
                <a:lnTo>
                  <a:pt x="0" y="0"/>
                </a:lnTo>
                <a:lnTo>
                  <a:pt x="171176" y="0"/>
                </a:lnTo>
              </a:path>
            </a:pathLst>
          </a:custGeom>
          <a:noFill/>
          <a:ln w="15875" cap="rnd">
            <a:solidFill>
              <a:srgbClr val="3432C9"/>
            </a:solidFill>
            <a:round/>
          </a:ln>
          <a:effectLst/>
        </p:spPr>
        <p:txBody>
          <a:bodyPr rtlCol="0" anchor="ctr"/>
          <a:lstStyle/>
          <a:p>
            <a:pPr algn="ctr"/>
          </a:p>
        </p:txBody>
      </p:sp>
      <p:sp>
        <p:nvSpPr>
          <p:cNvPr id="32" name="Freeform 31"/>
          <p:cNvSpPr/>
          <p:nvPr/>
        </p:nvSpPr>
        <p:spPr>
          <a:xfrm>
            <a:off x="5201202" y="2399664"/>
            <a:ext cx="50380" cy="53575"/>
          </a:xfrm>
          <a:custGeom>
            <a:avLst/>
            <a:gdLst/>
            <a:ahLst/>
            <a:cxnLst/>
            <a:rect l="l" t="t" r="r" b="b"/>
            <a:pathLst>
              <a:path w="50380" h="53575">
                <a:moveTo>
                  <a:pt x="50380" y="26788"/>
                </a:moveTo>
                <a:lnTo>
                  <a:pt x="0" y="53575"/>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3" name="Freeform 32"/>
          <p:cNvSpPr/>
          <p:nvPr/>
        </p:nvSpPr>
        <p:spPr>
          <a:xfrm>
            <a:off x="5080406" y="2578608"/>
            <a:ext cx="171176" cy="0"/>
          </a:xfrm>
          <a:custGeom>
            <a:avLst/>
            <a:gdLst/>
            <a:ahLst/>
            <a:cxnLst/>
            <a:rect l="l" t="t" r="r" b="b"/>
            <a:pathLst>
              <a:path w="171176" h="0">
                <a:moveTo>
                  <a:pt x="0" y="0"/>
                </a:moveTo>
                <a:lnTo>
                  <a:pt x="171176" y="0"/>
                </a:lnTo>
              </a:path>
            </a:pathLst>
          </a:custGeom>
          <a:noFill/>
          <a:ln w="15875" cap="rnd">
            <a:solidFill>
              <a:srgbClr val="3432C9"/>
            </a:solidFill>
            <a:round/>
          </a:ln>
          <a:effectLst/>
        </p:spPr>
        <p:txBody>
          <a:bodyPr rtlCol="0" anchor="ctr"/>
          <a:lstStyle/>
          <a:p>
            <a:pPr algn="ctr"/>
          </a:p>
        </p:txBody>
      </p:sp>
      <p:sp>
        <p:nvSpPr>
          <p:cNvPr id="34" name="Freeform 33"/>
          <p:cNvSpPr/>
          <p:nvPr/>
        </p:nvSpPr>
        <p:spPr>
          <a:xfrm>
            <a:off x="5201202" y="2551821"/>
            <a:ext cx="50380" cy="53574"/>
          </a:xfrm>
          <a:custGeom>
            <a:avLst/>
            <a:gdLst/>
            <a:ahLst/>
            <a:cxnLst/>
            <a:rect l="l" t="t" r="r" b="b"/>
            <a:pathLst>
              <a:path w="50380" h="53574">
                <a:moveTo>
                  <a:pt x="50380" y="26787"/>
                </a:moveTo>
                <a:lnTo>
                  <a:pt x="0" y="5357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5" name="Freeform 34"/>
          <p:cNvSpPr/>
          <p:nvPr/>
        </p:nvSpPr>
        <p:spPr>
          <a:xfrm>
            <a:off x="5080406" y="2578608"/>
            <a:ext cx="171176" cy="152156"/>
          </a:xfrm>
          <a:custGeom>
            <a:avLst/>
            <a:gdLst/>
            <a:ahLst/>
            <a:cxnLst/>
            <a:rect l="l" t="t" r="r" b="b"/>
            <a:pathLst>
              <a:path w="171176" h="152156">
                <a:moveTo>
                  <a:pt x="0" y="0"/>
                </a:moveTo>
                <a:lnTo>
                  <a:pt x="0" y="152156"/>
                </a:lnTo>
                <a:lnTo>
                  <a:pt x="171176" y="152156"/>
                </a:lnTo>
              </a:path>
            </a:pathLst>
          </a:custGeom>
          <a:noFill/>
          <a:ln w="15875" cap="rnd">
            <a:solidFill>
              <a:srgbClr val="3432C9"/>
            </a:solidFill>
            <a:round/>
          </a:ln>
          <a:effectLst/>
        </p:spPr>
        <p:txBody>
          <a:bodyPr rtlCol="0" anchor="ctr"/>
          <a:lstStyle/>
          <a:p>
            <a:pPr algn="ctr"/>
          </a:p>
        </p:txBody>
      </p:sp>
      <p:sp>
        <p:nvSpPr>
          <p:cNvPr id="36" name="Freeform 35"/>
          <p:cNvSpPr/>
          <p:nvPr/>
        </p:nvSpPr>
        <p:spPr>
          <a:xfrm>
            <a:off x="5201202" y="2703977"/>
            <a:ext cx="50380" cy="53575"/>
          </a:xfrm>
          <a:custGeom>
            <a:avLst/>
            <a:gdLst/>
            <a:ahLst/>
            <a:cxnLst/>
            <a:rect l="l" t="t" r="r" b="b"/>
            <a:pathLst>
              <a:path w="50380" h="53575">
                <a:moveTo>
                  <a:pt x="50380" y="26787"/>
                </a:moveTo>
                <a:lnTo>
                  <a:pt x="0" y="53575"/>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7" name="TextBox 36"/>
          <p:cNvSpPr txBox="1"/>
          <p:nvPr/>
        </p:nvSpPr>
        <p:spPr>
          <a:xfrm>
            <a:off x="43434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Separação</a:t>
            </a:r>
          </a:p>
        </p:txBody>
      </p:sp>
      <p:sp>
        <p:nvSpPr>
          <p:cNvPr id="38" name="TextBox 37"/>
          <p:cNvSpPr txBox="1"/>
          <p:nvPr/>
        </p:nvSpPr>
        <p:spPr>
          <a:xfrm>
            <a:off x="43068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Triagem técnica</a:t>
            </a:r>
          </a:p>
        </p:txBody>
      </p:sp>
      <p:sp>
        <p:nvSpPr>
          <p:cNvPr id="39" name="Freeform 38"/>
          <p:cNvSpPr/>
          <p:nvPr/>
        </p:nvSpPr>
        <p:spPr>
          <a:xfrm>
            <a:off x="59618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40" name="Freeform 39"/>
          <p:cNvSpPr/>
          <p:nvPr/>
        </p:nvSpPr>
        <p:spPr>
          <a:xfrm>
            <a:off x="61310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41" name="Oval 40"/>
          <p:cNvSpPr/>
          <p:nvPr/>
        </p:nvSpPr>
        <p:spPr>
          <a:xfrm>
            <a:off x="6547104" y="2121408"/>
            <a:ext cx="914400" cy="914400"/>
          </a:xfrm>
          <a:prstGeom prst="ellipse">
            <a:avLst/>
          </a:prstGeom>
          <a:solidFill>
            <a:srgbClr val="F4F5FC"/>
          </a:solidFill>
          <a:ln w="12700" cap="rnd">
            <a:noFill/>
            <a:round/>
          </a:ln>
          <a:effectLst/>
        </p:spPr>
        <p:txBody>
          <a:bodyPr rtlCol="0" anchor="ctr"/>
          <a:lstStyle/>
          <a:p/>
        </p:txBody>
      </p:sp>
      <p:sp>
        <p:nvSpPr>
          <p:cNvPr id="42" name="Freeform 41"/>
          <p:cNvSpPr/>
          <p:nvPr/>
        </p:nvSpPr>
        <p:spPr>
          <a:xfrm>
            <a:off x="6814109" y="2578608"/>
            <a:ext cx="161666" cy="142646"/>
          </a:xfrm>
          <a:custGeom>
            <a:avLst/>
            <a:gdLst/>
            <a:ahLst/>
            <a:cxnLst/>
            <a:rect l="l" t="t" r="r" b="b"/>
            <a:pathLst>
              <a:path w="161666" h="142646">
                <a:moveTo>
                  <a:pt x="0" y="0"/>
                </a:moveTo>
                <a:lnTo>
                  <a:pt x="161666" y="0"/>
                </a:lnTo>
                <a:lnTo>
                  <a:pt x="161666" y="142646"/>
                </a:lnTo>
                <a:lnTo>
                  <a:pt x="0" y="142646"/>
                </a:lnTo>
                <a:close/>
              </a:path>
            </a:pathLst>
          </a:custGeom>
          <a:noFill/>
          <a:ln w="15875" cap="rnd">
            <a:solidFill>
              <a:srgbClr val="3432C9"/>
            </a:solidFill>
            <a:round/>
          </a:ln>
          <a:effectLst/>
        </p:spPr>
        <p:txBody>
          <a:bodyPr rtlCol="0" anchor="ctr"/>
          <a:lstStyle/>
          <a:p>
            <a:pPr algn="ctr"/>
          </a:p>
        </p:txBody>
      </p:sp>
      <p:sp>
        <p:nvSpPr>
          <p:cNvPr id="43" name="Freeform 42"/>
          <p:cNvSpPr/>
          <p:nvPr/>
        </p:nvSpPr>
        <p:spPr>
          <a:xfrm>
            <a:off x="6994794" y="2578608"/>
            <a:ext cx="161666" cy="142646"/>
          </a:xfrm>
          <a:custGeom>
            <a:avLst/>
            <a:gdLst/>
            <a:ahLst/>
            <a:cxnLst/>
            <a:rect l="l" t="t" r="r" b="b"/>
            <a:pathLst>
              <a:path w="161666" h="142646">
                <a:moveTo>
                  <a:pt x="0" y="0"/>
                </a:moveTo>
                <a:lnTo>
                  <a:pt x="161666" y="0"/>
                </a:lnTo>
                <a:lnTo>
                  <a:pt x="161666" y="142646"/>
                </a:lnTo>
                <a:lnTo>
                  <a:pt x="0" y="142646"/>
                </a:lnTo>
                <a:close/>
              </a:path>
            </a:pathLst>
          </a:custGeom>
          <a:noFill/>
          <a:ln w="15875" cap="rnd">
            <a:solidFill>
              <a:srgbClr val="3432C9"/>
            </a:solidFill>
            <a:round/>
          </a:ln>
          <a:effectLst/>
        </p:spPr>
        <p:txBody>
          <a:bodyPr rtlCol="0" anchor="ctr"/>
          <a:lstStyle/>
          <a:p>
            <a:pPr algn="ctr"/>
          </a:p>
        </p:txBody>
      </p:sp>
      <p:sp>
        <p:nvSpPr>
          <p:cNvPr id="44" name="Freeform 43"/>
          <p:cNvSpPr/>
          <p:nvPr/>
        </p:nvSpPr>
        <p:spPr>
          <a:xfrm>
            <a:off x="6904452" y="2426452"/>
            <a:ext cx="161665" cy="133136"/>
          </a:xfrm>
          <a:custGeom>
            <a:avLst/>
            <a:gdLst/>
            <a:ahLst/>
            <a:cxnLst/>
            <a:rect l="l" t="t" r="r" b="b"/>
            <a:pathLst>
              <a:path w="161665" h="133136">
                <a:moveTo>
                  <a:pt x="0" y="0"/>
                </a:moveTo>
                <a:lnTo>
                  <a:pt x="161665" y="0"/>
                </a:lnTo>
                <a:lnTo>
                  <a:pt x="161665" y="133136"/>
                </a:lnTo>
                <a:lnTo>
                  <a:pt x="0" y="133136"/>
                </a:lnTo>
                <a:close/>
              </a:path>
            </a:pathLst>
          </a:custGeom>
          <a:noFill/>
          <a:ln w="15875" cap="rnd">
            <a:solidFill>
              <a:srgbClr val="3432C9"/>
            </a:solidFill>
            <a:round/>
          </a:ln>
          <a:effectLst/>
        </p:spPr>
        <p:txBody>
          <a:bodyPr rtlCol="0" anchor="ctr"/>
          <a:lstStyle/>
          <a:p>
            <a:pPr algn="ctr"/>
          </a:p>
        </p:txBody>
      </p:sp>
      <p:sp>
        <p:nvSpPr>
          <p:cNvPr id="45" name="Freeform 44"/>
          <p:cNvSpPr/>
          <p:nvPr/>
        </p:nvSpPr>
        <p:spPr>
          <a:xfrm>
            <a:off x="6894942" y="2578608"/>
            <a:ext cx="0" cy="142646"/>
          </a:xfrm>
          <a:custGeom>
            <a:avLst/>
            <a:gdLst/>
            <a:ahLst/>
            <a:cxnLst/>
            <a:rect l="l" t="t" r="r" b="b"/>
            <a:pathLst>
              <a:path w="0" h="142646">
                <a:moveTo>
                  <a:pt x="0" y="0"/>
                </a:moveTo>
                <a:lnTo>
                  <a:pt x="0" y="142646"/>
                </a:lnTo>
              </a:path>
            </a:pathLst>
          </a:custGeom>
          <a:noFill/>
          <a:ln w="11112" cap="rnd">
            <a:solidFill>
              <a:srgbClr val="3432C9"/>
            </a:solidFill>
            <a:round/>
          </a:ln>
          <a:effectLst/>
        </p:spPr>
        <p:txBody>
          <a:bodyPr rtlCol="0" anchor="ctr"/>
          <a:lstStyle/>
          <a:p>
            <a:pPr algn="ctr"/>
          </a:p>
        </p:txBody>
      </p:sp>
      <p:sp>
        <p:nvSpPr>
          <p:cNvPr id="46" name="Freeform 45"/>
          <p:cNvSpPr/>
          <p:nvPr/>
        </p:nvSpPr>
        <p:spPr>
          <a:xfrm>
            <a:off x="7075627" y="2578608"/>
            <a:ext cx="0" cy="142646"/>
          </a:xfrm>
          <a:custGeom>
            <a:avLst/>
            <a:gdLst/>
            <a:ahLst/>
            <a:cxnLst/>
            <a:rect l="l" t="t" r="r" b="b"/>
            <a:pathLst>
              <a:path w="0" h="142646">
                <a:moveTo>
                  <a:pt x="0" y="0"/>
                </a:moveTo>
                <a:lnTo>
                  <a:pt x="0" y="142646"/>
                </a:lnTo>
              </a:path>
            </a:pathLst>
          </a:custGeom>
          <a:noFill/>
          <a:ln w="11112" cap="rnd">
            <a:solidFill>
              <a:srgbClr val="3432C9"/>
            </a:solidFill>
            <a:round/>
          </a:ln>
          <a:effectLst/>
        </p:spPr>
        <p:txBody>
          <a:bodyPr rtlCol="0" anchor="ctr"/>
          <a:lstStyle/>
          <a:p>
            <a:pPr algn="ctr"/>
          </a:p>
        </p:txBody>
      </p:sp>
      <p:sp>
        <p:nvSpPr>
          <p:cNvPr id="47" name="Freeform 46"/>
          <p:cNvSpPr/>
          <p:nvPr/>
        </p:nvSpPr>
        <p:spPr>
          <a:xfrm>
            <a:off x="6985284" y="2426452"/>
            <a:ext cx="0" cy="133136"/>
          </a:xfrm>
          <a:custGeom>
            <a:avLst/>
            <a:gdLst/>
            <a:ahLst/>
            <a:cxnLst/>
            <a:rect l="l" t="t" r="r" b="b"/>
            <a:pathLst>
              <a:path w="0" h="133136">
                <a:moveTo>
                  <a:pt x="0" y="0"/>
                </a:moveTo>
                <a:lnTo>
                  <a:pt x="0" y="133136"/>
                </a:lnTo>
              </a:path>
            </a:pathLst>
          </a:custGeom>
          <a:noFill/>
          <a:ln w="11112" cap="rnd">
            <a:solidFill>
              <a:srgbClr val="3432C9"/>
            </a:solidFill>
            <a:round/>
          </a:ln>
          <a:effectLst/>
        </p:spPr>
        <p:txBody>
          <a:bodyPr rtlCol="0" anchor="ctr"/>
          <a:lstStyle/>
          <a:p>
            <a:pPr algn="ctr"/>
          </a:p>
        </p:txBody>
      </p:sp>
      <p:sp>
        <p:nvSpPr>
          <p:cNvPr id="48" name="TextBox 47"/>
          <p:cNvSpPr txBox="1"/>
          <p:nvPr/>
        </p:nvSpPr>
        <p:spPr>
          <a:xfrm>
            <a:off x="61722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Armazenamento</a:t>
            </a:r>
          </a:p>
        </p:txBody>
      </p:sp>
      <p:sp>
        <p:nvSpPr>
          <p:cNvPr id="49" name="TextBox 48"/>
          <p:cNvSpPr txBox="1"/>
          <p:nvPr/>
        </p:nvSpPr>
        <p:spPr>
          <a:xfrm>
            <a:off x="61356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Organização por lotes</a:t>
            </a:r>
          </a:p>
        </p:txBody>
      </p:sp>
      <p:sp>
        <p:nvSpPr>
          <p:cNvPr id="50" name="Freeform 49"/>
          <p:cNvSpPr/>
          <p:nvPr/>
        </p:nvSpPr>
        <p:spPr>
          <a:xfrm>
            <a:off x="77906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51" name="Freeform 50"/>
          <p:cNvSpPr/>
          <p:nvPr/>
        </p:nvSpPr>
        <p:spPr>
          <a:xfrm>
            <a:off x="79598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52" name="Oval 51"/>
          <p:cNvSpPr/>
          <p:nvPr/>
        </p:nvSpPr>
        <p:spPr>
          <a:xfrm>
            <a:off x="8375904" y="2121408"/>
            <a:ext cx="914400" cy="914400"/>
          </a:xfrm>
          <a:prstGeom prst="ellipse">
            <a:avLst/>
          </a:prstGeom>
          <a:solidFill>
            <a:srgbClr val="F4F5FC"/>
          </a:solidFill>
          <a:ln w="12700" cap="rnd">
            <a:noFill/>
            <a:round/>
          </a:ln>
          <a:effectLst/>
        </p:spPr>
        <p:txBody>
          <a:bodyPr rtlCol="0" anchor="ctr"/>
          <a:lstStyle/>
          <a:p/>
        </p:txBody>
      </p:sp>
      <p:sp>
        <p:nvSpPr>
          <p:cNvPr id="53" name="Oval 52"/>
          <p:cNvSpPr/>
          <p:nvPr/>
        </p:nvSpPr>
        <p:spPr>
          <a:xfrm>
            <a:off x="8723741" y="2469245"/>
            <a:ext cx="218724" cy="218724"/>
          </a:xfrm>
          <a:prstGeom prst="ellipse">
            <a:avLst/>
          </a:prstGeom>
          <a:noFill/>
          <a:ln w="15875" cap="rnd">
            <a:solidFill>
              <a:srgbClr val="3432C9"/>
            </a:solidFill>
            <a:round/>
          </a:ln>
          <a:effectLst/>
        </p:spPr>
        <p:txBody>
          <a:bodyPr rtlCol="0" anchor="ctr"/>
          <a:lstStyle/>
          <a:p/>
        </p:txBody>
      </p:sp>
      <p:sp>
        <p:nvSpPr>
          <p:cNvPr id="54" name="Oval 53"/>
          <p:cNvSpPr/>
          <p:nvPr/>
        </p:nvSpPr>
        <p:spPr>
          <a:xfrm>
            <a:off x="8790310" y="2535814"/>
            <a:ext cx="85587" cy="85587"/>
          </a:xfrm>
          <a:prstGeom prst="ellipse">
            <a:avLst/>
          </a:prstGeom>
          <a:noFill/>
          <a:ln w="15875" cap="rnd">
            <a:solidFill>
              <a:srgbClr val="3432C9"/>
            </a:solidFill>
            <a:round/>
          </a:ln>
          <a:effectLst/>
        </p:spPr>
        <p:txBody>
          <a:bodyPr rtlCol="0" anchor="ctr"/>
          <a:lstStyle/>
          <a:p/>
        </p:txBody>
      </p:sp>
      <p:sp>
        <p:nvSpPr>
          <p:cNvPr id="55" name="Freeform 54"/>
          <p:cNvSpPr/>
          <p:nvPr/>
        </p:nvSpPr>
        <p:spPr>
          <a:xfrm>
            <a:off x="8951976" y="2578608"/>
            <a:ext cx="42794" cy="0"/>
          </a:xfrm>
          <a:custGeom>
            <a:avLst/>
            <a:gdLst/>
            <a:ahLst/>
            <a:cxnLst/>
            <a:rect l="l" t="t" r="r" b="b"/>
            <a:pathLst>
              <a:path w="42794" h="0">
                <a:moveTo>
                  <a:pt x="0" y="0"/>
                </a:moveTo>
                <a:lnTo>
                  <a:pt x="42794" y="0"/>
                </a:lnTo>
              </a:path>
            </a:pathLst>
          </a:custGeom>
          <a:noFill/>
          <a:ln w="14288" cap="rnd">
            <a:solidFill>
              <a:srgbClr val="3432C9"/>
            </a:solidFill>
            <a:round/>
          </a:ln>
          <a:effectLst/>
        </p:spPr>
        <p:txBody>
          <a:bodyPr rtlCol="0" anchor="ctr"/>
          <a:lstStyle/>
          <a:p>
            <a:pPr algn="ctr"/>
          </a:p>
        </p:txBody>
      </p:sp>
      <p:sp>
        <p:nvSpPr>
          <p:cNvPr id="56" name="Freeform 55"/>
          <p:cNvSpPr/>
          <p:nvPr/>
        </p:nvSpPr>
        <p:spPr>
          <a:xfrm>
            <a:off x="8917159" y="2662663"/>
            <a:ext cx="30260" cy="30260"/>
          </a:xfrm>
          <a:custGeom>
            <a:avLst/>
            <a:gdLst/>
            <a:ahLst/>
            <a:cxnLst/>
            <a:rect l="l" t="t" r="r" b="b"/>
            <a:pathLst>
              <a:path w="30260" h="30260">
                <a:moveTo>
                  <a:pt x="0" y="0"/>
                </a:moveTo>
                <a:lnTo>
                  <a:pt x="30260" y="30260"/>
                </a:lnTo>
              </a:path>
            </a:pathLst>
          </a:custGeom>
          <a:noFill/>
          <a:ln w="14288" cap="rnd">
            <a:solidFill>
              <a:srgbClr val="3432C9"/>
            </a:solidFill>
            <a:round/>
          </a:ln>
          <a:effectLst/>
        </p:spPr>
        <p:txBody>
          <a:bodyPr rtlCol="0" anchor="ctr"/>
          <a:lstStyle/>
          <a:p>
            <a:pPr algn="ctr"/>
          </a:p>
        </p:txBody>
      </p:sp>
      <p:sp>
        <p:nvSpPr>
          <p:cNvPr id="57" name="Freeform 56"/>
          <p:cNvSpPr/>
          <p:nvPr/>
        </p:nvSpPr>
        <p:spPr>
          <a:xfrm>
            <a:off x="8833104" y="2697480"/>
            <a:ext cx="0" cy="42794"/>
          </a:xfrm>
          <a:custGeom>
            <a:avLst/>
            <a:gdLst/>
            <a:ahLst/>
            <a:cxnLst/>
            <a:rect l="l" t="t" r="r" b="b"/>
            <a:pathLst>
              <a:path w="0" h="42794">
                <a:moveTo>
                  <a:pt x="0" y="0"/>
                </a:moveTo>
                <a:lnTo>
                  <a:pt x="0" y="42794"/>
                </a:lnTo>
              </a:path>
            </a:pathLst>
          </a:custGeom>
          <a:noFill/>
          <a:ln w="14288" cap="rnd">
            <a:solidFill>
              <a:srgbClr val="3432C9"/>
            </a:solidFill>
            <a:round/>
          </a:ln>
          <a:effectLst/>
        </p:spPr>
        <p:txBody>
          <a:bodyPr rtlCol="0" anchor="ctr"/>
          <a:lstStyle/>
          <a:p>
            <a:pPr algn="ctr"/>
          </a:p>
        </p:txBody>
      </p:sp>
      <p:sp>
        <p:nvSpPr>
          <p:cNvPr id="58" name="Freeform 57"/>
          <p:cNvSpPr/>
          <p:nvPr/>
        </p:nvSpPr>
        <p:spPr>
          <a:xfrm>
            <a:off x="8718789" y="2662663"/>
            <a:ext cx="30260" cy="30260"/>
          </a:xfrm>
          <a:custGeom>
            <a:avLst/>
            <a:gdLst/>
            <a:ahLst/>
            <a:cxnLst/>
            <a:rect l="l" t="t" r="r" b="b"/>
            <a:pathLst>
              <a:path w="30260" h="30260">
                <a:moveTo>
                  <a:pt x="30260" y="0"/>
                </a:moveTo>
                <a:lnTo>
                  <a:pt x="0" y="30260"/>
                </a:lnTo>
              </a:path>
            </a:pathLst>
          </a:custGeom>
          <a:noFill/>
          <a:ln w="14288" cap="rnd">
            <a:solidFill>
              <a:srgbClr val="3432C9"/>
            </a:solidFill>
            <a:round/>
          </a:ln>
          <a:effectLst/>
        </p:spPr>
        <p:txBody>
          <a:bodyPr rtlCol="0" anchor="ctr"/>
          <a:lstStyle/>
          <a:p>
            <a:pPr algn="ctr"/>
          </a:p>
        </p:txBody>
      </p:sp>
      <p:sp>
        <p:nvSpPr>
          <p:cNvPr id="59" name="Freeform 58"/>
          <p:cNvSpPr/>
          <p:nvPr/>
        </p:nvSpPr>
        <p:spPr>
          <a:xfrm>
            <a:off x="8671438" y="2578608"/>
            <a:ext cx="42794" cy="0"/>
          </a:xfrm>
          <a:custGeom>
            <a:avLst/>
            <a:gdLst/>
            <a:ahLst/>
            <a:cxnLst/>
            <a:rect l="l" t="t" r="r" b="b"/>
            <a:pathLst>
              <a:path w="42794" h="0">
                <a:moveTo>
                  <a:pt x="42794" y="0"/>
                </a:moveTo>
                <a:lnTo>
                  <a:pt x="0" y="0"/>
                </a:lnTo>
              </a:path>
            </a:pathLst>
          </a:custGeom>
          <a:noFill/>
          <a:ln w="14288" cap="rnd">
            <a:solidFill>
              <a:srgbClr val="3432C9"/>
            </a:solidFill>
            <a:round/>
          </a:ln>
          <a:effectLst/>
        </p:spPr>
        <p:txBody>
          <a:bodyPr rtlCol="0" anchor="ctr"/>
          <a:lstStyle/>
          <a:p>
            <a:pPr algn="ctr"/>
          </a:p>
        </p:txBody>
      </p:sp>
      <p:sp>
        <p:nvSpPr>
          <p:cNvPr id="60" name="Freeform 59"/>
          <p:cNvSpPr/>
          <p:nvPr/>
        </p:nvSpPr>
        <p:spPr>
          <a:xfrm>
            <a:off x="8718789" y="2464293"/>
            <a:ext cx="30260" cy="30260"/>
          </a:xfrm>
          <a:custGeom>
            <a:avLst/>
            <a:gdLst/>
            <a:ahLst/>
            <a:cxnLst/>
            <a:rect l="l" t="t" r="r" b="b"/>
            <a:pathLst>
              <a:path w="30260" h="30260">
                <a:moveTo>
                  <a:pt x="30260" y="30260"/>
                </a:moveTo>
                <a:lnTo>
                  <a:pt x="0" y="0"/>
                </a:lnTo>
              </a:path>
            </a:pathLst>
          </a:custGeom>
          <a:noFill/>
          <a:ln w="14288" cap="rnd">
            <a:solidFill>
              <a:srgbClr val="3432C9"/>
            </a:solidFill>
            <a:round/>
          </a:ln>
          <a:effectLst/>
        </p:spPr>
        <p:txBody>
          <a:bodyPr rtlCol="0" anchor="ctr"/>
          <a:lstStyle/>
          <a:p>
            <a:pPr algn="ctr"/>
          </a:p>
        </p:txBody>
      </p:sp>
      <p:sp>
        <p:nvSpPr>
          <p:cNvPr id="61" name="Freeform 60"/>
          <p:cNvSpPr/>
          <p:nvPr/>
        </p:nvSpPr>
        <p:spPr>
          <a:xfrm>
            <a:off x="8833104" y="2416942"/>
            <a:ext cx="0" cy="42794"/>
          </a:xfrm>
          <a:custGeom>
            <a:avLst/>
            <a:gdLst/>
            <a:ahLst/>
            <a:cxnLst/>
            <a:rect l="l" t="t" r="r" b="b"/>
            <a:pathLst>
              <a:path w="0" h="42794">
                <a:moveTo>
                  <a:pt x="0" y="42794"/>
                </a:moveTo>
                <a:lnTo>
                  <a:pt x="0" y="0"/>
                </a:lnTo>
              </a:path>
            </a:pathLst>
          </a:custGeom>
          <a:noFill/>
          <a:ln w="14288" cap="rnd">
            <a:solidFill>
              <a:srgbClr val="3432C9"/>
            </a:solidFill>
            <a:round/>
          </a:ln>
          <a:effectLst/>
        </p:spPr>
        <p:txBody>
          <a:bodyPr rtlCol="0" anchor="ctr"/>
          <a:lstStyle/>
          <a:p>
            <a:pPr algn="ctr"/>
          </a:p>
        </p:txBody>
      </p:sp>
      <p:sp>
        <p:nvSpPr>
          <p:cNvPr id="62" name="Freeform 61"/>
          <p:cNvSpPr/>
          <p:nvPr/>
        </p:nvSpPr>
        <p:spPr>
          <a:xfrm>
            <a:off x="8917159" y="2464293"/>
            <a:ext cx="30260" cy="30260"/>
          </a:xfrm>
          <a:custGeom>
            <a:avLst/>
            <a:gdLst/>
            <a:ahLst/>
            <a:cxnLst/>
            <a:rect l="l" t="t" r="r" b="b"/>
            <a:pathLst>
              <a:path w="30260" h="30260">
                <a:moveTo>
                  <a:pt x="0" y="30260"/>
                </a:moveTo>
                <a:lnTo>
                  <a:pt x="30260" y="0"/>
                </a:lnTo>
              </a:path>
            </a:pathLst>
          </a:custGeom>
          <a:noFill/>
          <a:ln w="14288" cap="rnd">
            <a:solidFill>
              <a:srgbClr val="3432C9"/>
            </a:solidFill>
            <a:round/>
          </a:ln>
          <a:effectLst/>
        </p:spPr>
        <p:txBody>
          <a:bodyPr rtlCol="0" anchor="ctr"/>
          <a:lstStyle/>
          <a:p>
            <a:pPr algn="ctr"/>
          </a:p>
        </p:txBody>
      </p:sp>
      <p:sp>
        <p:nvSpPr>
          <p:cNvPr id="63" name="TextBox 62"/>
          <p:cNvSpPr txBox="1"/>
          <p:nvPr/>
        </p:nvSpPr>
        <p:spPr>
          <a:xfrm>
            <a:off x="80010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Processamento</a:t>
            </a:r>
          </a:p>
        </p:txBody>
      </p:sp>
      <p:sp>
        <p:nvSpPr>
          <p:cNvPr id="64" name="TextBox 63"/>
          <p:cNvSpPr txBox="1"/>
          <p:nvPr/>
        </p:nvSpPr>
        <p:spPr>
          <a:xfrm>
            <a:off x="7964423"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Adequação do material</a:t>
            </a:r>
          </a:p>
        </p:txBody>
      </p:sp>
      <p:sp>
        <p:nvSpPr>
          <p:cNvPr id="65" name="Freeform 64"/>
          <p:cNvSpPr/>
          <p:nvPr/>
        </p:nvSpPr>
        <p:spPr>
          <a:xfrm>
            <a:off x="96194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66" name="Freeform 65"/>
          <p:cNvSpPr/>
          <p:nvPr/>
        </p:nvSpPr>
        <p:spPr>
          <a:xfrm>
            <a:off x="97886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67" name="Oval 66"/>
          <p:cNvSpPr/>
          <p:nvPr/>
        </p:nvSpPr>
        <p:spPr>
          <a:xfrm>
            <a:off x="10204704" y="2121408"/>
            <a:ext cx="914400" cy="914400"/>
          </a:xfrm>
          <a:prstGeom prst="ellipse">
            <a:avLst/>
          </a:prstGeom>
          <a:solidFill>
            <a:srgbClr val="F4F5FC"/>
          </a:solidFill>
          <a:ln w="12700" cap="rnd">
            <a:noFill/>
            <a:round/>
          </a:ln>
          <a:effectLst/>
        </p:spPr>
        <p:txBody>
          <a:bodyPr rtlCol="0" anchor="ctr"/>
          <a:lstStyle/>
          <a:p/>
        </p:txBody>
      </p:sp>
      <p:sp>
        <p:nvSpPr>
          <p:cNvPr id="68" name="Freeform 67"/>
          <p:cNvSpPr/>
          <p:nvPr/>
        </p:nvSpPr>
        <p:spPr>
          <a:xfrm>
            <a:off x="10481219" y="2445471"/>
            <a:ext cx="342351" cy="275783"/>
          </a:xfrm>
          <a:custGeom>
            <a:avLst/>
            <a:gdLst/>
            <a:ahLst/>
            <a:cxnLst/>
            <a:rect l="l" t="t" r="r" b="b"/>
            <a:pathLst>
              <a:path w="342351" h="275783">
                <a:moveTo>
                  <a:pt x="0" y="275783"/>
                </a:moveTo>
                <a:lnTo>
                  <a:pt x="114117" y="275783"/>
                </a:lnTo>
                <a:lnTo>
                  <a:pt x="114117" y="114117"/>
                </a:lnTo>
                <a:lnTo>
                  <a:pt x="247253" y="114117"/>
                </a:lnTo>
                <a:lnTo>
                  <a:pt x="247253" y="0"/>
                </a:lnTo>
                <a:lnTo>
                  <a:pt x="342351" y="0"/>
                </a:lnTo>
              </a:path>
            </a:pathLst>
          </a:custGeom>
          <a:noFill/>
          <a:ln w="15875" cap="rnd">
            <a:solidFill>
              <a:srgbClr val="3432C9"/>
            </a:solidFill>
            <a:round/>
          </a:ln>
          <a:effectLst/>
        </p:spPr>
        <p:txBody>
          <a:bodyPr rtlCol="0" anchor="ctr"/>
          <a:lstStyle/>
          <a:p>
            <a:pPr algn="ctr"/>
          </a:p>
        </p:txBody>
      </p:sp>
      <p:sp>
        <p:nvSpPr>
          <p:cNvPr id="69" name="Freeform 68"/>
          <p:cNvSpPr/>
          <p:nvPr/>
        </p:nvSpPr>
        <p:spPr>
          <a:xfrm>
            <a:off x="10807031" y="2416452"/>
            <a:ext cx="54578" cy="58039"/>
          </a:xfrm>
          <a:custGeom>
            <a:avLst/>
            <a:gdLst/>
            <a:ahLst/>
            <a:cxnLst/>
            <a:rect l="l" t="t" r="r" b="b"/>
            <a:pathLst>
              <a:path w="54578" h="58039">
                <a:moveTo>
                  <a:pt x="54578" y="29019"/>
                </a:moveTo>
                <a:lnTo>
                  <a:pt x="0" y="5803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70" name="Oval 69"/>
          <p:cNvSpPr/>
          <p:nvPr/>
        </p:nvSpPr>
        <p:spPr>
          <a:xfrm>
            <a:off x="10447934" y="2687970"/>
            <a:ext cx="66568" cy="66568"/>
          </a:xfrm>
          <a:prstGeom prst="ellipse">
            <a:avLst/>
          </a:prstGeom>
          <a:solidFill>
            <a:srgbClr val="FFFFFF"/>
          </a:solidFill>
          <a:ln w="15875" cap="rnd">
            <a:solidFill>
              <a:srgbClr val="3432C9"/>
            </a:solidFill>
            <a:round/>
          </a:ln>
          <a:effectLst/>
        </p:spPr>
        <p:txBody>
          <a:bodyPr rtlCol="0" anchor="ctr"/>
          <a:lstStyle/>
          <a:p/>
        </p:txBody>
      </p:sp>
      <p:sp>
        <p:nvSpPr>
          <p:cNvPr id="71" name="TextBox 70"/>
          <p:cNvSpPr txBox="1"/>
          <p:nvPr/>
        </p:nvSpPr>
        <p:spPr>
          <a:xfrm>
            <a:off x="98298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Destinação Final</a:t>
            </a:r>
          </a:p>
        </p:txBody>
      </p:sp>
      <p:sp>
        <p:nvSpPr>
          <p:cNvPr id="72" name="TextBox 71"/>
          <p:cNvSpPr txBox="1"/>
          <p:nvPr/>
        </p:nvSpPr>
        <p:spPr>
          <a:xfrm>
            <a:off x="97932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Montserrat"/>
              </a:rPr>
              <a:t>Aterro Zero</a:t>
            </a:r>
          </a:p>
        </p:txBody>
      </p:sp>
      <p:sp>
        <p:nvSpPr>
          <p:cNvPr id="73" name="Rectangle 72"/>
          <p:cNvSpPr/>
          <p:nvPr/>
        </p:nvSpPr>
        <p:spPr>
          <a:xfrm>
            <a:off x="777240" y="4315968"/>
            <a:ext cx="10637489" cy="621792"/>
          </a:xfrm>
          <a:prstGeom prst="rect">
            <a:avLst/>
          </a:prstGeom>
          <a:solidFill>
            <a:srgbClr val="F4F5FC"/>
          </a:solidFill>
          <a:ln w="12700" cap="rnd">
            <a:noFill/>
            <a:round/>
          </a:ln>
          <a:effectLst/>
        </p:spPr>
        <p:txBody>
          <a:bodyPr rtlCol="0" anchor="ctr"/>
          <a:lstStyle/>
          <a:p/>
        </p:txBody>
      </p:sp>
      <p:sp>
        <p:nvSpPr>
          <p:cNvPr id="74" name="Rectangle 73"/>
          <p:cNvSpPr/>
          <p:nvPr/>
        </p:nvSpPr>
        <p:spPr>
          <a:xfrm>
            <a:off x="777240" y="4315968"/>
            <a:ext cx="32004" cy="621792"/>
          </a:xfrm>
          <a:prstGeom prst="rect">
            <a:avLst/>
          </a:prstGeom>
          <a:solidFill>
            <a:srgbClr val="3432C9"/>
          </a:solidFill>
          <a:ln w="12700" cap="rnd">
            <a:noFill/>
            <a:round/>
          </a:ln>
          <a:effectLst/>
        </p:spPr>
        <p:txBody>
          <a:bodyPr rtlCol="0" anchor="ctr"/>
          <a:lstStyle/>
          <a:p/>
        </p:txBody>
      </p:sp>
      <p:sp>
        <p:nvSpPr>
          <p:cNvPr id="75" name="Freeform 74"/>
          <p:cNvSpPr/>
          <p:nvPr/>
        </p:nvSpPr>
        <p:spPr>
          <a:xfrm>
            <a:off x="1080821" y="4511650"/>
            <a:ext cx="142646" cy="54864"/>
          </a:xfrm>
          <a:custGeom>
            <a:avLst/>
            <a:gdLst/>
            <a:ahLst/>
            <a:cxnLst/>
            <a:rect l="l" t="t" r="r" b="b"/>
            <a:pathLst>
              <a:path w="142646" h="54864">
                <a:moveTo>
                  <a:pt x="0" y="0"/>
                </a:moveTo>
                <a:lnTo>
                  <a:pt x="142646" y="0"/>
                </a:lnTo>
                <a:lnTo>
                  <a:pt x="142646" y="54864"/>
                </a:lnTo>
                <a:lnTo>
                  <a:pt x="0" y="54864"/>
                </a:lnTo>
                <a:close/>
              </a:path>
            </a:pathLst>
          </a:custGeom>
          <a:noFill/>
          <a:ln w="15875" cap="rnd">
            <a:solidFill>
              <a:srgbClr val="3432C9"/>
            </a:solidFill>
            <a:round/>
          </a:ln>
          <a:effectLst/>
        </p:spPr>
        <p:txBody>
          <a:bodyPr rtlCol="0" anchor="ctr"/>
          <a:lstStyle/>
          <a:p>
            <a:pPr algn="ctr"/>
          </a:p>
        </p:txBody>
      </p:sp>
      <p:sp>
        <p:nvSpPr>
          <p:cNvPr id="76" name="Freeform 75"/>
          <p:cNvSpPr/>
          <p:nvPr/>
        </p:nvSpPr>
        <p:spPr>
          <a:xfrm>
            <a:off x="1042416" y="4582973"/>
            <a:ext cx="219456" cy="38405"/>
          </a:xfrm>
          <a:custGeom>
            <a:avLst/>
            <a:gdLst/>
            <a:ahLst/>
            <a:cxnLst/>
            <a:rect l="l" t="t" r="r" b="b"/>
            <a:pathLst>
              <a:path w="219456" h="38405">
                <a:moveTo>
                  <a:pt x="0" y="0"/>
                </a:moveTo>
                <a:lnTo>
                  <a:pt x="219456" y="0"/>
                </a:lnTo>
                <a:lnTo>
                  <a:pt x="219456" y="38405"/>
                </a:lnTo>
                <a:lnTo>
                  <a:pt x="0" y="38405"/>
                </a:lnTo>
                <a:close/>
              </a:path>
            </a:pathLst>
          </a:custGeom>
          <a:noFill/>
          <a:ln w="15875" cap="rnd">
            <a:solidFill>
              <a:srgbClr val="3432C9"/>
            </a:solidFill>
            <a:round/>
          </a:ln>
          <a:effectLst/>
        </p:spPr>
        <p:txBody>
          <a:bodyPr rtlCol="0" anchor="ctr"/>
          <a:lstStyle/>
          <a:p>
            <a:pPr algn="ctr"/>
          </a:p>
        </p:txBody>
      </p:sp>
      <p:sp>
        <p:nvSpPr>
          <p:cNvPr id="77" name="Freeform 76"/>
          <p:cNvSpPr/>
          <p:nvPr/>
        </p:nvSpPr>
        <p:spPr>
          <a:xfrm>
            <a:off x="1080821"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78" name="Freeform 77"/>
          <p:cNvSpPr/>
          <p:nvPr/>
        </p:nvSpPr>
        <p:spPr>
          <a:xfrm>
            <a:off x="1119226"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79" name="Freeform 78"/>
          <p:cNvSpPr/>
          <p:nvPr/>
        </p:nvSpPr>
        <p:spPr>
          <a:xfrm>
            <a:off x="1157630"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0" name="Freeform 79"/>
          <p:cNvSpPr/>
          <p:nvPr/>
        </p:nvSpPr>
        <p:spPr>
          <a:xfrm>
            <a:off x="1196035"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1" name="Freeform 80"/>
          <p:cNvSpPr/>
          <p:nvPr/>
        </p:nvSpPr>
        <p:spPr>
          <a:xfrm>
            <a:off x="1234440"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2" name="Freeform 81"/>
          <p:cNvSpPr/>
          <p:nvPr/>
        </p:nvSpPr>
        <p:spPr>
          <a:xfrm>
            <a:off x="1075334" y="4643323"/>
            <a:ext cx="0" cy="43891"/>
          </a:xfrm>
          <a:custGeom>
            <a:avLst/>
            <a:gdLst/>
            <a:ahLst/>
            <a:cxnLst/>
            <a:rect l="l" t="t" r="r" b="b"/>
            <a:pathLst>
              <a:path w="0" h="43891">
                <a:moveTo>
                  <a:pt x="0" y="0"/>
                </a:moveTo>
                <a:lnTo>
                  <a:pt x="0" y="43891"/>
                </a:lnTo>
              </a:path>
            </a:pathLst>
          </a:custGeom>
          <a:noFill/>
          <a:ln w="12700" cap="rnd">
            <a:solidFill>
              <a:srgbClr val="3432C9"/>
            </a:solidFill>
            <a:round/>
          </a:ln>
          <a:effectLst/>
        </p:spPr>
        <p:txBody>
          <a:bodyPr rtlCol="0" anchor="ctr"/>
          <a:lstStyle/>
          <a:p>
            <a:pPr algn="ctr"/>
          </a:p>
        </p:txBody>
      </p:sp>
      <p:sp>
        <p:nvSpPr>
          <p:cNvPr id="83" name="Freeform 82"/>
          <p:cNvSpPr/>
          <p:nvPr/>
        </p:nvSpPr>
        <p:spPr>
          <a:xfrm>
            <a:off x="1113739" y="4643323"/>
            <a:ext cx="0" cy="71323"/>
          </a:xfrm>
          <a:custGeom>
            <a:avLst/>
            <a:gdLst/>
            <a:ahLst/>
            <a:cxnLst/>
            <a:rect l="l" t="t" r="r" b="b"/>
            <a:pathLst>
              <a:path w="0" h="71323">
                <a:moveTo>
                  <a:pt x="0" y="0"/>
                </a:moveTo>
                <a:lnTo>
                  <a:pt x="0" y="71323"/>
                </a:lnTo>
              </a:path>
            </a:pathLst>
          </a:custGeom>
          <a:noFill/>
          <a:ln w="12700" cap="rnd">
            <a:solidFill>
              <a:srgbClr val="3432C9"/>
            </a:solidFill>
            <a:round/>
          </a:ln>
          <a:effectLst/>
        </p:spPr>
        <p:txBody>
          <a:bodyPr rtlCol="0" anchor="ctr"/>
          <a:lstStyle/>
          <a:p>
            <a:pPr algn="ctr"/>
          </a:p>
        </p:txBody>
      </p:sp>
      <p:sp>
        <p:nvSpPr>
          <p:cNvPr id="84" name="Freeform 83"/>
          <p:cNvSpPr/>
          <p:nvPr/>
        </p:nvSpPr>
        <p:spPr>
          <a:xfrm>
            <a:off x="1152144" y="4643323"/>
            <a:ext cx="0" cy="49378"/>
          </a:xfrm>
          <a:custGeom>
            <a:avLst/>
            <a:gdLst/>
            <a:ahLst/>
            <a:cxnLst/>
            <a:rect l="l" t="t" r="r" b="b"/>
            <a:pathLst>
              <a:path w="0" h="49378">
                <a:moveTo>
                  <a:pt x="0" y="0"/>
                </a:moveTo>
                <a:lnTo>
                  <a:pt x="0" y="49378"/>
                </a:lnTo>
              </a:path>
            </a:pathLst>
          </a:custGeom>
          <a:noFill/>
          <a:ln w="12700" cap="rnd">
            <a:solidFill>
              <a:srgbClr val="3432C9"/>
            </a:solidFill>
            <a:round/>
          </a:ln>
          <a:effectLst/>
        </p:spPr>
        <p:txBody>
          <a:bodyPr rtlCol="0" anchor="ctr"/>
          <a:lstStyle/>
          <a:p>
            <a:pPr algn="ctr"/>
          </a:p>
        </p:txBody>
      </p:sp>
      <p:sp>
        <p:nvSpPr>
          <p:cNvPr id="85" name="Freeform 84"/>
          <p:cNvSpPr/>
          <p:nvPr/>
        </p:nvSpPr>
        <p:spPr>
          <a:xfrm>
            <a:off x="1190549" y="4643323"/>
            <a:ext cx="0" cy="76810"/>
          </a:xfrm>
          <a:custGeom>
            <a:avLst/>
            <a:gdLst/>
            <a:ahLst/>
            <a:cxnLst/>
            <a:rect l="l" t="t" r="r" b="b"/>
            <a:pathLst>
              <a:path w="0" h="76810">
                <a:moveTo>
                  <a:pt x="0" y="0"/>
                </a:moveTo>
                <a:lnTo>
                  <a:pt x="0" y="76810"/>
                </a:lnTo>
              </a:path>
            </a:pathLst>
          </a:custGeom>
          <a:noFill/>
          <a:ln w="12700" cap="rnd">
            <a:solidFill>
              <a:srgbClr val="3432C9"/>
            </a:solidFill>
            <a:round/>
          </a:ln>
          <a:effectLst/>
        </p:spPr>
        <p:txBody>
          <a:bodyPr rtlCol="0" anchor="ctr"/>
          <a:lstStyle/>
          <a:p>
            <a:pPr algn="ctr"/>
          </a:p>
        </p:txBody>
      </p:sp>
      <p:sp>
        <p:nvSpPr>
          <p:cNvPr id="86" name="Freeform 85"/>
          <p:cNvSpPr/>
          <p:nvPr/>
        </p:nvSpPr>
        <p:spPr>
          <a:xfrm>
            <a:off x="1228954" y="4643323"/>
            <a:ext cx="0" cy="38405"/>
          </a:xfrm>
          <a:custGeom>
            <a:avLst/>
            <a:gdLst/>
            <a:ahLst/>
            <a:cxnLst/>
            <a:rect l="l" t="t" r="r" b="b"/>
            <a:pathLst>
              <a:path w="0" h="38405">
                <a:moveTo>
                  <a:pt x="0" y="0"/>
                </a:moveTo>
                <a:lnTo>
                  <a:pt x="0" y="38405"/>
                </a:lnTo>
              </a:path>
            </a:pathLst>
          </a:custGeom>
          <a:noFill/>
          <a:ln w="12700" cap="rnd">
            <a:solidFill>
              <a:srgbClr val="3432C9"/>
            </a:solidFill>
            <a:round/>
          </a:ln>
          <a:effectLst/>
        </p:spPr>
        <p:txBody>
          <a:bodyPr rtlCol="0" anchor="ctr"/>
          <a:lstStyle/>
          <a:p>
            <a:pPr algn="ctr"/>
          </a:p>
        </p:txBody>
      </p:sp>
      <p:sp>
        <p:nvSpPr>
          <p:cNvPr id="87" name="TextBox 86"/>
          <p:cNvSpPr txBox="1"/>
          <p:nvPr/>
        </p:nvSpPr>
        <p:spPr>
          <a:xfrm>
            <a:off x="1472184" y="4315968"/>
            <a:ext cx="9668225" cy="621792"/>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Atividade derivada — PICOTAGEM: adequação dos materiais coletados às especificidades do mercado de desfibramento e coprocessamento.</a:t>
            </a:r>
          </a:p>
        </p:txBody>
      </p:sp>
      <p:sp>
        <p:nvSpPr>
          <p:cNvPr id="88" name="Rectangle 87"/>
          <p:cNvSpPr/>
          <p:nvPr/>
        </p:nvSpPr>
        <p:spPr>
          <a:xfrm>
            <a:off x="777240" y="5138928"/>
            <a:ext cx="10637489" cy="621792"/>
          </a:xfrm>
          <a:prstGeom prst="rect">
            <a:avLst/>
          </a:prstGeom>
          <a:solidFill>
            <a:srgbClr val="E7F6F1"/>
          </a:solidFill>
          <a:ln w="12700" cap="rnd">
            <a:noFill/>
            <a:round/>
          </a:ln>
          <a:effectLst/>
        </p:spPr>
        <p:txBody>
          <a:bodyPr rtlCol="0" anchor="ctr"/>
          <a:lstStyle/>
          <a:p/>
        </p:txBody>
      </p:sp>
      <p:sp>
        <p:nvSpPr>
          <p:cNvPr id="89" name="Rectangle 88"/>
          <p:cNvSpPr/>
          <p:nvPr/>
        </p:nvSpPr>
        <p:spPr>
          <a:xfrm>
            <a:off x="777240" y="5138928"/>
            <a:ext cx="32004" cy="621792"/>
          </a:xfrm>
          <a:prstGeom prst="rect">
            <a:avLst/>
          </a:prstGeom>
          <a:solidFill>
            <a:srgbClr val="12A87B"/>
          </a:solidFill>
          <a:ln w="12700" cap="rnd">
            <a:noFill/>
            <a:round/>
          </a:ln>
          <a:effectLst/>
        </p:spPr>
        <p:txBody>
          <a:bodyPr rtlCol="0" anchor="ctr"/>
          <a:lstStyle/>
          <a:p/>
        </p:txBody>
      </p:sp>
      <p:sp>
        <p:nvSpPr>
          <p:cNvPr id="90" name="Oval 89"/>
          <p:cNvSpPr/>
          <p:nvPr/>
        </p:nvSpPr>
        <p:spPr>
          <a:xfrm>
            <a:off x="1119225" y="5362041"/>
            <a:ext cx="65836" cy="65836"/>
          </a:xfrm>
          <a:prstGeom prst="ellipse">
            <a:avLst/>
          </a:prstGeom>
          <a:noFill/>
          <a:ln w="15875" cap="rnd">
            <a:solidFill>
              <a:srgbClr val="12A87B"/>
            </a:solidFill>
            <a:round/>
          </a:ln>
          <a:effectLst/>
        </p:spPr>
        <p:txBody>
          <a:bodyPr rtlCol="0" anchor="ctr"/>
          <a:lstStyle/>
          <a:p/>
        </p:txBody>
      </p:sp>
      <p:sp>
        <p:nvSpPr>
          <p:cNvPr id="91" name="Freeform 90"/>
          <p:cNvSpPr/>
          <p:nvPr/>
        </p:nvSpPr>
        <p:spPr>
          <a:xfrm>
            <a:off x="1079203" y="5482742"/>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12A87B"/>
            </a:solidFill>
            <a:round/>
          </a:ln>
          <a:effectLst/>
        </p:spPr>
        <p:txBody>
          <a:bodyPr rtlCol="0" anchor="ctr"/>
          <a:lstStyle/>
          <a:p>
            <a:pPr algn="ctr"/>
          </a:p>
        </p:txBody>
      </p:sp>
      <p:sp>
        <p:nvSpPr>
          <p:cNvPr id="92" name="Oval 91"/>
          <p:cNvSpPr/>
          <p:nvPr/>
        </p:nvSpPr>
        <p:spPr>
          <a:xfrm>
            <a:off x="1034186" y="5397703"/>
            <a:ext cx="49377" cy="49377"/>
          </a:xfrm>
          <a:prstGeom prst="ellipse">
            <a:avLst/>
          </a:prstGeom>
          <a:noFill/>
          <a:ln w="13494" cap="rnd">
            <a:solidFill>
              <a:srgbClr val="12A87B"/>
            </a:solidFill>
            <a:round/>
          </a:ln>
          <a:effectLst/>
        </p:spPr>
        <p:txBody>
          <a:bodyPr rtlCol="0" anchor="ctr"/>
          <a:lstStyle/>
          <a:p/>
        </p:txBody>
      </p:sp>
      <p:sp>
        <p:nvSpPr>
          <p:cNvPr id="93" name="Freeform 92"/>
          <p:cNvSpPr/>
          <p:nvPr/>
        </p:nvSpPr>
        <p:spPr>
          <a:xfrm>
            <a:off x="1013830" y="5515661"/>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94" name="Oval 93"/>
          <p:cNvSpPr/>
          <p:nvPr/>
        </p:nvSpPr>
        <p:spPr>
          <a:xfrm>
            <a:off x="1220724" y="5397703"/>
            <a:ext cx="49377" cy="49377"/>
          </a:xfrm>
          <a:prstGeom prst="ellipse">
            <a:avLst/>
          </a:prstGeom>
          <a:noFill/>
          <a:ln w="13494" cap="rnd">
            <a:solidFill>
              <a:srgbClr val="12A87B"/>
            </a:solidFill>
            <a:round/>
          </a:ln>
          <a:effectLst/>
        </p:spPr>
        <p:txBody>
          <a:bodyPr rtlCol="0" anchor="ctr"/>
          <a:lstStyle/>
          <a:p/>
        </p:txBody>
      </p:sp>
      <p:sp>
        <p:nvSpPr>
          <p:cNvPr id="95" name="Freeform 94"/>
          <p:cNvSpPr/>
          <p:nvPr/>
        </p:nvSpPr>
        <p:spPr>
          <a:xfrm>
            <a:off x="1200367" y="5515661"/>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96" name="TextBox 95"/>
          <p:cNvSpPr txBox="1"/>
          <p:nvPr/>
        </p:nvSpPr>
        <p:spPr>
          <a:xfrm>
            <a:off x="1472184" y="5138928"/>
            <a:ext cx="9668225" cy="621792"/>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Atividades de adequação dos materiais coletados executadas por profissionais treinados pela equipe Nunes &amp; Lucato.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Estoque e armazenamento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Capacidade Operacional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08</a:t>
            </a:r>
          </a:p>
        </p:txBody>
      </p:sp>
      <p:sp>
        <p:nvSpPr>
          <p:cNvPr id="9" name="TextBox 8"/>
          <p:cNvSpPr txBox="1"/>
          <p:nvPr/>
        </p:nvSpPr>
        <p:spPr>
          <a:xfrm>
            <a:off x="777240" y="1847088"/>
            <a:ext cx="5669280" cy="1371600"/>
          </a:xfrm>
          <a:prstGeom prst="rect">
            <a:avLst/>
          </a:prstGeom>
          <a:noFill/>
          <a:effectLst/>
        </p:spPr>
        <p:txBody>
          <a:bodyPr wrap="square" lIns="0" rIns="0" tIns="0" bIns="0" anchor="t">
            <a:spAutoFit/>
          </a:bodyPr>
          <a:lstStyle/>
          <a:p>
            <a:pPr algn="l">
              <a:lnSpc>
                <a:spcPct val="100000"/>
              </a:lnSpc>
            </a:pPr>
            <a:r>
              <a:rPr sz="8200" b="0" i="0">
                <a:solidFill>
                  <a:srgbClr val="3432C9"/>
                </a:solidFill>
                <a:latin typeface="Montserrat Light"/>
              </a:rPr>
              <a:t>1.000</a:t>
            </a:r>
            <a:r>
              <a:rPr sz="2000" b="0" i="0">
                <a:solidFill>
                  <a:srgbClr val="6E7288"/>
                </a:solidFill>
                <a:latin typeface="Montserrat Light"/>
              </a:rPr>
              <a:t>  toneladas/mês</a:t>
            </a:r>
          </a:p>
        </p:txBody>
      </p:sp>
      <p:cxnSp>
        <p:nvCxnSpPr>
          <p:cNvPr id="10" name="Connector 9"/>
          <p:cNvCxnSpPr/>
          <p:nvPr/>
        </p:nvCxnSpPr>
        <p:spPr>
          <a:xfrm>
            <a:off x="777240" y="3218688"/>
            <a:ext cx="5029200" cy="0"/>
          </a:xfrm>
          <a:prstGeom prst="line">
            <a:avLst/>
          </a:prstGeom>
          <a:ln w="12700" cap="rnd">
            <a:solidFill>
              <a:srgbClr val="DFE2F0"/>
            </a:solidFill>
            <a:round/>
          </a:ln>
          <a:effectLst/>
        </p:spPr>
      </p:cxnSp>
      <p:sp>
        <p:nvSpPr>
          <p:cNvPr id="11" name="Freeform 10"/>
          <p:cNvSpPr/>
          <p:nvPr/>
        </p:nvSpPr>
        <p:spPr>
          <a:xfrm>
            <a:off x="811987" y="3648456"/>
            <a:ext cx="118141" cy="104242"/>
          </a:xfrm>
          <a:custGeom>
            <a:avLst/>
            <a:gdLst/>
            <a:ahLst/>
            <a:cxnLst/>
            <a:rect l="l" t="t" r="r" b="b"/>
            <a:pathLst>
              <a:path w="118141" h="104242">
                <a:moveTo>
                  <a:pt x="0" y="0"/>
                </a:moveTo>
                <a:lnTo>
                  <a:pt x="118141" y="0"/>
                </a:lnTo>
                <a:lnTo>
                  <a:pt x="118141" y="104242"/>
                </a:lnTo>
                <a:lnTo>
                  <a:pt x="0" y="104242"/>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944027" y="3648456"/>
            <a:ext cx="118140" cy="104242"/>
          </a:xfrm>
          <a:custGeom>
            <a:avLst/>
            <a:gdLst/>
            <a:ahLst/>
            <a:cxnLst/>
            <a:rect l="l" t="t" r="r" b="b"/>
            <a:pathLst>
              <a:path w="118140" h="104242">
                <a:moveTo>
                  <a:pt x="0" y="0"/>
                </a:moveTo>
                <a:lnTo>
                  <a:pt x="118140" y="0"/>
                </a:lnTo>
                <a:lnTo>
                  <a:pt x="118140" y="104242"/>
                </a:lnTo>
                <a:lnTo>
                  <a:pt x="0" y="104242"/>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878007" y="3537265"/>
            <a:ext cx="118140" cy="97292"/>
          </a:xfrm>
          <a:custGeom>
            <a:avLst/>
            <a:gdLst/>
            <a:ahLst/>
            <a:cxnLst/>
            <a:rect l="l" t="t" r="r" b="b"/>
            <a:pathLst>
              <a:path w="118140" h="97292">
                <a:moveTo>
                  <a:pt x="0" y="0"/>
                </a:moveTo>
                <a:lnTo>
                  <a:pt x="118140" y="0"/>
                </a:lnTo>
                <a:lnTo>
                  <a:pt x="118140" y="97292"/>
                </a:lnTo>
                <a:lnTo>
                  <a:pt x="0" y="97292"/>
                </a:lnTo>
                <a:close/>
              </a:path>
            </a:pathLst>
          </a:custGeom>
          <a:noFill/>
          <a:ln w="15875" cap="rnd">
            <a:solidFill>
              <a:srgbClr val="3432C9"/>
            </a:solidFill>
            <a:round/>
          </a:ln>
          <a:effectLst/>
        </p:spPr>
        <p:txBody>
          <a:bodyPr rtlCol="0" anchor="ctr"/>
          <a:lstStyle/>
          <a:p>
            <a:pPr algn="ctr"/>
          </a:p>
        </p:txBody>
      </p:sp>
      <p:sp>
        <p:nvSpPr>
          <p:cNvPr id="14" name="Freeform 13"/>
          <p:cNvSpPr/>
          <p:nvPr/>
        </p:nvSpPr>
        <p:spPr>
          <a:xfrm>
            <a:off x="871057" y="3648456"/>
            <a:ext cx="0" cy="104242"/>
          </a:xfrm>
          <a:custGeom>
            <a:avLst/>
            <a:gdLst/>
            <a:ahLst/>
            <a:cxnLst/>
            <a:rect l="l" t="t" r="r" b="b"/>
            <a:pathLst>
              <a:path w="0" h="104242">
                <a:moveTo>
                  <a:pt x="0" y="0"/>
                </a:moveTo>
                <a:lnTo>
                  <a:pt x="0" y="104242"/>
                </a:lnTo>
              </a:path>
            </a:pathLst>
          </a:custGeom>
          <a:noFill/>
          <a:ln w="11112" cap="rnd">
            <a:solidFill>
              <a:srgbClr val="3432C9"/>
            </a:solidFill>
            <a:round/>
          </a:ln>
          <a:effectLst/>
        </p:spPr>
        <p:txBody>
          <a:bodyPr rtlCol="0" anchor="ctr"/>
          <a:lstStyle/>
          <a:p>
            <a:pPr algn="ctr"/>
          </a:p>
        </p:txBody>
      </p:sp>
      <p:sp>
        <p:nvSpPr>
          <p:cNvPr id="15" name="Freeform 14"/>
          <p:cNvSpPr/>
          <p:nvPr/>
        </p:nvSpPr>
        <p:spPr>
          <a:xfrm>
            <a:off x="1003097" y="3648456"/>
            <a:ext cx="0" cy="104242"/>
          </a:xfrm>
          <a:custGeom>
            <a:avLst/>
            <a:gdLst/>
            <a:ahLst/>
            <a:cxnLst/>
            <a:rect l="l" t="t" r="r" b="b"/>
            <a:pathLst>
              <a:path w="0" h="104242">
                <a:moveTo>
                  <a:pt x="0" y="0"/>
                </a:moveTo>
                <a:lnTo>
                  <a:pt x="0" y="104242"/>
                </a:lnTo>
              </a:path>
            </a:pathLst>
          </a:custGeom>
          <a:noFill/>
          <a:ln w="11112" cap="rnd">
            <a:solidFill>
              <a:srgbClr val="3432C9"/>
            </a:solidFill>
            <a:round/>
          </a:ln>
          <a:effectLst/>
        </p:spPr>
        <p:txBody>
          <a:bodyPr rtlCol="0" anchor="ctr"/>
          <a:lstStyle/>
          <a:p>
            <a:pPr algn="ctr"/>
          </a:p>
        </p:txBody>
      </p:sp>
      <p:sp>
        <p:nvSpPr>
          <p:cNvPr id="16" name="Freeform 15"/>
          <p:cNvSpPr/>
          <p:nvPr/>
        </p:nvSpPr>
        <p:spPr>
          <a:xfrm>
            <a:off x="937077" y="3537265"/>
            <a:ext cx="0" cy="97292"/>
          </a:xfrm>
          <a:custGeom>
            <a:avLst/>
            <a:gdLst/>
            <a:ahLst/>
            <a:cxnLst/>
            <a:rect l="l" t="t" r="r" b="b"/>
            <a:pathLst>
              <a:path w="0" h="97292">
                <a:moveTo>
                  <a:pt x="0" y="0"/>
                </a:moveTo>
                <a:lnTo>
                  <a:pt x="0" y="97292"/>
                </a:lnTo>
              </a:path>
            </a:pathLst>
          </a:custGeom>
          <a:noFill/>
          <a:ln w="11112" cap="rnd">
            <a:solidFill>
              <a:srgbClr val="3432C9"/>
            </a:solidFill>
            <a:round/>
          </a:ln>
          <a:effectLst/>
        </p:spPr>
        <p:txBody>
          <a:bodyPr rtlCol="0" anchor="ctr"/>
          <a:lstStyle/>
          <a:p>
            <a:pPr algn="ctr"/>
          </a:p>
        </p:txBody>
      </p:sp>
      <p:sp>
        <p:nvSpPr>
          <p:cNvPr id="17" name="TextBox 16"/>
          <p:cNvSpPr txBox="1"/>
          <p:nvPr/>
        </p:nvSpPr>
        <p:spPr>
          <a:xfrm>
            <a:off x="1271016" y="3493008"/>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Armazenamento temporário</a:t>
            </a:r>
          </a:p>
        </p:txBody>
      </p:sp>
      <p:sp>
        <p:nvSpPr>
          <p:cNvPr id="18" name="Freeform 17"/>
          <p:cNvSpPr/>
          <p:nvPr/>
        </p:nvSpPr>
        <p:spPr>
          <a:xfrm>
            <a:off x="3424977" y="3551164"/>
            <a:ext cx="250179" cy="201534"/>
          </a:xfrm>
          <a:custGeom>
            <a:avLst/>
            <a:gdLst/>
            <a:ahLst/>
            <a:cxnLst/>
            <a:rect l="l" t="t" r="r" b="b"/>
            <a:pathLst>
              <a:path w="250179" h="201534">
                <a:moveTo>
                  <a:pt x="0" y="201534"/>
                </a:moveTo>
                <a:lnTo>
                  <a:pt x="83393" y="201534"/>
                </a:lnTo>
                <a:lnTo>
                  <a:pt x="83393" y="83393"/>
                </a:lnTo>
                <a:lnTo>
                  <a:pt x="180685" y="83393"/>
                </a:lnTo>
                <a:lnTo>
                  <a:pt x="180685" y="0"/>
                </a:lnTo>
                <a:lnTo>
                  <a:pt x="250179" y="0"/>
                </a:lnTo>
              </a:path>
            </a:pathLst>
          </a:custGeom>
          <a:noFill/>
          <a:ln w="15875" cap="rnd">
            <a:solidFill>
              <a:srgbClr val="3432C9"/>
            </a:solidFill>
            <a:round/>
          </a:ln>
          <a:effectLst/>
        </p:spPr>
        <p:txBody>
          <a:bodyPr rtlCol="0" anchor="ctr"/>
          <a:lstStyle/>
          <a:p>
            <a:pPr algn="ctr"/>
          </a:p>
        </p:txBody>
      </p:sp>
      <p:sp>
        <p:nvSpPr>
          <p:cNvPr id="19" name="Freeform 18"/>
          <p:cNvSpPr/>
          <p:nvPr/>
        </p:nvSpPr>
        <p:spPr>
          <a:xfrm>
            <a:off x="3663070" y="3529957"/>
            <a:ext cx="39884" cy="42414"/>
          </a:xfrm>
          <a:custGeom>
            <a:avLst/>
            <a:gdLst/>
            <a:ahLst/>
            <a:cxnLst/>
            <a:rect l="l" t="t" r="r" b="b"/>
            <a:pathLst>
              <a:path w="39884" h="42414">
                <a:moveTo>
                  <a:pt x="39884" y="21207"/>
                </a:moveTo>
                <a:lnTo>
                  <a:pt x="0" y="4241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20" name="Oval 19"/>
          <p:cNvSpPr/>
          <p:nvPr/>
        </p:nvSpPr>
        <p:spPr>
          <a:xfrm>
            <a:off x="3400653" y="3728374"/>
            <a:ext cx="48646" cy="48646"/>
          </a:xfrm>
          <a:prstGeom prst="ellipse">
            <a:avLst/>
          </a:prstGeom>
          <a:solidFill>
            <a:srgbClr val="FFFFFF"/>
          </a:solidFill>
          <a:ln w="15875" cap="rnd">
            <a:solidFill>
              <a:srgbClr val="3432C9"/>
            </a:solidFill>
            <a:round/>
          </a:ln>
          <a:effectLst/>
        </p:spPr>
        <p:txBody>
          <a:bodyPr rtlCol="0" anchor="ctr"/>
          <a:lstStyle/>
          <a:p/>
        </p:txBody>
      </p:sp>
      <p:sp>
        <p:nvSpPr>
          <p:cNvPr id="21" name="TextBox 20"/>
          <p:cNvSpPr txBox="1"/>
          <p:nvPr/>
        </p:nvSpPr>
        <p:spPr>
          <a:xfrm>
            <a:off x="3877056" y="3493008"/>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Controle logístico</a:t>
            </a:r>
          </a:p>
        </p:txBody>
      </p:sp>
      <p:sp>
        <p:nvSpPr>
          <p:cNvPr id="22" name="Freeform 21"/>
          <p:cNvSpPr/>
          <p:nvPr/>
        </p:nvSpPr>
        <p:spPr>
          <a:xfrm>
            <a:off x="846734" y="4378513"/>
            <a:ext cx="208484" cy="257129"/>
          </a:xfrm>
          <a:custGeom>
            <a:avLst/>
            <a:gdLst/>
            <a:ahLst/>
            <a:cxnLst/>
            <a:rect l="l" t="t" r="r" b="b"/>
            <a:pathLst>
              <a:path w="208484" h="257129">
                <a:moveTo>
                  <a:pt x="0" y="0"/>
                </a:moveTo>
                <a:lnTo>
                  <a:pt x="208484" y="0"/>
                </a:lnTo>
                <a:lnTo>
                  <a:pt x="208484" y="257129"/>
                </a:lnTo>
                <a:lnTo>
                  <a:pt x="0" y="257129"/>
                </a:lnTo>
                <a:close/>
              </a:path>
            </a:pathLst>
          </a:custGeom>
          <a:noFill/>
          <a:ln w="15875" cap="rnd">
            <a:solidFill>
              <a:srgbClr val="3432C9"/>
            </a:solidFill>
            <a:round/>
          </a:ln>
          <a:effectLst/>
        </p:spPr>
        <p:txBody>
          <a:bodyPr rtlCol="0" anchor="ctr"/>
          <a:lstStyle/>
          <a:p>
            <a:pPr algn="ctr"/>
          </a:p>
        </p:txBody>
      </p:sp>
      <p:sp>
        <p:nvSpPr>
          <p:cNvPr id="23" name="Freeform 22"/>
          <p:cNvSpPr/>
          <p:nvPr/>
        </p:nvSpPr>
        <p:spPr>
          <a:xfrm>
            <a:off x="909279" y="4343766"/>
            <a:ext cx="83394" cy="62545"/>
          </a:xfrm>
          <a:custGeom>
            <a:avLst/>
            <a:gdLst/>
            <a:ahLst/>
            <a:cxnLst/>
            <a:rect l="l" t="t" r="r" b="b"/>
            <a:pathLst>
              <a:path w="83394" h="62545">
                <a:moveTo>
                  <a:pt x="0" y="0"/>
                </a:moveTo>
                <a:lnTo>
                  <a:pt x="83394" y="0"/>
                </a:lnTo>
                <a:lnTo>
                  <a:pt x="83394" y="62545"/>
                </a:lnTo>
                <a:lnTo>
                  <a:pt x="0" y="62545"/>
                </a:lnTo>
                <a:close/>
              </a:path>
            </a:pathLst>
          </a:custGeom>
          <a:noFill/>
          <a:ln w="15875" cap="rnd">
            <a:solidFill>
              <a:srgbClr val="3432C9"/>
            </a:solidFill>
            <a:round/>
          </a:ln>
          <a:effectLst/>
        </p:spPr>
        <p:txBody>
          <a:bodyPr rtlCol="0" anchor="ctr"/>
          <a:lstStyle/>
          <a:p>
            <a:pPr algn="ctr"/>
          </a:p>
        </p:txBody>
      </p:sp>
      <p:sp>
        <p:nvSpPr>
          <p:cNvPr id="24" name="Freeform 23"/>
          <p:cNvSpPr/>
          <p:nvPr/>
        </p:nvSpPr>
        <p:spPr>
          <a:xfrm>
            <a:off x="888431" y="4475805"/>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5" name="Freeform 24"/>
          <p:cNvSpPr/>
          <p:nvPr/>
        </p:nvSpPr>
        <p:spPr>
          <a:xfrm>
            <a:off x="888431" y="4524451"/>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6" name="Freeform 25"/>
          <p:cNvSpPr/>
          <p:nvPr/>
        </p:nvSpPr>
        <p:spPr>
          <a:xfrm>
            <a:off x="888431" y="4573097"/>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7" name="TextBox 26"/>
          <p:cNvSpPr txBox="1"/>
          <p:nvPr/>
        </p:nvSpPr>
        <p:spPr>
          <a:xfrm>
            <a:off x="1271016" y="4334255"/>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Organização por lotes</a:t>
            </a:r>
          </a:p>
        </p:txBody>
      </p:sp>
      <p:sp>
        <p:nvSpPr>
          <p:cNvPr id="28" name="Oval 27"/>
          <p:cNvSpPr/>
          <p:nvPr/>
        </p:nvSpPr>
        <p:spPr>
          <a:xfrm>
            <a:off x="3477097" y="4409785"/>
            <a:ext cx="159837" cy="159837"/>
          </a:xfrm>
          <a:prstGeom prst="ellipse">
            <a:avLst/>
          </a:prstGeom>
          <a:noFill/>
          <a:ln w="15875" cap="rnd">
            <a:solidFill>
              <a:srgbClr val="3432C9"/>
            </a:solidFill>
            <a:round/>
          </a:ln>
          <a:effectLst/>
        </p:spPr>
        <p:txBody>
          <a:bodyPr rtlCol="0" anchor="ctr"/>
          <a:lstStyle/>
          <a:p/>
        </p:txBody>
      </p:sp>
      <p:sp>
        <p:nvSpPr>
          <p:cNvPr id="29" name="Oval 28"/>
          <p:cNvSpPr/>
          <p:nvPr/>
        </p:nvSpPr>
        <p:spPr>
          <a:xfrm>
            <a:off x="3525743" y="4458431"/>
            <a:ext cx="62544" cy="62544"/>
          </a:xfrm>
          <a:prstGeom prst="ellipse">
            <a:avLst/>
          </a:prstGeom>
          <a:noFill/>
          <a:ln w="15875" cap="rnd">
            <a:solidFill>
              <a:srgbClr val="3432C9"/>
            </a:solidFill>
            <a:round/>
          </a:ln>
          <a:effectLst/>
        </p:spPr>
        <p:txBody>
          <a:bodyPr rtlCol="0" anchor="ctr"/>
          <a:lstStyle/>
          <a:p/>
        </p:txBody>
      </p:sp>
      <p:sp>
        <p:nvSpPr>
          <p:cNvPr id="30" name="Freeform 29"/>
          <p:cNvSpPr/>
          <p:nvPr/>
        </p:nvSpPr>
        <p:spPr>
          <a:xfrm>
            <a:off x="3643884" y="4489704"/>
            <a:ext cx="31272" cy="0"/>
          </a:xfrm>
          <a:custGeom>
            <a:avLst/>
            <a:gdLst/>
            <a:ahLst/>
            <a:cxnLst/>
            <a:rect l="l" t="t" r="r" b="b"/>
            <a:pathLst>
              <a:path w="31272" h="0">
                <a:moveTo>
                  <a:pt x="0" y="0"/>
                </a:moveTo>
                <a:lnTo>
                  <a:pt x="31272" y="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3618441" y="4551129"/>
            <a:ext cx="22113" cy="22113"/>
          </a:xfrm>
          <a:custGeom>
            <a:avLst/>
            <a:gdLst/>
            <a:ahLst/>
            <a:cxnLst/>
            <a:rect l="l" t="t" r="r" b="b"/>
            <a:pathLst>
              <a:path w="22113" h="22113">
                <a:moveTo>
                  <a:pt x="0" y="0"/>
                </a:moveTo>
                <a:lnTo>
                  <a:pt x="22113" y="22113"/>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3557016" y="4576572"/>
            <a:ext cx="0" cy="31272"/>
          </a:xfrm>
          <a:custGeom>
            <a:avLst/>
            <a:gdLst/>
            <a:ahLst/>
            <a:cxnLst/>
            <a:rect l="l" t="t" r="r" b="b"/>
            <a:pathLst>
              <a:path w="0" h="31272">
                <a:moveTo>
                  <a:pt x="0" y="0"/>
                </a:moveTo>
                <a:lnTo>
                  <a:pt x="0" y="31272"/>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3473478" y="4551129"/>
            <a:ext cx="22113" cy="22113"/>
          </a:xfrm>
          <a:custGeom>
            <a:avLst/>
            <a:gdLst/>
            <a:ahLst/>
            <a:cxnLst/>
            <a:rect l="l" t="t" r="r" b="b"/>
            <a:pathLst>
              <a:path w="22113" h="22113">
                <a:moveTo>
                  <a:pt x="22113" y="0"/>
                </a:moveTo>
                <a:lnTo>
                  <a:pt x="0" y="22113"/>
                </a:lnTo>
              </a:path>
            </a:pathLst>
          </a:custGeom>
          <a:noFill/>
          <a:ln w="14288" cap="rnd">
            <a:solidFill>
              <a:srgbClr val="3432C9"/>
            </a:solidFill>
            <a:round/>
          </a:ln>
          <a:effectLst/>
        </p:spPr>
        <p:txBody>
          <a:bodyPr rtlCol="0" anchor="ctr"/>
          <a:lstStyle/>
          <a:p>
            <a:pPr algn="ctr"/>
          </a:p>
        </p:txBody>
      </p:sp>
      <p:sp>
        <p:nvSpPr>
          <p:cNvPr id="34" name="Freeform 33"/>
          <p:cNvSpPr/>
          <p:nvPr/>
        </p:nvSpPr>
        <p:spPr>
          <a:xfrm>
            <a:off x="3438876" y="4489704"/>
            <a:ext cx="31272" cy="0"/>
          </a:xfrm>
          <a:custGeom>
            <a:avLst/>
            <a:gdLst/>
            <a:ahLst/>
            <a:cxnLst/>
            <a:rect l="l" t="t" r="r" b="b"/>
            <a:pathLst>
              <a:path w="31272" h="0">
                <a:moveTo>
                  <a:pt x="31272" y="0"/>
                </a:moveTo>
                <a:lnTo>
                  <a:pt x="0" y="0"/>
                </a:lnTo>
              </a:path>
            </a:pathLst>
          </a:custGeom>
          <a:noFill/>
          <a:ln w="14288" cap="rnd">
            <a:solidFill>
              <a:srgbClr val="3432C9"/>
            </a:solidFill>
            <a:round/>
          </a:ln>
          <a:effectLst/>
        </p:spPr>
        <p:txBody>
          <a:bodyPr rtlCol="0" anchor="ctr"/>
          <a:lstStyle/>
          <a:p>
            <a:pPr algn="ctr"/>
          </a:p>
        </p:txBody>
      </p:sp>
      <p:sp>
        <p:nvSpPr>
          <p:cNvPr id="35" name="Freeform 34"/>
          <p:cNvSpPr/>
          <p:nvPr/>
        </p:nvSpPr>
        <p:spPr>
          <a:xfrm>
            <a:off x="3473478" y="4406166"/>
            <a:ext cx="22113" cy="22113"/>
          </a:xfrm>
          <a:custGeom>
            <a:avLst/>
            <a:gdLst/>
            <a:ahLst/>
            <a:cxnLst/>
            <a:rect l="l" t="t" r="r" b="b"/>
            <a:pathLst>
              <a:path w="22113" h="22113">
                <a:moveTo>
                  <a:pt x="22113" y="22113"/>
                </a:moveTo>
                <a:lnTo>
                  <a:pt x="0" y="0"/>
                </a:lnTo>
              </a:path>
            </a:pathLst>
          </a:custGeom>
          <a:noFill/>
          <a:ln w="14288" cap="rnd">
            <a:solidFill>
              <a:srgbClr val="3432C9"/>
            </a:solidFill>
            <a:round/>
          </a:ln>
          <a:effectLst/>
        </p:spPr>
        <p:txBody>
          <a:bodyPr rtlCol="0" anchor="ctr"/>
          <a:lstStyle/>
          <a:p>
            <a:pPr algn="ctr"/>
          </a:p>
        </p:txBody>
      </p:sp>
      <p:sp>
        <p:nvSpPr>
          <p:cNvPr id="36" name="Freeform 35"/>
          <p:cNvSpPr/>
          <p:nvPr/>
        </p:nvSpPr>
        <p:spPr>
          <a:xfrm>
            <a:off x="3557016" y="4371564"/>
            <a:ext cx="0" cy="31272"/>
          </a:xfrm>
          <a:custGeom>
            <a:avLst/>
            <a:gdLst/>
            <a:ahLst/>
            <a:cxnLst/>
            <a:rect l="l" t="t" r="r" b="b"/>
            <a:pathLst>
              <a:path w="0" h="31272">
                <a:moveTo>
                  <a:pt x="0" y="31272"/>
                </a:moveTo>
                <a:lnTo>
                  <a:pt x="0" y="0"/>
                </a:lnTo>
              </a:path>
            </a:pathLst>
          </a:custGeom>
          <a:noFill/>
          <a:ln w="14288" cap="rnd">
            <a:solidFill>
              <a:srgbClr val="3432C9"/>
            </a:solidFill>
            <a:round/>
          </a:ln>
          <a:effectLst/>
        </p:spPr>
        <p:txBody>
          <a:bodyPr rtlCol="0" anchor="ctr"/>
          <a:lstStyle/>
          <a:p>
            <a:pPr algn="ctr"/>
          </a:p>
        </p:txBody>
      </p:sp>
      <p:sp>
        <p:nvSpPr>
          <p:cNvPr id="37" name="Freeform 36"/>
          <p:cNvSpPr/>
          <p:nvPr/>
        </p:nvSpPr>
        <p:spPr>
          <a:xfrm>
            <a:off x="3618441" y="4406166"/>
            <a:ext cx="22113" cy="22113"/>
          </a:xfrm>
          <a:custGeom>
            <a:avLst/>
            <a:gdLst/>
            <a:ahLst/>
            <a:cxnLst/>
            <a:rect l="l" t="t" r="r" b="b"/>
            <a:pathLst>
              <a:path w="22113" h="22113">
                <a:moveTo>
                  <a:pt x="0" y="22113"/>
                </a:moveTo>
                <a:lnTo>
                  <a:pt x="22113" y="0"/>
                </a:lnTo>
              </a:path>
            </a:pathLst>
          </a:custGeom>
          <a:noFill/>
          <a:ln w="14288" cap="rnd">
            <a:solidFill>
              <a:srgbClr val="3432C9"/>
            </a:solidFill>
            <a:round/>
          </a:ln>
          <a:effectLst/>
        </p:spPr>
        <p:txBody>
          <a:bodyPr rtlCol="0" anchor="ctr"/>
          <a:lstStyle/>
          <a:p>
            <a:pPr algn="ctr"/>
          </a:p>
        </p:txBody>
      </p:sp>
      <p:sp>
        <p:nvSpPr>
          <p:cNvPr id="38" name="TextBox 37"/>
          <p:cNvSpPr txBox="1"/>
          <p:nvPr/>
        </p:nvSpPr>
        <p:spPr>
          <a:xfrm>
            <a:off x="3877056" y="4334255"/>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Fluxo operacional estruturado</a:t>
            </a:r>
          </a:p>
        </p:txBody>
      </p:sp>
      <p:pic>
        <p:nvPicPr>
          <p:cNvPr id="39" name="Picture 38" descr="eco_vao_wide.jpg"/>
          <p:cNvPicPr>
            <a:picLocks noChangeAspect="1"/>
          </p:cNvPicPr>
          <p:nvPr/>
        </p:nvPicPr>
        <p:blipFill>
          <a:blip r:embed="rId3"/>
          <a:srcRect l="7910" r="7910"/>
          <a:stretch>
            <a:fillRect/>
          </a:stretch>
        </p:blipFill>
        <p:spPr>
          <a:xfrm>
            <a:off x="6967728" y="1847088"/>
            <a:ext cx="4462272" cy="3310128"/>
          </a:xfrm>
          <a:prstGeom prst="rect">
            <a:avLst/>
          </a:prstGeom>
          <a:effectLst/>
        </p:spPr>
      </p:pic>
      <p:sp>
        <p:nvSpPr>
          <p:cNvPr id="40" name="Rectangle 39"/>
          <p:cNvSpPr/>
          <p:nvPr/>
        </p:nvSpPr>
        <p:spPr>
          <a:xfrm>
            <a:off x="6967728" y="1847088"/>
            <a:ext cx="4462272" cy="3310128"/>
          </a:xfrm>
          <a:prstGeom prst="rect">
            <a:avLst/>
          </a:prstGeom>
          <a:noFill/>
          <a:ln w="9525" cap="rnd">
            <a:solidFill>
              <a:srgbClr val="DFE2F0"/>
            </a:solidFill>
            <a:round/>
          </a:ln>
          <a:effectLst/>
        </p:spPr>
        <p:txBody>
          <a:bodyPr rtlCol="0" anchor="ctr"/>
          <a:lstStyle/>
          <a:p/>
        </p:txBody>
      </p:sp>
      <p:sp>
        <p:nvSpPr>
          <p:cNvPr id="41" name="TextBox 40"/>
          <p:cNvSpPr txBox="1"/>
          <p:nvPr/>
        </p:nvSpPr>
        <p:spPr>
          <a:xfrm>
            <a:off x="6967728" y="5248656"/>
            <a:ext cx="4462272" cy="292608"/>
          </a:xfrm>
          <a:prstGeom prst="rect">
            <a:avLst/>
          </a:prstGeom>
          <a:noFill/>
          <a:effectLst/>
        </p:spPr>
        <p:txBody>
          <a:bodyPr wrap="square" lIns="0" rIns="0" tIns="0" bIns="0" anchor="t">
            <a:spAutoFit/>
          </a:bodyPr>
          <a:lstStyle/>
          <a:p>
            <a:pPr algn="l">
              <a:lnSpc>
                <a:spcPct val="125000"/>
              </a:lnSpc>
            </a:pPr>
            <a:r>
              <a:rPr sz="780" b="0" i="0" spc="30">
                <a:solidFill>
                  <a:srgbClr val="9A9DB0"/>
                </a:solidFill>
                <a:latin typeface="Montserrat"/>
              </a:rPr>
              <a:t>Vão coberto do Ecoponto — área prevista para segregação e armazenamento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Segregação inteligente</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Separação Técnica dos Resíduos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09</a:t>
            </a:r>
          </a:p>
        </p:txBody>
      </p:sp>
      <p:sp>
        <p:nvSpPr>
          <p:cNvPr id="9" name="Rectangle 8"/>
          <p:cNvSpPr/>
          <p:nvPr/>
        </p:nvSpPr>
        <p:spPr>
          <a:xfrm>
            <a:off x="777240"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883664"/>
            <a:ext cx="3392424" cy="50292"/>
          </a:xfrm>
          <a:prstGeom prst="rect">
            <a:avLst/>
          </a:prstGeom>
          <a:solidFill>
            <a:srgbClr val="3432C9"/>
          </a:solidFill>
          <a:ln w="12700" cap="rnd">
            <a:noFill/>
            <a:round/>
          </a:ln>
          <a:effectLst/>
        </p:spPr>
        <p:txBody>
          <a:bodyPr rtlCol="0" anchor="ctr"/>
          <a:lstStyle/>
          <a:p/>
        </p:txBody>
      </p:sp>
      <p:sp>
        <p:nvSpPr>
          <p:cNvPr id="11" name="TextBox 10"/>
          <p:cNvSpPr txBox="1"/>
          <p:nvPr/>
        </p:nvSpPr>
        <p:spPr>
          <a:xfrm>
            <a:off x="1033271"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01</a:t>
            </a:r>
          </a:p>
        </p:txBody>
      </p:sp>
      <p:sp>
        <p:nvSpPr>
          <p:cNvPr id="12" name="Oval 11"/>
          <p:cNvSpPr/>
          <p:nvPr/>
        </p:nvSpPr>
        <p:spPr>
          <a:xfrm>
            <a:off x="3478743" y="2253447"/>
            <a:ext cx="185074" cy="185074"/>
          </a:xfrm>
          <a:prstGeom prst="ellipse">
            <a:avLst/>
          </a:prstGeom>
          <a:noFill/>
          <a:ln w="15875" cap="rnd">
            <a:solidFill>
              <a:srgbClr val="3432C9"/>
            </a:solidFill>
            <a:round/>
          </a:ln>
          <a:effectLst/>
        </p:spPr>
        <p:txBody>
          <a:bodyPr rtlCol="0" anchor="ctr"/>
          <a:lstStyle/>
          <a:p/>
        </p:txBody>
      </p:sp>
      <p:sp>
        <p:nvSpPr>
          <p:cNvPr id="13" name="Oval 12"/>
          <p:cNvSpPr/>
          <p:nvPr/>
        </p:nvSpPr>
        <p:spPr>
          <a:xfrm>
            <a:off x="3596518" y="2253447"/>
            <a:ext cx="185074" cy="185074"/>
          </a:xfrm>
          <a:prstGeom prst="ellipse">
            <a:avLst/>
          </a:prstGeom>
          <a:noFill/>
          <a:ln w="15875" cap="rnd">
            <a:solidFill>
              <a:srgbClr val="3432C9"/>
            </a:solidFill>
            <a:round/>
          </a:ln>
          <a:effectLst/>
        </p:spPr>
        <p:txBody>
          <a:bodyPr rtlCol="0" anchor="ctr"/>
          <a:lstStyle/>
          <a:p/>
        </p:txBody>
      </p:sp>
      <p:sp>
        <p:nvSpPr>
          <p:cNvPr id="14" name="Oval 13"/>
          <p:cNvSpPr/>
          <p:nvPr/>
        </p:nvSpPr>
        <p:spPr>
          <a:xfrm>
            <a:off x="3537630" y="2362809"/>
            <a:ext cx="185074" cy="185074"/>
          </a:xfrm>
          <a:prstGeom prst="ellipse">
            <a:avLst/>
          </a:prstGeom>
          <a:noFill/>
          <a:ln w="15875" cap="rnd">
            <a:solidFill>
              <a:srgbClr val="3432C9"/>
            </a:solidFill>
            <a:round/>
          </a:ln>
          <a:effectLst/>
        </p:spPr>
        <p:txBody>
          <a:bodyPr rtlCol="0" anchor="ctr"/>
          <a:lstStyle/>
          <a:p/>
        </p:txBody>
      </p:sp>
      <p:sp>
        <p:nvSpPr>
          <p:cNvPr id="15" name="TextBox 14"/>
          <p:cNvSpPr txBox="1"/>
          <p:nvPr/>
        </p:nvSpPr>
        <p:spPr>
          <a:xfrm>
            <a:off x="1033271"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por cor</a:t>
            </a:r>
          </a:p>
        </p:txBody>
      </p:sp>
      <p:sp>
        <p:nvSpPr>
          <p:cNvPr id="16" name="TextBox 15"/>
          <p:cNvSpPr txBox="1"/>
          <p:nvPr/>
        </p:nvSpPr>
        <p:spPr>
          <a:xfrm>
            <a:off x="1033271"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Montserrat"/>
              </a:rPr>
              <a:t>Agrupamento cromático para reaproveitamento.</a:t>
            </a:r>
          </a:p>
        </p:txBody>
      </p:sp>
      <p:sp>
        <p:nvSpPr>
          <p:cNvPr id="17" name="Rectangle 16"/>
          <p:cNvSpPr/>
          <p:nvPr/>
        </p:nvSpPr>
        <p:spPr>
          <a:xfrm>
            <a:off x="4407407"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18" name="Rectangle 17"/>
          <p:cNvSpPr/>
          <p:nvPr/>
        </p:nvSpPr>
        <p:spPr>
          <a:xfrm>
            <a:off x="4407407" y="1883664"/>
            <a:ext cx="3392424" cy="50292"/>
          </a:xfrm>
          <a:prstGeom prst="rect">
            <a:avLst/>
          </a:prstGeom>
          <a:solidFill>
            <a:srgbClr val="3432C9"/>
          </a:solidFill>
          <a:ln w="12700" cap="rnd">
            <a:noFill/>
            <a:round/>
          </a:ln>
          <a:effectLst/>
        </p:spPr>
        <p:txBody>
          <a:bodyPr rtlCol="0" anchor="ctr"/>
          <a:lstStyle/>
          <a:p/>
        </p:txBody>
      </p:sp>
      <p:sp>
        <p:nvSpPr>
          <p:cNvPr id="19" name="TextBox 18"/>
          <p:cNvSpPr txBox="1"/>
          <p:nvPr/>
        </p:nvSpPr>
        <p:spPr>
          <a:xfrm>
            <a:off x="4663440"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02</a:t>
            </a:r>
          </a:p>
        </p:txBody>
      </p:sp>
      <p:sp>
        <p:nvSpPr>
          <p:cNvPr id="20" name="Freeform 19"/>
          <p:cNvSpPr/>
          <p:nvPr/>
        </p:nvSpPr>
        <p:spPr>
          <a:xfrm>
            <a:off x="7260336" y="2278685"/>
            <a:ext cx="0" cy="126187"/>
          </a:xfrm>
          <a:custGeom>
            <a:avLst/>
            <a:gdLst/>
            <a:ahLst/>
            <a:cxnLst/>
            <a:rect l="l" t="t" r="r" b="b"/>
            <a:pathLst>
              <a:path w="0" h="126187">
                <a:moveTo>
                  <a:pt x="0" y="126187"/>
                </a:moveTo>
                <a:lnTo>
                  <a:pt x="0" y="0"/>
                </a:lnTo>
              </a:path>
            </a:pathLst>
          </a:custGeom>
          <a:noFill/>
          <a:ln w="12700" cap="rnd">
            <a:solidFill>
              <a:srgbClr val="3432C9"/>
            </a:solidFill>
            <a:round/>
          </a:ln>
          <a:effectLst/>
        </p:spPr>
        <p:txBody>
          <a:bodyPr rtlCol="0" anchor="ctr"/>
          <a:lstStyle/>
          <a:p>
            <a:pPr algn="ctr"/>
          </a:p>
        </p:txBody>
      </p:sp>
      <p:sp>
        <p:nvSpPr>
          <p:cNvPr id="21" name="Freeform 20"/>
          <p:cNvSpPr/>
          <p:nvPr/>
        </p:nvSpPr>
        <p:spPr>
          <a:xfrm>
            <a:off x="7134149" y="2404872"/>
            <a:ext cx="126187" cy="67300"/>
          </a:xfrm>
          <a:custGeom>
            <a:avLst/>
            <a:gdLst/>
            <a:ahLst/>
            <a:cxnLst/>
            <a:rect l="l" t="t" r="r" b="b"/>
            <a:pathLst>
              <a:path w="126187" h="67300">
                <a:moveTo>
                  <a:pt x="126187" y="0"/>
                </a:moveTo>
                <a:lnTo>
                  <a:pt x="0" y="67300"/>
                </a:lnTo>
              </a:path>
            </a:pathLst>
          </a:custGeom>
          <a:noFill/>
          <a:ln w="12700" cap="rnd">
            <a:solidFill>
              <a:srgbClr val="3432C9"/>
            </a:solidFill>
            <a:round/>
          </a:ln>
          <a:effectLst/>
        </p:spPr>
        <p:txBody>
          <a:bodyPr rtlCol="0" anchor="ctr"/>
          <a:lstStyle/>
          <a:p>
            <a:pPr algn="ctr"/>
          </a:p>
        </p:txBody>
      </p:sp>
      <p:sp>
        <p:nvSpPr>
          <p:cNvPr id="22" name="Freeform 21"/>
          <p:cNvSpPr/>
          <p:nvPr/>
        </p:nvSpPr>
        <p:spPr>
          <a:xfrm>
            <a:off x="7260336" y="2404872"/>
            <a:ext cx="126187" cy="67300"/>
          </a:xfrm>
          <a:custGeom>
            <a:avLst/>
            <a:gdLst/>
            <a:ahLst/>
            <a:cxnLst/>
            <a:rect l="l" t="t" r="r" b="b"/>
            <a:pathLst>
              <a:path w="126187" h="67300">
                <a:moveTo>
                  <a:pt x="0" y="0"/>
                </a:moveTo>
                <a:lnTo>
                  <a:pt x="126187" y="67300"/>
                </a:lnTo>
              </a:path>
            </a:pathLst>
          </a:custGeom>
          <a:noFill/>
          <a:ln w="12700" cap="rnd">
            <a:solidFill>
              <a:srgbClr val="3432C9"/>
            </a:solidFill>
            <a:round/>
          </a:ln>
          <a:effectLst/>
        </p:spPr>
        <p:txBody>
          <a:bodyPr rtlCol="0" anchor="ctr"/>
          <a:lstStyle/>
          <a:p>
            <a:pPr algn="ctr"/>
          </a:p>
        </p:txBody>
      </p:sp>
      <p:sp>
        <p:nvSpPr>
          <p:cNvPr id="23" name="Oval 22"/>
          <p:cNvSpPr/>
          <p:nvPr/>
        </p:nvSpPr>
        <p:spPr>
          <a:xfrm>
            <a:off x="7224582" y="2242931"/>
            <a:ext cx="71506" cy="71506"/>
          </a:xfrm>
          <a:prstGeom prst="ellipse">
            <a:avLst/>
          </a:prstGeom>
          <a:solidFill>
            <a:srgbClr val="FFFFFF"/>
          </a:solidFill>
          <a:ln w="15875" cap="rnd">
            <a:solidFill>
              <a:srgbClr val="3432C9"/>
            </a:solidFill>
            <a:round/>
          </a:ln>
          <a:effectLst/>
        </p:spPr>
        <p:txBody>
          <a:bodyPr rtlCol="0" anchor="ctr"/>
          <a:lstStyle/>
          <a:p/>
        </p:txBody>
      </p:sp>
      <p:sp>
        <p:nvSpPr>
          <p:cNvPr id="24" name="Oval 23"/>
          <p:cNvSpPr/>
          <p:nvPr/>
        </p:nvSpPr>
        <p:spPr>
          <a:xfrm>
            <a:off x="7098395" y="2436418"/>
            <a:ext cx="71506" cy="71506"/>
          </a:xfrm>
          <a:prstGeom prst="ellipse">
            <a:avLst/>
          </a:prstGeom>
          <a:solidFill>
            <a:srgbClr val="FFFFFF"/>
          </a:solidFill>
          <a:ln w="15875" cap="rnd">
            <a:solidFill>
              <a:srgbClr val="3432C9"/>
            </a:solidFill>
            <a:round/>
          </a:ln>
          <a:effectLst/>
        </p:spPr>
        <p:txBody>
          <a:bodyPr rtlCol="0" anchor="ctr"/>
          <a:lstStyle/>
          <a:p/>
        </p:txBody>
      </p:sp>
      <p:sp>
        <p:nvSpPr>
          <p:cNvPr id="25" name="Oval 24"/>
          <p:cNvSpPr/>
          <p:nvPr/>
        </p:nvSpPr>
        <p:spPr>
          <a:xfrm>
            <a:off x="7350770" y="2436418"/>
            <a:ext cx="71506" cy="71506"/>
          </a:xfrm>
          <a:prstGeom prst="ellipse">
            <a:avLst/>
          </a:prstGeom>
          <a:solidFill>
            <a:srgbClr val="FFFFFF"/>
          </a:solidFill>
          <a:ln w="15875" cap="rnd">
            <a:solidFill>
              <a:srgbClr val="3432C9"/>
            </a:solidFill>
            <a:round/>
          </a:ln>
          <a:effectLst/>
        </p:spPr>
        <p:txBody>
          <a:bodyPr rtlCol="0" anchor="ctr"/>
          <a:lstStyle/>
          <a:p/>
        </p:txBody>
      </p:sp>
      <p:sp>
        <p:nvSpPr>
          <p:cNvPr id="26" name="Oval 25"/>
          <p:cNvSpPr/>
          <p:nvPr/>
        </p:nvSpPr>
        <p:spPr>
          <a:xfrm>
            <a:off x="7218273" y="2362809"/>
            <a:ext cx="84124" cy="84124"/>
          </a:xfrm>
          <a:prstGeom prst="ellipse">
            <a:avLst/>
          </a:prstGeom>
          <a:solidFill>
            <a:srgbClr val="FFFFFF"/>
          </a:solidFill>
          <a:ln w="15875" cap="rnd">
            <a:solidFill>
              <a:srgbClr val="3432C9"/>
            </a:solidFill>
            <a:round/>
          </a:ln>
          <a:effectLst/>
        </p:spPr>
        <p:txBody>
          <a:bodyPr rtlCol="0" anchor="ctr"/>
          <a:lstStyle/>
          <a:p/>
        </p:txBody>
      </p:sp>
      <p:sp>
        <p:nvSpPr>
          <p:cNvPr id="27" name="TextBox 26"/>
          <p:cNvSpPr txBox="1"/>
          <p:nvPr/>
        </p:nvSpPr>
        <p:spPr>
          <a:xfrm>
            <a:off x="4663440"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por composição</a:t>
            </a:r>
          </a:p>
        </p:txBody>
      </p:sp>
      <p:sp>
        <p:nvSpPr>
          <p:cNvPr id="28" name="TextBox 27"/>
          <p:cNvSpPr txBox="1"/>
          <p:nvPr/>
        </p:nvSpPr>
        <p:spPr>
          <a:xfrm>
            <a:off x="4663440"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Montserrat"/>
              </a:rPr>
              <a:t>Identificação das fibras e materiais.</a:t>
            </a:r>
          </a:p>
        </p:txBody>
      </p:sp>
      <p:sp>
        <p:nvSpPr>
          <p:cNvPr id="29" name="Rectangle 28"/>
          <p:cNvSpPr/>
          <p:nvPr/>
        </p:nvSpPr>
        <p:spPr>
          <a:xfrm>
            <a:off x="8037575"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30" name="Rectangle 29"/>
          <p:cNvSpPr/>
          <p:nvPr/>
        </p:nvSpPr>
        <p:spPr>
          <a:xfrm>
            <a:off x="8037575" y="1883664"/>
            <a:ext cx="3392424" cy="50292"/>
          </a:xfrm>
          <a:prstGeom prst="rect">
            <a:avLst/>
          </a:prstGeom>
          <a:solidFill>
            <a:srgbClr val="3432C9"/>
          </a:solidFill>
          <a:ln w="12700" cap="rnd">
            <a:noFill/>
            <a:round/>
          </a:ln>
          <a:effectLst/>
        </p:spPr>
        <p:txBody>
          <a:bodyPr rtlCol="0" anchor="ctr"/>
          <a:lstStyle/>
          <a:p/>
        </p:txBody>
      </p:sp>
      <p:sp>
        <p:nvSpPr>
          <p:cNvPr id="31" name="TextBox 30"/>
          <p:cNvSpPr txBox="1"/>
          <p:nvPr/>
        </p:nvSpPr>
        <p:spPr>
          <a:xfrm>
            <a:off x="8293607"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03</a:t>
            </a:r>
          </a:p>
        </p:txBody>
      </p:sp>
      <p:sp>
        <p:nvSpPr>
          <p:cNvPr id="32" name="Oval 31"/>
          <p:cNvSpPr/>
          <p:nvPr/>
        </p:nvSpPr>
        <p:spPr>
          <a:xfrm>
            <a:off x="10718048" y="2232416"/>
            <a:ext cx="344911" cy="344911"/>
          </a:xfrm>
          <a:prstGeom prst="ellipse">
            <a:avLst/>
          </a:prstGeom>
          <a:noFill/>
          <a:ln w="15875" cap="rnd">
            <a:solidFill>
              <a:srgbClr val="3432C9"/>
            </a:solidFill>
            <a:round/>
          </a:ln>
          <a:effectLst/>
        </p:spPr>
        <p:txBody>
          <a:bodyPr rtlCol="0" anchor="ctr"/>
          <a:lstStyle/>
          <a:p/>
        </p:txBody>
      </p:sp>
      <p:sp>
        <p:nvSpPr>
          <p:cNvPr id="33" name="Oval 32"/>
          <p:cNvSpPr/>
          <p:nvPr/>
        </p:nvSpPr>
        <p:spPr>
          <a:xfrm>
            <a:off x="10781141" y="2295509"/>
            <a:ext cx="218724" cy="218724"/>
          </a:xfrm>
          <a:prstGeom prst="ellipse">
            <a:avLst/>
          </a:prstGeom>
          <a:noFill/>
          <a:ln w="15875" cap="rnd">
            <a:solidFill>
              <a:srgbClr val="3432C9"/>
            </a:solidFill>
            <a:round/>
          </a:ln>
          <a:effectLst/>
        </p:spPr>
        <p:txBody>
          <a:bodyPr rtlCol="0" anchor="ctr"/>
          <a:lstStyle/>
          <a:p/>
        </p:txBody>
      </p:sp>
      <p:sp>
        <p:nvSpPr>
          <p:cNvPr id="34" name="Oval 33"/>
          <p:cNvSpPr/>
          <p:nvPr/>
        </p:nvSpPr>
        <p:spPr>
          <a:xfrm>
            <a:off x="10844235" y="2358603"/>
            <a:ext cx="92537" cy="92537"/>
          </a:xfrm>
          <a:prstGeom prst="ellipse">
            <a:avLst/>
          </a:prstGeom>
          <a:noFill/>
          <a:ln w="17462" cap="rnd">
            <a:solidFill>
              <a:srgbClr val="3432C9"/>
            </a:solidFill>
            <a:round/>
          </a:ln>
          <a:effectLst/>
        </p:spPr>
        <p:txBody>
          <a:bodyPr rtlCol="0" anchor="ctr"/>
          <a:lstStyle/>
          <a:p/>
        </p:txBody>
      </p:sp>
      <p:sp>
        <p:nvSpPr>
          <p:cNvPr id="35" name="TextBox 34"/>
          <p:cNvSpPr txBox="1"/>
          <p:nvPr/>
        </p:nvSpPr>
        <p:spPr>
          <a:xfrm>
            <a:off x="8293607"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conforme destino final</a:t>
            </a:r>
          </a:p>
        </p:txBody>
      </p:sp>
      <p:sp>
        <p:nvSpPr>
          <p:cNvPr id="36" name="TextBox 35"/>
          <p:cNvSpPr txBox="1"/>
          <p:nvPr/>
        </p:nvSpPr>
        <p:spPr>
          <a:xfrm>
            <a:off x="8293607"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Montserrat"/>
              </a:rPr>
              <a:t>Direcionamento por rota de destinação.</a:t>
            </a:r>
          </a:p>
        </p:txBody>
      </p:sp>
      <p:sp>
        <p:nvSpPr>
          <p:cNvPr id="37" name="Rectangle 36"/>
          <p:cNvSpPr/>
          <p:nvPr/>
        </p:nvSpPr>
        <p:spPr>
          <a:xfrm>
            <a:off x="777240" y="4315968"/>
            <a:ext cx="10637489" cy="640080"/>
          </a:xfrm>
          <a:prstGeom prst="rect">
            <a:avLst/>
          </a:prstGeom>
          <a:solidFill>
            <a:srgbClr val="F4F5FC"/>
          </a:solidFill>
          <a:ln w="12700" cap="rnd">
            <a:noFill/>
            <a:round/>
          </a:ln>
          <a:effectLst/>
        </p:spPr>
        <p:txBody>
          <a:bodyPr rtlCol="0" anchor="ctr"/>
          <a:lstStyle/>
          <a:p/>
        </p:txBody>
      </p:sp>
      <p:sp>
        <p:nvSpPr>
          <p:cNvPr id="38" name="Rectangle 37"/>
          <p:cNvSpPr/>
          <p:nvPr/>
        </p:nvSpPr>
        <p:spPr>
          <a:xfrm>
            <a:off x="777240" y="4315968"/>
            <a:ext cx="32004" cy="640080"/>
          </a:xfrm>
          <a:prstGeom prst="rect">
            <a:avLst/>
          </a:prstGeom>
          <a:solidFill>
            <a:srgbClr val="3432C9"/>
          </a:solidFill>
          <a:ln w="12700" cap="rnd">
            <a:noFill/>
            <a:round/>
          </a:ln>
          <a:effectLst/>
        </p:spPr>
        <p:txBody>
          <a:bodyPr rtlCol="0" anchor="ctr"/>
          <a:lstStyle/>
          <a:p/>
        </p:txBody>
      </p:sp>
      <p:sp>
        <p:nvSpPr>
          <p:cNvPr id="39" name="Freeform 38"/>
          <p:cNvSpPr/>
          <p:nvPr/>
        </p:nvSpPr>
        <p:spPr>
          <a:xfrm>
            <a:off x="1080821" y="4520794"/>
            <a:ext cx="142646" cy="54864"/>
          </a:xfrm>
          <a:custGeom>
            <a:avLst/>
            <a:gdLst/>
            <a:ahLst/>
            <a:cxnLst/>
            <a:rect l="l" t="t" r="r" b="b"/>
            <a:pathLst>
              <a:path w="142646" h="54864">
                <a:moveTo>
                  <a:pt x="0" y="0"/>
                </a:moveTo>
                <a:lnTo>
                  <a:pt x="142646" y="0"/>
                </a:lnTo>
                <a:lnTo>
                  <a:pt x="142646" y="54864"/>
                </a:lnTo>
                <a:lnTo>
                  <a:pt x="0" y="54864"/>
                </a:lnTo>
                <a:close/>
              </a:path>
            </a:pathLst>
          </a:custGeom>
          <a:noFill/>
          <a:ln w="15875" cap="rnd">
            <a:solidFill>
              <a:srgbClr val="3432C9"/>
            </a:solidFill>
            <a:round/>
          </a:ln>
          <a:effectLst/>
        </p:spPr>
        <p:txBody>
          <a:bodyPr rtlCol="0" anchor="ctr"/>
          <a:lstStyle/>
          <a:p>
            <a:pPr algn="ctr"/>
          </a:p>
        </p:txBody>
      </p:sp>
      <p:sp>
        <p:nvSpPr>
          <p:cNvPr id="40" name="Freeform 39"/>
          <p:cNvSpPr/>
          <p:nvPr/>
        </p:nvSpPr>
        <p:spPr>
          <a:xfrm>
            <a:off x="1042416" y="4592117"/>
            <a:ext cx="219456" cy="38405"/>
          </a:xfrm>
          <a:custGeom>
            <a:avLst/>
            <a:gdLst/>
            <a:ahLst/>
            <a:cxnLst/>
            <a:rect l="l" t="t" r="r" b="b"/>
            <a:pathLst>
              <a:path w="219456" h="38405">
                <a:moveTo>
                  <a:pt x="0" y="0"/>
                </a:moveTo>
                <a:lnTo>
                  <a:pt x="219456" y="0"/>
                </a:lnTo>
                <a:lnTo>
                  <a:pt x="219456" y="38405"/>
                </a:lnTo>
                <a:lnTo>
                  <a:pt x="0" y="38405"/>
                </a:lnTo>
                <a:close/>
              </a:path>
            </a:pathLst>
          </a:custGeom>
          <a:noFill/>
          <a:ln w="15875" cap="rnd">
            <a:solidFill>
              <a:srgbClr val="3432C9"/>
            </a:solidFill>
            <a:round/>
          </a:ln>
          <a:effectLst/>
        </p:spPr>
        <p:txBody>
          <a:bodyPr rtlCol="0" anchor="ctr"/>
          <a:lstStyle/>
          <a:p>
            <a:pPr algn="ctr"/>
          </a:p>
        </p:txBody>
      </p:sp>
      <p:sp>
        <p:nvSpPr>
          <p:cNvPr id="41" name="Freeform 40"/>
          <p:cNvSpPr/>
          <p:nvPr/>
        </p:nvSpPr>
        <p:spPr>
          <a:xfrm>
            <a:off x="1080821"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2" name="Freeform 41"/>
          <p:cNvSpPr/>
          <p:nvPr/>
        </p:nvSpPr>
        <p:spPr>
          <a:xfrm>
            <a:off x="1119226"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3" name="Freeform 42"/>
          <p:cNvSpPr/>
          <p:nvPr/>
        </p:nvSpPr>
        <p:spPr>
          <a:xfrm>
            <a:off x="1157630"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4" name="Freeform 43"/>
          <p:cNvSpPr/>
          <p:nvPr/>
        </p:nvSpPr>
        <p:spPr>
          <a:xfrm>
            <a:off x="1196035"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5" name="Freeform 44"/>
          <p:cNvSpPr/>
          <p:nvPr/>
        </p:nvSpPr>
        <p:spPr>
          <a:xfrm>
            <a:off x="1234440"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6" name="Freeform 45"/>
          <p:cNvSpPr/>
          <p:nvPr/>
        </p:nvSpPr>
        <p:spPr>
          <a:xfrm>
            <a:off x="1075334" y="4652467"/>
            <a:ext cx="0" cy="43891"/>
          </a:xfrm>
          <a:custGeom>
            <a:avLst/>
            <a:gdLst/>
            <a:ahLst/>
            <a:cxnLst/>
            <a:rect l="l" t="t" r="r" b="b"/>
            <a:pathLst>
              <a:path w="0" h="43891">
                <a:moveTo>
                  <a:pt x="0" y="0"/>
                </a:moveTo>
                <a:lnTo>
                  <a:pt x="0" y="43891"/>
                </a:lnTo>
              </a:path>
            </a:pathLst>
          </a:custGeom>
          <a:noFill/>
          <a:ln w="12700" cap="rnd">
            <a:solidFill>
              <a:srgbClr val="3432C9"/>
            </a:solidFill>
            <a:round/>
          </a:ln>
          <a:effectLst/>
        </p:spPr>
        <p:txBody>
          <a:bodyPr rtlCol="0" anchor="ctr"/>
          <a:lstStyle/>
          <a:p>
            <a:pPr algn="ctr"/>
          </a:p>
        </p:txBody>
      </p:sp>
      <p:sp>
        <p:nvSpPr>
          <p:cNvPr id="47" name="Freeform 46"/>
          <p:cNvSpPr/>
          <p:nvPr/>
        </p:nvSpPr>
        <p:spPr>
          <a:xfrm>
            <a:off x="1113739" y="4652467"/>
            <a:ext cx="0" cy="71323"/>
          </a:xfrm>
          <a:custGeom>
            <a:avLst/>
            <a:gdLst/>
            <a:ahLst/>
            <a:cxnLst/>
            <a:rect l="l" t="t" r="r" b="b"/>
            <a:pathLst>
              <a:path w="0" h="71323">
                <a:moveTo>
                  <a:pt x="0" y="0"/>
                </a:moveTo>
                <a:lnTo>
                  <a:pt x="0" y="71323"/>
                </a:lnTo>
              </a:path>
            </a:pathLst>
          </a:custGeom>
          <a:noFill/>
          <a:ln w="12700" cap="rnd">
            <a:solidFill>
              <a:srgbClr val="3432C9"/>
            </a:solidFill>
            <a:round/>
          </a:ln>
          <a:effectLst/>
        </p:spPr>
        <p:txBody>
          <a:bodyPr rtlCol="0" anchor="ctr"/>
          <a:lstStyle/>
          <a:p>
            <a:pPr algn="ctr"/>
          </a:p>
        </p:txBody>
      </p:sp>
      <p:sp>
        <p:nvSpPr>
          <p:cNvPr id="48" name="Freeform 47"/>
          <p:cNvSpPr/>
          <p:nvPr/>
        </p:nvSpPr>
        <p:spPr>
          <a:xfrm>
            <a:off x="1152144" y="4652467"/>
            <a:ext cx="0" cy="49378"/>
          </a:xfrm>
          <a:custGeom>
            <a:avLst/>
            <a:gdLst/>
            <a:ahLst/>
            <a:cxnLst/>
            <a:rect l="l" t="t" r="r" b="b"/>
            <a:pathLst>
              <a:path w="0" h="49378">
                <a:moveTo>
                  <a:pt x="0" y="0"/>
                </a:moveTo>
                <a:lnTo>
                  <a:pt x="0" y="49378"/>
                </a:lnTo>
              </a:path>
            </a:pathLst>
          </a:custGeom>
          <a:noFill/>
          <a:ln w="12700" cap="rnd">
            <a:solidFill>
              <a:srgbClr val="3432C9"/>
            </a:solidFill>
            <a:round/>
          </a:ln>
          <a:effectLst/>
        </p:spPr>
        <p:txBody>
          <a:bodyPr rtlCol="0" anchor="ctr"/>
          <a:lstStyle/>
          <a:p>
            <a:pPr algn="ctr"/>
          </a:p>
        </p:txBody>
      </p:sp>
      <p:sp>
        <p:nvSpPr>
          <p:cNvPr id="49" name="Freeform 48"/>
          <p:cNvSpPr/>
          <p:nvPr/>
        </p:nvSpPr>
        <p:spPr>
          <a:xfrm>
            <a:off x="1190549" y="4652467"/>
            <a:ext cx="0" cy="76810"/>
          </a:xfrm>
          <a:custGeom>
            <a:avLst/>
            <a:gdLst/>
            <a:ahLst/>
            <a:cxnLst/>
            <a:rect l="l" t="t" r="r" b="b"/>
            <a:pathLst>
              <a:path w="0" h="76810">
                <a:moveTo>
                  <a:pt x="0" y="0"/>
                </a:moveTo>
                <a:lnTo>
                  <a:pt x="0" y="76810"/>
                </a:lnTo>
              </a:path>
            </a:pathLst>
          </a:custGeom>
          <a:noFill/>
          <a:ln w="12700" cap="rnd">
            <a:solidFill>
              <a:srgbClr val="3432C9"/>
            </a:solidFill>
            <a:round/>
          </a:ln>
          <a:effectLst/>
        </p:spPr>
        <p:txBody>
          <a:bodyPr rtlCol="0" anchor="ctr"/>
          <a:lstStyle/>
          <a:p>
            <a:pPr algn="ctr"/>
          </a:p>
        </p:txBody>
      </p:sp>
      <p:sp>
        <p:nvSpPr>
          <p:cNvPr id="50" name="Freeform 49"/>
          <p:cNvSpPr/>
          <p:nvPr/>
        </p:nvSpPr>
        <p:spPr>
          <a:xfrm>
            <a:off x="1228954" y="4652467"/>
            <a:ext cx="0" cy="38405"/>
          </a:xfrm>
          <a:custGeom>
            <a:avLst/>
            <a:gdLst/>
            <a:ahLst/>
            <a:cxnLst/>
            <a:rect l="l" t="t" r="r" b="b"/>
            <a:pathLst>
              <a:path w="0" h="38405">
                <a:moveTo>
                  <a:pt x="0" y="0"/>
                </a:moveTo>
                <a:lnTo>
                  <a:pt x="0" y="38405"/>
                </a:lnTo>
              </a:path>
            </a:pathLst>
          </a:custGeom>
          <a:noFill/>
          <a:ln w="12700" cap="rnd">
            <a:solidFill>
              <a:srgbClr val="3432C9"/>
            </a:solidFill>
            <a:round/>
          </a:ln>
          <a:effectLst/>
        </p:spPr>
        <p:txBody>
          <a:bodyPr rtlCol="0" anchor="ctr"/>
          <a:lstStyle/>
          <a:p>
            <a:pPr algn="ctr"/>
          </a:p>
        </p:txBody>
      </p:sp>
      <p:sp>
        <p:nvSpPr>
          <p:cNvPr id="51" name="TextBox 50"/>
          <p:cNvSpPr txBox="1"/>
          <p:nvPr/>
        </p:nvSpPr>
        <p:spPr>
          <a:xfrm>
            <a:off x="1472184" y="4315968"/>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A segregação poderá gerar uma terceira atividade: a PICOTAGEM, a fim de adequar o material às especificidades do mercado de desfibramento e coprocessamento.</a:t>
            </a:r>
          </a:p>
        </p:txBody>
      </p:sp>
      <p:sp>
        <p:nvSpPr>
          <p:cNvPr id="52" name="Rectangle 51"/>
          <p:cNvSpPr/>
          <p:nvPr/>
        </p:nvSpPr>
        <p:spPr>
          <a:xfrm>
            <a:off x="777240" y="5157216"/>
            <a:ext cx="10637489" cy="603504"/>
          </a:xfrm>
          <a:prstGeom prst="rect">
            <a:avLst/>
          </a:prstGeom>
          <a:solidFill>
            <a:srgbClr val="E7F6F1"/>
          </a:solidFill>
          <a:ln w="12700" cap="rnd">
            <a:noFill/>
            <a:round/>
          </a:ln>
          <a:effectLst/>
        </p:spPr>
        <p:txBody>
          <a:bodyPr rtlCol="0" anchor="ctr"/>
          <a:lstStyle/>
          <a:p/>
        </p:txBody>
      </p:sp>
      <p:sp>
        <p:nvSpPr>
          <p:cNvPr id="53" name="Rectangle 52"/>
          <p:cNvSpPr/>
          <p:nvPr/>
        </p:nvSpPr>
        <p:spPr>
          <a:xfrm>
            <a:off x="777240" y="5157216"/>
            <a:ext cx="32004" cy="603504"/>
          </a:xfrm>
          <a:prstGeom prst="rect">
            <a:avLst/>
          </a:prstGeom>
          <a:solidFill>
            <a:srgbClr val="12A87B"/>
          </a:solidFill>
          <a:ln w="12700" cap="rnd">
            <a:noFill/>
            <a:round/>
          </a:ln>
          <a:effectLst/>
        </p:spPr>
        <p:txBody>
          <a:bodyPr rtlCol="0" anchor="ctr"/>
          <a:lstStyle/>
          <a:p/>
        </p:txBody>
      </p:sp>
      <p:sp>
        <p:nvSpPr>
          <p:cNvPr id="54" name="Oval 53"/>
          <p:cNvSpPr/>
          <p:nvPr/>
        </p:nvSpPr>
        <p:spPr>
          <a:xfrm>
            <a:off x="1119225" y="5371185"/>
            <a:ext cx="65836" cy="65836"/>
          </a:xfrm>
          <a:prstGeom prst="ellipse">
            <a:avLst/>
          </a:prstGeom>
          <a:noFill/>
          <a:ln w="15875" cap="rnd">
            <a:solidFill>
              <a:srgbClr val="12A87B"/>
            </a:solidFill>
            <a:round/>
          </a:ln>
          <a:effectLst/>
        </p:spPr>
        <p:txBody>
          <a:bodyPr rtlCol="0" anchor="ctr"/>
          <a:lstStyle/>
          <a:p/>
        </p:txBody>
      </p:sp>
      <p:sp>
        <p:nvSpPr>
          <p:cNvPr id="55" name="Freeform 54"/>
          <p:cNvSpPr/>
          <p:nvPr/>
        </p:nvSpPr>
        <p:spPr>
          <a:xfrm>
            <a:off x="1079203" y="5491886"/>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12A87B"/>
            </a:solidFill>
            <a:round/>
          </a:ln>
          <a:effectLst/>
        </p:spPr>
        <p:txBody>
          <a:bodyPr rtlCol="0" anchor="ctr"/>
          <a:lstStyle/>
          <a:p>
            <a:pPr algn="ctr"/>
          </a:p>
        </p:txBody>
      </p:sp>
      <p:sp>
        <p:nvSpPr>
          <p:cNvPr id="56" name="Oval 55"/>
          <p:cNvSpPr/>
          <p:nvPr/>
        </p:nvSpPr>
        <p:spPr>
          <a:xfrm>
            <a:off x="1034186" y="5406847"/>
            <a:ext cx="49377" cy="49377"/>
          </a:xfrm>
          <a:prstGeom prst="ellipse">
            <a:avLst/>
          </a:prstGeom>
          <a:noFill/>
          <a:ln w="13494" cap="rnd">
            <a:solidFill>
              <a:srgbClr val="12A87B"/>
            </a:solidFill>
            <a:round/>
          </a:ln>
          <a:effectLst/>
        </p:spPr>
        <p:txBody>
          <a:bodyPr rtlCol="0" anchor="ctr"/>
          <a:lstStyle/>
          <a:p/>
        </p:txBody>
      </p:sp>
      <p:sp>
        <p:nvSpPr>
          <p:cNvPr id="57" name="Freeform 56"/>
          <p:cNvSpPr/>
          <p:nvPr/>
        </p:nvSpPr>
        <p:spPr>
          <a:xfrm>
            <a:off x="1013830" y="5524805"/>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58" name="Oval 57"/>
          <p:cNvSpPr/>
          <p:nvPr/>
        </p:nvSpPr>
        <p:spPr>
          <a:xfrm>
            <a:off x="1220724" y="5406847"/>
            <a:ext cx="49377" cy="49377"/>
          </a:xfrm>
          <a:prstGeom prst="ellipse">
            <a:avLst/>
          </a:prstGeom>
          <a:noFill/>
          <a:ln w="13494" cap="rnd">
            <a:solidFill>
              <a:srgbClr val="12A87B"/>
            </a:solidFill>
            <a:round/>
          </a:ln>
          <a:effectLst/>
        </p:spPr>
        <p:txBody>
          <a:bodyPr rtlCol="0" anchor="ctr"/>
          <a:lstStyle/>
          <a:p/>
        </p:txBody>
      </p:sp>
      <p:sp>
        <p:nvSpPr>
          <p:cNvPr id="59" name="Freeform 58"/>
          <p:cNvSpPr/>
          <p:nvPr/>
        </p:nvSpPr>
        <p:spPr>
          <a:xfrm>
            <a:off x="1200367" y="5524805"/>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60" name="TextBox 59"/>
          <p:cNvSpPr txBox="1"/>
          <p:nvPr/>
        </p:nvSpPr>
        <p:spPr>
          <a:xfrm>
            <a:off x="1472184" y="5157216"/>
            <a:ext cx="9668225" cy="603504"/>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Todo o processo será executado por profissionais treinados pela equipe Nunes &amp; Lucato.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Estocagem rotativa</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Gestão eficiente do fluxo de materiais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10</a:t>
            </a:r>
          </a:p>
        </p:txBody>
      </p:sp>
      <p:sp>
        <p:nvSpPr>
          <p:cNvPr id="9" name="Freeform 8"/>
          <p:cNvSpPr/>
          <p:nvPr/>
        </p:nvSpPr>
        <p:spPr>
          <a:xfrm>
            <a:off x="3683151" y="2612745"/>
            <a:ext cx="927864" cy="927864"/>
          </a:xfrm>
          <a:custGeom>
            <a:avLst/>
            <a:gdLst/>
            <a:ahLst/>
            <a:cxnLst/>
            <a:rect l="l" t="t" r="r" b="b"/>
            <a:pathLst>
              <a:path w="927864" h="927864">
                <a:moveTo>
                  <a:pt x="0" y="0"/>
                </a:moveTo>
                <a:lnTo>
                  <a:pt x="27350" y="8156"/>
                </a:lnTo>
                <a:lnTo>
                  <a:pt x="54522" y="16886"/>
                </a:lnTo>
                <a:lnTo>
                  <a:pt x="81504" y="26188"/>
                </a:lnTo>
                <a:lnTo>
                  <a:pt x="108283" y="36056"/>
                </a:lnTo>
                <a:lnTo>
                  <a:pt x="134849" y="46487"/>
                </a:lnTo>
                <a:lnTo>
                  <a:pt x="161189" y="57476"/>
                </a:lnTo>
                <a:lnTo>
                  <a:pt x="187291" y="69018"/>
                </a:lnTo>
                <a:lnTo>
                  <a:pt x="213144" y="81107"/>
                </a:lnTo>
                <a:lnTo>
                  <a:pt x="238736" y="93740"/>
                </a:lnTo>
                <a:lnTo>
                  <a:pt x="264056" y="106909"/>
                </a:lnTo>
                <a:lnTo>
                  <a:pt x="289092" y="120609"/>
                </a:lnTo>
                <a:lnTo>
                  <a:pt x="313835" y="134834"/>
                </a:lnTo>
                <a:lnTo>
                  <a:pt x="338272" y="149578"/>
                </a:lnTo>
                <a:lnTo>
                  <a:pt x="362392" y="164833"/>
                </a:lnTo>
                <a:lnTo>
                  <a:pt x="386185" y="180594"/>
                </a:lnTo>
                <a:lnTo>
                  <a:pt x="409641" y="196853"/>
                </a:lnTo>
                <a:lnTo>
                  <a:pt x="432749" y="213604"/>
                </a:lnTo>
                <a:lnTo>
                  <a:pt x="455498" y="230837"/>
                </a:lnTo>
                <a:lnTo>
                  <a:pt x="477879" y="248547"/>
                </a:lnTo>
                <a:lnTo>
                  <a:pt x="499881" y="266725"/>
                </a:lnTo>
                <a:lnTo>
                  <a:pt x="521495" y="285362"/>
                </a:lnTo>
                <a:lnTo>
                  <a:pt x="542712" y="304452"/>
                </a:lnTo>
                <a:lnTo>
                  <a:pt x="563521" y="323984"/>
                </a:lnTo>
                <a:lnTo>
                  <a:pt x="583913" y="343951"/>
                </a:lnTo>
                <a:lnTo>
                  <a:pt x="603880" y="364343"/>
                </a:lnTo>
                <a:lnTo>
                  <a:pt x="623412" y="385152"/>
                </a:lnTo>
                <a:lnTo>
                  <a:pt x="642502" y="406369"/>
                </a:lnTo>
                <a:lnTo>
                  <a:pt x="661139" y="427983"/>
                </a:lnTo>
                <a:lnTo>
                  <a:pt x="679317" y="449985"/>
                </a:lnTo>
                <a:lnTo>
                  <a:pt x="697027" y="472366"/>
                </a:lnTo>
                <a:lnTo>
                  <a:pt x="714260" y="495115"/>
                </a:lnTo>
                <a:lnTo>
                  <a:pt x="731011" y="518223"/>
                </a:lnTo>
                <a:lnTo>
                  <a:pt x="747270" y="541679"/>
                </a:lnTo>
                <a:lnTo>
                  <a:pt x="763031" y="565472"/>
                </a:lnTo>
                <a:lnTo>
                  <a:pt x="778286" y="589592"/>
                </a:lnTo>
                <a:lnTo>
                  <a:pt x="793030" y="614029"/>
                </a:lnTo>
                <a:lnTo>
                  <a:pt x="807255" y="638772"/>
                </a:lnTo>
                <a:lnTo>
                  <a:pt x="820955" y="663808"/>
                </a:lnTo>
                <a:lnTo>
                  <a:pt x="834124" y="689128"/>
                </a:lnTo>
                <a:lnTo>
                  <a:pt x="846757" y="714720"/>
                </a:lnTo>
                <a:lnTo>
                  <a:pt x="858846" y="740573"/>
                </a:lnTo>
                <a:lnTo>
                  <a:pt x="870388" y="766675"/>
                </a:lnTo>
                <a:lnTo>
                  <a:pt x="881377" y="793015"/>
                </a:lnTo>
                <a:lnTo>
                  <a:pt x="891808" y="819581"/>
                </a:lnTo>
                <a:lnTo>
                  <a:pt x="901676" y="846360"/>
                </a:lnTo>
                <a:lnTo>
                  <a:pt x="910978" y="873342"/>
                </a:lnTo>
                <a:lnTo>
                  <a:pt x="919708" y="900514"/>
                </a:lnTo>
                <a:lnTo>
                  <a:pt x="927864" y="927864"/>
                </a:lnTo>
              </a:path>
            </a:pathLst>
          </a:custGeom>
          <a:noFill/>
          <a:ln w="14605" cap="rnd">
            <a:solidFill>
              <a:srgbClr val="3432C9"/>
            </a:solidFill>
            <a:round/>
          </a:ln>
          <a:effectLst/>
        </p:spPr>
        <p:txBody>
          <a:bodyPr rtlCol="0" anchor="ctr"/>
          <a:lstStyle/>
          <a:p>
            <a:pPr algn="ctr"/>
          </a:p>
        </p:txBody>
      </p:sp>
      <p:sp>
        <p:nvSpPr>
          <p:cNvPr id="10" name="Freeform 9"/>
          <p:cNvSpPr/>
          <p:nvPr/>
        </p:nvSpPr>
        <p:spPr>
          <a:xfrm>
            <a:off x="4543595" y="3446489"/>
            <a:ext cx="86391" cy="94120"/>
          </a:xfrm>
          <a:custGeom>
            <a:avLst/>
            <a:gdLst/>
            <a:ahLst/>
            <a:cxnLst/>
            <a:rect l="l" t="t" r="r" b="b"/>
            <a:pathLst>
              <a:path w="86391" h="94120">
                <a:moveTo>
                  <a:pt x="67420" y="94120"/>
                </a:moveTo>
                <a:lnTo>
                  <a:pt x="0" y="25762"/>
                </a:lnTo>
                <a:lnTo>
                  <a:pt x="86391" y="0"/>
                </a:lnTo>
                <a:close/>
              </a:path>
            </a:pathLst>
          </a:custGeom>
          <a:solidFill>
            <a:srgbClr val="3432C9"/>
          </a:solidFill>
          <a:ln w="8763" cap="rnd">
            <a:solidFill>
              <a:srgbClr val="3432C9"/>
            </a:solidFill>
            <a:round/>
          </a:ln>
          <a:effectLst/>
        </p:spPr>
        <p:txBody>
          <a:bodyPr rtlCol="0" anchor="ctr"/>
          <a:lstStyle/>
          <a:p>
            <a:pPr algn="ctr"/>
          </a:p>
        </p:txBody>
      </p:sp>
      <p:sp>
        <p:nvSpPr>
          <p:cNvPr id="11" name="Freeform 10"/>
          <p:cNvSpPr/>
          <p:nvPr/>
        </p:nvSpPr>
        <p:spPr>
          <a:xfrm>
            <a:off x="3683151" y="4286655"/>
            <a:ext cx="927864" cy="927864"/>
          </a:xfrm>
          <a:custGeom>
            <a:avLst/>
            <a:gdLst/>
            <a:ahLst/>
            <a:cxnLst/>
            <a:rect l="l" t="t" r="r" b="b"/>
            <a:pathLst>
              <a:path w="927864" h="927864">
                <a:moveTo>
                  <a:pt x="927864" y="0"/>
                </a:moveTo>
                <a:lnTo>
                  <a:pt x="919708" y="27350"/>
                </a:lnTo>
                <a:lnTo>
                  <a:pt x="910978" y="54522"/>
                </a:lnTo>
                <a:lnTo>
                  <a:pt x="901676" y="81504"/>
                </a:lnTo>
                <a:lnTo>
                  <a:pt x="891808" y="108283"/>
                </a:lnTo>
                <a:lnTo>
                  <a:pt x="881377" y="134849"/>
                </a:lnTo>
                <a:lnTo>
                  <a:pt x="870388" y="161189"/>
                </a:lnTo>
                <a:lnTo>
                  <a:pt x="858846" y="187291"/>
                </a:lnTo>
                <a:lnTo>
                  <a:pt x="846757" y="213144"/>
                </a:lnTo>
                <a:lnTo>
                  <a:pt x="834124" y="238736"/>
                </a:lnTo>
                <a:lnTo>
                  <a:pt x="820955" y="264056"/>
                </a:lnTo>
                <a:lnTo>
                  <a:pt x="807255" y="289092"/>
                </a:lnTo>
                <a:lnTo>
                  <a:pt x="793030" y="313835"/>
                </a:lnTo>
                <a:lnTo>
                  <a:pt x="778286" y="338272"/>
                </a:lnTo>
                <a:lnTo>
                  <a:pt x="763031" y="362392"/>
                </a:lnTo>
                <a:lnTo>
                  <a:pt x="747270" y="386185"/>
                </a:lnTo>
                <a:lnTo>
                  <a:pt x="731011" y="409641"/>
                </a:lnTo>
                <a:lnTo>
                  <a:pt x="714260" y="432749"/>
                </a:lnTo>
                <a:lnTo>
                  <a:pt x="697027" y="455498"/>
                </a:lnTo>
                <a:lnTo>
                  <a:pt x="679317" y="477879"/>
                </a:lnTo>
                <a:lnTo>
                  <a:pt x="661139" y="499881"/>
                </a:lnTo>
                <a:lnTo>
                  <a:pt x="642502" y="521495"/>
                </a:lnTo>
                <a:lnTo>
                  <a:pt x="623412" y="542712"/>
                </a:lnTo>
                <a:lnTo>
                  <a:pt x="603880" y="563521"/>
                </a:lnTo>
                <a:lnTo>
                  <a:pt x="583913" y="583913"/>
                </a:lnTo>
                <a:lnTo>
                  <a:pt x="563521" y="603880"/>
                </a:lnTo>
                <a:lnTo>
                  <a:pt x="542712" y="623412"/>
                </a:lnTo>
                <a:lnTo>
                  <a:pt x="521495" y="642502"/>
                </a:lnTo>
                <a:lnTo>
                  <a:pt x="499881" y="661139"/>
                </a:lnTo>
                <a:lnTo>
                  <a:pt x="477879" y="679317"/>
                </a:lnTo>
                <a:lnTo>
                  <a:pt x="455498" y="697027"/>
                </a:lnTo>
                <a:lnTo>
                  <a:pt x="432749" y="714260"/>
                </a:lnTo>
                <a:lnTo>
                  <a:pt x="409641" y="731011"/>
                </a:lnTo>
                <a:lnTo>
                  <a:pt x="386185" y="747270"/>
                </a:lnTo>
                <a:lnTo>
                  <a:pt x="362392" y="763031"/>
                </a:lnTo>
                <a:lnTo>
                  <a:pt x="338272" y="778286"/>
                </a:lnTo>
                <a:lnTo>
                  <a:pt x="313835" y="793030"/>
                </a:lnTo>
                <a:lnTo>
                  <a:pt x="289092" y="807255"/>
                </a:lnTo>
                <a:lnTo>
                  <a:pt x="264056" y="820955"/>
                </a:lnTo>
                <a:lnTo>
                  <a:pt x="238736" y="834124"/>
                </a:lnTo>
                <a:lnTo>
                  <a:pt x="213144" y="846757"/>
                </a:lnTo>
                <a:lnTo>
                  <a:pt x="187291" y="858846"/>
                </a:lnTo>
                <a:lnTo>
                  <a:pt x="161189" y="870388"/>
                </a:lnTo>
                <a:lnTo>
                  <a:pt x="134849" y="881377"/>
                </a:lnTo>
                <a:lnTo>
                  <a:pt x="108283" y="891808"/>
                </a:lnTo>
                <a:lnTo>
                  <a:pt x="81504" y="901676"/>
                </a:lnTo>
                <a:lnTo>
                  <a:pt x="54522" y="910978"/>
                </a:lnTo>
                <a:lnTo>
                  <a:pt x="27350" y="919708"/>
                </a:lnTo>
                <a:lnTo>
                  <a:pt x="0" y="927864"/>
                </a:lnTo>
              </a:path>
            </a:pathLst>
          </a:custGeom>
          <a:noFill/>
          <a:ln w="14605" cap="rnd">
            <a:solidFill>
              <a:srgbClr val="3432C9"/>
            </a:solidFill>
            <a:round/>
          </a:ln>
          <a:effectLst/>
        </p:spPr>
        <p:txBody>
          <a:bodyPr rtlCol="0" anchor="ctr"/>
          <a:lstStyle/>
          <a:p>
            <a:pPr algn="ctr"/>
          </a:p>
        </p:txBody>
      </p:sp>
      <p:sp>
        <p:nvSpPr>
          <p:cNvPr id="12" name="Freeform 11"/>
          <p:cNvSpPr/>
          <p:nvPr/>
        </p:nvSpPr>
        <p:spPr>
          <a:xfrm>
            <a:off x="3683151" y="5147099"/>
            <a:ext cx="94120" cy="86391"/>
          </a:xfrm>
          <a:custGeom>
            <a:avLst/>
            <a:gdLst/>
            <a:ahLst/>
            <a:cxnLst/>
            <a:rect l="l" t="t" r="r" b="b"/>
            <a:pathLst>
              <a:path w="94120" h="86391">
                <a:moveTo>
                  <a:pt x="0" y="67420"/>
                </a:moveTo>
                <a:lnTo>
                  <a:pt x="68358" y="0"/>
                </a:lnTo>
                <a:lnTo>
                  <a:pt x="94120" y="86391"/>
                </a:lnTo>
                <a:close/>
              </a:path>
            </a:pathLst>
          </a:custGeom>
          <a:solidFill>
            <a:srgbClr val="3432C9"/>
          </a:solidFill>
          <a:ln w="8763" cap="rnd">
            <a:solidFill>
              <a:srgbClr val="3432C9"/>
            </a:solidFill>
            <a:round/>
          </a:ln>
          <a:effectLst/>
        </p:spPr>
        <p:txBody>
          <a:bodyPr rtlCol="0" anchor="ctr"/>
          <a:lstStyle/>
          <a:p>
            <a:pPr algn="ctr"/>
          </a:p>
        </p:txBody>
      </p:sp>
      <p:sp>
        <p:nvSpPr>
          <p:cNvPr id="13" name="Freeform 12"/>
          <p:cNvSpPr/>
          <p:nvPr/>
        </p:nvSpPr>
        <p:spPr>
          <a:xfrm>
            <a:off x="2009241" y="4286655"/>
            <a:ext cx="927864" cy="927864"/>
          </a:xfrm>
          <a:custGeom>
            <a:avLst/>
            <a:gdLst/>
            <a:ahLst/>
            <a:cxnLst/>
            <a:rect l="l" t="t" r="r" b="b"/>
            <a:pathLst>
              <a:path w="927864" h="927864">
                <a:moveTo>
                  <a:pt x="927864" y="927864"/>
                </a:moveTo>
                <a:lnTo>
                  <a:pt x="900514" y="919708"/>
                </a:lnTo>
                <a:lnTo>
                  <a:pt x="873342" y="910978"/>
                </a:lnTo>
                <a:lnTo>
                  <a:pt x="846360" y="901676"/>
                </a:lnTo>
                <a:lnTo>
                  <a:pt x="819581" y="891808"/>
                </a:lnTo>
                <a:lnTo>
                  <a:pt x="793015" y="881377"/>
                </a:lnTo>
                <a:lnTo>
                  <a:pt x="766675" y="870388"/>
                </a:lnTo>
                <a:lnTo>
                  <a:pt x="740573" y="858846"/>
                </a:lnTo>
                <a:lnTo>
                  <a:pt x="714720" y="846757"/>
                </a:lnTo>
                <a:lnTo>
                  <a:pt x="689128" y="834124"/>
                </a:lnTo>
                <a:lnTo>
                  <a:pt x="663808" y="820955"/>
                </a:lnTo>
                <a:lnTo>
                  <a:pt x="638772" y="807255"/>
                </a:lnTo>
                <a:lnTo>
                  <a:pt x="614029" y="793030"/>
                </a:lnTo>
                <a:lnTo>
                  <a:pt x="589592" y="778286"/>
                </a:lnTo>
                <a:lnTo>
                  <a:pt x="565472" y="763031"/>
                </a:lnTo>
                <a:lnTo>
                  <a:pt x="541679" y="747270"/>
                </a:lnTo>
                <a:lnTo>
                  <a:pt x="518223" y="731011"/>
                </a:lnTo>
                <a:lnTo>
                  <a:pt x="495115" y="714260"/>
                </a:lnTo>
                <a:lnTo>
                  <a:pt x="472366" y="697027"/>
                </a:lnTo>
                <a:lnTo>
                  <a:pt x="449985" y="679317"/>
                </a:lnTo>
                <a:lnTo>
                  <a:pt x="427983" y="661139"/>
                </a:lnTo>
                <a:lnTo>
                  <a:pt x="406369" y="642502"/>
                </a:lnTo>
                <a:lnTo>
                  <a:pt x="385152" y="623412"/>
                </a:lnTo>
                <a:lnTo>
                  <a:pt x="364343" y="603880"/>
                </a:lnTo>
                <a:lnTo>
                  <a:pt x="343951" y="583913"/>
                </a:lnTo>
                <a:lnTo>
                  <a:pt x="323984" y="563521"/>
                </a:lnTo>
                <a:lnTo>
                  <a:pt x="304452" y="542712"/>
                </a:lnTo>
                <a:lnTo>
                  <a:pt x="285362" y="521495"/>
                </a:lnTo>
                <a:lnTo>
                  <a:pt x="266725" y="499881"/>
                </a:lnTo>
                <a:lnTo>
                  <a:pt x="248547" y="477879"/>
                </a:lnTo>
                <a:lnTo>
                  <a:pt x="230837" y="455498"/>
                </a:lnTo>
                <a:lnTo>
                  <a:pt x="213604" y="432749"/>
                </a:lnTo>
                <a:lnTo>
                  <a:pt x="196853" y="409641"/>
                </a:lnTo>
                <a:lnTo>
                  <a:pt x="180594" y="386185"/>
                </a:lnTo>
                <a:lnTo>
                  <a:pt x="164833" y="362392"/>
                </a:lnTo>
                <a:lnTo>
                  <a:pt x="149578" y="338272"/>
                </a:lnTo>
                <a:lnTo>
                  <a:pt x="134834" y="313835"/>
                </a:lnTo>
                <a:lnTo>
                  <a:pt x="120609" y="289092"/>
                </a:lnTo>
                <a:lnTo>
                  <a:pt x="106909" y="264056"/>
                </a:lnTo>
                <a:lnTo>
                  <a:pt x="93740" y="238736"/>
                </a:lnTo>
                <a:lnTo>
                  <a:pt x="81107" y="213144"/>
                </a:lnTo>
                <a:lnTo>
                  <a:pt x="69018" y="187291"/>
                </a:lnTo>
                <a:lnTo>
                  <a:pt x="57476" y="161189"/>
                </a:lnTo>
                <a:lnTo>
                  <a:pt x="46487" y="134849"/>
                </a:lnTo>
                <a:lnTo>
                  <a:pt x="36056" y="108283"/>
                </a:lnTo>
                <a:lnTo>
                  <a:pt x="26188" y="81504"/>
                </a:lnTo>
                <a:lnTo>
                  <a:pt x="16886" y="54522"/>
                </a:lnTo>
                <a:lnTo>
                  <a:pt x="8156" y="27350"/>
                </a:lnTo>
                <a:lnTo>
                  <a:pt x="0" y="0"/>
                </a:lnTo>
              </a:path>
            </a:pathLst>
          </a:custGeom>
          <a:noFill/>
          <a:ln w="14605" cap="rnd">
            <a:solidFill>
              <a:srgbClr val="3432C9"/>
            </a:solidFill>
            <a:round/>
          </a:ln>
          <a:effectLst/>
        </p:spPr>
        <p:txBody>
          <a:bodyPr rtlCol="0" anchor="ctr"/>
          <a:lstStyle/>
          <a:p>
            <a:pPr algn="ctr"/>
          </a:p>
        </p:txBody>
      </p:sp>
      <p:sp>
        <p:nvSpPr>
          <p:cNvPr id="14" name="Freeform 13"/>
          <p:cNvSpPr/>
          <p:nvPr/>
        </p:nvSpPr>
        <p:spPr>
          <a:xfrm>
            <a:off x="1990270" y="4286655"/>
            <a:ext cx="86391" cy="94120"/>
          </a:xfrm>
          <a:custGeom>
            <a:avLst/>
            <a:gdLst/>
            <a:ahLst/>
            <a:cxnLst/>
            <a:rect l="l" t="t" r="r" b="b"/>
            <a:pathLst>
              <a:path w="86391" h="94120">
                <a:moveTo>
                  <a:pt x="18971" y="0"/>
                </a:moveTo>
                <a:lnTo>
                  <a:pt x="86391" y="68358"/>
                </a:lnTo>
                <a:lnTo>
                  <a:pt x="0" y="94120"/>
                </a:lnTo>
                <a:close/>
              </a:path>
            </a:pathLst>
          </a:custGeom>
          <a:solidFill>
            <a:srgbClr val="3432C9"/>
          </a:solidFill>
          <a:ln w="8763" cap="rnd">
            <a:solidFill>
              <a:srgbClr val="3432C9"/>
            </a:solidFill>
            <a:round/>
          </a:ln>
          <a:effectLst/>
        </p:spPr>
        <p:txBody>
          <a:bodyPr rtlCol="0" anchor="ctr"/>
          <a:lstStyle/>
          <a:p>
            <a:pPr algn="ctr"/>
          </a:p>
        </p:txBody>
      </p:sp>
      <p:sp>
        <p:nvSpPr>
          <p:cNvPr id="15" name="Freeform 14"/>
          <p:cNvSpPr/>
          <p:nvPr/>
        </p:nvSpPr>
        <p:spPr>
          <a:xfrm>
            <a:off x="2009241" y="2612745"/>
            <a:ext cx="927864" cy="927864"/>
          </a:xfrm>
          <a:custGeom>
            <a:avLst/>
            <a:gdLst/>
            <a:ahLst/>
            <a:cxnLst/>
            <a:rect l="l" t="t" r="r" b="b"/>
            <a:pathLst>
              <a:path w="927864" h="927864">
                <a:moveTo>
                  <a:pt x="0" y="927864"/>
                </a:moveTo>
                <a:lnTo>
                  <a:pt x="8156" y="900514"/>
                </a:lnTo>
                <a:lnTo>
                  <a:pt x="16886" y="873342"/>
                </a:lnTo>
                <a:lnTo>
                  <a:pt x="26188" y="846360"/>
                </a:lnTo>
                <a:lnTo>
                  <a:pt x="36056" y="819581"/>
                </a:lnTo>
                <a:lnTo>
                  <a:pt x="46487" y="793015"/>
                </a:lnTo>
                <a:lnTo>
                  <a:pt x="57476" y="766675"/>
                </a:lnTo>
                <a:lnTo>
                  <a:pt x="69018" y="740573"/>
                </a:lnTo>
                <a:lnTo>
                  <a:pt x="81107" y="714720"/>
                </a:lnTo>
                <a:lnTo>
                  <a:pt x="93740" y="689128"/>
                </a:lnTo>
                <a:lnTo>
                  <a:pt x="106909" y="663808"/>
                </a:lnTo>
                <a:lnTo>
                  <a:pt x="120609" y="638772"/>
                </a:lnTo>
                <a:lnTo>
                  <a:pt x="134834" y="614029"/>
                </a:lnTo>
                <a:lnTo>
                  <a:pt x="149578" y="589592"/>
                </a:lnTo>
                <a:lnTo>
                  <a:pt x="164833" y="565472"/>
                </a:lnTo>
                <a:lnTo>
                  <a:pt x="180594" y="541679"/>
                </a:lnTo>
                <a:lnTo>
                  <a:pt x="196853" y="518223"/>
                </a:lnTo>
                <a:lnTo>
                  <a:pt x="213604" y="495115"/>
                </a:lnTo>
                <a:lnTo>
                  <a:pt x="230837" y="472366"/>
                </a:lnTo>
                <a:lnTo>
                  <a:pt x="248547" y="449985"/>
                </a:lnTo>
                <a:lnTo>
                  <a:pt x="266725" y="427983"/>
                </a:lnTo>
                <a:lnTo>
                  <a:pt x="285362" y="406369"/>
                </a:lnTo>
                <a:lnTo>
                  <a:pt x="304452" y="385152"/>
                </a:lnTo>
                <a:lnTo>
                  <a:pt x="323984" y="364343"/>
                </a:lnTo>
                <a:lnTo>
                  <a:pt x="343951" y="343951"/>
                </a:lnTo>
                <a:lnTo>
                  <a:pt x="364343" y="323984"/>
                </a:lnTo>
                <a:lnTo>
                  <a:pt x="385152" y="304452"/>
                </a:lnTo>
                <a:lnTo>
                  <a:pt x="406369" y="285362"/>
                </a:lnTo>
                <a:lnTo>
                  <a:pt x="427983" y="266725"/>
                </a:lnTo>
                <a:lnTo>
                  <a:pt x="449985" y="248547"/>
                </a:lnTo>
                <a:lnTo>
                  <a:pt x="472366" y="230837"/>
                </a:lnTo>
                <a:lnTo>
                  <a:pt x="495115" y="213604"/>
                </a:lnTo>
                <a:lnTo>
                  <a:pt x="518223" y="196853"/>
                </a:lnTo>
                <a:lnTo>
                  <a:pt x="541679" y="180594"/>
                </a:lnTo>
                <a:lnTo>
                  <a:pt x="565472" y="164833"/>
                </a:lnTo>
                <a:lnTo>
                  <a:pt x="589592" y="149578"/>
                </a:lnTo>
                <a:lnTo>
                  <a:pt x="614029" y="134834"/>
                </a:lnTo>
                <a:lnTo>
                  <a:pt x="638772" y="120609"/>
                </a:lnTo>
                <a:lnTo>
                  <a:pt x="663808" y="106909"/>
                </a:lnTo>
                <a:lnTo>
                  <a:pt x="689128" y="93740"/>
                </a:lnTo>
                <a:lnTo>
                  <a:pt x="714720" y="81107"/>
                </a:lnTo>
                <a:lnTo>
                  <a:pt x="740573" y="69018"/>
                </a:lnTo>
                <a:lnTo>
                  <a:pt x="766675" y="57476"/>
                </a:lnTo>
                <a:lnTo>
                  <a:pt x="793015" y="46487"/>
                </a:lnTo>
                <a:lnTo>
                  <a:pt x="819581" y="36056"/>
                </a:lnTo>
                <a:lnTo>
                  <a:pt x="846360" y="26188"/>
                </a:lnTo>
                <a:lnTo>
                  <a:pt x="873342" y="16886"/>
                </a:lnTo>
                <a:lnTo>
                  <a:pt x="900514" y="8156"/>
                </a:lnTo>
                <a:lnTo>
                  <a:pt x="927864" y="0"/>
                </a:lnTo>
              </a:path>
            </a:pathLst>
          </a:custGeom>
          <a:noFill/>
          <a:ln w="14605" cap="rnd">
            <a:solidFill>
              <a:srgbClr val="3432C9"/>
            </a:solidFill>
            <a:round/>
          </a:ln>
          <a:effectLst/>
        </p:spPr>
        <p:txBody>
          <a:bodyPr rtlCol="0" anchor="ctr"/>
          <a:lstStyle/>
          <a:p>
            <a:pPr algn="ctr"/>
          </a:p>
        </p:txBody>
      </p:sp>
      <p:sp>
        <p:nvSpPr>
          <p:cNvPr id="16" name="Freeform 15"/>
          <p:cNvSpPr/>
          <p:nvPr/>
        </p:nvSpPr>
        <p:spPr>
          <a:xfrm>
            <a:off x="2842985" y="2593774"/>
            <a:ext cx="94120" cy="86391"/>
          </a:xfrm>
          <a:custGeom>
            <a:avLst/>
            <a:gdLst/>
            <a:ahLst/>
            <a:cxnLst/>
            <a:rect l="l" t="t" r="r" b="b"/>
            <a:pathLst>
              <a:path w="94120" h="86391">
                <a:moveTo>
                  <a:pt x="94120" y="18971"/>
                </a:moveTo>
                <a:lnTo>
                  <a:pt x="25762" y="86391"/>
                </a:lnTo>
                <a:lnTo>
                  <a:pt x="0" y="0"/>
                </a:lnTo>
                <a:close/>
              </a:path>
            </a:pathLst>
          </a:custGeom>
          <a:solidFill>
            <a:srgbClr val="3432C9"/>
          </a:solidFill>
          <a:ln w="8763" cap="rnd">
            <a:solidFill>
              <a:srgbClr val="3432C9"/>
            </a:solidFill>
            <a:round/>
          </a:ln>
          <a:effectLst/>
        </p:spPr>
        <p:txBody>
          <a:bodyPr rtlCol="0" anchor="ctr"/>
          <a:lstStyle/>
          <a:p>
            <a:pPr algn="ctr"/>
          </a:p>
        </p:txBody>
      </p:sp>
      <p:sp>
        <p:nvSpPr>
          <p:cNvPr id="17" name="Oval 16"/>
          <p:cNvSpPr/>
          <p:nvPr/>
        </p:nvSpPr>
        <p:spPr>
          <a:xfrm>
            <a:off x="3154680" y="2404872"/>
            <a:ext cx="310896" cy="310896"/>
          </a:xfrm>
          <a:prstGeom prst="ellipse">
            <a:avLst/>
          </a:prstGeom>
          <a:solidFill>
            <a:srgbClr val="FFFFFF"/>
          </a:solidFill>
          <a:ln w="16510" cap="rnd">
            <a:solidFill>
              <a:srgbClr val="3432C9"/>
            </a:solidFill>
            <a:round/>
          </a:ln>
          <a:effectLst/>
        </p:spPr>
        <p:txBody>
          <a:bodyPr rtlCol="0" anchor="ctr"/>
          <a:lstStyle/>
          <a:p/>
        </p:txBody>
      </p:sp>
      <p:sp>
        <p:nvSpPr>
          <p:cNvPr id="18" name="Oval 17"/>
          <p:cNvSpPr/>
          <p:nvPr/>
        </p:nvSpPr>
        <p:spPr>
          <a:xfrm>
            <a:off x="3241548" y="2491740"/>
            <a:ext cx="137160" cy="137160"/>
          </a:xfrm>
          <a:prstGeom prst="ellipse">
            <a:avLst/>
          </a:prstGeom>
          <a:solidFill>
            <a:srgbClr val="3432C9"/>
          </a:solidFill>
          <a:ln w="12700" cap="rnd">
            <a:noFill/>
            <a:round/>
          </a:ln>
          <a:effectLst/>
        </p:spPr>
        <p:txBody>
          <a:bodyPr rtlCol="0" anchor="ctr"/>
          <a:lstStyle/>
          <a:p/>
        </p:txBody>
      </p:sp>
      <p:sp>
        <p:nvSpPr>
          <p:cNvPr id="19" name="TextBox 18"/>
          <p:cNvSpPr txBox="1"/>
          <p:nvPr/>
        </p:nvSpPr>
        <p:spPr>
          <a:xfrm>
            <a:off x="2532888" y="2103120"/>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Entrada</a:t>
            </a:r>
          </a:p>
        </p:txBody>
      </p:sp>
      <p:sp>
        <p:nvSpPr>
          <p:cNvPr id="20" name="Oval 19"/>
          <p:cNvSpPr/>
          <p:nvPr/>
        </p:nvSpPr>
        <p:spPr>
          <a:xfrm>
            <a:off x="4507992" y="3758184"/>
            <a:ext cx="310896" cy="310896"/>
          </a:xfrm>
          <a:prstGeom prst="ellipse">
            <a:avLst/>
          </a:prstGeom>
          <a:solidFill>
            <a:srgbClr val="FFFFFF"/>
          </a:solidFill>
          <a:ln w="16510" cap="rnd">
            <a:solidFill>
              <a:srgbClr val="3432C9"/>
            </a:solidFill>
            <a:round/>
          </a:ln>
          <a:effectLst/>
        </p:spPr>
        <p:txBody>
          <a:bodyPr rtlCol="0" anchor="ctr"/>
          <a:lstStyle/>
          <a:p/>
        </p:txBody>
      </p:sp>
      <p:sp>
        <p:nvSpPr>
          <p:cNvPr id="21" name="Oval 20"/>
          <p:cNvSpPr/>
          <p:nvPr/>
        </p:nvSpPr>
        <p:spPr>
          <a:xfrm>
            <a:off x="4594859" y="3845052"/>
            <a:ext cx="137160" cy="137160"/>
          </a:xfrm>
          <a:prstGeom prst="ellipse">
            <a:avLst/>
          </a:prstGeom>
          <a:solidFill>
            <a:srgbClr val="3432C9"/>
          </a:solidFill>
          <a:ln w="12700" cap="rnd">
            <a:noFill/>
            <a:round/>
          </a:ln>
          <a:effectLst/>
        </p:spPr>
        <p:txBody>
          <a:bodyPr rtlCol="0" anchor="ctr"/>
          <a:lstStyle/>
          <a:p/>
        </p:txBody>
      </p:sp>
      <p:sp>
        <p:nvSpPr>
          <p:cNvPr id="22" name="TextBox 21"/>
          <p:cNvSpPr txBox="1"/>
          <p:nvPr/>
        </p:nvSpPr>
        <p:spPr>
          <a:xfrm>
            <a:off x="4919472" y="3794760"/>
            <a:ext cx="1234440" cy="274320"/>
          </a:xfrm>
          <a:prstGeom prst="rect">
            <a:avLst/>
          </a:prstGeom>
          <a:noFill/>
          <a:effectLst/>
        </p:spPr>
        <p:txBody>
          <a:bodyPr wrap="square" lIns="0" rIns="0" tIns="0" bIns="0" anchor="t">
            <a:spAutoFit/>
          </a:bodyPr>
          <a:lstStyle/>
          <a:p>
            <a:pPr algn="l">
              <a:lnSpc>
                <a:spcPct val="135000"/>
              </a:lnSpc>
            </a:pPr>
            <a:r>
              <a:rPr sz="960" b="0" i="0">
                <a:solidFill>
                  <a:srgbClr val="14142E"/>
                </a:solidFill>
                <a:latin typeface="Montserrat SemiBold"/>
              </a:rPr>
              <a:t>Organização</a:t>
            </a:r>
          </a:p>
        </p:txBody>
      </p:sp>
      <p:sp>
        <p:nvSpPr>
          <p:cNvPr id="23" name="Oval 22"/>
          <p:cNvSpPr/>
          <p:nvPr/>
        </p:nvSpPr>
        <p:spPr>
          <a:xfrm>
            <a:off x="3154680" y="5111496"/>
            <a:ext cx="310896" cy="310896"/>
          </a:xfrm>
          <a:prstGeom prst="ellipse">
            <a:avLst/>
          </a:prstGeom>
          <a:solidFill>
            <a:srgbClr val="FFFFFF"/>
          </a:solidFill>
          <a:ln w="16510" cap="rnd">
            <a:solidFill>
              <a:srgbClr val="3432C9"/>
            </a:solidFill>
            <a:round/>
          </a:ln>
          <a:effectLst/>
        </p:spPr>
        <p:txBody>
          <a:bodyPr rtlCol="0" anchor="ctr"/>
          <a:lstStyle/>
          <a:p/>
        </p:txBody>
      </p:sp>
      <p:sp>
        <p:nvSpPr>
          <p:cNvPr id="24" name="Oval 23"/>
          <p:cNvSpPr/>
          <p:nvPr/>
        </p:nvSpPr>
        <p:spPr>
          <a:xfrm>
            <a:off x="3241548" y="5198364"/>
            <a:ext cx="137160" cy="137160"/>
          </a:xfrm>
          <a:prstGeom prst="ellipse">
            <a:avLst/>
          </a:prstGeom>
          <a:solidFill>
            <a:srgbClr val="3432C9"/>
          </a:solidFill>
          <a:ln w="12700" cap="rnd">
            <a:noFill/>
            <a:round/>
          </a:ln>
          <a:effectLst/>
        </p:spPr>
        <p:txBody>
          <a:bodyPr rtlCol="0" anchor="ctr"/>
          <a:lstStyle/>
          <a:p/>
        </p:txBody>
      </p:sp>
      <p:sp>
        <p:nvSpPr>
          <p:cNvPr id="25" name="TextBox 24"/>
          <p:cNvSpPr txBox="1"/>
          <p:nvPr/>
        </p:nvSpPr>
        <p:spPr>
          <a:xfrm>
            <a:off x="2532888" y="5522976"/>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Processamento</a:t>
            </a:r>
          </a:p>
        </p:txBody>
      </p:sp>
      <p:sp>
        <p:nvSpPr>
          <p:cNvPr id="26" name="Oval 25"/>
          <p:cNvSpPr/>
          <p:nvPr/>
        </p:nvSpPr>
        <p:spPr>
          <a:xfrm>
            <a:off x="1801368" y="3758184"/>
            <a:ext cx="310896" cy="310896"/>
          </a:xfrm>
          <a:prstGeom prst="ellipse">
            <a:avLst/>
          </a:prstGeom>
          <a:solidFill>
            <a:srgbClr val="FFFFFF"/>
          </a:solidFill>
          <a:ln w="16510" cap="rnd">
            <a:solidFill>
              <a:srgbClr val="3432C9"/>
            </a:solidFill>
            <a:round/>
          </a:ln>
          <a:effectLst/>
        </p:spPr>
        <p:txBody>
          <a:bodyPr rtlCol="0" anchor="ctr"/>
          <a:lstStyle/>
          <a:p/>
        </p:txBody>
      </p:sp>
      <p:sp>
        <p:nvSpPr>
          <p:cNvPr id="27" name="Oval 26"/>
          <p:cNvSpPr/>
          <p:nvPr/>
        </p:nvSpPr>
        <p:spPr>
          <a:xfrm>
            <a:off x="1888236" y="3845052"/>
            <a:ext cx="137160" cy="137160"/>
          </a:xfrm>
          <a:prstGeom prst="ellipse">
            <a:avLst/>
          </a:prstGeom>
          <a:solidFill>
            <a:srgbClr val="3432C9"/>
          </a:solidFill>
          <a:ln w="12700" cap="rnd">
            <a:noFill/>
            <a:round/>
          </a:ln>
          <a:effectLst/>
        </p:spPr>
        <p:txBody>
          <a:bodyPr rtlCol="0" anchor="ctr"/>
          <a:lstStyle/>
          <a:p/>
        </p:txBody>
      </p:sp>
      <p:sp>
        <p:nvSpPr>
          <p:cNvPr id="28" name="TextBox 27"/>
          <p:cNvSpPr txBox="1"/>
          <p:nvPr/>
        </p:nvSpPr>
        <p:spPr>
          <a:xfrm>
            <a:off x="466344" y="3794760"/>
            <a:ext cx="1234440" cy="274320"/>
          </a:xfrm>
          <a:prstGeom prst="rect">
            <a:avLst/>
          </a:prstGeom>
          <a:noFill/>
          <a:effectLst/>
        </p:spPr>
        <p:txBody>
          <a:bodyPr wrap="square" lIns="0" rIns="0" tIns="0" bIns="0" anchor="t">
            <a:spAutoFit/>
          </a:bodyPr>
          <a:lstStyle/>
          <a:p>
            <a:pPr algn="r">
              <a:lnSpc>
                <a:spcPct val="135000"/>
              </a:lnSpc>
            </a:pPr>
            <a:r>
              <a:rPr sz="960" b="0" i="0">
                <a:solidFill>
                  <a:srgbClr val="14142E"/>
                </a:solidFill>
                <a:latin typeface="Montserrat SemiBold"/>
              </a:rPr>
              <a:t>Saída</a:t>
            </a:r>
          </a:p>
        </p:txBody>
      </p:sp>
      <p:sp>
        <p:nvSpPr>
          <p:cNvPr id="29" name="TextBox 28"/>
          <p:cNvSpPr txBox="1"/>
          <p:nvPr/>
        </p:nvSpPr>
        <p:spPr>
          <a:xfrm>
            <a:off x="2350008" y="3602736"/>
            <a:ext cx="1920240" cy="640080"/>
          </a:xfrm>
          <a:prstGeom prst="rect">
            <a:avLst/>
          </a:prstGeom>
          <a:noFill/>
          <a:effectLst/>
        </p:spPr>
        <p:txBody>
          <a:bodyPr wrap="square" lIns="0" rIns="0" tIns="0" bIns="0" anchor="ctr">
            <a:spAutoFit/>
          </a:bodyPr>
          <a:lstStyle/>
          <a:p>
            <a:pPr algn="ctr">
              <a:lnSpc>
                <a:spcPct val="124000"/>
              </a:lnSpc>
            </a:pPr>
            <a:r>
              <a:rPr sz="1300" b="0" i="0">
                <a:solidFill>
                  <a:srgbClr val="3432C9"/>
                </a:solidFill>
                <a:latin typeface="Montserrat Light"/>
              </a:rPr>
              <a:t>Fluxo</a:t>
            </a:r>
          </a:p>
          <a:p>
            <a:pPr algn="ctr">
              <a:lnSpc>
                <a:spcPct val="124000"/>
              </a:lnSpc>
            </a:pPr>
            <a:r>
              <a:rPr sz="1300" b="0" i="0">
                <a:solidFill>
                  <a:srgbClr val="3432C9"/>
                </a:solidFill>
                <a:latin typeface="Montserrat Light"/>
              </a:rPr>
              <a:t>rotativo contínuo</a:t>
            </a:r>
          </a:p>
        </p:txBody>
      </p:sp>
      <p:sp>
        <p:nvSpPr>
          <p:cNvPr id="30" name="Freeform 29"/>
          <p:cNvSpPr/>
          <p:nvPr/>
        </p:nvSpPr>
        <p:spPr>
          <a:xfrm>
            <a:off x="6490411" y="2073859"/>
            <a:ext cx="263347" cy="212141"/>
          </a:xfrm>
          <a:custGeom>
            <a:avLst/>
            <a:gdLst/>
            <a:ahLst/>
            <a:cxnLst/>
            <a:rect l="l" t="t" r="r" b="b"/>
            <a:pathLst>
              <a:path w="263347" h="212141">
                <a:moveTo>
                  <a:pt x="0" y="212141"/>
                </a:moveTo>
                <a:lnTo>
                  <a:pt x="87783" y="212141"/>
                </a:lnTo>
                <a:lnTo>
                  <a:pt x="87783" y="87783"/>
                </a:lnTo>
                <a:lnTo>
                  <a:pt x="190195" y="87783"/>
                </a:lnTo>
                <a:lnTo>
                  <a:pt x="190195" y="0"/>
                </a:lnTo>
                <a:lnTo>
                  <a:pt x="263347"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6741036" y="2051536"/>
            <a:ext cx="41983" cy="44646"/>
          </a:xfrm>
          <a:custGeom>
            <a:avLst/>
            <a:gdLst/>
            <a:ahLst/>
            <a:cxnLst/>
            <a:rect l="l" t="t" r="r" b="b"/>
            <a:pathLst>
              <a:path w="41983" h="44646">
                <a:moveTo>
                  <a:pt x="41983" y="22323"/>
                </a:moveTo>
                <a:lnTo>
                  <a:pt x="0" y="44646"/>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2" name="Oval 31"/>
          <p:cNvSpPr/>
          <p:nvPr/>
        </p:nvSpPr>
        <p:spPr>
          <a:xfrm>
            <a:off x="6464808" y="2260396"/>
            <a:ext cx="51206" cy="51206"/>
          </a:xfrm>
          <a:prstGeom prst="ellipse">
            <a:avLst/>
          </a:prstGeom>
          <a:solidFill>
            <a:srgbClr val="FFFFFF"/>
          </a:solidFill>
          <a:ln w="15875" cap="rnd">
            <a:solidFill>
              <a:srgbClr val="3432C9"/>
            </a:solidFill>
            <a:round/>
          </a:ln>
          <a:effectLst/>
        </p:spPr>
        <p:txBody>
          <a:bodyPr rtlCol="0" anchor="ctr"/>
          <a:lstStyle/>
          <a:p/>
        </p:txBody>
      </p:sp>
      <p:sp>
        <p:nvSpPr>
          <p:cNvPr id="33" name="TextBox 32"/>
          <p:cNvSpPr txBox="1"/>
          <p:nvPr/>
        </p:nvSpPr>
        <p:spPr>
          <a:xfrm>
            <a:off x="6967728" y="1938528"/>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Entrada contínua</a:t>
            </a:r>
          </a:p>
        </p:txBody>
      </p:sp>
      <p:sp>
        <p:nvSpPr>
          <p:cNvPr id="34" name="TextBox 33"/>
          <p:cNvSpPr txBox="1"/>
          <p:nvPr/>
        </p:nvSpPr>
        <p:spPr>
          <a:xfrm>
            <a:off x="6967728" y="2231136"/>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Montserrat"/>
              </a:rPr>
              <a:t>Recebimento permanente de materiais.</a:t>
            </a:r>
          </a:p>
        </p:txBody>
      </p:sp>
      <p:cxnSp>
        <p:nvCxnSpPr>
          <p:cNvPr id="35" name="Connector 34"/>
          <p:cNvCxnSpPr/>
          <p:nvPr/>
        </p:nvCxnSpPr>
        <p:spPr>
          <a:xfrm>
            <a:off x="6446520" y="2798064"/>
            <a:ext cx="4983480" cy="0"/>
          </a:xfrm>
          <a:prstGeom prst="line">
            <a:avLst/>
          </a:prstGeom>
          <a:ln w="12700" cap="rnd">
            <a:solidFill>
              <a:srgbClr val="EDEFF8"/>
            </a:solidFill>
            <a:round/>
          </a:ln>
          <a:effectLst/>
        </p:spPr>
      </p:cxnSp>
      <p:sp>
        <p:nvSpPr>
          <p:cNvPr id="36" name="Freeform 35"/>
          <p:cNvSpPr/>
          <p:nvPr/>
        </p:nvSpPr>
        <p:spPr>
          <a:xfrm>
            <a:off x="6585555" y="3126457"/>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3432C9"/>
            </a:solidFill>
            <a:round/>
          </a:ln>
          <a:effectLst/>
        </p:spPr>
        <p:txBody>
          <a:bodyPr rtlCol="0" anchor="ctr"/>
          <a:lstStyle/>
          <a:p>
            <a:pPr algn="ctr"/>
          </a:p>
        </p:txBody>
      </p:sp>
      <p:sp>
        <p:nvSpPr>
          <p:cNvPr id="37" name="Freeform 36"/>
          <p:cNvSpPr/>
          <p:nvPr/>
        </p:nvSpPr>
        <p:spPr>
          <a:xfrm>
            <a:off x="6585555" y="3316657"/>
            <a:ext cx="68689" cy="61597"/>
          </a:xfrm>
          <a:custGeom>
            <a:avLst/>
            <a:gdLst/>
            <a:ahLst/>
            <a:cxnLst/>
            <a:rect l="l" t="t" r="r" b="b"/>
            <a:pathLst>
              <a:path w="68689" h="61597">
                <a:moveTo>
                  <a:pt x="0" y="10552"/>
                </a:moveTo>
                <a:lnTo>
                  <a:pt x="68689" y="0"/>
                </a:lnTo>
                <a:lnTo>
                  <a:pt x="47158" y="61597"/>
                </a:lnTo>
                <a:close/>
              </a:path>
            </a:pathLst>
          </a:custGeom>
          <a:solidFill>
            <a:srgbClr val="3432C9"/>
          </a:solidFill>
          <a:ln w="9525" cap="rnd">
            <a:solidFill>
              <a:srgbClr val="3432C9"/>
            </a:solidFill>
            <a:round/>
          </a:ln>
          <a:effectLst/>
        </p:spPr>
        <p:txBody>
          <a:bodyPr rtlCol="0" anchor="ctr"/>
          <a:lstStyle/>
          <a:p>
            <a:pPr algn="ctr"/>
          </a:p>
        </p:txBody>
      </p:sp>
      <p:sp>
        <p:nvSpPr>
          <p:cNvPr id="38" name="Freeform 37"/>
          <p:cNvSpPr/>
          <p:nvPr/>
        </p:nvSpPr>
        <p:spPr>
          <a:xfrm>
            <a:off x="6512484" y="3101645"/>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3432C9"/>
            </a:solidFill>
            <a:round/>
          </a:ln>
          <a:effectLst/>
        </p:spPr>
        <p:txBody>
          <a:bodyPr rtlCol="0" anchor="ctr"/>
          <a:lstStyle/>
          <a:p>
            <a:pPr algn="ctr"/>
          </a:p>
        </p:txBody>
      </p:sp>
      <p:sp>
        <p:nvSpPr>
          <p:cNvPr id="39" name="Freeform 38"/>
          <p:cNvSpPr/>
          <p:nvPr/>
        </p:nvSpPr>
        <p:spPr>
          <a:xfrm>
            <a:off x="6604556" y="3059122"/>
            <a:ext cx="68689" cy="61597"/>
          </a:xfrm>
          <a:custGeom>
            <a:avLst/>
            <a:gdLst/>
            <a:ahLst/>
            <a:cxnLst/>
            <a:rect l="l" t="t" r="r" b="b"/>
            <a:pathLst>
              <a:path w="68689" h="61597">
                <a:moveTo>
                  <a:pt x="68689" y="51045"/>
                </a:moveTo>
                <a:lnTo>
                  <a:pt x="0" y="61597"/>
                </a:lnTo>
                <a:lnTo>
                  <a:pt x="21531" y="0"/>
                </a:lnTo>
                <a:close/>
              </a:path>
            </a:pathLst>
          </a:custGeom>
          <a:solidFill>
            <a:srgbClr val="3432C9"/>
          </a:solidFill>
          <a:ln w="9525" cap="rnd">
            <a:solidFill>
              <a:srgbClr val="3432C9"/>
            </a:solidFill>
            <a:round/>
          </a:ln>
          <a:effectLst/>
        </p:spPr>
        <p:txBody>
          <a:bodyPr rtlCol="0" anchor="ctr"/>
          <a:lstStyle/>
          <a:p>
            <a:pPr algn="ctr"/>
          </a:p>
        </p:txBody>
      </p:sp>
      <p:sp>
        <p:nvSpPr>
          <p:cNvPr id="40" name="TextBox 39"/>
          <p:cNvSpPr txBox="1"/>
          <p:nvPr/>
        </p:nvSpPr>
        <p:spPr>
          <a:xfrm>
            <a:off x="6967728" y="2980944"/>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Organização por ciclos</a:t>
            </a:r>
          </a:p>
        </p:txBody>
      </p:sp>
      <p:sp>
        <p:nvSpPr>
          <p:cNvPr id="41" name="TextBox 40"/>
          <p:cNvSpPr txBox="1"/>
          <p:nvPr/>
        </p:nvSpPr>
        <p:spPr>
          <a:xfrm>
            <a:off x="6967728" y="3273551"/>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Montserrat"/>
              </a:rPr>
              <a:t>Lotes controlados e rastreados.</a:t>
            </a:r>
          </a:p>
        </p:txBody>
      </p:sp>
      <p:cxnSp>
        <p:nvCxnSpPr>
          <p:cNvPr id="42" name="Connector 41"/>
          <p:cNvCxnSpPr/>
          <p:nvPr/>
        </p:nvCxnSpPr>
        <p:spPr>
          <a:xfrm>
            <a:off x="6446520" y="3840479"/>
            <a:ext cx="4983480" cy="0"/>
          </a:xfrm>
          <a:prstGeom prst="line">
            <a:avLst/>
          </a:prstGeom>
          <a:ln w="12700" cap="rnd">
            <a:solidFill>
              <a:srgbClr val="EDEFF8"/>
            </a:solidFill>
            <a:round/>
          </a:ln>
          <a:effectLst/>
        </p:spPr>
      </p:cxnSp>
      <p:sp>
        <p:nvSpPr>
          <p:cNvPr id="43" name="Oval 42"/>
          <p:cNvSpPr/>
          <p:nvPr/>
        </p:nvSpPr>
        <p:spPr>
          <a:xfrm>
            <a:off x="6472123" y="4103827"/>
            <a:ext cx="314553" cy="314553"/>
          </a:xfrm>
          <a:prstGeom prst="ellipse">
            <a:avLst/>
          </a:prstGeom>
          <a:noFill/>
          <a:ln w="15875" cap="rnd">
            <a:solidFill>
              <a:srgbClr val="3432C9"/>
            </a:solidFill>
            <a:round/>
          </a:ln>
          <a:effectLst/>
        </p:spPr>
        <p:txBody>
          <a:bodyPr rtlCol="0" anchor="ctr"/>
          <a:lstStyle/>
          <a:p/>
        </p:txBody>
      </p:sp>
      <p:sp>
        <p:nvSpPr>
          <p:cNvPr id="44" name="Freeform 43"/>
          <p:cNvSpPr/>
          <p:nvPr/>
        </p:nvSpPr>
        <p:spPr>
          <a:xfrm>
            <a:off x="6548933" y="4246474"/>
            <a:ext cx="160934" cy="87782"/>
          </a:xfrm>
          <a:custGeom>
            <a:avLst/>
            <a:gdLst/>
            <a:ahLst/>
            <a:cxnLst/>
            <a:rect l="l" t="t" r="r" b="b"/>
            <a:pathLst>
              <a:path w="160934" h="87782">
                <a:moveTo>
                  <a:pt x="0" y="0"/>
                </a:moveTo>
                <a:lnTo>
                  <a:pt x="160934" y="0"/>
                </a:lnTo>
                <a:lnTo>
                  <a:pt x="138989" y="87782"/>
                </a:lnTo>
                <a:lnTo>
                  <a:pt x="21945" y="87782"/>
                </a:lnTo>
                <a:close/>
              </a:path>
            </a:pathLst>
          </a:custGeom>
          <a:noFill/>
          <a:ln w="15081" cap="rnd">
            <a:solidFill>
              <a:srgbClr val="3432C9"/>
            </a:solidFill>
            <a:round/>
          </a:ln>
          <a:effectLst/>
        </p:spPr>
        <p:txBody>
          <a:bodyPr rtlCol="0" anchor="ctr"/>
          <a:lstStyle/>
          <a:p>
            <a:pPr algn="ctr"/>
          </a:p>
        </p:txBody>
      </p:sp>
      <p:sp>
        <p:nvSpPr>
          <p:cNvPr id="45" name="Freeform 44"/>
          <p:cNvSpPr/>
          <p:nvPr/>
        </p:nvSpPr>
        <p:spPr>
          <a:xfrm>
            <a:off x="6534302" y="4246474"/>
            <a:ext cx="190196" cy="0"/>
          </a:xfrm>
          <a:custGeom>
            <a:avLst/>
            <a:gdLst/>
            <a:ahLst/>
            <a:cxnLst/>
            <a:rect l="l" t="t" r="r" b="b"/>
            <a:pathLst>
              <a:path w="190196" h="0">
                <a:moveTo>
                  <a:pt x="0" y="0"/>
                </a:moveTo>
                <a:lnTo>
                  <a:pt x="190196" y="0"/>
                </a:lnTo>
              </a:path>
            </a:pathLst>
          </a:custGeom>
          <a:noFill/>
          <a:ln w="15081" cap="rnd">
            <a:solidFill>
              <a:srgbClr val="3432C9"/>
            </a:solidFill>
            <a:round/>
          </a:ln>
          <a:effectLst/>
        </p:spPr>
        <p:txBody>
          <a:bodyPr rtlCol="0" anchor="ctr"/>
          <a:lstStyle/>
          <a:p>
            <a:pPr algn="ctr"/>
          </a:p>
        </p:txBody>
      </p:sp>
      <p:sp>
        <p:nvSpPr>
          <p:cNvPr id="46" name="Freeform 45"/>
          <p:cNvSpPr/>
          <p:nvPr/>
        </p:nvSpPr>
        <p:spPr>
          <a:xfrm>
            <a:off x="6578194" y="4187952"/>
            <a:ext cx="102412" cy="58522"/>
          </a:xfrm>
          <a:custGeom>
            <a:avLst/>
            <a:gdLst/>
            <a:ahLst/>
            <a:cxnLst/>
            <a:rect l="l" t="t" r="r" b="b"/>
            <a:pathLst>
              <a:path w="102412" h="58522">
                <a:moveTo>
                  <a:pt x="0" y="58522"/>
                </a:moveTo>
                <a:lnTo>
                  <a:pt x="25603" y="14630"/>
                </a:lnTo>
                <a:lnTo>
                  <a:pt x="51206" y="40234"/>
                </a:lnTo>
                <a:lnTo>
                  <a:pt x="76809" y="0"/>
                </a:lnTo>
                <a:lnTo>
                  <a:pt x="102412" y="58522"/>
                </a:lnTo>
              </a:path>
            </a:pathLst>
          </a:custGeom>
          <a:noFill/>
          <a:ln w="12700" cap="rnd">
            <a:solidFill>
              <a:srgbClr val="3432C9"/>
            </a:solidFill>
            <a:round/>
          </a:ln>
          <a:effectLst/>
        </p:spPr>
        <p:txBody>
          <a:bodyPr rtlCol="0" anchor="ctr"/>
          <a:lstStyle/>
          <a:p>
            <a:pPr algn="ctr"/>
          </a:p>
        </p:txBody>
      </p:sp>
      <p:sp>
        <p:nvSpPr>
          <p:cNvPr id="47" name="Freeform 46"/>
          <p:cNvSpPr/>
          <p:nvPr/>
        </p:nvSpPr>
        <p:spPr>
          <a:xfrm>
            <a:off x="6526987" y="4158691"/>
            <a:ext cx="204826" cy="204826"/>
          </a:xfrm>
          <a:custGeom>
            <a:avLst/>
            <a:gdLst/>
            <a:ahLst/>
            <a:cxnLst/>
            <a:rect l="l" t="t" r="r" b="b"/>
            <a:pathLst>
              <a:path w="204826" h="204826">
                <a:moveTo>
                  <a:pt x="0" y="204826"/>
                </a:moveTo>
                <a:lnTo>
                  <a:pt x="204826" y="0"/>
                </a:lnTo>
              </a:path>
            </a:pathLst>
          </a:custGeom>
          <a:noFill/>
          <a:ln w="19050" cap="rnd">
            <a:solidFill>
              <a:srgbClr val="3432C9"/>
            </a:solidFill>
            <a:round/>
          </a:ln>
          <a:effectLst/>
        </p:spPr>
        <p:txBody>
          <a:bodyPr rtlCol="0" anchor="ctr"/>
          <a:lstStyle/>
          <a:p>
            <a:pPr algn="ctr"/>
          </a:p>
        </p:txBody>
      </p:sp>
      <p:sp>
        <p:nvSpPr>
          <p:cNvPr id="48" name="TextBox 47"/>
          <p:cNvSpPr txBox="1"/>
          <p:nvPr/>
        </p:nvSpPr>
        <p:spPr>
          <a:xfrm>
            <a:off x="6967728" y="4023360"/>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Redução de acúmulo</a:t>
            </a:r>
          </a:p>
        </p:txBody>
      </p:sp>
      <p:sp>
        <p:nvSpPr>
          <p:cNvPr id="49" name="TextBox 48"/>
          <p:cNvSpPr txBox="1"/>
          <p:nvPr/>
        </p:nvSpPr>
        <p:spPr>
          <a:xfrm>
            <a:off x="6967728" y="4315968"/>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Montserrat"/>
              </a:rPr>
              <a:t>Sem estoque parado no espaço público.</a:t>
            </a:r>
          </a:p>
        </p:txBody>
      </p:sp>
      <p:cxnSp>
        <p:nvCxnSpPr>
          <p:cNvPr id="50" name="Connector 49"/>
          <p:cNvCxnSpPr/>
          <p:nvPr/>
        </p:nvCxnSpPr>
        <p:spPr>
          <a:xfrm>
            <a:off x="6446520" y="4882896"/>
            <a:ext cx="4983480" cy="0"/>
          </a:xfrm>
          <a:prstGeom prst="line">
            <a:avLst/>
          </a:prstGeom>
          <a:ln w="12700" cap="rnd">
            <a:solidFill>
              <a:srgbClr val="EDEFF8"/>
            </a:solidFill>
            <a:round/>
          </a:ln>
          <a:effectLst/>
        </p:spPr>
      </p:cxnSp>
      <p:sp>
        <p:nvSpPr>
          <p:cNvPr id="51" name="Freeform 50"/>
          <p:cNvSpPr/>
          <p:nvPr/>
        </p:nvSpPr>
        <p:spPr>
          <a:xfrm>
            <a:off x="6490411" y="5435194"/>
            <a:ext cx="277978" cy="0"/>
          </a:xfrm>
          <a:custGeom>
            <a:avLst/>
            <a:gdLst/>
            <a:ahLst/>
            <a:cxnLst/>
            <a:rect l="l" t="t" r="r" b="b"/>
            <a:pathLst>
              <a:path w="277978" h="0">
                <a:moveTo>
                  <a:pt x="0" y="0"/>
                </a:moveTo>
                <a:lnTo>
                  <a:pt x="277978" y="0"/>
                </a:lnTo>
              </a:path>
            </a:pathLst>
          </a:custGeom>
          <a:noFill/>
          <a:ln w="15875" cap="rnd">
            <a:solidFill>
              <a:srgbClr val="12A87B"/>
            </a:solidFill>
            <a:round/>
          </a:ln>
          <a:effectLst/>
        </p:spPr>
        <p:txBody>
          <a:bodyPr rtlCol="0" anchor="ctr"/>
          <a:lstStyle/>
          <a:p>
            <a:pPr algn="ctr"/>
          </a:p>
        </p:txBody>
      </p:sp>
      <p:sp>
        <p:nvSpPr>
          <p:cNvPr id="52" name="Freeform 51"/>
          <p:cNvSpPr/>
          <p:nvPr/>
        </p:nvSpPr>
        <p:spPr>
          <a:xfrm>
            <a:off x="6534302" y="5340096"/>
            <a:ext cx="43892" cy="95098"/>
          </a:xfrm>
          <a:custGeom>
            <a:avLst/>
            <a:gdLst/>
            <a:ahLst/>
            <a:cxnLst/>
            <a:rect l="l" t="t" r="r" b="b"/>
            <a:pathLst>
              <a:path w="43892" h="95098">
                <a:moveTo>
                  <a:pt x="0" y="95098"/>
                </a:moveTo>
                <a:lnTo>
                  <a:pt x="0" y="0"/>
                </a:lnTo>
                <a:lnTo>
                  <a:pt x="43892" y="0"/>
                </a:lnTo>
                <a:lnTo>
                  <a:pt x="43892" y="95098"/>
                </a:lnTo>
              </a:path>
            </a:pathLst>
          </a:custGeom>
          <a:noFill/>
          <a:ln w="13494" cap="rnd">
            <a:solidFill>
              <a:srgbClr val="12A87B"/>
            </a:solidFill>
            <a:round/>
          </a:ln>
          <a:effectLst/>
        </p:spPr>
        <p:txBody>
          <a:bodyPr rtlCol="0" anchor="ctr"/>
          <a:lstStyle/>
          <a:p>
            <a:pPr algn="ctr"/>
          </a:p>
        </p:txBody>
      </p:sp>
      <p:sp>
        <p:nvSpPr>
          <p:cNvPr id="53" name="Freeform 52"/>
          <p:cNvSpPr/>
          <p:nvPr/>
        </p:nvSpPr>
        <p:spPr>
          <a:xfrm>
            <a:off x="6607454" y="5274259"/>
            <a:ext cx="43892" cy="160935"/>
          </a:xfrm>
          <a:custGeom>
            <a:avLst/>
            <a:gdLst/>
            <a:ahLst/>
            <a:cxnLst/>
            <a:rect l="l" t="t" r="r" b="b"/>
            <a:pathLst>
              <a:path w="43892" h="160935">
                <a:moveTo>
                  <a:pt x="0" y="160935"/>
                </a:moveTo>
                <a:lnTo>
                  <a:pt x="0" y="0"/>
                </a:lnTo>
                <a:lnTo>
                  <a:pt x="43892" y="0"/>
                </a:lnTo>
                <a:lnTo>
                  <a:pt x="43892" y="160935"/>
                </a:lnTo>
              </a:path>
            </a:pathLst>
          </a:custGeom>
          <a:noFill/>
          <a:ln w="13494" cap="rnd">
            <a:solidFill>
              <a:srgbClr val="12A87B"/>
            </a:solidFill>
            <a:round/>
          </a:ln>
          <a:effectLst/>
        </p:spPr>
        <p:txBody>
          <a:bodyPr rtlCol="0" anchor="ctr"/>
          <a:lstStyle/>
          <a:p>
            <a:pPr algn="ctr"/>
          </a:p>
        </p:txBody>
      </p:sp>
      <p:sp>
        <p:nvSpPr>
          <p:cNvPr id="54" name="Freeform 53"/>
          <p:cNvSpPr/>
          <p:nvPr/>
        </p:nvSpPr>
        <p:spPr>
          <a:xfrm>
            <a:off x="6680606" y="5208422"/>
            <a:ext cx="43892" cy="226772"/>
          </a:xfrm>
          <a:custGeom>
            <a:avLst/>
            <a:gdLst/>
            <a:ahLst/>
            <a:cxnLst/>
            <a:rect l="l" t="t" r="r" b="b"/>
            <a:pathLst>
              <a:path w="43892" h="226772">
                <a:moveTo>
                  <a:pt x="0" y="226772"/>
                </a:moveTo>
                <a:lnTo>
                  <a:pt x="0" y="0"/>
                </a:lnTo>
                <a:lnTo>
                  <a:pt x="43892" y="0"/>
                </a:lnTo>
                <a:lnTo>
                  <a:pt x="43892" y="226772"/>
                </a:lnTo>
              </a:path>
            </a:pathLst>
          </a:custGeom>
          <a:noFill/>
          <a:ln w="13494" cap="rnd">
            <a:solidFill>
              <a:srgbClr val="12A87B"/>
            </a:solidFill>
            <a:round/>
          </a:ln>
          <a:effectLst/>
        </p:spPr>
        <p:txBody>
          <a:bodyPr rtlCol="0" anchor="ctr"/>
          <a:lstStyle/>
          <a:p>
            <a:pPr algn="ctr"/>
          </a:p>
        </p:txBody>
      </p:sp>
      <p:sp>
        <p:nvSpPr>
          <p:cNvPr id="55" name="Freeform 54"/>
          <p:cNvSpPr/>
          <p:nvPr/>
        </p:nvSpPr>
        <p:spPr>
          <a:xfrm>
            <a:off x="6739128" y="5230368"/>
            <a:ext cx="29261" cy="29261"/>
          </a:xfrm>
          <a:custGeom>
            <a:avLst/>
            <a:gdLst/>
            <a:ahLst/>
            <a:cxnLst/>
            <a:rect l="l" t="t" r="r" b="b"/>
            <a:pathLst>
              <a:path w="29261" h="29261">
                <a:moveTo>
                  <a:pt x="0" y="0"/>
                </a:moveTo>
                <a:lnTo>
                  <a:pt x="29261" y="0"/>
                </a:lnTo>
                <a:lnTo>
                  <a:pt x="29261" y="29261"/>
                </a:lnTo>
              </a:path>
            </a:pathLst>
          </a:custGeom>
          <a:noFill/>
          <a:ln w="14288" cap="rnd">
            <a:solidFill>
              <a:srgbClr val="12A87B"/>
            </a:solidFill>
            <a:round/>
          </a:ln>
          <a:effectLst/>
        </p:spPr>
        <p:txBody>
          <a:bodyPr rtlCol="0" anchor="ctr"/>
          <a:lstStyle/>
          <a:p>
            <a:pPr algn="ctr"/>
          </a:p>
        </p:txBody>
      </p:sp>
      <p:sp>
        <p:nvSpPr>
          <p:cNvPr id="56" name="Freeform 55"/>
          <p:cNvSpPr/>
          <p:nvPr/>
        </p:nvSpPr>
        <p:spPr>
          <a:xfrm>
            <a:off x="6665976" y="5230368"/>
            <a:ext cx="102413" cy="80467"/>
          </a:xfrm>
          <a:custGeom>
            <a:avLst/>
            <a:gdLst/>
            <a:ahLst/>
            <a:cxnLst/>
            <a:rect l="l" t="t" r="r" b="b"/>
            <a:pathLst>
              <a:path w="102413" h="80467">
                <a:moveTo>
                  <a:pt x="0" y="80467"/>
                </a:moveTo>
                <a:lnTo>
                  <a:pt x="102413" y="0"/>
                </a:lnTo>
              </a:path>
            </a:pathLst>
          </a:custGeom>
          <a:noFill/>
          <a:ln w="14288" cap="rnd">
            <a:solidFill>
              <a:srgbClr val="12A87B"/>
            </a:solidFill>
            <a:round/>
          </a:ln>
          <a:effectLst/>
        </p:spPr>
        <p:txBody>
          <a:bodyPr rtlCol="0" anchor="ctr"/>
          <a:lstStyle/>
          <a:p>
            <a:pPr algn="ctr"/>
          </a:p>
        </p:txBody>
      </p:sp>
      <p:sp>
        <p:nvSpPr>
          <p:cNvPr id="57" name="TextBox 56"/>
          <p:cNvSpPr txBox="1"/>
          <p:nvPr/>
        </p:nvSpPr>
        <p:spPr>
          <a:xfrm>
            <a:off x="6967728" y="5065776"/>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Maior eficiência operacional</a:t>
            </a:r>
          </a:p>
        </p:txBody>
      </p:sp>
      <p:sp>
        <p:nvSpPr>
          <p:cNvPr id="58" name="TextBox 57"/>
          <p:cNvSpPr txBox="1"/>
          <p:nvPr/>
        </p:nvSpPr>
        <p:spPr>
          <a:xfrm>
            <a:off x="6967728" y="5358384"/>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Montserrat"/>
              </a:rPr>
              <a:t>Giro constante entre entrada e destinação.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Destinação adequada</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Aterro Zero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11</a:t>
            </a:r>
          </a:p>
        </p:txBody>
      </p:sp>
      <p:sp>
        <p:nvSpPr>
          <p:cNvPr id="9" name="Rectangle 8"/>
          <p:cNvSpPr/>
          <p:nvPr/>
        </p:nvSpPr>
        <p:spPr>
          <a:xfrm>
            <a:off x="777240" y="1920240"/>
            <a:ext cx="3392424" cy="2615184"/>
          </a:xfrm>
          <a:prstGeom prst="rect">
            <a:avLst/>
          </a:prstGeom>
          <a:solidFill>
            <a:srgbClr val="F4F5FC"/>
          </a:solidFill>
          <a:ln w="12700" cap="rnd">
            <a:noFill/>
            <a:round/>
          </a:ln>
          <a:effectLst/>
        </p:spPr>
        <p:txBody>
          <a:bodyPr rtlCol="0" anchor="ctr"/>
          <a:lstStyle/>
          <a:p/>
        </p:txBody>
      </p:sp>
      <p:sp>
        <p:nvSpPr>
          <p:cNvPr id="10" name="Rectangle 9"/>
          <p:cNvSpPr/>
          <p:nvPr/>
        </p:nvSpPr>
        <p:spPr>
          <a:xfrm>
            <a:off x="777240" y="1920240"/>
            <a:ext cx="3392424" cy="50292"/>
          </a:xfrm>
          <a:prstGeom prst="rect">
            <a:avLst/>
          </a:prstGeom>
          <a:solidFill>
            <a:srgbClr val="3432C9"/>
          </a:solidFill>
          <a:ln w="12700" cap="rnd">
            <a:noFill/>
            <a:round/>
          </a:ln>
          <a:effectLst/>
        </p:spPr>
        <p:txBody>
          <a:bodyPr rtlCol="0" anchor="ctr"/>
          <a:lstStyle/>
          <a:p/>
        </p:txBody>
      </p:sp>
      <p:sp>
        <p:nvSpPr>
          <p:cNvPr id="11" name="Oval 10"/>
          <p:cNvSpPr/>
          <p:nvPr/>
        </p:nvSpPr>
        <p:spPr>
          <a:xfrm>
            <a:off x="1961388" y="2194560"/>
            <a:ext cx="1024128" cy="1024128"/>
          </a:xfrm>
          <a:prstGeom prst="ellipse">
            <a:avLst/>
          </a:prstGeom>
          <a:solidFill>
            <a:srgbClr val="FFFFFF"/>
          </a:solidFill>
          <a:ln w="12700" cap="rnd">
            <a:noFill/>
            <a:round/>
          </a:ln>
          <a:effectLst/>
        </p:spPr>
        <p:txBody>
          <a:bodyPr rtlCol="0" anchor="ctr"/>
          <a:lstStyle/>
          <a:p/>
        </p:txBody>
      </p:sp>
      <p:sp>
        <p:nvSpPr>
          <p:cNvPr id="12" name="Freeform 11"/>
          <p:cNvSpPr/>
          <p:nvPr/>
        </p:nvSpPr>
        <p:spPr>
          <a:xfrm>
            <a:off x="2249782" y="2621417"/>
            <a:ext cx="149113" cy="170414"/>
          </a:xfrm>
          <a:custGeom>
            <a:avLst/>
            <a:gdLst/>
            <a:ahLst/>
            <a:cxnLst/>
            <a:rect l="l" t="t" r="r" b="b"/>
            <a:pathLst>
              <a:path w="149113" h="170414">
                <a:moveTo>
                  <a:pt x="0" y="0"/>
                </a:moveTo>
                <a:lnTo>
                  <a:pt x="149113" y="0"/>
                </a:lnTo>
                <a:lnTo>
                  <a:pt x="149113" y="170414"/>
                </a:lnTo>
                <a:lnTo>
                  <a:pt x="0" y="170414"/>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2398895" y="2536209"/>
            <a:ext cx="276925" cy="170415"/>
          </a:xfrm>
          <a:custGeom>
            <a:avLst/>
            <a:gdLst/>
            <a:ahLst/>
            <a:cxnLst/>
            <a:rect l="l" t="t" r="r" b="b"/>
            <a:pathLst>
              <a:path w="276925" h="170415">
                <a:moveTo>
                  <a:pt x="0" y="170415"/>
                </a:moveTo>
                <a:lnTo>
                  <a:pt x="117161" y="76687"/>
                </a:lnTo>
                <a:lnTo>
                  <a:pt x="276925" y="0"/>
                </a:lnTo>
              </a:path>
            </a:pathLst>
          </a:custGeom>
          <a:noFill/>
          <a:ln w="11430" cap="rnd">
            <a:solidFill>
              <a:srgbClr val="3432C9"/>
            </a:solidFill>
            <a:round/>
          </a:ln>
          <a:effectLst/>
        </p:spPr>
        <p:txBody>
          <a:bodyPr rtlCol="0" anchor="ctr"/>
          <a:lstStyle/>
          <a:p>
            <a:pPr algn="ctr"/>
          </a:p>
        </p:txBody>
      </p:sp>
      <p:sp>
        <p:nvSpPr>
          <p:cNvPr id="14" name="Freeform 13"/>
          <p:cNvSpPr/>
          <p:nvPr/>
        </p:nvSpPr>
        <p:spPr>
          <a:xfrm>
            <a:off x="2398895" y="2610766"/>
            <a:ext cx="276925" cy="95858"/>
          </a:xfrm>
          <a:custGeom>
            <a:avLst/>
            <a:gdLst/>
            <a:ahLst/>
            <a:cxnLst/>
            <a:rect l="l" t="t" r="r" b="b"/>
            <a:pathLst>
              <a:path w="276925" h="95858">
                <a:moveTo>
                  <a:pt x="0" y="95858"/>
                </a:moveTo>
                <a:lnTo>
                  <a:pt x="117161" y="43136"/>
                </a:lnTo>
                <a:lnTo>
                  <a:pt x="276925" y="0"/>
                </a:lnTo>
              </a:path>
            </a:pathLst>
          </a:custGeom>
          <a:noFill/>
          <a:ln w="11430" cap="rnd">
            <a:solidFill>
              <a:srgbClr val="3432C9"/>
            </a:solidFill>
            <a:round/>
          </a:ln>
          <a:effectLst/>
        </p:spPr>
        <p:txBody>
          <a:bodyPr rtlCol="0" anchor="ctr"/>
          <a:lstStyle/>
          <a:p>
            <a:pPr algn="ctr"/>
          </a:p>
        </p:txBody>
      </p:sp>
      <p:sp>
        <p:nvSpPr>
          <p:cNvPr id="15" name="Freeform 14"/>
          <p:cNvSpPr/>
          <p:nvPr/>
        </p:nvSpPr>
        <p:spPr>
          <a:xfrm>
            <a:off x="2398895" y="2685322"/>
            <a:ext cx="276925" cy="21302"/>
          </a:xfrm>
          <a:custGeom>
            <a:avLst/>
            <a:gdLst/>
            <a:ahLst/>
            <a:cxnLst/>
            <a:rect l="l" t="t" r="r" b="b"/>
            <a:pathLst>
              <a:path w="276925" h="21302">
                <a:moveTo>
                  <a:pt x="0" y="21302"/>
                </a:moveTo>
                <a:lnTo>
                  <a:pt x="117161" y="9586"/>
                </a:lnTo>
                <a:lnTo>
                  <a:pt x="276925" y="0"/>
                </a:lnTo>
              </a:path>
            </a:pathLst>
          </a:custGeom>
          <a:noFill/>
          <a:ln w="11430" cap="rnd">
            <a:solidFill>
              <a:srgbClr val="3432C9"/>
            </a:solidFill>
            <a:round/>
          </a:ln>
          <a:effectLst/>
        </p:spPr>
        <p:txBody>
          <a:bodyPr rtlCol="0" anchor="ctr"/>
          <a:lstStyle/>
          <a:p>
            <a:pPr algn="ctr"/>
          </a:p>
        </p:txBody>
      </p:sp>
      <p:sp>
        <p:nvSpPr>
          <p:cNvPr id="16" name="Freeform 15"/>
          <p:cNvSpPr/>
          <p:nvPr/>
        </p:nvSpPr>
        <p:spPr>
          <a:xfrm>
            <a:off x="2398895" y="2706624"/>
            <a:ext cx="276925" cy="53255"/>
          </a:xfrm>
          <a:custGeom>
            <a:avLst/>
            <a:gdLst/>
            <a:ahLst/>
            <a:cxnLst/>
            <a:rect l="l" t="t" r="r" b="b"/>
            <a:pathLst>
              <a:path w="276925" h="53255">
                <a:moveTo>
                  <a:pt x="0" y="0"/>
                </a:moveTo>
                <a:lnTo>
                  <a:pt x="117161" y="29290"/>
                </a:lnTo>
                <a:lnTo>
                  <a:pt x="276925" y="53255"/>
                </a:lnTo>
              </a:path>
            </a:pathLst>
          </a:custGeom>
          <a:noFill/>
          <a:ln w="11430" cap="rnd">
            <a:solidFill>
              <a:srgbClr val="3432C9"/>
            </a:solidFill>
            <a:round/>
          </a:ln>
          <a:effectLst/>
        </p:spPr>
        <p:txBody>
          <a:bodyPr rtlCol="0" anchor="ctr"/>
          <a:lstStyle/>
          <a:p>
            <a:pPr algn="ctr"/>
          </a:p>
        </p:txBody>
      </p:sp>
      <p:sp>
        <p:nvSpPr>
          <p:cNvPr id="17" name="Freeform 16"/>
          <p:cNvSpPr/>
          <p:nvPr/>
        </p:nvSpPr>
        <p:spPr>
          <a:xfrm>
            <a:off x="2398895" y="2706624"/>
            <a:ext cx="276925" cy="127811"/>
          </a:xfrm>
          <a:custGeom>
            <a:avLst/>
            <a:gdLst/>
            <a:ahLst/>
            <a:cxnLst/>
            <a:rect l="l" t="t" r="r" b="b"/>
            <a:pathLst>
              <a:path w="276925" h="127811">
                <a:moveTo>
                  <a:pt x="0" y="0"/>
                </a:moveTo>
                <a:lnTo>
                  <a:pt x="117161" y="70296"/>
                </a:lnTo>
                <a:lnTo>
                  <a:pt x="276925" y="127811"/>
                </a:lnTo>
              </a:path>
            </a:pathLst>
          </a:custGeom>
          <a:noFill/>
          <a:ln w="11430" cap="rnd">
            <a:solidFill>
              <a:srgbClr val="3432C9"/>
            </a:solidFill>
            <a:round/>
          </a:ln>
          <a:effectLst/>
        </p:spPr>
        <p:txBody>
          <a:bodyPr rtlCol="0" anchor="ctr"/>
          <a:lstStyle/>
          <a:p>
            <a:pPr algn="ctr"/>
          </a:p>
        </p:txBody>
      </p:sp>
      <p:sp>
        <p:nvSpPr>
          <p:cNvPr id="18" name="Freeform 17"/>
          <p:cNvSpPr/>
          <p:nvPr/>
        </p:nvSpPr>
        <p:spPr>
          <a:xfrm>
            <a:off x="2398895" y="2706624"/>
            <a:ext cx="276925" cy="202368"/>
          </a:xfrm>
          <a:custGeom>
            <a:avLst/>
            <a:gdLst/>
            <a:ahLst/>
            <a:cxnLst/>
            <a:rect l="l" t="t" r="r" b="b"/>
            <a:pathLst>
              <a:path w="276925" h="202368">
                <a:moveTo>
                  <a:pt x="0" y="0"/>
                </a:moveTo>
                <a:lnTo>
                  <a:pt x="117161" y="111302"/>
                </a:lnTo>
                <a:lnTo>
                  <a:pt x="276925" y="202368"/>
                </a:lnTo>
              </a:path>
            </a:pathLst>
          </a:custGeom>
          <a:noFill/>
          <a:ln w="11430" cap="rnd">
            <a:solidFill>
              <a:srgbClr val="3432C9"/>
            </a:solidFill>
            <a:round/>
          </a:ln>
          <a:effectLst/>
        </p:spPr>
        <p:txBody>
          <a:bodyPr rtlCol="0" anchor="ctr"/>
          <a:lstStyle/>
          <a:p>
            <a:pPr algn="ctr"/>
          </a:p>
        </p:txBody>
      </p:sp>
      <p:sp>
        <p:nvSpPr>
          <p:cNvPr id="19" name="TextBox 18"/>
          <p:cNvSpPr txBox="1"/>
          <p:nvPr/>
        </p:nvSpPr>
        <p:spPr>
          <a:xfrm>
            <a:off x="1014983"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Desfibramento</a:t>
            </a:r>
          </a:p>
        </p:txBody>
      </p:sp>
      <p:sp>
        <p:nvSpPr>
          <p:cNvPr id="20" name="TextBox 19"/>
          <p:cNvSpPr txBox="1"/>
          <p:nvPr/>
        </p:nvSpPr>
        <p:spPr>
          <a:xfrm>
            <a:off x="1143000"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Montserrat"/>
              </a:rPr>
              <a:t>Recuperação de fibras têxteis para novos usos.</a:t>
            </a:r>
          </a:p>
        </p:txBody>
      </p:sp>
      <p:sp>
        <p:nvSpPr>
          <p:cNvPr id="21" name="Freeform 20"/>
          <p:cNvSpPr/>
          <p:nvPr/>
        </p:nvSpPr>
        <p:spPr>
          <a:xfrm>
            <a:off x="4206240" y="3227832"/>
            <a:ext cx="164592" cy="0"/>
          </a:xfrm>
          <a:custGeom>
            <a:avLst/>
            <a:gdLst/>
            <a:ahLst/>
            <a:cxnLst/>
            <a:rect l="l" t="t" r="r" b="b"/>
            <a:pathLst>
              <a:path w="164592" h="0">
                <a:moveTo>
                  <a:pt x="0" y="0"/>
                </a:moveTo>
                <a:lnTo>
                  <a:pt x="164592" y="0"/>
                </a:lnTo>
              </a:path>
            </a:pathLst>
          </a:custGeom>
          <a:noFill/>
          <a:ln w="12700" cap="rnd">
            <a:solidFill>
              <a:srgbClr val="9A9DB0"/>
            </a:solidFill>
            <a:round/>
          </a:ln>
          <a:effectLst/>
        </p:spPr>
        <p:txBody>
          <a:bodyPr rtlCol="0" anchor="ctr"/>
          <a:lstStyle/>
          <a:p>
            <a:pPr algn="ctr"/>
          </a:p>
        </p:txBody>
      </p:sp>
      <p:sp>
        <p:nvSpPr>
          <p:cNvPr id="22" name="Freeform 21"/>
          <p:cNvSpPr/>
          <p:nvPr/>
        </p:nvSpPr>
        <p:spPr>
          <a:xfrm>
            <a:off x="4310279" y="319563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23" name="Rectangle 22"/>
          <p:cNvSpPr/>
          <p:nvPr/>
        </p:nvSpPr>
        <p:spPr>
          <a:xfrm>
            <a:off x="4407407" y="1920240"/>
            <a:ext cx="3392424" cy="2615184"/>
          </a:xfrm>
          <a:prstGeom prst="rect">
            <a:avLst/>
          </a:prstGeom>
          <a:solidFill>
            <a:srgbClr val="F4F5FC"/>
          </a:solidFill>
          <a:ln w="12700" cap="rnd">
            <a:noFill/>
            <a:round/>
          </a:ln>
          <a:effectLst/>
        </p:spPr>
        <p:txBody>
          <a:bodyPr rtlCol="0" anchor="ctr"/>
          <a:lstStyle/>
          <a:p/>
        </p:txBody>
      </p:sp>
      <p:sp>
        <p:nvSpPr>
          <p:cNvPr id="24" name="Rectangle 23"/>
          <p:cNvSpPr/>
          <p:nvPr/>
        </p:nvSpPr>
        <p:spPr>
          <a:xfrm>
            <a:off x="4407407" y="1920240"/>
            <a:ext cx="3392424" cy="50292"/>
          </a:xfrm>
          <a:prstGeom prst="rect">
            <a:avLst/>
          </a:prstGeom>
          <a:solidFill>
            <a:srgbClr val="1E86C9"/>
          </a:solidFill>
          <a:ln w="12700" cap="rnd">
            <a:noFill/>
            <a:round/>
          </a:ln>
          <a:effectLst/>
        </p:spPr>
        <p:txBody>
          <a:bodyPr rtlCol="0" anchor="ctr"/>
          <a:lstStyle/>
          <a:p/>
        </p:txBody>
      </p:sp>
      <p:sp>
        <p:nvSpPr>
          <p:cNvPr id="25" name="Oval 24"/>
          <p:cNvSpPr/>
          <p:nvPr/>
        </p:nvSpPr>
        <p:spPr>
          <a:xfrm>
            <a:off x="5591555" y="2194560"/>
            <a:ext cx="1024128" cy="1024128"/>
          </a:xfrm>
          <a:prstGeom prst="ellipse">
            <a:avLst/>
          </a:prstGeom>
          <a:solidFill>
            <a:srgbClr val="FFFFFF"/>
          </a:solidFill>
          <a:ln w="12700" cap="rnd">
            <a:noFill/>
            <a:round/>
          </a:ln>
          <a:effectLst/>
        </p:spPr>
        <p:txBody>
          <a:bodyPr rtlCol="0" anchor="ctr"/>
          <a:lstStyle/>
          <a:p/>
        </p:txBody>
      </p:sp>
      <p:sp>
        <p:nvSpPr>
          <p:cNvPr id="26" name="Freeform 25"/>
          <p:cNvSpPr/>
          <p:nvPr/>
        </p:nvSpPr>
        <p:spPr>
          <a:xfrm>
            <a:off x="5986460" y="2482954"/>
            <a:ext cx="234320" cy="447340"/>
          </a:xfrm>
          <a:custGeom>
            <a:avLst/>
            <a:gdLst/>
            <a:ahLst/>
            <a:cxnLst/>
            <a:rect l="l" t="t" r="r" b="b"/>
            <a:pathLst>
              <a:path w="234320" h="447340">
                <a:moveTo>
                  <a:pt x="149113" y="0"/>
                </a:moveTo>
                <a:lnTo>
                  <a:pt x="0" y="234321"/>
                </a:lnTo>
                <a:lnTo>
                  <a:pt x="106509" y="234321"/>
                </a:lnTo>
                <a:lnTo>
                  <a:pt x="63905" y="447340"/>
                </a:lnTo>
                <a:lnTo>
                  <a:pt x="234320" y="191717"/>
                </a:lnTo>
                <a:lnTo>
                  <a:pt x="127811" y="191717"/>
                </a:lnTo>
                <a:lnTo>
                  <a:pt x="170415" y="0"/>
                </a:lnTo>
                <a:close/>
              </a:path>
            </a:pathLst>
          </a:custGeom>
          <a:noFill/>
          <a:ln w="15875" cap="rnd">
            <a:solidFill>
              <a:srgbClr val="1E86C9"/>
            </a:solidFill>
            <a:round/>
          </a:ln>
          <a:effectLst/>
        </p:spPr>
        <p:txBody>
          <a:bodyPr rtlCol="0" anchor="ctr"/>
          <a:lstStyle/>
          <a:p>
            <a:pPr algn="ctr"/>
          </a:p>
        </p:txBody>
      </p:sp>
      <p:sp>
        <p:nvSpPr>
          <p:cNvPr id="27" name="TextBox 26"/>
          <p:cNvSpPr txBox="1"/>
          <p:nvPr/>
        </p:nvSpPr>
        <p:spPr>
          <a:xfrm>
            <a:off x="4645151"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Coprocessamento</a:t>
            </a:r>
          </a:p>
        </p:txBody>
      </p:sp>
      <p:sp>
        <p:nvSpPr>
          <p:cNvPr id="28" name="TextBox 27"/>
          <p:cNvSpPr txBox="1"/>
          <p:nvPr/>
        </p:nvSpPr>
        <p:spPr>
          <a:xfrm>
            <a:off x="4773168"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Montserrat"/>
              </a:rPr>
              <a:t>Destinação energética em parceria com o município.</a:t>
            </a:r>
          </a:p>
        </p:txBody>
      </p:sp>
      <p:sp>
        <p:nvSpPr>
          <p:cNvPr id="29" name="Freeform 28"/>
          <p:cNvSpPr/>
          <p:nvPr/>
        </p:nvSpPr>
        <p:spPr>
          <a:xfrm>
            <a:off x="7836408" y="3227832"/>
            <a:ext cx="164592" cy="0"/>
          </a:xfrm>
          <a:custGeom>
            <a:avLst/>
            <a:gdLst/>
            <a:ahLst/>
            <a:cxnLst/>
            <a:rect l="l" t="t" r="r" b="b"/>
            <a:pathLst>
              <a:path w="164592" h="0">
                <a:moveTo>
                  <a:pt x="0" y="0"/>
                </a:moveTo>
                <a:lnTo>
                  <a:pt x="164592" y="0"/>
                </a:lnTo>
              </a:path>
            </a:pathLst>
          </a:custGeom>
          <a:noFill/>
          <a:ln w="12700" cap="rnd">
            <a:solidFill>
              <a:srgbClr val="9A9DB0"/>
            </a:solidFill>
            <a:round/>
          </a:ln>
          <a:effectLst/>
        </p:spPr>
        <p:txBody>
          <a:bodyPr rtlCol="0" anchor="ctr"/>
          <a:lstStyle/>
          <a:p>
            <a:pPr algn="ctr"/>
          </a:p>
        </p:txBody>
      </p:sp>
      <p:sp>
        <p:nvSpPr>
          <p:cNvPr id="30" name="Freeform 29"/>
          <p:cNvSpPr/>
          <p:nvPr/>
        </p:nvSpPr>
        <p:spPr>
          <a:xfrm>
            <a:off x="7940447" y="319563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31" name="Rectangle 30"/>
          <p:cNvSpPr/>
          <p:nvPr/>
        </p:nvSpPr>
        <p:spPr>
          <a:xfrm>
            <a:off x="8037575" y="1920240"/>
            <a:ext cx="3392424" cy="2615184"/>
          </a:xfrm>
          <a:prstGeom prst="rect">
            <a:avLst/>
          </a:prstGeom>
          <a:solidFill>
            <a:srgbClr val="F4F5FC"/>
          </a:solidFill>
          <a:ln w="12700" cap="rnd">
            <a:noFill/>
            <a:round/>
          </a:ln>
          <a:effectLst/>
        </p:spPr>
        <p:txBody>
          <a:bodyPr rtlCol="0" anchor="ctr"/>
          <a:lstStyle/>
          <a:p/>
        </p:txBody>
      </p:sp>
      <p:sp>
        <p:nvSpPr>
          <p:cNvPr id="32" name="Rectangle 31"/>
          <p:cNvSpPr/>
          <p:nvPr/>
        </p:nvSpPr>
        <p:spPr>
          <a:xfrm>
            <a:off x="8037575" y="1920240"/>
            <a:ext cx="3392424" cy="50292"/>
          </a:xfrm>
          <a:prstGeom prst="rect">
            <a:avLst/>
          </a:prstGeom>
          <a:solidFill>
            <a:srgbClr val="12A87B"/>
          </a:solidFill>
          <a:ln w="12700" cap="rnd">
            <a:noFill/>
            <a:round/>
          </a:ln>
          <a:effectLst/>
        </p:spPr>
        <p:txBody>
          <a:bodyPr rtlCol="0" anchor="ctr"/>
          <a:lstStyle/>
          <a:p/>
        </p:txBody>
      </p:sp>
      <p:sp>
        <p:nvSpPr>
          <p:cNvPr id="33" name="Oval 32"/>
          <p:cNvSpPr/>
          <p:nvPr/>
        </p:nvSpPr>
        <p:spPr>
          <a:xfrm>
            <a:off x="9221724" y="2194560"/>
            <a:ext cx="1024128" cy="1024128"/>
          </a:xfrm>
          <a:prstGeom prst="ellipse">
            <a:avLst/>
          </a:prstGeom>
          <a:solidFill>
            <a:srgbClr val="FFFFFF"/>
          </a:solidFill>
          <a:ln w="12700" cap="rnd">
            <a:noFill/>
            <a:round/>
          </a:ln>
          <a:effectLst/>
        </p:spPr>
        <p:txBody>
          <a:bodyPr rtlCol="0" anchor="ctr"/>
          <a:lstStyle/>
          <a:p/>
        </p:txBody>
      </p:sp>
      <p:sp>
        <p:nvSpPr>
          <p:cNvPr id="34" name="Freeform 33"/>
          <p:cNvSpPr/>
          <p:nvPr/>
        </p:nvSpPr>
        <p:spPr>
          <a:xfrm>
            <a:off x="9563429" y="2546880"/>
            <a:ext cx="324807" cy="340700"/>
          </a:xfrm>
          <a:custGeom>
            <a:avLst/>
            <a:gdLst/>
            <a:ahLst/>
            <a:cxnLst/>
            <a:rect l="l" t="t" r="r" b="b"/>
            <a:pathLst>
              <a:path w="324807" h="340700">
                <a:moveTo>
                  <a:pt x="268105" y="309991"/>
                </a:moveTo>
                <a:lnTo>
                  <a:pt x="247102" y="322552"/>
                </a:lnTo>
                <a:lnTo>
                  <a:pt x="224515" y="331976"/>
                </a:lnTo>
                <a:lnTo>
                  <a:pt x="200812" y="338067"/>
                </a:lnTo>
                <a:lnTo>
                  <a:pt x="176481" y="340700"/>
                </a:lnTo>
                <a:lnTo>
                  <a:pt x="152024" y="339821"/>
                </a:lnTo>
                <a:lnTo>
                  <a:pt x="127945" y="335447"/>
                </a:lnTo>
                <a:lnTo>
                  <a:pt x="104740" y="327670"/>
                </a:lnTo>
                <a:lnTo>
                  <a:pt x="82889" y="316649"/>
                </a:lnTo>
                <a:lnTo>
                  <a:pt x="62842" y="302612"/>
                </a:lnTo>
                <a:lnTo>
                  <a:pt x="45012" y="285848"/>
                </a:lnTo>
                <a:lnTo>
                  <a:pt x="29767" y="266703"/>
                </a:lnTo>
                <a:lnTo>
                  <a:pt x="17422" y="245571"/>
                </a:lnTo>
                <a:lnTo>
                  <a:pt x="8231" y="222890"/>
                </a:lnTo>
                <a:lnTo>
                  <a:pt x="2383" y="199125"/>
                </a:lnTo>
                <a:lnTo>
                  <a:pt x="0" y="174768"/>
                </a:lnTo>
                <a:lnTo>
                  <a:pt x="1130" y="150321"/>
                </a:lnTo>
                <a:lnTo>
                  <a:pt x="5751" y="126288"/>
                </a:lnTo>
                <a:lnTo>
                  <a:pt x="13766" y="103165"/>
                </a:lnTo>
                <a:lnTo>
                  <a:pt x="25011" y="81428"/>
                </a:lnTo>
                <a:lnTo>
                  <a:pt x="39253" y="61526"/>
                </a:lnTo>
                <a:lnTo>
                  <a:pt x="56199" y="43869"/>
                </a:lnTo>
                <a:lnTo>
                  <a:pt x="75500" y="28822"/>
                </a:lnTo>
                <a:lnTo>
                  <a:pt x="96757" y="16694"/>
                </a:lnTo>
                <a:lnTo>
                  <a:pt x="119532" y="7736"/>
                </a:lnTo>
                <a:lnTo>
                  <a:pt x="143355" y="2133"/>
                </a:lnTo>
                <a:lnTo>
                  <a:pt x="167735" y="0"/>
                </a:lnTo>
                <a:lnTo>
                  <a:pt x="192169" y="1381"/>
                </a:lnTo>
                <a:lnTo>
                  <a:pt x="216153" y="6248"/>
                </a:lnTo>
                <a:lnTo>
                  <a:pt x="239193" y="14500"/>
                </a:lnTo>
                <a:lnTo>
                  <a:pt x="260813" y="25968"/>
                </a:lnTo>
                <a:lnTo>
                  <a:pt x="280568" y="40414"/>
                </a:lnTo>
                <a:lnTo>
                  <a:pt x="298050" y="57540"/>
                </a:lnTo>
                <a:lnTo>
                  <a:pt x="312899" y="76994"/>
                </a:lnTo>
                <a:lnTo>
                  <a:pt x="324807" y="98374"/>
                </a:lnTo>
              </a:path>
            </a:pathLst>
          </a:custGeom>
          <a:noFill/>
          <a:ln w="15875" cap="rnd">
            <a:solidFill>
              <a:srgbClr val="12A87B"/>
            </a:solidFill>
            <a:round/>
          </a:ln>
          <a:effectLst/>
        </p:spPr>
        <p:txBody>
          <a:bodyPr rtlCol="0" anchor="ctr"/>
          <a:lstStyle/>
          <a:p>
            <a:pPr algn="ctr"/>
          </a:p>
        </p:txBody>
      </p:sp>
      <p:sp>
        <p:nvSpPr>
          <p:cNvPr id="35" name="Freeform 34"/>
          <p:cNvSpPr/>
          <p:nvPr/>
        </p:nvSpPr>
        <p:spPr>
          <a:xfrm>
            <a:off x="9830097" y="2576037"/>
            <a:ext cx="58139" cy="69217"/>
          </a:xfrm>
          <a:custGeom>
            <a:avLst/>
            <a:gdLst/>
            <a:ahLst/>
            <a:cxnLst/>
            <a:rect l="l" t="t" r="r" b="b"/>
            <a:pathLst>
              <a:path w="58139" h="69217">
                <a:moveTo>
                  <a:pt x="58139" y="69217"/>
                </a:moveTo>
                <a:lnTo>
                  <a:pt x="0" y="31631"/>
                </a:lnTo>
                <a:lnTo>
                  <a:pt x="56789" y="0"/>
                </a:lnTo>
                <a:close/>
              </a:path>
            </a:pathLst>
          </a:custGeom>
          <a:solidFill>
            <a:srgbClr val="12A87B"/>
          </a:solidFill>
          <a:ln w="9525" cap="rnd">
            <a:solidFill>
              <a:srgbClr val="12A87B"/>
            </a:solidFill>
            <a:round/>
          </a:ln>
          <a:effectLst/>
        </p:spPr>
        <p:txBody>
          <a:bodyPr rtlCol="0" anchor="ctr"/>
          <a:lstStyle/>
          <a:p>
            <a:pPr algn="ctr"/>
          </a:p>
        </p:txBody>
      </p:sp>
      <p:sp>
        <p:nvSpPr>
          <p:cNvPr id="36" name="Freeform 35"/>
          <p:cNvSpPr/>
          <p:nvPr/>
        </p:nvSpPr>
        <p:spPr>
          <a:xfrm>
            <a:off x="9648581" y="2653369"/>
            <a:ext cx="170414" cy="106510"/>
          </a:xfrm>
          <a:custGeom>
            <a:avLst/>
            <a:gdLst/>
            <a:ahLst/>
            <a:cxnLst/>
            <a:rect l="l" t="t" r="r" b="b"/>
            <a:pathLst>
              <a:path w="170414" h="106510">
                <a:moveTo>
                  <a:pt x="0" y="106510"/>
                </a:moveTo>
                <a:lnTo>
                  <a:pt x="85207" y="0"/>
                </a:lnTo>
                <a:lnTo>
                  <a:pt x="170414" y="106510"/>
                </a:lnTo>
              </a:path>
            </a:pathLst>
          </a:custGeom>
          <a:noFill/>
          <a:ln w="16669" cap="rnd">
            <a:solidFill>
              <a:srgbClr val="12A87B"/>
            </a:solidFill>
            <a:round/>
          </a:ln>
          <a:effectLst/>
        </p:spPr>
        <p:txBody>
          <a:bodyPr rtlCol="0" anchor="ctr"/>
          <a:lstStyle/>
          <a:p>
            <a:pPr algn="ctr"/>
          </a:p>
        </p:txBody>
      </p:sp>
      <p:sp>
        <p:nvSpPr>
          <p:cNvPr id="37" name="Freeform 36"/>
          <p:cNvSpPr/>
          <p:nvPr/>
        </p:nvSpPr>
        <p:spPr>
          <a:xfrm>
            <a:off x="9733788" y="2653369"/>
            <a:ext cx="0" cy="181066"/>
          </a:xfrm>
          <a:custGeom>
            <a:avLst/>
            <a:gdLst/>
            <a:ahLst/>
            <a:cxnLst/>
            <a:rect l="l" t="t" r="r" b="b"/>
            <a:pathLst>
              <a:path w="0" h="181066">
                <a:moveTo>
                  <a:pt x="0" y="0"/>
                </a:moveTo>
                <a:lnTo>
                  <a:pt x="0" y="181066"/>
                </a:lnTo>
              </a:path>
            </a:pathLst>
          </a:custGeom>
          <a:noFill/>
          <a:ln w="16669" cap="rnd">
            <a:solidFill>
              <a:srgbClr val="12A87B"/>
            </a:solidFill>
            <a:round/>
          </a:ln>
          <a:effectLst/>
        </p:spPr>
        <p:txBody>
          <a:bodyPr rtlCol="0" anchor="ctr"/>
          <a:lstStyle/>
          <a:p>
            <a:pPr algn="ctr"/>
          </a:p>
        </p:txBody>
      </p:sp>
      <p:sp>
        <p:nvSpPr>
          <p:cNvPr id="38" name="TextBox 37"/>
          <p:cNvSpPr txBox="1"/>
          <p:nvPr/>
        </p:nvSpPr>
        <p:spPr>
          <a:xfrm>
            <a:off x="8275319"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Upcycle</a:t>
            </a:r>
          </a:p>
        </p:txBody>
      </p:sp>
      <p:sp>
        <p:nvSpPr>
          <p:cNvPr id="39" name="TextBox 38"/>
          <p:cNvSpPr txBox="1"/>
          <p:nvPr/>
        </p:nvSpPr>
        <p:spPr>
          <a:xfrm>
            <a:off x="8403336"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Montserrat"/>
              </a:rPr>
              <a:t>Transformação de resíduos em produtos de maior valor agregado.</a:t>
            </a:r>
          </a:p>
        </p:txBody>
      </p:sp>
      <p:cxnSp>
        <p:nvCxnSpPr>
          <p:cNvPr id="40" name="Connector 39"/>
          <p:cNvCxnSpPr/>
          <p:nvPr/>
        </p:nvCxnSpPr>
        <p:spPr>
          <a:xfrm>
            <a:off x="777240" y="5047488"/>
            <a:ext cx="10637489" cy="0"/>
          </a:xfrm>
          <a:prstGeom prst="line">
            <a:avLst/>
          </a:prstGeom>
          <a:ln w="12700" cap="rnd">
            <a:solidFill>
              <a:srgbClr val="DFE2F0"/>
            </a:solidFill>
            <a:round/>
          </a:ln>
          <a:effectLst/>
        </p:spPr>
      </p:cxnSp>
      <p:sp>
        <p:nvSpPr>
          <p:cNvPr id="41" name="Freeform 40"/>
          <p:cNvSpPr/>
          <p:nvPr/>
        </p:nvSpPr>
        <p:spPr>
          <a:xfrm>
            <a:off x="1051510" y="5394069"/>
            <a:ext cx="109129" cy="189018"/>
          </a:xfrm>
          <a:custGeom>
            <a:avLst/>
            <a:gdLst/>
            <a:ahLst/>
            <a:cxnLst/>
            <a:rect l="l" t="t" r="r" b="b"/>
            <a:pathLst>
              <a:path w="109129" h="189018">
                <a:moveTo>
                  <a:pt x="0" y="0"/>
                </a:moveTo>
                <a:lnTo>
                  <a:pt x="109129" y="189018"/>
                </a:lnTo>
              </a:path>
            </a:pathLst>
          </a:custGeom>
          <a:noFill/>
          <a:ln w="15875" cap="rnd">
            <a:solidFill>
              <a:srgbClr val="3432C9"/>
            </a:solidFill>
            <a:round/>
          </a:ln>
          <a:effectLst/>
        </p:spPr>
        <p:txBody>
          <a:bodyPr rtlCol="0" anchor="ctr"/>
          <a:lstStyle/>
          <a:p>
            <a:pPr algn="ctr"/>
          </a:p>
        </p:txBody>
      </p:sp>
      <p:sp>
        <p:nvSpPr>
          <p:cNvPr id="42" name="Freeform 41"/>
          <p:cNvSpPr/>
          <p:nvPr/>
        </p:nvSpPr>
        <p:spPr>
          <a:xfrm>
            <a:off x="1111165" y="5524784"/>
            <a:ext cx="49474" cy="58303"/>
          </a:xfrm>
          <a:custGeom>
            <a:avLst/>
            <a:gdLst/>
            <a:ahLst/>
            <a:cxnLst/>
            <a:rect l="l" t="t" r="r" b="b"/>
            <a:pathLst>
              <a:path w="49474" h="58303">
                <a:moveTo>
                  <a:pt x="49474" y="58303"/>
                </a:moveTo>
                <a:lnTo>
                  <a:pt x="0" y="27388"/>
                </a:lnTo>
                <a:lnTo>
                  <a:pt x="47438" y="0"/>
                </a:lnTo>
                <a:close/>
              </a:path>
            </a:pathLst>
          </a:custGeom>
          <a:solidFill>
            <a:srgbClr val="3432C9"/>
          </a:solidFill>
          <a:ln w="9525" cap="rnd">
            <a:solidFill>
              <a:srgbClr val="3432C9"/>
            </a:solidFill>
            <a:round/>
          </a:ln>
          <a:effectLst/>
        </p:spPr>
        <p:txBody>
          <a:bodyPr rtlCol="0" anchor="ctr"/>
          <a:lstStyle/>
          <a:p>
            <a:pPr algn="ctr"/>
          </a:p>
        </p:txBody>
      </p:sp>
      <p:sp>
        <p:nvSpPr>
          <p:cNvPr id="43" name="Freeform 42"/>
          <p:cNvSpPr/>
          <p:nvPr/>
        </p:nvSpPr>
        <p:spPr>
          <a:xfrm>
            <a:off x="957538" y="5640842"/>
            <a:ext cx="218258" cy="0"/>
          </a:xfrm>
          <a:custGeom>
            <a:avLst/>
            <a:gdLst/>
            <a:ahLst/>
            <a:cxnLst/>
            <a:rect l="l" t="t" r="r" b="b"/>
            <a:pathLst>
              <a:path w="218258" h="0">
                <a:moveTo>
                  <a:pt x="218258" y="0"/>
                </a:moveTo>
                <a:lnTo>
                  <a:pt x="0" y="0"/>
                </a:lnTo>
              </a:path>
            </a:pathLst>
          </a:custGeom>
          <a:noFill/>
          <a:ln w="15875" cap="rnd">
            <a:solidFill>
              <a:srgbClr val="3432C9"/>
            </a:solidFill>
            <a:round/>
          </a:ln>
          <a:effectLst/>
        </p:spPr>
        <p:txBody>
          <a:bodyPr rtlCol="0" anchor="ctr"/>
          <a:lstStyle/>
          <a:p>
            <a:pPr algn="ctr"/>
          </a:p>
        </p:txBody>
      </p:sp>
      <p:sp>
        <p:nvSpPr>
          <p:cNvPr id="44" name="Freeform 43"/>
          <p:cNvSpPr/>
          <p:nvPr/>
        </p:nvSpPr>
        <p:spPr>
          <a:xfrm>
            <a:off x="957538" y="5613454"/>
            <a:ext cx="51510" cy="54777"/>
          </a:xfrm>
          <a:custGeom>
            <a:avLst/>
            <a:gdLst/>
            <a:ahLst/>
            <a:cxnLst/>
            <a:rect l="l" t="t" r="r" b="b"/>
            <a:pathLst>
              <a:path w="51510" h="54777">
                <a:moveTo>
                  <a:pt x="0" y="27388"/>
                </a:moveTo>
                <a:lnTo>
                  <a:pt x="51510" y="0"/>
                </a:lnTo>
                <a:lnTo>
                  <a:pt x="51510" y="54777"/>
                </a:lnTo>
                <a:close/>
              </a:path>
            </a:pathLst>
          </a:custGeom>
          <a:solidFill>
            <a:srgbClr val="3432C9"/>
          </a:solidFill>
          <a:ln w="9525" cap="rnd">
            <a:solidFill>
              <a:srgbClr val="3432C9"/>
            </a:solidFill>
            <a:round/>
          </a:ln>
          <a:effectLst/>
        </p:spPr>
        <p:txBody>
          <a:bodyPr rtlCol="0" anchor="ctr"/>
          <a:lstStyle/>
          <a:p>
            <a:pPr algn="ctr"/>
          </a:p>
        </p:txBody>
      </p:sp>
      <p:sp>
        <p:nvSpPr>
          <p:cNvPr id="45" name="Freeform 44"/>
          <p:cNvSpPr/>
          <p:nvPr/>
        </p:nvSpPr>
        <p:spPr>
          <a:xfrm>
            <a:off x="899942" y="5436073"/>
            <a:ext cx="109129" cy="189018"/>
          </a:xfrm>
          <a:custGeom>
            <a:avLst/>
            <a:gdLst/>
            <a:ahLst/>
            <a:cxnLst/>
            <a:rect l="l" t="t" r="r" b="b"/>
            <a:pathLst>
              <a:path w="109129" h="189018">
                <a:moveTo>
                  <a:pt x="0" y="189018"/>
                </a:moveTo>
                <a:lnTo>
                  <a:pt x="109129" y="0"/>
                </a:lnTo>
              </a:path>
            </a:pathLst>
          </a:custGeom>
          <a:noFill/>
          <a:ln w="15875" cap="rnd">
            <a:solidFill>
              <a:srgbClr val="3432C9"/>
            </a:solidFill>
            <a:round/>
          </a:ln>
          <a:effectLst/>
        </p:spPr>
        <p:txBody>
          <a:bodyPr rtlCol="0" anchor="ctr"/>
          <a:lstStyle/>
          <a:p>
            <a:pPr algn="ctr"/>
          </a:p>
        </p:txBody>
      </p:sp>
      <p:sp>
        <p:nvSpPr>
          <p:cNvPr id="46" name="Freeform 45"/>
          <p:cNvSpPr/>
          <p:nvPr/>
        </p:nvSpPr>
        <p:spPr>
          <a:xfrm>
            <a:off x="959597" y="5436073"/>
            <a:ext cx="49474" cy="58303"/>
          </a:xfrm>
          <a:custGeom>
            <a:avLst/>
            <a:gdLst/>
            <a:ahLst/>
            <a:cxnLst/>
            <a:rect l="l" t="t" r="r" b="b"/>
            <a:pathLst>
              <a:path w="49474" h="58303">
                <a:moveTo>
                  <a:pt x="49474" y="0"/>
                </a:moveTo>
                <a:lnTo>
                  <a:pt x="47438" y="58303"/>
                </a:lnTo>
                <a:lnTo>
                  <a:pt x="0" y="30915"/>
                </a:lnTo>
                <a:close/>
              </a:path>
            </a:pathLst>
          </a:custGeom>
          <a:solidFill>
            <a:srgbClr val="3432C9"/>
          </a:solidFill>
          <a:ln w="9525" cap="rnd">
            <a:solidFill>
              <a:srgbClr val="3432C9"/>
            </a:solidFill>
            <a:round/>
          </a:ln>
          <a:effectLst/>
        </p:spPr>
        <p:txBody>
          <a:bodyPr rtlCol="0" anchor="ctr"/>
          <a:lstStyle/>
          <a:p>
            <a:pPr algn="ctr"/>
          </a:p>
        </p:txBody>
      </p:sp>
      <p:sp>
        <p:nvSpPr>
          <p:cNvPr id="47" name="TextBox 46"/>
          <p:cNvSpPr txBox="1"/>
          <p:nvPr/>
        </p:nvSpPr>
        <p:spPr>
          <a:xfrm>
            <a:off x="1527048" y="5248656"/>
            <a:ext cx="8229600" cy="640080"/>
          </a:xfrm>
          <a:prstGeom prst="rect">
            <a:avLst/>
          </a:prstGeom>
          <a:noFill/>
          <a:effectLst/>
        </p:spPr>
        <p:txBody>
          <a:bodyPr wrap="square" lIns="0" rIns="0" tIns="0" bIns="0" anchor="t">
            <a:spAutoFit/>
          </a:bodyPr>
          <a:lstStyle/>
          <a:p>
            <a:pPr algn="l">
              <a:lnSpc>
                <a:spcPct val="110000"/>
              </a:lnSpc>
            </a:pPr>
            <a:r>
              <a:rPr sz="1900" b="0" i="0">
                <a:solidFill>
                  <a:srgbClr val="3432C9"/>
                </a:solidFill>
                <a:latin typeface="Montserrat SemiBold"/>
              </a:rPr>
              <a:t>Máximo aproveitamento dos materiais</a:t>
            </a:r>
          </a:p>
        </p:txBody>
      </p:sp>
      <p:sp>
        <p:nvSpPr>
          <p:cNvPr id="48" name="TextBox 47"/>
          <p:cNvSpPr txBox="1"/>
          <p:nvPr/>
        </p:nvSpPr>
        <p:spPr>
          <a:xfrm>
            <a:off x="1527048" y="5669280"/>
            <a:ext cx="8229600" cy="274320"/>
          </a:xfrm>
          <a:prstGeom prst="rect">
            <a:avLst/>
          </a:prstGeom>
          <a:noFill/>
          <a:effectLst/>
        </p:spPr>
        <p:txBody>
          <a:bodyPr wrap="square" lIns="0" rIns="0" tIns="0" bIns="0" anchor="t">
            <a:spAutoFit/>
          </a:bodyPr>
          <a:lstStyle/>
          <a:p>
            <a:pPr algn="l">
              <a:lnSpc>
                <a:spcPct val="135000"/>
              </a:lnSpc>
            </a:pPr>
            <a:r>
              <a:rPr sz="960" b="0" i="0">
                <a:solidFill>
                  <a:srgbClr val="6E7288"/>
                </a:solidFill>
                <a:latin typeface="Montserrat"/>
              </a:rPr>
              <a:t>Nenhuma fração destinada a aterro sanitário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Benefícios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Benefícios para São Paulo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12</a:t>
            </a:r>
          </a:p>
        </p:txBody>
      </p:sp>
      <p:sp>
        <p:nvSpPr>
          <p:cNvPr id="9" name="Rectangle 8"/>
          <p:cNvSpPr/>
          <p:nvPr/>
        </p:nvSpPr>
        <p:spPr>
          <a:xfrm>
            <a:off x="777240"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901952"/>
            <a:ext cx="29260" cy="1792224"/>
          </a:xfrm>
          <a:prstGeom prst="rect">
            <a:avLst/>
          </a:prstGeom>
          <a:solidFill>
            <a:srgbClr val="3432C9"/>
          </a:solidFill>
          <a:ln w="12700" cap="rnd">
            <a:noFill/>
            <a:round/>
          </a:ln>
          <a:effectLst/>
        </p:spPr>
        <p:txBody>
          <a:bodyPr rtlCol="0" anchor="ctr"/>
          <a:lstStyle/>
          <a:p/>
        </p:txBody>
      </p:sp>
      <p:sp>
        <p:nvSpPr>
          <p:cNvPr id="11" name="Oval 10"/>
          <p:cNvSpPr/>
          <p:nvPr/>
        </p:nvSpPr>
        <p:spPr>
          <a:xfrm>
            <a:off x="1058875" y="2165299"/>
            <a:ext cx="314553" cy="314553"/>
          </a:xfrm>
          <a:prstGeom prst="ellipse">
            <a:avLst/>
          </a:prstGeom>
          <a:noFill/>
          <a:ln w="15875" cap="rnd">
            <a:solidFill>
              <a:srgbClr val="3432C9"/>
            </a:solidFill>
            <a:round/>
          </a:ln>
          <a:effectLst/>
        </p:spPr>
        <p:txBody>
          <a:bodyPr rtlCol="0" anchor="ctr"/>
          <a:lstStyle/>
          <a:p/>
        </p:txBody>
      </p:sp>
      <p:sp>
        <p:nvSpPr>
          <p:cNvPr id="12" name="Freeform 11"/>
          <p:cNvSpPr/>
          <p:nvPr/>
        </p:nvSpPr>
        <p:spPr>
          <a:xfrm>
            <a:off x="1135685" y="2307946"/>
            <a:ext cx="160934" cy="87782"/>
          </a:xfrm>
          <a:custGeom>
            <a:avLst/>
            <a:gdLst/>
            <a:ahLst/>
            <a:cxnLst/>
            <a:rect l="l" t="t" r="r" b="b"/>
            <a:pathLst>
              <a:path w="160934" h="87782">
                <a:moveTo>
                  <a:pt x="0" y="0"/>
                </a:moveTo>
                <a:lnTo>
                  <a:pt x="160934" y="0"/>
                </a:lnTo>
                <a:lnTo>
                  <a:pt x="138989" y="87782"/>
                </a:lnTo>
                <a:lnTo>
                  <a:pt x="21945" y="87782"/>
                </a:lnTo>
                <a:close/>
              </a:path>
            </a:pathLst>
          </a:custGeom>
          <a:noFill/>
          <a:ln w="15081" cap="rnd">
            <a:solidFill>
              <a:srgbClr val="3432C9"/>
            </a:solidFill>
            <a:round/>
          </a:ln>
          <a:effectLst/>
        </p:spPr>
        <p:txBody>
          <a:bodyPr rtlCol="0" anchor="ctr"/>
          <a:lstStyle/>
          <a:p>
            <a:pPr algn="ctr"/>
          </a:p>
        </p:txBody>
      </p:sp>
      <p:sp>
        <p:nvSpPr>
          <p:cNvPr id="13" name="Freeform 12"/>
          <p:cNvSpPr/>
          <p:nvPr/>
        </p:nvSpPr>
        <p:spPr>
          <a:xfrm>
            <a:off x="1121054" y="2307946"/>
            <a:ext cx="190196" cy="0"/>
          </a:xfrm>
          <a:custGeom>
            <a:avLst/>
            <a:gdLst/>
            <a:ahLst/>
            <a:cxnLst/>
            <a:rect l="l" t="t" r="r" b="b"/>
            <a:pathLst>
              <a:path w="190196" h="0">
                <a:moveTo>
                  <a:pt x="0" y="0"/>
                </a:moveTo>
                <a:lnTo>
                  <a:pt x="190196" y="0"/>
                </a:lnTo>
              </a:path>
            </a:pathLst>
          </a:custGeom>
          <a:noFill/>
          <a:ln w="15081" cap="rnd">
            <a:solidFill>
              <a:srgbClr val="3432C9"/>
            </a:solidFill>
            <a:round/>
          </a:ln>
          <a:effectLst/>
        </p:spPr>
        <p:txBody>
          <a:bodyPr rtlCol="0" anchor="ctr"/>
          <a:lstStyle/>
          <a:p>
            <a:pPr algn="ctr"/>
          </a:p>
        </p:txBody>
      </p:sp>
      <p:sp>
        <p:nvSpPr>
          <p:cNvPr id="14" name="Freeform 13"/>
          <p:cNvSpPr/>
          <p:nvPr/>
        </p:nvSpPr>
        <p:spPr>
          <a:xfrm>
            <a:off x="1164946" y="2249424"/>
            <a:ext cx="102412" cy="58522"/>
          </a:xfrm>
          <a:custGeom>
            <a:avLst/>
            <a:gdLst/>
            <a:ahLst/>
            <a:cxnLst/>
            <a:rect l="l" t="t" r="r" b="b"/>
            <a:pathLst>
              <a:path w="102412" h="58522">
                <a:moveTo>
                  <a:pt x="0" y="58522"/>
                </a:moveTo>
                <a:lnTo>
                  <a:pt x="25603" y="14630"/>
                </a:lnTo>
                <a:lnTo>
                  <a:pt x="51206" y="40234"/>
                </a:lnTo>
                <a:lnTo>
                  <a:pt x="76809" y="0"/>
                </a:lnTo>
                <a:lnTo>
                  <a:pt x="102412" y="58522"/>
                </a:lnTo>
              </a:path>
            </a:pathLst>
          </a:custGeom>
          <a:noFill/>
          <a:ln w="12700" cap="rnd">
            <a:solidFill>
              <a:srgbClr val="3432C9"/>
            </a:solidFill>
            <a:round/>
          </a:ln>
          <a:effectLst/>
        </p:spPr>
        <p:txBody>
          <a:bodyPr rtlCol="0" anchor="ctr"/>
          <a:lstStyle/>
          <a:p>
            <a:pPr algn="ctr"/>
          </a:p>
        </p:txBody>
      </p:sp>
      <p:sp>
        <p:nvSpPr>
          <p:cNvPr id="15" name="Freeform 14"/>
          <p:cNvSpPr/>
          <p:nvPr/>
        </p:nvSpPr>
        <p:spPr>
          <a:xfrm>
            <a:off x="1113739" y="2220163"/>
            <a:ext cx="204826" cy="204826"/>
          </a:xfrm>
          <a:custGeom>
            <a:avLst/>
            <a:gdLst/>
            <a:ahLst/>
            <a:cxnLst/>
            <a:rect l="l" t="t" r="r" b="b"/>
            <a:pathLst>
              <a:path w="204826" h="204826">
                <a:moveTo>
                  <a:pt x="0" y="204826"/>
                </a:moveTo>
                <a:lnTo>
                  <a:pt x="204826" y="0"/>
                </a:lnTo>
              </a:path>
            </a:pathLst>
          </a:custGeom>
          <a:noFill/>
          <a:ln w="19050" cap="rnd">
            <a:solidFill>
              <a:srgbClr val="3432C9"/>
            </a:solidFill>
            <a:round/>
          </a:ln>
          <a:effectLst/>
        </p:spPr>
        <p:txBody>
          <a:bodyPr rtlCol="0" anchor="ctr"/>
          <a:lstStyle/>
          <a:p>
            <a:pPr algn="ctr"/>
          </a:p>
        </p:txBody>
      </p:sp>
      <p:sp>
        <p:nvSpPr>
          <p:cNvPr id="16" name="TextBox 15"/>
          <p:cNvSpPr txBox="1"/>
          <p:nvPr/>
        </p:nvSpPr>
        <p:spPr>
          <a:xfrm>
            <a:off x="1033271"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Redução do envio para aterros</a:t>
            </a:r>
          </a:p>
        </p:txBody>
      </p:sp>
      <p:sp>
        <p:nvSpPr>
          <p:cNvPr id="17" name="TextBox 16"/>
          <p:cNvSpPr txBox="1"/>
          <p:nvPr/>
        </p:nvSpPr>
        <p:spPr>
          <a:xfrm>
            <a:off x="1033271"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Menor pressão sobre a disposição final.</a:t>
            </a:r>
          </a:p>
        </p:txBody>
      </p:sp>
      <p:sp>
        <p:nvSpPr>
          <p:cNvPr id="18" name="Rectangle 17"/>
          <p:cNvSpPr/>
          <p:nvPr/>
        </p:nvSpPr>
        <p:spPr>
          <a:xfrm>
            <a:off x="4407407"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19" name="Rectangle 18"/>
          <p:cNvSpPr/>
          <p:nvPr/>
        </p:nvSpPr>
        <p:spPr>
          <a:xfrm>
            <a:off x="4407407" y="1901952"/>
            <a:ext cx="29260" cy="1792224"/>
          </a:xfrm>
          <a:prstGeom prst="rect">
            <a:avLst/>
          </a:prstGeom>
          <a:solidFill>
            <a:srgbClr val="3432C9"/>
          </a:solidFill>
          <a:ln w="12700" cap="rnd">
            <a:noFill/>
            <a:round/>
          </a:ln>
          <a:effectLst/>
        </p:spPr>
        <p:txBody>
          <a:bodyPr rtlCol="0" anchor="ctr"/>
          <a:lstStyle/>
          <a:p/>
        </p:txBody>
      </p:sp>
      <p:sp>
        <p:nvSpPr>
          <p:cNvPr id="20" name="Freeform 19"/>
          <p:cNvSpPr/>
          <p:nvPr/>
        </p:nvSpPr>
        <p:spPr>
          <a:xfrm>
            <a:off x="4802475" y="2230345"/>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3432C9"/>
            </a:solidFill>
            <a:round/>
          </a:ln>
          <a:effectLst/>
        </p:spPr>
        <p:txBody>
          <a:bodyPr rtlCol="0" anchor="ctr"/>
          <a:lstStyle/>
          <a:p>
            <a:pPr algn="ctr"/>
          </a:p>
        </p:txBody>
      </p:sp>
      <p:sp>
        <p:nvSpPr>
          <p:cNvPr id="21" name="Freeform 20"/>
          <p:cNvSpPr/>
          <p:nvPr/>
        </p:nvSpPr>
        <p:spPr>
          <a:xfrm>
            <a:off x="4802475" y="2420545"/>
            <a:ext cx="68689" cy="61597"/>
          </a:xfrm>
          <a:custGeom>
            <a:avLst/>
            <a:gdLst/>
            <a:ahLst/>
            <a:cxnLst/>
            <a:rect l="l" t="t" r="r" b="b"/>
            <a:pathLst>
              <a:path w="68689" h="61597">
                <a:moveTo>
                  <a:pt x="0" y="10552"/>
                </a:moveTo>
                <a:lnTo>
                  <a:pt x="68689" y="0"/>
                </a:lnTo>
                <a:lnTo>
                  <a:pt x="47158" y="61597"/>
                </a:lnTo>
                <a:close/>
              </a:path>
            </a:pathLst>
          </a:custGeom>
          <a:solidFill>
            <a:srgbClr val="3432C9"/>
          </a:solidFill>
          <a:ln w="9525" cap="rnd">
            <a:solidFill>
              <a:srgbClr val="3432C9"/>
            </a:solidFill>
            <a:round/>
          </a:ln>
          <a:effectLst/>
        </p:spPr>
        <p:txBody>
          <a:bodyPr rtlCol="0" anchor="ctr"/>
          <a:lstStyle/>
          <a:p>
            <a:pPr algn="ctr"/>
          </a:p>
        </p:txBody>
      </p:sp>
      <p:sp>
        <p:nvSpPr>
          <p:cNvPr id="22" name="Freeform 21"/>
          <p:cNvSpPr/>
          <p:nvPr/>
        </p:nvSpPr>
        <p:spPr>
          <a:xfrm>
            <a:off x="4729404" y="2205533"/>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3432C9"/>
            </a:solidFill>
            <a:round/>
          </a:ln>
          <a:effectLst/>
        </p:spPr>
        <p:txBody>
          <a:bodyPr rtlCol="0" anchor="ctr"/>
          <a:lstStyle/>
          <a:p>
            <a:pPr algn="ctr"/>
          </a:p>
        </p:txBody>
      </p:sp>
      <p:sp>
        <p:nvSpPr>
          <p:cNvPr id="23" name="Freeform 22"/>
          <p:cNvSpPr/>
          <p:nvPr/>
        </p:nvSpPr>
        <p:spPr>
          <a:xfrm>
            <a:off x="4821476" y="2163010"/>
            <a:ext cx="68689" cy="61597"/>
          </a:xfrm>
          <a:custGeom>
            <a:avLst/>
            <a:gdLst/>
            <a:ahLst/>
            <a:cxnLst/>
            <a:rect l="l" t="t" r="r" b="b"/>
            <a:pathLst>
              <a:path w="68689" h="61597">
                <a:moveTo>
                  <a:pt x="68689" y="51045"/>
                </a:moveTo>
                <a:lnTo>
                  <a:pt x="0" y="61597"/>
                </a:lnTo>
                <a:lnTo>
                  <a:pt x="21531" y="0"/>
                </a:lnTo>
                <a:close/>
              </a:path>
            </a:pathLst>
          </a:custGeom>
          <a:solidFill>
            <a:srgbClr val="3432C9"/>
          </a:solidFill>
          <a:ln w="9525" cap="rnd">
            <a:solidFill>
              <a:srgbClr val="3432C9"/>
            </a:solidFill>
            <a:round/>
          </a:ln>
          <a:effectLst/>
        </p:spPr>
        <p:txBody>
          <a:bodyPr rtlCol="0" anchor="ctr"/>
          <a:lstStyle/>
          <a:p>
            <a:pPr algn="ctr"/>
          </a:p>
        </p:txBody>
      </p:sp>
      <p:sp>
        <p:nvSpPr>
          <p:cNvPr id="24" name="TextBox 23"/>
          <p:cNvSpPr txBox="1"/>
          <p:nvPr/>
        </p:nvSpPr>
        <p:spPr>
          <a:xfrm>
            <a:off x="4663440"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Economia circular</a:t>
            </a:r>
          </a:p>
        </p:txBody>
      </p:sp>
      <p:sp>
        <p:nvSpPr>
          <p:cNvPr id="25" name="TextBox 24"/>
          <p:cNvSpPr txBox="1"/>
          <p:nvPr/>
        </p:nvSpPr>
        <p:spPr>
          <a:xfrm>
            <a:off x="4663440"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Materiais reinseridos na cadeia produtiva.</a:t>
            </a:r>
          </a:p>
        </p:txBody>
      </p:sp>
      <p:sp>
        <p:nvSpPr>
          <p:cNvPr id="26" name="Rectangle 25"/>
          <p:cNvSpPr/>
          <p:nvPr/>
        </p:nvSpPr>
        <p:spPr>
          <a:xfrm>
            <a:off x="8037575"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27" name="Rectangle 26"/>
          <p:cNvSpPr/>
          <p:nvPr/>
        </p:nvSpPr>
        <p:spPr>
          <a:xfrm>
            <a:off x="8037575" y="1901952"/>
            <a:ext cx="29260" cy="1792224"/>
          </a:xfrm>
          <a:prstGeom prst="rect">
            <a:avLst/>
          </a:prstGeom>
          <a:solidFill>
            <a:srgbClr val="3432C9"/>
          </a:solidFill>
          <a:ln w="12700" cap="rnd">
            <a:noFill/>
            <a:round/>
          </a:ln>
          <a:effectLst/>
        </p:spPr>
        <p:txBody>
          <a:bodyPr rtlCol="0" anchor="ctr"/>
          <a:lstStyle/>
          <a:p/>
        </p:txBody>
      </p:sp>
      <p:sp>
        <p:nvSpPr>
          <p:cNvPr id="28" name="Oval 27"/>
          <p:cNvSpPr/>
          <p:nvPr/>
        </p:nvSpPr>
        <p:spPr>
          <a:xfrm>
            <a:off x="8432596" y="2205532"/>
            <a:ext cx="87782" cy="87782"/>
          </a:xfrm>
          <a:prstGeom prst="ellipse">
            <a:avLst/>
          </a:prstGeom>
          <a:noFill/>
          <a:ln w="15875" cap="rnd">
            <a:solidFill>
              <a:srgbClr val="3432C9"/>
            </a:solidFill>
            <a:round/>
          </a:ln>
          <a:effectLst/>
        </p:spPr>
        <p:txBody>
          <a:bodyPr rtlCol="0" anchor="ctr"/>
          <a:lstStyle/>
          <a:p/>
        </p:txBody>
      </p:sp>
      <p:sp>
        <p:nvSpPr>
          <p:cNvPr id="29" name="Freeform 28"/>
          <p:cNvSpPr/>
          <p:nvPr/>
        </p:nvSpPr>
        <p:spPr>
          <a:xfrm>
            <a:off x="8379233" y="2366467"/>
            <a:ext cx="194510" cy="78584"/>
          </a:xfrm>
          <a:custGeom>
            <a:avLst/>
            <a:gdLst/>
            <a:ahLst/>
            <a:cxnLst/>
            <a:rect l="l" t="t" r="r" b="b"/>
            <a:pathLst>
              <a:path w="194510" h="78584">
                <a:moveTo>
                  <a:pt x="0" y="78584"/>
                </a:moveTo>
                <a:lnTo>
                  <a:pt x="2953" y="66861"/>
                </a:lnTo>
                <a:lnTo>
                  <a:pt x="7424" y="55593"/>
                </a:lnTo>
                <a:lnTo>
                  <a:pt x="13340" y="44960"/>
                </a:lnTo>
                <a:lnTo>
                  <a:pt x="20607" y="35134"/>
                </a:lnTo>
                <a:lnTo>
                  <a:pt x="29106" y="26272"/>
                </a:lnTo>
                <a:lnTo>
                  <a:pt x="38702" y="18519"/>
                </a:lnTo>
                <a:lnTo>
                  <a:pt x="49241" y="11997"/>
                </a:lnTo>
                <a:lnTo>
                  <a:pt x="60551" y="6812"/>
                </a:lnTo>
                <a:lnTo>
                  <a:pt x="72453" y="3048"/>
                </a:lnTo>
                <a:lnTo>
                  <a:pt x="84753" y="765"/>
                </a:lnTo>
                <a:lnTo>
                  <a:pt x="97255" y="0"/>
                </a:lnTo>
                <a:lnTo>
                  <a:pt x="109757" y="765"/>
                </a:lnTo>
                <a:lnTo>
                  <a:pt x="122057" y="3048"/>
                </a:lnTo>
                <a:lnTo>
                  <a:pt x="133959" y="6812"/>
                </a:lnTo>
                <a:lnTo>
                  <a:pt x="145269" y="11997"/>
                </a:lnTo>
                <a:lnTo>
                  <a:pt x="155808" y="18519"/>
                </a:lnTo>
                <a:lnTo>
                  <a:pt x="165404" y="26272"/>
                </a:lnTo>
                <a:lnTo>
                  <a:pt x="173903" y="35134"/>
                </a:lnTo>
                <a:lnTo>
                  <a:pt x="181170" y="44960"/>
                </a:lnTo>
                <a:lnTo>
                  <a:pt x="187086" y="55593"/>
                </a:lnTo>
                <a:lnTo>
                  <a:pt x="191557" y="66861"/>
                </a:lnTo>
                <a:lnTo>
                  <a:pt x="194510" y="78584"/>
                </a:lnTo>
              </a:path>
            </a:pathLst>
          </a:custGeom>
          <a:noFill/>
          <a:ln w="15875" cap="rnd">
            <a:solidFill>
              <a:srgbClr val="3432C9"/>
            </a:solidFill>
            <a:round/>
          </a:ln>
          <a:effectLst/>
        </p:spPr>
        <p:txBody>
          <a:bodyPr rtlCol="0" anchor="ctr"/>
          <a:lstStyle/>
          <a:p>
            <a:pPr algn="ctr"/>
          </a:p>
        </p:txBody>
      </p:sp>
      <p:sp>
        <p:nvSpPr>
          <p:cNvPr id="30" name="Oval 29"/>
          <p:cNvSpPr/>
          <p:nvPr/>
        </p:nvSpPr>
        <p:spPr>
          <a:xfrm>
            <a:off x="8319211" y="2253081"/>
            <a:ext cx="65836" cy="65836"/>
          </a:xfrm>
          <a:prstGeom prst="ellipse">
            <a:avLst/>
          </a:prstGeom>
          <a:noFill/>
          <a:ln w="13494" cap="rnd">
            <a:solidFill>
              <a:srgbClr val="3432C9"/>
            </a:solidFill>
            <a:round/>
          </a:ln>
          <a:effectLst/>
        </p:spPr>
        <p:txBody>
          <a:bodyPr rtlCol="0" anchor="ctr"/>
          <a:lstStyle/>
          <a:p/>
        </p:txBody>
      </p:sp>
      <p:sp>
        <p:nvSpPr>
          <p:cNvPr id="31" name="Freeform 30"/>
          <p:cNvSpPr/>
          <p:nvPr/>
        </p:nvSpPr>
        <p:spPr>
          <a:xfrm>
            <a:off x="8292069" y="2410358"/>
            <a:ext cx="120121" cy="48797"/>
          </a:xfrm>
          <a:custGeom>
            <a:avLst/>
            <a:gdLst/>
            <a:ahLst/>
            <a:cxnLst/>
            <a:rect l="l" t="t" r="r" b="b"/>
            <a:pathLst>
              <a:path w="120121" h="48797">
                <a:moveTo>
                  <a:pt x="0" y="48797"/>
                </a:moveTo>
                <a:lnTo>
                  <a:pt x="2967" y="39761"/>
                </a:lnTo>
                <a:lnTo>
                  <a:pt x="7139" y="31274"/>
                </a:lnTo>
                <a:lnTo>
                  <a:pt x="12429" y="23518"/>
                </a:lnTo>
                <a:lnTo>
                  <a:pt x="18724" y="16655"/>
                </a:lnTo>
                <a:lnTo>
                  <a:pt x="25893" y="10831"/>
                </a:lnTo>
                <a:lnTo>
                  <a:pt x="33783" y="6169"/>
                </a:lnTo>
                <a:lnTo>
                  <a:pt x="42227" y="2766"/>
                </a:lnTo>
                <a:lnTo>
                  <a:pt x="51049" y="696"/>
                </a:lnTo>
                <a:lnTo>
                  <a:pt x="60061" y="0"/>
                </a:lnTo>
                <a:lnTo>
                  <a:pt x="69072" y="696"/>
                </a:lnTo>
                <a:lnTo>
                  <a:pt x="77894" y="2766"/>
                </a:lnTo>
                <a:lnTo>
                  <a:pt x="86339" y="6169"/>
                </a:lnTo>
                <a:lnTo>
                  <a:pt x="94229" y="10831"/>
                </a:lnTo>
                <a:lnTo>
                  <a:pt x="101397" y="16655"/>
                </a:lnTo>
                <a:lnTo>
                  <a:pt x="107693" y="23518"/>
                </a:lnTo>
                <a:lnTo>
                  <a:pt x="112982" y="31274"/>
                </a:lnTo>
                <a:lnTo>
                  <a:pt x="117155" y="39761"/>
                </a:lnTo>
                <a:lnTo>
                  <a:pt x="120121" y="48797"/>
                </a:lnTo>
              </a:path>
            </a:pathLst>
          </a:custGeom>
          <a:noFill/>
          <a:ln w="13494" cap="rnd">
            <a:solidFill>
              <a:srgbClr val="3432C9"/>
            </a:solidFill>
            <a:round/>
          </a:ln>
          <a:effectLst/>
        </p:spPr>
        <p:txBody>
          <a:bodyPr rtlCol="0" anchor="ctr"/>
          <a:lstStyle/>
          <a:p>
            <a:pPr algn="ctr"/>
          </a:p>
        </p:txBody>
      </p:sp>
      <p:sp>
        <p:nvSpPr>
          <p:cNvPr id="32" name="Oval 31"/>
          <p:cNvSpPr/>
          <p:nvPr/>
        </p:nvSpPr>
        <p:spPr>
          <a:xfrm>
            <a:off x="8567928" y="2253081"/>
            <a:ext cx="65836" cy="65836"/>
          </a:xfrm>
          <a:prstGeom prst="ellipse">
            <a:avLst/>
          </a:prstGeom>
          <a:noFill/>
          <a:ln w="13494" cap="rnd">
            <a:solidFill>
              <a:srgbClr val="3432C9"/>
            </a:solidFill>
            <a:round/>
          </a:ln>
          <a:effectLst/>
        </p:spPr>
        <p:txBody>
          <a:bodyPr rtlCol="0" anchor="ctr"/>
          <a:lstStyle/>
          <a:p/>
        </p:txBody>
      </p:sp>
      <p:sp>
        <p:nvSpPr>
          <p:cNvPr id="33" name="Freeform 32"/>
          <p:cNvSpPr/>
          <p:nvPr/>
        </p:nvSpPr>
        <p:spPr>
          <a:xfrm>
            <a:off x="8540786" y="2410358"/>
            <a:ext cx="120121" cy="48797"/>
          </a:xfrm>
          <a:custGeom>
            <a:avLst/>
            <a:gdLst/>
            <a:ahLst/>
            <a:cxnLst/>
            <a:rect l="l" t="t" r="r" b="b"/>
            <a:pathLst>
              <a:path w="120121" h="48797">
                <a:moveTo>
                  <a:pt x="0" y="48797"/>
                </a:moveTo>
                <a:lnTo>
                  <a:pt x="2966" y="39761"/>
                </a:lnTo>
                <a:lnTo>
                  <a:pt x="7139" y="31274"/>
                </a:lnTo>
                <a:lnTo>
                  <a:pt x="12428" y="23518"/>
                </a:lnTo>
                <a:lnTo>
                  <a:pt x="18724" y="16655"/>
                </a:lnTo>
                <a:lnTo>
                  <a:pt x="25892" y="10831"/>
                </a:lnTo>
                <a:lnTo>
                  <a:pt x="33782" y="6169"/>
                </a:lnTo>
                <a:lnTo>
                  <a:pt x="42227" y="2766"/>
                </a:lnTo>
                <a:lnTo>
                  <a:pt x="51049" y="696"/>
                </a:lnTo>
                <a:lnTo>
                  <a:pt x="60060" y="0"/>
                </a:lnTo>
                <a:lnTo>
                  <a:pt x="69072" y="696"/>
                </a:lnTo>
                <a:lnTo>
                  <a:pt x="77894" y="2766"/>
                </a:lnTo>
                <a:lnTo>
                  <a:pt x="86338" y="6169"/>
                </a:lnTo>
                <a:lnTo>
                  <a:pt x="94228" y="10831"/>
                </a:lnTo>
                <a:lnTo>
                  <a:pt x="101397" y="16655"/>
                </a:lnTo>
                <a:lnTo>
                  <a:pt x="107692" y="23518"/>
                </a:lnTo>
                <a:lnTo>
                  <a:pt x="112982" y="31274"/>
                </a:lnTo>
                <a:lnTo>
                  <a:pt x="117154" y="39761"/>
                </a:lnTo>
                <a:lnTo>
                  <a:pt x="120121" y="48797"/>
                </a:lnTo>
              </a:path>
            </a:pathLst>
          </a:custGeom>
          <a:noFill/>
          <a:ln w="13494" cap="rnd">
            <a:solidFill>
              <a:srgbClr val="3432C9"/>
            </a:solidFill>
            <a:round/>
          </a:ln>
          <a:effectLst/>
        </p:spPr>
        <p:txBody>
          <a:bodyPr rtlCol="0" anchor="ctr"/>
          <a:lstStyle/>
          <a:p>
            <a:pPr algn="ctr"/>
          </a:p>
        </p:txBody>
      </p:sp>
      <p:sp>
        <p:nvSpPr>
          <p:cNvPr id="34" name="TextBox 33"/>
          <p:cNvSpPr txBox="1"/>
          <p:nvPr/>
        </p:nvSpPr>
        <p:spPr>
          <a:xfrm>
            <a:off x="8293607"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Geração de empregos</a:t>
            </a:r>
          </a:p>
        </p:txBody>
      </p:sp>
      <p:sp>
        <p:nvSpPr>
          <p:cNvPr id="35" name="TextBox 34"/>
          <p:cNvSpPr txBox="1"/>
          <p:nvPr/>
        </p:nvSpPr>
        <p:spPr>
          <a:xfrm>
            <a:off x="8293607"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Ocupação qualificada e capacitação.</a:t>
            </a:r>
          </a:p>
        </p:txBody>
      </p:sp>
      <p:sp>
        <p:nvSpPr>
          <p:cNvPr id="36" name="Rectangle 35"/>
          <p:cNvSpPr/>
          <p:nvPr/>
        </p:nvSpPr>
        <p:spPr>
          <a:xfrm>
            <a:off x="777240"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37" name="Rectangle 36"/>
          <p:cNvSpPr/>
          <p:nvPr/>
        </p:nvSpPr>
        <p:spPr>
          <a:xfrm>
            <a:off x="777240" y="3950208"/>
            <a:ext cx="29260" cy="1792224"/>
          </a:xfrm>
          <a:prstGeom prst="rect">
            <a:avLst/>
          </a:prstGeom>
          <a:solidFill>
            <a:srgbClr val="12A87B"/>
          </a:solidFill>
          <a:ln w="12700" cap="rnd">
            <a:noFill/>
            <a:round/>
          </a:ln>
          <a:effectLst/>
        </p:spPr>
        <p:txBody>
          <a:bodyPr rtlCol="0" anchor="ctr"/>
          <a:lstStyle/>
          <a:p/>
        </p:txBody>
      </p:sp>
      <p:sp>
        <p:nvSpPr>
          <p:cNvPr id="38" name="Freeform 37"/>
          <p:cNvSpPr/>
          <p:nvPr/>
        </p:nvSpPr>
        <p:spPr>
          <a:xfrm>
            <a:off x="1216152" y="4268419"/>
            <a:ext cx="0" cy="226771"/>
          </a:xfrm>
          <a:custGeom>
            <a:avLst/>
            <a:gdLst/>
            <a:ahLst/>
            <a:cxnLst/>
            <a:rect l="l" t="t" r="r" b="b"/>
            <a:pathLst>
              <a:path w="0" h="226771">
                <a:moveTo>
                  <a:pt x="0" y="0"/>
                </a:moveTo>
                <a:lnTo>
                  <a:pt x="0" y="226771"/>
                </a:lnTo>
              </a:path>
            </a:pathLst>
          </a:custGeom>
          <a:noFill/>
          <a:ln w="15875" cap="rnd">
            <a:solidFill>
              <a:srgbClr val="12A87B"/>
            </a:solidFill>
            <a:round/>
          </a:ln>
          <a:effectLst/>
        </p:spPr>
        <p:txBody>
          <a:bodyPr rtlCol="0" anchor="ctr"/>
          <a:lstStyle/>
          <a:p>
            <a:pPr algn="ctr"/>
          </a:p>
        </p:txBody>
      </p:sp>
      <p:sp>
        <p:nvSpPr>
          <p:cNvPr id="39" name="Freeform 38"/>
          <p:cNvSpPr/>
          <p:nvPr/>
        </p:nvSpPr>
        <p:spPr>
          <a:xfrm>
            <a:off x="1091794" y="4297680"/>
            <a:ext cx="248716" cy="0"/>
          </a:xfrm>
          <a:custGeom>
            <a:avLst/>
            <a:gdLst/>
            <a:ahLst/>
            <a:cxnLst/>
            <a:rect l="l" t="t" r="r" b="b"/>
            <a:pathLst>
              <a:path w="248716" h="0">
                <a:moveTo>
                  <a:pt x="0" y="0"/>
                </a:moveTo>
                <a:lnTo>
                  <a:pt x="248716" y="0"/>
                </a:lnTo>
              </a:path>
            </a:pathLst>
          </a:custGeom>
          <a:noFill/>
          <a:ln w="15875" cap="rnd">
            <a:solidFill>
              <a:srgbClr val="12A87B"/>
            </a:solidFill>
            <a:round/>
          </a:ln>
          <a:effectLst/>
        </p:spPr>
        <p:txBody>
          <a:bodyPr rtlCol="0" anchor="ctr"/>
          <a:lstStyle/>
          <a:p>
            <a:pPr algn="ctr"/>
          </a:p>
        </p:txBody>
      </p:sp>
      <p:sp>
        <p:nvSpPr>
          <p:cNvPr id="40" name="Freeform 39"/>
          <p:cNvSpPr/>
          <p:nvPr/>
        </p:nvSpPr>
        <p:spPr>
          <a:xfrm>
            <a:off x="1150315" y="4495190"/>
            <a:ext cx="131674" cy="0"/>
          </a:xfrm>
          <a:custGeom>
            <a:avLst/>
            <a:gdLst/>
            <a:ahLst/>
            <a:cxnLst/>
            <a:rect l="l" t="t" r="r" b="b"/>
            <a:pathLst>
              <a:path w="131674" h="0">
                <a:moveTo>
                  <a:pt x="0" y="0"/>
                </a:moveTo>
                <a:lnTo>
                  <a:pt x="131674" y="0"/>
                </a:lnTo>
              </a:path>
            </a:pathLst>
          </a:custGeom>
          <a:noFill/>
          <a:ln w="15875" cap="rnd">
            <a:solidFill>
              <a:srgbClr val="12A87B"/>
            </a:solidFill>
            <a:round/>
          </a:ln>
          <a:effectLst/>
        </p:spPr>
        <p:txBody>
          <a:bodyPr rtlCol="0" anchor="ctr"/>
          <a:lstStyle/>
          <a:p>
            <a:pPr algn="ctr"/>
          </a:p>
        </p:txBody>
      </p:sp>
      <p:sp>
        <p:nvSpPr>
          <p:cNvPr id="41" name="Freeform 40"/>
          <p:cNvSpPr/>
          <p:nvPr/>
        </p:nvSpPr>
        <p:spPr>
          <a:xfrm>
            <a:off x="1044245" y="4297680"/>
            <a:ext cx="47549" cy="58522"/>
          </a:xfrm>
          <a:custGeom>
            <a:avLst/>
            <a:gdLst/>
            <a:ahLst/>
            <a:cxnLst/>
            <a:rect l="l" t="t" r="r" b="b"/>
            <a:pathLst>
              <a:path w="47549" h="58522">
                <a:moveTo>
                  <a:pt x="47549" y="0"/>
                </a:moveTo>
                <a:lnTo>
                  <a:pt x="0" y="58522"/>
                </a:lnTo>
              </a:path>
            </a:pathLst>
          </a:custGeom>
          <a:noFill/>
          <a:ln w="9525" cap="rnd">
            <a:solidFill>
              <a:srgbClr val="12A87B"/>
            </a:solidFill>
            <a:round/>
          </a:ln>
          <a:effectLst/>
        </p:spPr>
        <p:txBody>
          <a:bodyPr rtlCol="0" anchor="ctr"/>
          <a:lstStyle/>
          <a:p>
            <a:pPr algn="ctr"/>
          </a:p>
        </p:txBody>
      </p:sp>
      <p:sp>
        <p:nvSpPr>
          <p:cNvPr id="42" name="Freeform 41"/>
          <p:cNvSpPr/>
          <p:nvPr/>
        </p:nvSpPr>
        <p:spPr>
          <a:xfrm>
            <a:off x="1091794" y="4297680"/>
            <a:ext cx="47548" cy="58522"/>
          </a:xfrm>
          <a:custGeom>
            <a:avLst/>
            <a:gdLst/>
            <a:ahLst/>
            <a:cxnLst/>
            <a:rect l="l" t="t" r="r" b="b"/>
            <a:pathLst>
              <a:path w="47548" h="58522">
                <a:moveTo>
                  <a:pt x="0" y="0"/>
                </a:moveTo>
                <a:lnTo>
                  <a:pt x="47548" y="58522"/>
                </a:lnTo>
              </a:path>
            </a:pathLst>
          </a:custGeom>
          <a:noFill/>
          <a:ln w="9525" cap="rnd">
            <a:solidFill>
              <a:srgbClr val="12A87B"/>
            </a:solidFill>
            <a:round/>
          </a:ln>
          <a:effectLst/>
        </p:spPr>
        <p:txBody>
          <a:bodyPr rtlCol="0" anchor="ctr"/>
          <a:lstStyle/>
          <a:p>
            <a:pPr algn="ctr"/>
          </a:p>
        </p:txBody>
      </p:sp>
      <p:sp>
        <p:nvSpPr>
          <p:cNvPr id="43" name="Freeform 42"/>
          <p:cNvSpPr/>
          <p:nvPr/>
        </p:nvSpPr>
        <p:spPr>
          <a:xfrm>
            <a:off x="1044245" y="4356202"/>
            <a:ext cx="95097" cy="43891"/>
          </a:xfrm>
          <a:custGeom>
            <a:avLst/>
            <a:gdLst/>
            <a:ahLst/>
            <a:cxnLst/>
            <a:rect l="l" t="t" r="r" b="b"/>
            <a:pathLst>
              <a:path w="95097" h="43891">
                <a:moveTo>
                  <a:pt x="95097" y="0"/>
                </a:moveTo>
                <a:lnTo>
                  <a:pt x="94375" y="7621"/>
                </a:lnTo>
                <a:lnTo>
                  <a:pt x="92230" y="15011"/>
                </a:lnTo>
                <a:lnTo>
                  <a:pt x="88727" y="21945"/>
                </a:lnTo>
                <a:lnTo>
                  <a:pt x="83973" y="28212"/>
                </a:lnTo>
                <a:lnTo>
                  <a:pt x="78112" y="33622"/>
                </a:lnTo>
                <a:lnTo>
                  <a:pt x="71323" y="38010"/>
                </a:lnTo>
                <a:lnTo>
                  <a:pt x="63811" y="41244"/>
                </a:lnTo>
                <a:lnTo>
                  <a:pt x="55805" y="43224"/>
                </a:lnTo>
                <a:lnTo>
                  <a:pt x="47549" y="43891"/>
                </a:lnTo>
                <a:lnTo>
                  <a:pt x="39292" y="43224"/>
                </a:lnTo>
                <a:lnTo>
                  <a:pt x="31286" y="41244"/>
                </a:lnTo>
                <a:lnTo>
                  <a:pt x="23774" y="38010"/>
                </a:lnTo>
                <a:lnTo>
                  <a:pt x="16985" y="33622"/>
                </a:lnTo>
                <a:lnTo>
                  <a:pt x="11124" y="28212"/>
                </a:lnTo>
                <a:lnTo>
                  <a:pt x="6370" y="21945"/>
                </a:lnTo>
                <a:lnTo>
                  <a:pt x="2867" y="15011"/>
                </a:lnTo>
                <a:lnTo>
                  <a:pt x="722" y="7621"/>
                </a:lnTo>
                <a:lnTo>
                  <a:pt x="0" y="0"/>
                </a:lnTo>
              </a:path>
            </a:pathLst>
          </a:custGeom>
          <a:noFill/>
          <a:ln w="14288" cap="rnd">
            <a:solidFill>
              <a:srgbClr val="12A87B"/>
            </a:solidFill>
            <a:round/>
          </a:ln>
          <a:effectLst/>
        </p:spPr>
        <p:txBody>
          <a:bodyPr rtlCol="0" anchor="ctr"/>
          <a:lstStyle/>
          <a:p>
            <a:pPr algn="ctr"/>
          </a:p>
        </p:txBody>
      </p:sp>
      <p:sp>
        <p:nvSpPr>
          <p:cNvPr id="44" name="Freeform 43"/>
          <p:cNvSpPr/>
          <p:nvPr/>
        </p:nvSpPr>
        <p:spPr>
          <a:xfrm>
            <a:off x="1292962" y="4297680"/>
            <a:ext cx="47548" cy="58522"/>
          </a:xfrm>
          <a:custGeom>
            <a:avLst/>
            <a:gdLst/>
            <a:ahLst/>
            <a:cxnLst/>
            <a:rect l="l" t="t" r="r" b="b"/>
            <a:pathLst>
              <a:path w="47548" h="58522">
                <a:moveTo>
                  <a:pt x="47548" y="0"/>
                </a:moveTo>
                <a:lnTo>
                  <a:pt x="0" y="58522"/>
                </a:lnTo>
              </a:path>
            </a:pathLst>
          </a:custGeom>
          <a:noFill/>
          <a:ln w="9525" cap="rnd">
            <a:solidFill>
              <a:srgbClr val="12A87B"/>
            </a:solidFill>
            <a:round/>
          </a:ln>
          <a:effectLst/>
        </p:spPr>
        <p:txBody>
          <a:bodyPr rtlCol="0" anchor="ctr"/>
          <a:lstStyle/>
          <a:p>
            <a:pPr algn="ctr"/>
          </a:p>
        </p:txBody>
      </p:sp>
      <p:sp>
        <p:nvSpPr>
          <p:cNvPr id="45" name="Freeform 44"/>
          <p:cNvSpPr/>
          <p:nvPr/>
        </p:nvSpPr>
        <p:spPr>
          <a:xfrm>
            <a:off x="1340510" y="4297680"/>
            <a:ext cx="47549" cy="58522"/>
          </a:xfrm>
          <a:custGeom>
            <a:avLst/>
            <a:gdLst/>
            <a:ahLst/>
            <a:cxnLst/>
            <a:rect l="l" t="t" r="r" b="b"/>
            <a:pathLst>
              <a:path w="47549" h="58522">
                <a:moveTo>
                  <a:pt x="0" y="0"/>
                </a:moveTo>
                <a:lnTo>
                  <a:pt x="47549" y="58522"/>
                </a:lnTo>
              </a:path>
            </a:pathLst>
          </a:custGeom>
          <a:noFill/>
          <a:ln w="9525" cap="rnd">
            <a:solidFill>
              <a:srgbClr val="12A87B"/>
            </a:solidFill>
            <a:round/>
          </a:ln>
          <a:effectLst/>
        </p:spPr>
        <p:txBody>
          <a:bodyPr rtlCol="0" anchor="ctr"/>
          <a:lstStyle/>
          <a:p>
            <a:pPr algn="ctr"/>
          </a:p>
        </p:txBody>
      </p:sp>
      <p:sp>
        <p:nvSpPr>
          <p:cNvPr id="46" name="Freeform 45"/>
          <p:cNvSpPr/>
          <p:nvPr/>
        </p:nvSpPr>
        <p:spPr>
          <a:xfrm>
            <a:off x="1292962" y="4356202"/>
            <a:ext cx="95097" cy="43891"/>
          </a:xfrm>
          <a:custGeom>
            <a:avLst/>
            <a:gdLst/>
            <a:ahLst/>
            <a:cxnLst/>
            <a:rect l="l" t="t" r="r" b="b"/>
            <a:pathLst>
              <a:path w="95097" h="43891">
                <a:moveTo>
                  <a:pt x="95097" y="0"/>
                </a:moveTo>
                <a:lnTo>
                  <a:pt x="94375" y="7621"/>
                </a:lnTo>
                <a:lnTo>
                  <a:pt x="92230" y="15011"/>
                </a:lnTo>
                <a:lnTo>
                  <a:pt x="88727" y="21945"/>
                </a:lnTo>
                <a:lnTo>
                  <a:pt x="83973" y="28212"/>
                </a:lnTo>
                <a:lnTo>
                  <a:pt x="78112" y="33622"/>
                </a:lnTo>
                <a:lnTo>
                  <a:pt x="71323" y="38010"/>
                </a:lnTo>
                <a:lnTo>
                  <a:pt x="63811" y="41244"/>
                </a:lnTo>
                <a:lnTo>
                  <a:pt x="55805" y="43224"/>
                </a:lnTo>
                <a:lnTo>
                  <a:pt x="47548" y="43891"/>
                </a:lnTo>
                <a:lnTo>
                  <a:pt x="39292" y="43224"/>
                </a:lnTo>
                <a:lnTo>
                  <a:pt x="31286" y="41244"/>
                </a:lnTo>
                <a:lnTo>
                  <a:pt x="23774" y="38010"/>
                </a:lnTo>
                <a:lnTo>
                  <a:pt x="16985" y="33622"/>
                </a:lnTo>
                <a:lnTo>
                  <a:pt x="11124" y="28212"/>
                </a:lnTo>
                <a:lnTo>
                  <a:pt x="6370" y="21945"/>
                </a:lnTo>
                <a:lnTo>
                  <a:pt x="2867" y="15011"/>
                </a:lnTo>
                <a:lnTo>
                  <a:pt x="722" y="7621"/>
                </a:lnTo>
                <a:lnTo>
                  <a:pt x="0" y="0"/>
                </a:lnTo>
              </a:path>
            </a:pathLst>
          </a:custGeom>
          <a:noFill/>
          <a:ln w="14288" cap="rnd">
            <a:solidFill>
              <a:srgbClr val="12A87B"/>
            </a:solidFill>
            <a:round/>
          </a:ln>
          <a:effectLst/>
        </p:spPr>
        <p:txBody>
          <a:bodyPr rtlCol="0" anchor="ctr"/>
          <a:lstStyle/>
          <a:p>
            <a:pPr algn="ctr"/>
          </a:p>
        </p:txBody>
      </p:sp>
      <p:sp>
        <p:nvSpPr>
          <p:cNvPr id="47" name="Oval 46"/>
          <p:cNvSpPr/>
          <p:nvPr/>
        </p:nvSpPr>
        <p:spPr>
          <a:xfrm>
            <a:off x="1192377" y="4237329"/>
            <a:ext cx="47548" cy="47548"/>
          </a:xfrm>
          <a:prstGeom prst="ellipse">
            <a:avLst/>
          </a:prstGeom>
          <a:solidFill>
            <a:srgbClr val="FFFFFF"/>
          </a:solidFill>
          <a:ln w="14288" cap="rnd">
            <a:solidFill>
              <a:srgbClr val="12A87B"/>
            </a:solidFill>
            <a:round/>
          </a:ln>
          <a:effectLst/>
        </p:spPr>
        <p:txBody>
          <a:bodyPr rtlCol="0" anchor="ctr"/>
          <a:lstStyle/>
          <a:p/>
        </p:txBody>
      </p:sp>
      <p:sp>
        <p:nvSpPr>
          <p:cNvPr id="48" name="TextBox 47"/>
          <p:cNvSpPr txBox="1"/>
          <p:nvPr/>
        </p:nvSpPr>
        <p:spPr>
          <a:xfrm>
            <a:off x="1033271"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Valorização dos resíduos têxteis</a:t>
            </a:r>
          </a:p>
        </p:txBody>
      </p:sp>
      <p:sp>
        <p:nvSpPr>
          <p:cNvPr id="49" name="TextBox 48"/>
          <p:cNvSpPr txBox="1"/>
          <p:nvPr/>
        </p:nvSpPr>
        <p:spPr>
          <a:xfrm>
            <a:off x="1033271"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Resíduo tratado como recurso.</a:t>
            </a:r>
          </a:p>
        </p:txBody>
      </p:sp>
      <p:sp>
        <p:nvSpPr>
          <p:cNvPr id="50" name="Rectangle 49"/>
          <p:cNvSpPr/>
          <p:nvPr/>
        </p:nvSpPr>
        <p:spPr>
          <a:xfrm>
            <a:off x="4407407"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51" name="Rectangle 50"/>
          <p:cNvSpPr/>
          <p:nvPr/>
        </p:nvSpPr>
        <p:spPr>
          <a:xfrm>
            <a:off x="4407407" y="3950208"/>
            <a:ext cx="29260" cy="1792224"/>
          </a:xfrm>
          <a:prstGeom prst="rect">
            <a:avLst/>
          </a:prstGeom>
          <a:solidFill>
            <a:srgbClr val="12A87B"/>
          </a:solidFill>
          <a:ln w="12700" cap="rnd">
            <a:noFill/>
            <a:round/>
          </a:ln>
          <a:effectLst/>
        </p:spPr>
        <p:txBody>
          <a:bodyPr rtlCol="0" anchor="ctr"/>
          <a:lstStyle/>
          <a:p/>
        </p:txBody>
      </p:sp>
      <p:sp>
        <p:nvSpPr>
          <p:cNvPr id="52" name="Freeform 51"/>
          <p:cNvSpPr/>
          <p:nvPr/>
        </p:nvSpPr>
        <p:spPr>
          <a:xfrm>
            <a:off x="4756957" y="4239158"/>
            <a:ext cx="178726" cy="212141"/>
          </a:xfrm>
          <a:custGeom>
            <a:avLst/>
            <a:gdLst/>
            <a:ahLst/>
            <a:cxnLst/>
            <a:rect l="l" t="t" r="r" b="b"/>
            <a:pathLst>
              <a:path w="178726" h="212141">
                <a:moveTo>
                  <a:pt x="0" y="62573"/>
                </a:moveTo>
                <a:lnTo>
                  <a:pt x="3175" y="54908"/>
                </a:lnTo>
                <a:lnTo>
                  <a:pt x="7006" y="47549"/>
                </a:lnTo>
                <a:lnTo>
                  <a:pt x="11464" y="40552"/>
                </a:lnTo>
                <a:lnTo>
                  <a:pt x="16514" y="33970"/>
                </a:lnTo>
                <a:lnTo>
                  <a:pt x="22119" y="27854"/>
                </a:lnTo>
                <a:lnTo>
                  <a:pt x="28235" y="22249"/>
                </a:lnTo>
                <a:lnTo>
                  <a:pt x="34817" y="17199"/>
                </a:lnTo>
                <a:lnTo>
                  <a:pt x="41814" y="12741"/>
                </a:lnTo>
                <a:lnTo>
                  <a:pt x="49173" y="8910"/>
                </a:lnTo>
                <a:lnTo>
                  <a:pt x="56838" y="5735"/>
                </a:lnTo>
                <a:lnTo>
                  <a:pt x="64750" y="3241"/>
                </a:lnTo>
                <a:lnTo>
                  <a:pt x="72849" y="1445"/>
                </a:lnTo>
                <a:lnTo>
                  <a:pt x="81075" y="362"/>
                </a:lnTo>
                <a:lnTo>
                  <a:pt x="89363" y="0"/>
                </a:lnTo>
                <a:lnTo>
                  <a:pt x="97651" y="362"/>
                </a:lnTo>
                <a:lnTo>
                  <a:pt x="105877" y="1445"/>
                </a:lnTo>
                <a:lnTo>
                  <a:pt x="113976" y="3241"/>
                </a:lnTo>
                <a:lnTo>
                  <a:pt x="121888" y="5735"/>
                </a:lnTo>
                <a:lnTo>
                  <a:pt x="129553" y="8910"/>
                </a:lnTo>
                <a:lnTo>
                  <a:pt x="136912" y="12741"/>
                </a:lnTo>
                <a:lnTo>
                  <a:pt x="143909" y="17199"/>
                </a:lnTo>
                <a:lnTo>
                  <a:pt x="150491" y="22249"/>
                </a:lnTo>
                <a:lnTo>
                  <a:pt x="156607" y="27854"/>
                </a:lnTo>
                <a:lnTo>
                  <a:pt x="162212" y="33970"/>
                </a:lnTo>
                <a:lnTo>
                  <a:pt x="167262" y="40552"/>
                </a:lnTo>
                <a:lnTo>
                  <a:pt x="171720" y="47549"/>
                </a:lnTo>
                <a:lnTo>
                  <a:pt x="175551" y="54908"/>
                </a:lnTo>
                <a:lnTo>
                  <a:pt x="178726" y="62573"/>
                </a:lnTo>
                <a:lnTo>
                  <a:pt x="125939" y="175565"/>
                </a:lnTo>
                <a:lnTo>
                  <a:pt x="125939" y="212141"/>
                </a:lnTo>
                <a:lnTo>
                  <a:pt x="52787" y="212141"/>
                </a:lnTo>
                <a:lnTo>
                  <a:pt x="52787" y="175565"/>
                </a:lnTo>
                <a:close/>
              </a:path>
            </a:pathLst>
          </a:custGeom>
          <a:noFill/>
          <a:ln w="15875" cap="rnd">
            <a:solidFill>
              <a:srgbClr val="12A87B"/>
            </a:solidFill>
            <a:round/>
          </a:ln>
          <a:effectLst/>
        </p:spPr>
        <p:txBody>
          <a:bodyPr rtlCol="0" anchor="ctr"/>
          <a:lstStyle/>
          <a:p>
            <a:pPr algn="ctr"/>
          </a:p>
        </p:txBody>
      </p:sp>
      <p:sp>
        <p:nvSpPr>
          <p:cNvPr id="53" name="Freeform 52"/>
          <p:cNvSpPr/>
          <p:nvPr/>
        </p:nvSpPr>
        <p:spPr>
          <a:xfrm>
            <a:off x="4813402" y="4473245"/>
            <a:ext cx="65836" cy="0"/>
          </a:xfrm>
          <a:custGeom>
            <a:avLst/>
            <a:gdLst/>
            <a:ahLst/>
            <a:cxnLst/>
            <a:rect l="l" t="t" r="r" b="b"/>
            <a:pathLst>
              <a:path w="65836" h="0">
                <a:moveTo>
                  <a:pt x="0" y="0"/>
                </a:moveTo>
                <a:lnTo>
                  <a:pt x="65836" y="0"/>
                </a:lnTo>
              </a:path>
            </a:pathLst>
          </a:custGeom>
          <a:noFill/>
          <a:ln w="12700" cap="rnd">
            <a:solidFill>
              <a:srgbClr val="12A87B"/>
            </a:solidFill>
            <a:round/>
          </a:ln>
          <a:effectLst/>
        </p:spPr>
        <p:txBody>
          <a:bodyPr rtlCol="0" anchor="ctr"/>
          <a:lstStyle/>
          <a:p>
            <a:pPr algn="ctr"/>
          </a:p>
        </p:txBody>
      </p:sp>
      <p:sp>
        <p:nvSpPr>
          <p:cNvPr id="54" name="Freeform 53"/>
          <p:cNvSpPr/>
          <p:nvPr/>
        </p:nvSpPr>
        <p:spPr>
          <a:xfrm>
            <a:off x="4824374" y="4502506"/>
            <a:ext cx="43892" cy="0"/>
          </a:xfrm>
          <a:custGeom>
            <a:avLst/>
            <a:gdLst/>
            <a:ahLst/>
            <a:cxnLst/>
            <a:rect l="l" t="t" r="r" b="b"/>
            <a:pathLst>
              <a:path w="43892" h="0">
                <a:moveTo>
                  <a:pt x="0" y="0"/>
                </a:moveTo>
                <a:lnTo>
                  <a:pt x="43892" y="0"/>
                </a:lnTo>
              </a:path>
            </a:pathLst>
          </a:custGeom>
          <a:noFill/>
          <a:ln w="12700" cap="rnd">
            <a:solidFill>
              <a:srgbClr val="12A87B"/>
            </a:solidFill>
            <a:round/>
          </a:ln>
          <a:effectLst/>
        </p:spPr>
        <p:txBody>
          <a:bodyPr rtlCol="0" anchor="ctr"/>
          <a:lstStyle/>
          <a:p>
            <a:pPr algn="ctr"/>
          </a:p>
        </p:txBody>
      </p:sp>
      <p:sp>
        <p:nvSpPr>
          <p:cNvPr id="55" name="Freeform 54"/>
          <p:cNvSpPr/>
          <p:nvPr/>
        </p:nvSpPr>
        <p:spPr>
          <a:xfrm>
            <a:off x="4846320" y="4312310"/>
            <a:ext cx="0" cy="87783"/>
          </a:xfrm>
          <a:custGeom>
            <a:avLst/>
            <a:gdLst/>
            <a:ahLst/>
            <a:cxnLst/>
            <a:rect l="l" t="t" r="r" b="b"/>
            <a:pathLst>
              <a:path w="0" h="87783">
                <a:moveTo>
                  <a:pt x="0" y="87783"/>
                </a:moveTo>
                <a:lnTo>
                  <a:pt x="0" y="0"/>
                </a:lnTo>
              </a:path>
            </a:pathLst>
          </a:custGeom>
          <a:noFill/>
          <a:ln w="11112" cap="rnd">
            <a:solidFill>
              <a:srgbClr val="12A87B"/>
            </a:solidFill>
            <a:round/>
          </a:ln>
          <a:effectLst/>
        </p:spPr>
        <p:txBody>
          <a:bodyPr rtlCol="0" anchor="ctr"/>
          <a:lstStyle/>
          <a:p>
            <a:pPr algn="ctr"/>
          </a:p>
        </p:txBody>
      </p:sp>
      <p:sp>
        <p:nvSpPr>
          <p:cNvPr id="56" name="Freeform 55"/>
          <p:cNvSpPr/>
          <p:nvPr/>
        </p:nvSpPr>
        <p:spPr>
          <a:xfrm>
            <a:off x="4846320" y="4308653"/>
            <a:ext cx="40234" cy="40233"/>
          </a:xfrm>
          <a:custGeom>
            <a:avLst/>
            <a:gdLst/>
            <a:ahLst/>
            <a:cxnLst/>
            <a:rect l="l" t="t" r="r" b="b"/>
            <a:pathLst>
              <a:path w="40234" h="40233">
                <a:moveTo>
                  <a:pt x="0" y="40233"/>
                </a:moveTo>
                <a:lnTo>
                  <a:pt x="40234" y="0"/>
                </a:lnTo>
              </a:path>
            </a:pathLst>
          </a:custGeom>
          <a:noFill/>
          <a:ln w="11112" cap="rnd">
            <a:solidFill>
              <a:srgbClr val="12A87B"/>
            </a:solidFill>
            <a:round/>
          </a:ln>
          <a:effectLst/>
        </p:spPr>
        <p:txBody>
          <a:bodyPr rtlCol="0" anchor="ctr"/>
          <a:lstStyle/>
          <a:p>
            <a:pPr algn="ctr"/>
          </a:p>
        </p:txBody>
      </p:sp>
      <p:sp>
        <p:nvSpPr>
          <p:cNvPr id="57" name="Freeform 56"/>
          <p:cNvSpPr/>
          <p:nvPr/>
        </p:nvSpPr>
        <p:spPr>
          <a:xfrm>
            <a:off x="4806086" y="4308653"/>
            <a:ext cx="40234" cy="40233"/>
          </a:xfrm>
          <a:custGeom>
            <a:avLst/>
            <a:gdLst/>
            <a:ahLst/>
            <a:cxnLst/>
            <a:rect l="l" t="t" r="r" b="b"/>
            <a:pathLst>
              <a:path w="40234" h="40233">
                <a:moveTo>
                  <a:pt x="40234" y="40233"/>
                </a:moveTo>
                <a:lnTo>
                  <a:pt x="0" y="0"/>
                </a:lnTo>
              </a:path>
            </a:pathLst>
          </a:custGeom>
          <a:noFill/>
          <a:ln w="11112" cap="rnd">
            <a:solidFill>
              <a:srgbClr val="12A87B"/>
            </a:solidFill>
            <a:round/>
          </a:ln>
          <a:effectLst/>
        </p:spPr>
        <p:txBody>
          <a:bodyPr rtlCol="0" anchor="ctr"/>
          <a:lstStyle/>
          <a:p>
            <a:pPr algn="ctr"/>
          </a:p>
        </p:txBody>
      </p:sp>
      <p:sp>
        <p:nvSpPr>
          <p:cNvPr id="58" name="TextBox 57"/>
          <p:cNvSpPr txBox="1"/>
          <p:nvPr/>
        </p:nvSpPr>
        <p:spPr>
          <a:xfrm>
            <a:off x="4663440"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Inovação ambiental</a:t>
            </a:r>
          </a:p>
        </p:txBody>
      </p:sp>
      <p:sp>
        <p:nvSpPr>
          <p:cNvPr id="59" name="TextBox 58"/>
          <p:cNvSpPr txBox="1"/>
          <p:nvPr/>
        </p:nvSpPr>
        <p:spPr>
          <a:xfrm>
            <a:off x="4663440"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Modelo inédito no Município.</a:t>
            </a:r>
          </a:p>
        </p:txBody>
      </p:sp>
      <p:sp>
        <p:nvSpPr>
          <p:cNvPr id="60" name="Rectangle 59"/>
          <p:cNvSpPr/>
          <p:nvPr/>
        </p:nvSpPr>
        <p:spPr>
          <a:xfrm>
            <a:off x="8037575"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61" name="Rectangle 60"/>
          <p:cNvSpPr/>
          <p:nvPr/>
        </p:nvSpPr>
        <p:spPr>
          <a:xfrm>
            <a:off x="8037575" y="3950208"/>
            <a:ext cx="29260" cy="1792224"/>
          </a:xfrm>
          <a:prstGeom prst="rect">
            <a:avLst/>
          </a:prstGeom>
          <a:solidFill>
            <a:srgbClr val="12A87B"/>
          </a:solidFill>
          <a:ln w="12700" cap="rnd">
            <a:noFill/>
            <a:round/>
          </a:ln>
          <a:effectLst/>
        </p:spPr>
        <p:txBody>
          <a:bodyPr rtlCol="0" anchor="ctr"/>
          <a:lstStyle/>
          <a:p/>
        </p:txBody>
      </p:sp>
      <p:sp>
        <p:nvSpPr>
          <p:cNvPr id="62" name="Oval 61"/>
          <p:cNvSpPr/>
          <p:nvPr/>
        </p:nvSpPr>
        <p:spPr>
          <a:xfrm>
            <a:off x="8381390" y="4231843"/>
            <a:ext cx="190195" cy="190195"/>
          </a:xfrm>
          <a:prstGeom prst="ellipse">
            <a:avLst/>
          </a:prstGeom>
          <a:noFill/>
          <a:ln w="15875" cap="rnd">
            <a:solidFill>
              <a:srgbClr val="12A87B"/>
            </a:solidFill>
            <a:round/>
          </a:ln>
          <a:effectLst/>
        </p:spPr>
        <p:txBody>
          <a:bodyPr rtlCol="0" anchor="ctr"/>
          <a:lstStyle/>
          <a:p/>
        </p:txBody>
      </p:sp>
      <p:sp>
        <p:nvSpPr>
          <p:cNvPr id="63" name="Freeform 62"/>
          <p:cNvSpPr/>
          <p:nvPr/>
        </p:nvSpPr>
        <p:spPr>
          <a:xfrm>
            <a:off x="8424309" y="4272077"/>
            <a:ext cx="104358" cy="99250"/>
          </a:xfrm>
          <a:custGeom>
            <a:avLst/>
            <a:gdLst/>
            <a:ahLst/>
            <a:cxnLst/>
            <a:rect l="l" t="t" r="r" b="b"/>
            <a:pathLst>
              <a:path w="104358" h="99250">
                <a:moveTo>
                  <a:pt x="52179" y="0"/>
                </a:moveTo>
                <a:lnTo>
                  <a:pt x="67228" y="34150"/>
                </a:lnTo>
                <a:lnTo>
                  <a:pt x="104358" y="37910"/>
                </a:lnTo>
                <a:lnTo>
                  <a:pt x="76529" y="62776"/>
                </a:lnTo>
                <a:lnTo>
                  <a:pt x="84427" y="99250"/>
                </a:lnTo>
                <a:lnTo>
                  <a:pt x="52179" y="80467"/>
                </a:lnTo>
                <a:lnTo>
                  <a:pt x="19931" y="99250"/>
                </a:lnTo>
                <a:lnTo>
                  <a:pt x="27829" y="62776"/>
                </a:lnTo>
                <a:lnTo>
                  <a:pt x="0" y="37910"/>
                </a:lnTo>
                <a:lnTo>
                  <a:pt x="37130" y="34150"/>
                </a:lnTo>
                <a:close/>
              </a:path>
            </a:pathLst>
          </a:custGeom>
          <a:noFill/>
          <a:ln w="12700" cap="rnd">
            <a:solidFill>
              <a:srgbClr val="12A87B"/>
            </a:solidFill>
            <a:round/>
          </a:ln>
          <a:effectLst/>
        </p:spPr>
        <p:txBody>
          <a:bodyPr rtlCol="0" anchor="ctr"/>
          <a:lstStyle/>
          <a:p>
            <a:pPr algn="ctr"/>
          </a:p>
        </p:txBody>
      </p:sp>
      <p:sp>
        <p:nvSpPr>
          <p:cNvPr id="64" name="Freeform 63"/>
          <p:cNvSpPr/>
          <p:nvPr/>
        </p:nvSpPr>
        <p:spPr>
          <a:xfrm>
            <a:off x="8388706" y="4414723"/>
            <a:ext cx="175564" cy="117043"/>
          </a:xfrm>
          <a:custGeom>
            <a:avLst/>
            <a:gdLst/>
            <a:ahLst/>
            <a:cxnLst/>
            <a:rect l="l" t="t" r="r" b="b"/>
            <a:pathLst>
              <a:path w="175564" h="117043">
                <a:moveTo>
                  <a:pt x="25603" y="0"/>
                </a:moveTo>
                <a:lnTo>
                  <a:pt x="0" y="117043"/>
                </a:lnTo>
                <a:lnTo>
                  <a:pt x="87782" y="80467"/>
                </a:lnTo>
                <a:lnTo>
                  <a:pt x="175564" y="117043"/>
                </a:lnTo>
                <a:lnTo>
                  <a:pt x="149961" y="0"/>
                </a:lnTo>
              </a:path>
            </a:pathLst>
          </a:custGeom>
          <a:noFill/>
          <a:ln w="14288" cap="rnd">
            <a:solidFill>
              <a:srgbClr val="12A87B"/>
            </a:solidFill>
            <a:round/>
          </a:ln>
          <a:effectLst/>
        </p:spPr>
        <p:txBody>
          <a:bodyPr rtlCol="0" anchor="ctr"/>
          <a:lstStyle/>
          <a:p>
            <a:pPr algn="ctr"/>
          </a:p>
        </p:txBody>
      </p:sp>
      <p:sp>
        <p:nvSpPr>
          <p:cNvPr id="65" name="TextBox 64"/>
          <p:cNvSpPr txBox="1"/>
          <p:nvPr/>
        </p:nvSpPr>
        <p:spPr>
          <a:xfrm>
            <a:off x="8293607"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Referência nacional em sustentabilidade</a:t>
            </a:r>
          </a:p>
        </p:txBody>
      </p:sp>
      <p:sp>
        <p:nvSpPr>
          <p:cNvPr id="66" name="TextBox 65"/>
          <p:cNvSpPr txBox="1"/>
          <p:nvPr/>
        </p:nvSpPr>
        <p:spPr>
          <a:xfrm>
            <a:off x="8293607"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Montserrat"/>
              </a:rPr>
              <a:t>Posicionamento pioneiro da Capital.</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Impacto ambiental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Impacto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13</a:t>
            </a:r>
          </a:p>
        </p:txBody>
      </p:sp>
      <p:sp>
        <p:nvSpPr>
          <p:cNvPr id="9" name="Oval 8"/>
          <p:cNvSpPr/>
          <p:nvPr/>
        </p:nvSpPr>
        <p:spPr>
          <a:xfrm>
            <a:off x="2743200" y="2916936"/>
            <a:ext cx="1920240" cy="1920240"/>
          </a:xfrm>
          <a:prstGeom prst="ellipse">
            <a:avLst/>
          </a:prstGeom>
          <a:solidFill>
            <a:srgbClr val="F4F5FC"/>
          </a:solidFill>
          <a:ln w="12700" cap="rnd">
            <a:noFill/>
            <a:round/>
          </a:ln>
          <a:effectLst/>
        </p:spPr>
        <p:txBody>
          <a:bodyPr rtlCol="0" anchor="ctr"/>
          <a:lstStyle/>
          <a:p/>
        </p:txBody>
      </p:sp>
      <p:sp>
        <p:nvSpPr>
          <p:cNvPr id="10" name="Oval 9"/>
          <p:cNvSpPr/>
          <p:nvPr/>
        </p:nvSpPr>
        <p:spPr>
          <a:xfrm>
            <a:off x="2743200" y="2916936"/>
            <a:ext cx="1920240" cy="1920240"/>
          </a:xfrm>
          <a:prstGeom prst="ellipse">
            <a:avLst/>
          </a:prstGeom>
          <a:noFill/>
          <a:ln w="13970" cap="rnd">
            <a:solidFill>
              <a:srgbClr val="3432C9"/>
            </a:solidFill>
            <a:round/>
          </a:ln>
          <a:effectLst/>
        </p:spPr>
        <p:txBody>
          <a:bodyPr rtlCol="0" anchor="ctr"/>
          <a:lstStyle/>
          <a:p/>
        </p:txBody>
      </p:sp>
      <p:sp>
        <p:nvSpPr>
          <p:cNvPr id="11" name="TextBox 10"/>
          <p:cNvSpPr txBox="1"/>
          <p:nvPr/>
        </p:nvSpPr>
        <p:spPr>
          <a:xfrm>
            <a:off x="2788920" y="3419856"/>
            <a:ext cx="1828800" cy="822960"/>
          </a:xfrm>
          <a:prstGeom prst="rect">
            <a:avLst/>
          </a:prstGeom>
          <a:noFill/>
          <a:effectLst/>
        </p:spPr>
        <p:txBody>
          <a:bodyPr wrap="square" lIns="0" rIns="0" tIns="0" bIns="0" anchor="t">
            <a:spAutoFit/>
          </a:bodyPr>
          <a:lstStyle/>
          <a:p>
            <a:pPr algn="ctr">
              <a:lnSpc>
                <a:spcPct val="100000"/>
              </a:lnSpc>
            </a:pPr>
            <a:r>
              <a:rPr sz="3800" b="0" i="0">
                <a:solidFill>
                  <a:srgbClr val="3432C9"/>
                </a:solidFill>
                <a:latin typeface="Montserrat Light"/>
              </a:rPr>
              <a:t>1.000</a:t>
            </a:r>
          </a:p>
        </p:txBody>
      </p:sp>
      <p:sp>
        <p:nvSpPr>
          <p:cNvPr id="12" name="TextBox 11"/>
          <p:cNvSpPr txBox="1"/>
          <p:nvPr/>
        </p:nvSpPr>
        <p:spPr>
          <a:xfrm>
            <a:off x="2788920" y="3950208"/>
            <a:ext cx="1828800" cy="457200"/>
          </a:xfrm>
          <a:prstGeom prst="rect">
            <a:avLst/>
          </a:prstGeom>
          <a:noFill/>
          <a:effectLst/>
        </p:spPr>
        <p:txBody>
          <a:bodyPr wrap="square" lIns="0" rIns="0" tIns="0" bIns="0" anchor="t">
            <a:spAutoFit/>
          </a:bodyPr>
          <a:lstStyle/>
          <a:p>
            <a:pPr algn="ctr">
              <a:lnSpc>
                <a:spcPct val="126000"/>
              </a:lnSpc>
            </a:pPr>
            <a:r>
              <a:rPr sz="880" b="0" i="0">
                <a:solidFill>
                  <a:srgbClr val="6E7288"/>
                </a:solidFill>
                <a:latin typeface="Montserrat Medium"/>
              </a:rPr>
              <a:t>toneladas/mês</a:t>
            </a:r>
          </a:p>
          <a:p>
            <a:pPr algn="ctr">
              <a:lnSpc>
                <a:spcPct val="126000"/>
              </a:lnSpc>
            </a:pPr>
            <a:r>
              <a:rPr sz="880" b="0" i="0">
                <a:solidFill>
                  <a:srgbClr val="6E7288"/>
                </a:solidFill>
                <a:latin typeface="Montserrat Medium"/>
              </a:rPr>
              <a:t>processadas</a:t>
            </a:r>
          </a:p>
        </p:txBody>
      </p:sp>
      <p:cxnSp>
        <p:nvCxnSpPr>
          <p:cNvPr id="13" name="Connector 12"/>
          <p:cNvCxnSpPr/>
          <p:nvPr/>
        </p:nvCxnSpPr>
        <p:spPr>
          <a:xfrm flipH="1" flipV="1">
            <a:off x="2655862" y="2829598"/>
            <a:ext cx="368550" cy="368550"/>
          </a:xfrm>
          <a:prstGeom prst="line">
            <a:avLst/>
          </a:prstGeom>
          <a:ln w="12700" cap="rnd">
            <a:solidFill>
              <a:srgbClr val="DFE2F0"/>
            </a:solidFill>
            <a:prstDash val="sysDash"/>
            <a:round/>
          </a:ln>
          <a:effectLst/>
        </p:spPr>
      </p:cxnSp>
      <p:sp>
        <p:nvSpPr>
          <p:cNvPr id="14" name="Oval 13"/>
          <p:cNvSpPr/>
          <p:nvPr/>
        </p:nvSpPr>
        <p:spPr>
          <a:xfrm>
            <a:off x="2196713" y="2370449"/>
            <a:ext cx="530352" cy="530352"/>
          </a:xfrm>
          <a:prstGeom prst="ellipse">
            <a:avLst/>
          </a:prstGeom>
          <a:solidFill>
            <a:srgbClr val="FFFFFF"/>
          </a:solidFill>
          <a:ln w="15240" cap="rnd">
            <a:solidFill>
              <a:srgbClr val="3432C9"/>
            </a:solidFill>
            <a:round/>
          </a:ln>
          <a:effectLst/>
        </p:spPr>
        <p:txBody>
          <a:bodyPr rtlCol="0" anchor="ctr"/>
          <a:lstStyle/>
          <a:p/>
        </p:txBody>
      </p:sp>
      <p:sp>
        <p:nvSpPr>
          <p:cNvPr id="15" name="Oval 14"/>
          <p:cNvSpPr/>
          <p:nvPr/>
        </p:nvSpPr>
        <p:spPr>
          <a:xfrm>
            <a:off x="2336067" y="2509803"/>
            <a:ext cx="251642" cy="251642"/>
          </a:xfrm>
          <a:prstGeom prst="ellipse">
            <a:avLst/>
          </a:prstGeom>
          <a:noFill/>
          <a:ln w="15875" cap="rnd">
            <a:solidFill>
              <a:srgbClr val="3432C9"/>
            </a:solidFill>
            <a:round/>
          </a:ln>
          <a:effectLst/>
        </p:spPr>
        <p:txBody>
          <a:bodyPr rtlCol="0" anchor="ctr"/>
          <a:lstStyle/>
          <a:p/>
        </p:txBody>
      </p:sp>
      <p:sp>
        <p:nvSpPr>
          <p:cNvPr id="16" name="Freeform 15"/>
          <p:cNvSpPr/>
          <p:nvPr/>
        </p:nvSpPr>
        <p:spPr>
          <a:xfrm>
            <a:off x="2397516" y="2623921"/>
            <a:ext cx="128747" cy="70226"/>
          </a:xfrm>
          <a:custGeom>
            <a:avLst/>
            <a:gdLst/>
            <a:ahLst/>
            <a:cxnLst/>
            <a:rect l="l" t="t" r="r" b="b"/>
            <a:pathLst>
              <a:path w="128747" h="70226">
                <a:moveTo>
                  <a:pt x="0" y="0"/>
                </a:moveTo>
                <a:lnTo>
                  <a:pt x="128747" y="0"/>
                </a:lnTo>
                <a:lnTo>
                  <a:pt x="111191" y="70226"/>
                </a:lnTo>
                <a:lnTo>
                  <a:pt x="17556" y="70226"/>
                </a:lnTo>
                <a:close/>
              </a:path>
            </a:pathLst>
          </a:custGeom>
          <a:noFill/>
          <a:ln w="15081" cap="rnd">
            <a:solidFill>
              <a:srgbClr val="3432C9"/>
            </a:solidFill>
            <a:round/>
          </a:ln>
          <a:effectLst/>
        </p:spPr>
        <p:txBody>
          <a:bodyPr rtlCol="0" anchor="ctr"/>
          <a:lstStyle/>
          <a:p>
            <a:pPr algn="ctr"/>
          </a:p>
        </p:txBody>
      </p:sp>
      <p:sp>
        <p:nvSpPr>
          <p:cNvPr id="17" name="Freeform 16"/>
          <p:cNvSpPr/>
          <p:nvPr/>
        </p:nvSpPr>
        <p:spPr>
          <a:xfrm>
            <a:off x="2385811" y="2623921"/>
            <a:ext cx="152156" cy="0"/>
          </a:xfrm>
          <a:custGeom>
            <a:avLst/>
            <a:gdLst/>
            <a:ahLst/>
            <a:cxnLst/>
            <a:rect l="l" t="t" r="r" b="b"/>
            <a:pathLst>
              <a:path w="152156" h="0">
                <a:moveTo>
                  <a:pt x="0" y="0"/>
                </a:moveTo>
                <a:lnTo>
                  <a:pt x="152156" y="0"/>
                </a:lnTo>
              </a:path>
            </a:pathLst>
          </a:custGeom>
          <a:noFill/>
          <a:ln w="15081" cap="rnd">
            <a:solidFill>
              <a:srgbClr val="3432C9"/>
            </a:solidFill>
            <a:round/>
          </a:ln>
          <a:effectLst/>
        </p:spPr>
        <p:txBody>
          <a:bodyPr rtlCol="0" anchor="ctr"/>
          <a:lstStyle/>
          <a:p>
            <a:pPr algn="ctr"/>
          </a:p>
        </p:txBody>
      </p:sp>
      <p:sp>
        <p:nvSpPr>
          <p:cNvPr id="18" name="Freeform 17"/>
          <p:cNvSpPr/>
          <p:nvPr/>
        </p:nvSpPr>
        <p:spPr>
          <a:xfrm>
            <a:off x="2420924" y="2577104"/>
            <a:ext cx="81931" cy="46817"/>
          </a:xfrm>
          <a:custGeom>
            <a:avLst/>
            <a:gdLst/>
            <a:ahLst/>
            <a:cxnLst/>
            <a:rect l="l" t="t" r="r" b="b"/>
            <a:pathLst>
              <a:path w="81931" h="46817">
                <a:moveTo>
                  <a:pt x="0" y="46817"/>
                </a:moveTo>
                <a:lnTo>
                  <a:pt x="20483" y="11704"/>
                </a:lnTo>
                <a:lnTo>
                  <a:pt x="40965" y="32187"/>
                </a:lnTo>
                <a:lnTo>
                  <a:pt x="61448" y="0"/>
                </a:lnTo>
                <a:lnTo>
                  <a:pt x="81931" y="46817"/>
                </a:lnTo>
              </a:path>
            </a:pathLst>
          </a:custGeom>
          <a:noFill/>
          <a:ln w="12700" cap="rnd">
            <a:solidFill>
              <a:srgbClr val="3432C9"/>
            </a:solidFill>
            <a:round/>
          </a:ln>
          <a:effectLst/>
        </p:spPr>
        <p:txBody>
          <a:bodyPr rtlCol="0" anchor="ctr"/>
          <a:lstStyle/>
          <a:p>
            <a:pPr algn="ctr"/>
          </a:p>
        </p:txBody>
      </p:sp>
      <p:sp>
        <p:nvSpPr>
          <p:cNvPr id="19" name="Freeform 18"/>
          <p:cNvSpPr/>
          <p:nvPr/>
        </p:nvSpPr>
        <p:spPr>
          <a:xfrm>
            <a:off x="2379959" y="2553695"/>
            <a:ext cx="163861" cy="163861"/>
          </a:xfrm>
          <a:custGeom>
            <a:avLst/>
            <a:gdLst/>
            <a:ahLst/>
            <a:cxnLst/>
            <a:rect l="l" t="t" r="r" b="b"/>
            <a:pathLst>
              <a:path w="163861" h="163861">
                <a:moveTo>
                  <a:pt x="0" y="163861"/>
                </a:moveTo>
                <a:lnTo>
                  <a:pt x="163861" y="0"/>
                </a:lnTo>
              </a:path>
            </a:pathLst>
          </a:custGeom>
          <a:noFill/>
          <a:ln w="19050" cap="rnd">
            <a:solidFill>
              <a:srgbClr val="3432C9"/>
            </a:solidFill>
            <a:round/>
          </a:ln>
          <a:effectLst/>
        </p:spPr>
        <p:txBody>
          <a:bodyPr rtlCol="0" anchor="ctr"/>
          <a:lstStyle/>
          <a:p>
            <a:pPr algn="ctr"/>
          </a:p>
        </p:txBody>
      </p:sp>
      <p:sp>
        <p:nvSpPr>
          <p:cNvPr id="20" name="TextBox 19"/>
          <p:cNvSpPr txBox="1"/>
          <p:nvPr/>
        </p:nvSpPr>
        <p:spPr>
          <a:xfrm>
            <a:off x="1410329" y="1730369"/>
            <a:ext cx="2103120" cy="512064"/>
          </a:xfrm>
          <a:prstGeom prst="rect">
            <a:avLst/>
          </a:prstGeom>
          <a:noFill/>
          <a:effectLst/>
        </p:spPr>
        <p:txBody>
          <a:bodyPr wrap="square" lIns="0" rIns="0" tIns="0" bIns="0" anchor="b">
            <a:spAutoFit/>
          </a:bodyPr>
          <a:lstStyle/>
          <a:p>
            <a:pPr algn="ctr">
              <a:lnSpc>
                <a:spcPct val="124000"/>
              </a:lnSpc>
            </a:pPr>
            <a:r>
              <a:rPr sz="900" b="0" i="0">
                <a:solidFill>
                  <a:srgbClr val="3A3C55"/>
                </a:solidFill>
                <a:latin typeface="Montserrat Medium"/>
              </a:rPr>
              <a:t>Redução</a:t>
            </a:r>
          </a:p>
          <a:p>
            <a:pPr algn="ctr">
              <a:lnSpc>
                <a:spcPct val="124000"/>
              </a:lnSpc>
            </a:pPr>
            <a:r>
              <a:rPr sz="900" b="0" i="0">
                <a:solidFill>
                  <a:srgbClr val="3A3C55"/>
                </a:solidFill>
                <a:latin typeface="Montserrat Medium"/>
              </a:rPr>
              <a:t>de descarte</a:t>
            </a:r>
          </a:p>
        </p:txBody>
      </p:sp>
      <p:cxnSp>
        <p:nvCxnSpPr>
          <p:cNvPr id="21" name="Connector 20"/>
          <p:cNvCxnSpPr/>
          <p:nvPr/>
        </p:nvCxnSpPr>
        <p:spPr>
          <a:xfrm flipV="1">
            <a:off x="4382227" y="2829598"/>
            <a:ext cx="368550" cy="368550"/>
          </a:xfrm>
          <a:prstGeom prst="line">
            <a:avLst/>
          </a:prstGeom>
          <a:ln w="12700" cap="rnd">
            <a:solidFill>
              <a:srgbClr val="DFE2F0"/>
            </a:solidFill>
            <a:prstDash val="sysDash"/>
            <a:round/>
          </a:ln>
          <a:effectLst/>
        </p:spPr>
      </p:cxnSp>
      <p:sp>
        <p:nvSpPr>
          <p:cNvPr id="22" name="Oval 21"/>
          <p:cNvSpPr/>
          <p:nvPr/>
        </p:nvSpPr>
        <p:spPr>
          <a:xfrm>
            <a:off x="4679574" y="2370449"/>
            <a:ext cx="530352" cy="530352"/>
          </a:xfrm>
          <a:prstGeom prst="ellipse">
            <a:avLst/>
          </a:prstGeom>
          <a:solidFill>
            <a:srgbClr val="FFFFFF"/>
          </a:solidFill>
          <a:ln w="15240" cap="rnd">
            <a:solidFill>
              <a:srgbClr val="3432C9"/>
            </a:solidFill>
            <a:round/>
          </a:ln>
          <a:effectLst/>
        </p:spPr>
        <p:txBody>
          <a:bodyPr rtlCol="0" anchor="ctr"/>
          <a:lstStyle/>
          <a:p/>
        </p:txBody>
      </p:sp>
      <p:sp>
        <p:nvSpPr>
          <p:cNvPr id="23" name="Freeform 22"/>
          <p:cNvSpPr/>
          <p:nvPr/>
        </p:nvSpPr>
        <p:spPr>
          <a:xfrm>
            <a:off x="4949768" y="2559460"/>
            <a:ext cx="60209" cy="104285"/>
          </a:xfrm>
          <a:custGeom>
            <a:avLst/>
            <a:gdLst/>
            <a:ahLst/>
            <a:cxnLst/>
            <a:rect l="l" t="t" r="r" b="b"/>
            <a:pathLst>
              <a:path w="60209" h="104285">
                <a:moveTo>
                  <a:pt x="0" y="0"/>
                </a:moveTo>
                <a:lnTo>
                  <a:pt x="60209" y="104285"/>
                </a:lnTo>
              </a:path>
            </a:pathLst>
          </a:custGeom>
          <a:noFill/>
          <a:ln w="15875" cap="rnd">
            <a:solidFill>
              <a:srgbClr val="3432C9"/>
            </a:solidFill>
            <a:round/>
          </a:ln>
          <a:effectLst/>
        </p:spPr>
        <p:txBody>
          <a:bodyPr rtlCol="0" anchor="ctr"/>
          <a:lstStyle/>
          <a:p>
            <a:pPr algn="ctr"/>
          </a:p>
        </p:txBody>
      </p:sp>
      <p:sp>
        <p:nvSpPr>
          <p:cNvPr id="24" name="Freeform 23"/>
          <p:cNvSpPr/>
          <p:nvPr/>
        </p:nvSpPr>
        <p:spPr>
          <a:xfrm>
            <a:off x="4982681" y="2631578"/>
            <a:ext cx="27296" cy="32167"/>
          </a:xfrm>
          <a:custGeom>
            <a:avLst/>
            <a:gdLst/>
            <a:ahLst/>
            <a:cxnLst/>
            <a:rect l="l" t="t" r="r" b="b"/>
            <a:pathLst>
              <a:path w="27296" h="32167">
                <a:moveTo>
                  <a:pt x="27296" y="32167"/>
                </a:moveTo>
                <a:lnTo>
                  <a:pt x="0" y="15111"/>
                </a:lnTo>
                <a:lnTo>
                  <a:pt x="26173" y="0"/>
                </a:lnTo>
                <a:close/>
              </a:path>
            </a:pathLst>
          </a:custGeom>
          <a:solidFill>
            <a:srgbClr val="3432C9"/>
          </a:solidFill>
          <a:ln w="9525" cap="rnd">
            <a:solidFill>
              <a:srgbClr val="3432C9"/>
            </a:solidFill>
            <a:round/>
          </a:ln>
          <a:effectLst/>
        </p:spPr>
        <p:txBody>
          <a:bodyPr rtlCol="0" anchor="ctr"/>
          <a:lstStyle/>
          <a:p>
            <a:pPr algn="ctr"/>
          </a:p>
        </p:txBody>
      </p:sp>
      <p:sp>
        <p:nvSpPr>
          <p:cNvPr id="25" name="Freeform 24"/>
          <p:cNvSpPr/>
          <p:nvPr/>
        </p:nvSpPr>
        <p:spPr>
          <a:xfrm>
            <a:off x="4897921" y="2695610"/>
            <a:ext cx="120419" cy="0"/>
          </a:xfrm>
          <a:custGeom>
            <a:avLst/>
            <a:gdLst/>
            <a:ahLst/>
            <a:cxnLst/>
            <a:rect l="l" t="t" r="r" b="b"/>
            <a:pathLst>
              <a:path w="120419" h="0">
                <a:moveTo>
                  <a:pt x="120419" y="0"/>
                </a:moveTo>
                <a:lnTo>
                  <a:pt x="0" y="0"/>
                </a:lnTo>
              </a:path>
            </a:pathLst>
          </a:custGeom>
          <a:noFill/>
          <a:ln w="15875" cap="rnd">
            <a:solidFill>
              <a:srgbClr val="3432C9"/>
            </a:solidFill>
            <a:round/>
          </a:ln>
          <a:effectLst/>
        </p:spPr>
        <p:txBody>
          <a:bodyPr rtlCol="0" anchor="ctr"/>
          <a:lstStyle/>
          <a:p>
            <a:pPr algn="ctr"/>
          </a:p>
        </p:txBody>
      </p:sp>
      <p:sp>
        <p:nvSpPr>
          <p:cNvPr id="26" name="Freeform 25"/>
          <p:cNvSpPr/>
          <p:nvPr/>
        </p:nvSpPr>
        <p:spPr>
          <a:xfrm>
            <a:off x="4897921" y="2680499"/>
            <a:ext cx="28420" cy="30222"/>
          </a:xfrm>
          <a:custGeom>
            <a:avLst/>
            <a:gdLst/>
            <a:ahLst/>
            <a:cxnLst/>
            <a:rect l="l" t="t" r="r" b="b"/>
            <a:pathLst>
              <a:path w="28420" h="30222">
                <a:moveTo>
                  <a:pt x="0" y="15111"/>
                </a:moveTo>
                <a:lnTo>
                  <a:pt x="28420" y="0"/>
                </a:lnTo>
                <a:lnTo>
                  <a:pt x="28420" y="30222"/>
                </a:lnTo>
                <a:close/>
              </a:path>
            </a:pathLst>
          </a:custGeom>
          <a:solidFill>
            <a:srgbClr val="3432C9"/>
          </a:solidFill>
          <a:ln w="9525" cap="rnd">
            <a:solidFill>
              <a:srgbClr val="3432C9"/>
            </a:solidFill>
            <a:round/>
          </a:ln>
          <a:effectLst/>
        </p:spPr>
        <p:txBody>
          <a:bodyPr rtlCol="0" anchor="ctr"/>
          <a:lstStyle/>
          <a:p>
            <a:pPr algn="ctr"/>
          </a:p>
        </p:txBody>
      </p:sp>
      <p:sp>
        <p:nvSpPr>
          <p:cNvPr id="27" name="Freeform 26"/>
          <p:cNvSpPr/>
          <p:nvPr/>
        </p:nvSpPr>
        <p:spPr>
          <a:xfrm>
            <a:off x="4866144" y="2582634"/>
            <a:ext cx="60209" cy="104286"/>
          </a:xfrm>
          <a:custGeom>
            <a:avLst/>
            <a:gdLst/>
            <a:ahLst/>
            <a:cxnLst/>
            <a:rect l="l" t="t" r="r" b="b"/>
            <a:pathLst>
              <a:path w="60209" h="104286">
                <a:moveTo>
                  <a:pt x="0" y="104286"/>
                </a:moveTo>
                <a:lnTo>
                  <a:pt x="60209"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4899057" y="2582634"/>
            <a:ext cx="27296" cy="32167"/>
          </a:xfrm>
          <a:custGeom>
            <a:avLst/>
            <a:gdLst/>
            <a:ahLst/>
            <a:cxnLst/>
            <a:rect l="l" t="t" r="r" b="b"/>
            <a:pathLst>
              <a:path w="27296" h="32167">
                <a:moveTo>
                  <a:pt x="27296" y="0"/>
                </a:moveTo>
                <a:lnTo>
                  <a:pt x="26173" y="32167"/>
                </a:lnTo>
                <a:lnTo>
                  <a:pt x="0" y="17057"/>
                </a:lnTo>
                <a:close/>
              </a:path>
            </a:pathLst>
          </a:custGeom>
          <a:solidFill>
            <a:srgbClr val="3432C9"/>
          </a:solidFill>
          <a:ln w="9525" cap="rnd">
            <a:solidFill>
              <a:srgbClr val="3432C9"/>
            </a:solidFill>
            <a:round/>
          </a:ln>
          <a:effectLst/>
        </p:spPr>
        <p:txBody>
          <a:bodyPr rtlCol="0" anchor="ctr"/>
          <a:lstStyle/>
          <a:p>
            <a:pPr algn="ctr"/>
          </a:p>
        </p:txBody>
      </p:sp>
      <p:sp>
        <p:nvSpPr>
          <p:cNvPr id="29" name="TextBox 28"/>
          <p:cNvSpPr txBox="1"/>
          <p:nvPr/>
        </p:nvSpPr>
        <p:spPr>
          <a:xfrm>
            <a:off x="3893190" y="1730369"/>
            <a:ext cx="2103120" cy="512064"/>
          </a:xfrm>
          <a:prstGeom prst="rect">
            <a:avLst/>
          </a:prstGeom>
          <a:noFill/>
          <a:effectLst/>
        </p:spPr>
        <p:txBody>
          <a:bodyPr wrap="square" lIns="0" rIns="0" tIns="0" bIns="0" anchor="b">
            <a:spAutoFit/>
          </a:bodyPr>
          <a:lstStyle/>
          <a:p>
            <a:pPr algn="ctr">
              <a:lnSpc>
                <a:spcPct val="124000"/>
              </a:lnSpc>
            </a:pPr>
            <a:r>
              <a:rPr sz="900" b="0" i="0">
                <a:solidFill>
                  <a:srgbClr val="3A3C55"/>
                </a:solidFill>
                <a:latin typeface="Montserrat Medium"/>
              </a:rPr>
              <a:t>Aproveitamento</a:t>
            </a:r>
          </a:p>
          <a:p>
            <a:pPr algn="ctr">
              <a:lnSpc>
                <a:spcPct val="124000"/>
              </a:lnSpc>
            </a:pPr>
            <a:r>
              <a:rPr sz="900" b="0" i="0">
                <a:solidFill>
                  <a:srgbClr val="3A3C55"/>
                </a:solidFill>
                <a:latin typeface="Montserrat Medium"/>
              </a:rPr>
              <a:t>máximo</a:t>
            </a:r>
          </a:p>
        </p:txBody>
      </p:sp>
      <p:cxnSp>
        <p:nvCxnSpPr>
          <p:cNvPr id="30" name="Connector 29"/>
          <p:cNvCxnSpPr/>
          <p:nvPr/>
        </p:nvCxnSpPr>
        <p:spPr>
          <a:xfrm flipH="1">
            <a:off x="2655862" y="4555963"/>
            <a:ext cx="368550" cy="368550"/>
          </a:xfrm>
          <a:prstGeom prst="line">
            <a:avLst/>
          </a:prstGeom>
          <a:ln w="12700" cap="rnd">
            <a:solidFill>
              <a:srgbClr val="DFE2F0"/>
            </a:solidFill>
            <a:prstDash val="sysDash"/>
            <a:round/>
          </a:ln>
          <a:effectLst/>
        </p:spPr>
      </p:cxnSp>
      <p:sp>
        <p:nvSpPr>
          <p:cNvPr id="31" name="Oval 30"/>
          <p:cNvSpPr/>
          <p:nvPr/>
        </p:nvSpPr>
        <p:spPr>
          <a:xfrm>
            <a:off x="2196713" y="4853310"/>
            <a:ext cx="530352" cy="530352"/>
          </a:xfrm>
          <a:prstGeom prst="ellipse">
            <a:avLst/>
          </a:prstGeom>
          <a:solidFill>
            <a:srgbClr val="FFFFFF"/>
          </a:solidFill>
          <a:ln w="15240" cap="rnd">
            <a:solidFill>
              <a:srgbClr val="3432C9"/>
            </a:solidFill>
            <a:round/>
          </a:ln>
          <a:effectLst/>
        </p:spPr>
        <p:txBody>
          <a:bodyPr rtlCol="0" anchor="ctr"/>
          <a:lstStyle/>
          <a:p/>
        </p:txBody>
      </p:sp>
      <p:sp>
        <p:nvSpPr>
          <p:cNvPr id="32" name="Freeform 31"/>
          <p:cNvSpPr/>
          <p:nvPr/>
        </p:nvSpPr>
        <p:spPr>
          <a:xfrm>
            <a:off x="2461889" y="5036556"/>
            <a:ext cx="0" cy="181417"/>
          </a:xfrm>
          <a:custGeom>
            <a:avLst/>
            <a:gdLst/>
            <a:ahLst/>
            <a:cxnLst/>
            <a:rect l="l" t="t" r="r" b="b"/>
            <a:pathLst>
              <a:path w="0" h="181417">
                <a:moveTo>
                  <a:pt x="0" y="0"/>
                </a:moveTo>
                <a:lnTo>
                  <a:pt x="0" y="181417"/>
                </a:lnTo>
              </a:path>
            </a:pathLst>
          </a:custGeom>
          <a:noFill/>
          <a:ln w="15875" cap="rnd">
            <a:solidFill>
              <a:srgbClr val="3432C9"/>
            </a:solidFill>
            <a:round/>
          </a:ln>
          <a:effectLst/>
        </p:spPr>
        <p:txBody>
          <a:bodyPr rtlCol="0" anchor="ctr"/>
          <a:lstStyle/>
          <a:p>
            <a:pPr algn="ctr"/>
          </a:p>
        </p:txBody>
      </p:sp>
      <p:sp>
        <p:nvSpPr>
          <p:cNvPr id="33" name="Freeform 32"/>
          <p:cNvSpPr/>
          <p:nvPr/>
        </p:nvSpPr>
        <p:spPr>
          <a:xfrm>
            <a:off x="2362403" y="5059965"/>
            <a:ext cx="198973" cy="0"/>
          </a:xfrm>
          <a:custGeom>
            <a:avLst/>
            <a:gdLst/>
            <a:ahLst/>
            <a:cxnLst/>
            <a:rect l="l" t="t" r="r" b="b"/>
            <a:pathLst>
              <a:path w="198973" h="0">
                <a:moveTo>
                  <a:pt x="0" y="0"/>
                </a:moveTo>
                <a:lnTo>
                  <a:pt x="198973" y="0"/>
                </a:lnTo>
              </a:path>
            </a:pathLst>
          </a:custGeom>
          <a:noFill/>
          <a:ln w="15875" cap="rnd">
            <a:solidFill>
              <a:srgbClr val="3432C9"/>
            </a:solidFill>
            <a:round/>
          </a:ln>
          <a:effectLst/>
        </p:spPr>
        <p:txBody>
          <a:bodyPr rtlCol="0" anchor="ctr"/>
          <a:lstStyle/>
          <a:p>
            <a:pPr algn="ctr"/>
          </a:p>
        </p:txBody>
      </p:sp>
      <p:sp>
        <p:nvSpPr>
          <p:cNvPr id="34" name="Freeform 33"/>
          <p:cNvSpPr/>
          <p:nvPr/>
        </p:nvSpPr>
        <p:spPr>
          <a:xfrm>
            <a:off x="2409220" y="5217973"/>
            <a:ext cx="105339" cy="0"/>
          </a:xfrm>
          <a:custGeom>
            <a:avLst/>
            <a:gdLst/>
            <a:ahLst/>
            <a:cxnLst/>
            <a:rect l="l" t="t" r="r" b="b"/>
            <a:pathLst>
              <a:path w="105339" h="0">
                <a:moveTo>
                  <a:pt x="0" y="0"/>
                </a:moveTo>
                <a:lnTo>
                  <a:pt x="105339" y="0"/>
                </a:lnTo>
              </a:path>
            </a:pathLst>
          </a:custGeom>
          <a:noFill/>
          <a:ln w="15875" cap="rnd">
            <a:solidFill>
              <a:srgbClr val="3432C9"/>
            </a:solidFill>
            <a:round/>
          </a:ln>
          <a:effectLst/>
        </p:spPr>
        <p:txBody>
          <a:bodyPr rtlCol="0" anchor="ctr"/>
          <a:lstStyle/>
          <a:p>
            <a:pPr algn="ctr"/>
          </a:p>
        </p:txBody>
      </p:sp>
      <p:sp>
        <p:nvSpPr>
          <p:cNvPr id="35" name="Freeform 34"/>
          <p:cNvSpPr/>
          <p:nvPr/>
        </p:nvSpPr>
        <p:spPr>
          <a:xfrm>
            <a:off x="2324364" y="5059965"/>
            <a:ext cx="38039" cy="46817"/>
          </a:xfrm>
          <a:custGeom>
            <a:avLst/>
            <a:gdLst/>
            <a:ahLst/>
            <a:cxnLst/>
            <a:rect l="l" t="t" r="r" b="b"/>
            <a:pathLst>
              <a:path w="38039" h="46817">
                <a:moveTo>
                  <a:pt x="38039" y="0"/>
                </a:moveTo>
                <a:lnTo>
                  <a:pt x="0" y="46817"/>
                </a:lnTo>
              </a:path>
            </a:pathLst>
          </a:custGeom>
          <a:noFill/>
          <a:ln w="9525" cap="rnd">
            <a:solidFill>
              <a:srgbClr val="3432C9"/>
            </a:solidFill>
            <a:round/>
          </a:ln>
          <a:effectLst/>
        </p:spPr>
        <p:txBody>
          <a:bodyPr rtlCol="0" anchor="ctr"/>
          <a:lstStyle/>
          <a:p>
            <a:pPr algn="ctr"/>
          </a:p>
        </p:txBody>
      </p:sp>
      <p:sp>
        <p:nvSpPr>
          <p:cNvPr id="36" name="Freeform 35"/>
          <p:cNvSpPr/>
          <p:nvPr/>
        </p:nvSpPr>
        <p:spPr>
          <a:xfrm>
            <a:off x="2362403" y="5059965"/>
            <a:ext cx="38039" cy="46817"/>
          </a:xfrm>
          <a:custGeom>
            <a:avLst/>
            <a:gdLst/>
            <a:ahLst/>
            <a:cxnLst/>
            <a:rect l="l" t="t" r="r" b="b"/>
            <a:pathLst>
              <a:path w="38039" h="46817">
                <a:moveTo>
                  <a:pt x="0" y="0"/>
                </a:moveTo>
                <a:lnTo>
                  <a:pt x="38039" y="46817"/>
                </a:lnTo>
              </a:path>
            </a:pathLst>
          </a:custGeom>
          <a:noFill/>
          <a:ln w="9525" cap="rnd">
            <a:solidFill>
              <a:srgbClr val="3432C9"/>
            </a:solidFill>
            <a:round/>
          </a:ln>
          <a:effectLst/>
        </p:spPr>
        <p:txBody>
          <a:bodyPr rtlCol="0" anchor="ctr"/>
          <a:lstStyle/>
          <a:p>
            <a:pPr algn="ctr"/>
          </a:p>
        </p:txBody>
      </p:sp>
      <p:sp>
        <p:nvSpPr>
          <p:cNvPr id="37" name="Freeform 36"/>
          <p:cNvSpPr/>
          <p:nvPr/>
        </p:nvSpPr>
        <p:spPr>
          <a:xfrm>
            <a:off x="2324364" y="5106782"/>
            <a:ext cx="76078" cy="35113"/>
          </a:xfrm>
          <a:custGeom>
            <a:avLst/>
            <a:gdLst/>
            <a:ahLst/>
            <a:cxnLst/>
            <a:rect l="l" t="t" r="r" b="b"/>
            <a:pathLst>
              <a:path w="76078" h="35113">
                <a:moveTo>
                  <a:pt x="76078" y="0"/>
                </a:moveTo>
                <a:lnTo>
                  <a:pt x="75500" y="6098"/>
                </a:lnTo>
                <a:lnTo>
                  <a:pt x="73784" y="12010"/>
                </a:lnTo>
                <a:lnTo>
                  <a:pt x="70981" y="17557"/>
                </a:lnTo>
                <a:lnTo>
                  <a:pt x="67178" y="22570"/>
                </a:lnTo>
                <a:lnTo>
                  <a:pt x="62490" y="26898"/>
                </a:lnTo>
                <a:lnTo>
                  <a:pt x="57058" y="30409"/>
                </a:lnTo>
                <a:lnTo>
                  <a:pt x="51049" y="32996"/>
                </a:lnTo>
                <a:lnTo>
                  <a:pt x="44644" y="34580"/>
                </a:lnTo>
                <a:lnTo>
                  <a:pt x="38039" y="35113"/>
                </a:lnTo>
                <a:lnTo>
                  <a:pt x="31433" y="34580"/>
                </a:lnTo>
                <a:lnTo>
                  <a:pt x="25029" y="32996"/>
                </a:lnTo>
                <a:lnTo>
                  <a:pt x="19019" y="30409"/>
                </a:lnTo>
                <a:lnTo>
                  <a:pt x="13588" y="26898"/>
                </a:lnTo>
                <a:lnTo>
                  <a:pt x="8899" y="22570"/>
                </a:lnTo>
                <a:lnTo>
                  <a:pt x="5096" y="17557"/>
                </a:lnTo>
                <a:lnTo>
                  <a:pt x="2294" y="12010"/>
                </a:lnTo>
                <a:lnTo>
                  <a:pt x="578" y="6098"/>
                </a:lnTo>
                <a:lnTo>
                  <a:pt x="0" y="0"/>
                </a:lnTo>
              </a:path>
            </a:pathLst>
          </a:custGeom>
          <a:noFill/>
          <a:ln w="14288" cap="rnd">
            <a:solidFill>
              <a:srgbClr val="3432C9"/>
            </a:solidFill>
            <a:round/>
          </a:ln>
          <a:effectLst/>
        </p:spPr>
        <p:txBody>
          <a:bodyPr rtlCol="0" anchor="ctr"/>
          <a:lstStyle/>
          <a:p>
            <a:pPr algn="ctr"/>
          </a:p>
        </p:txBody>
      </p:sp>
      <p:sp>
        <p:nvSpPr>
          <p:cNvPr id="38" name="Freeform 37"/>
          <p:cNvSpPr/>
          <p:nvPr/>
        </p:nvSpPr>
        <p:spPr>
          <a:xfrm>
            <a:off x="2523337" y="5059965"/>
            <a:ext cx="38039" cy="46817"/>
          </a:xfrm>
          <a:custGeom>
            <a:avLst/>
            <a:gdLst/>
            <a:ahLst/>
            <a:cxnLst/>
            <a:rect l="l" t="t" r="r" b="b"/>
            <a:pathLst>
              <a:path w="38039" h="46817">
                <a:moveTo>
                  <a:pt x="38039" y="0"/>
                </a:moveTo>
                <a:lnTo>
                  <a:pt x="0" y="46817"/>
                </a:lnTo>
              </a:path>
            </a:pathLst>
          </a:custGeom>
          <a:noFill/>
          <a:ln w="9525" cap="rnd">
            <a:solidFill>
              <a:srgbClr val="3432C9"/>
            </a:solidFill>
            <a:round/>
          </a:ln>
          <a:effectLst/>
        </p:spPr>
        <p:txBody>
          <a:bodyPr rtlCol="0" anchor="ctr"/>
          <a:lstStyle/>
          <a:p>
            <a:pPr algn="ctr"/>
          </a:p>
        </p:txBody>
      </p:sp>
      <p:sp>
        <p:nvSpPr>
          <p:cNvPr id="39" name="Freeform 38"/>
          <p:cNvSpPr/>
          <p:nvPr/>
        </p:nvSpPr>
        <p:spPr>
          <a:xfrm>
            <a:off x="2561376" y="5059965"/>
            <a:ext cx="38039" cy="46817"/>
          </a:xfrm>
          <a:custGeom>
            <a:avLst/>
            <a:gdLst/>
            <a:ahLst/>
            <a:cxnLst/>
            <a:rect l="l" t="t" r="r" b="b"/>
            <a:pathLst>
              <a:path w="38039" h="46817">
                <a:moveTo>
                  <a:pt x="0" y="0"/>
                </a:moveTo>
                <a:lnTo>
                  <a:pt x="38039" y="46817"/>
                </a:lnTo>
              </a:path>
            </a:pathLst>
          </a:custGeom>
          <a:noFill/>
          <a:ln w="9525" cap="rnd">
            <a:solidFill>
              <a:srgbClr val="3432C9"/>
            </a:solidFill>
            <a:round/>
          </a:ln>
          <a:effectLst/>
        </p:spPr>
        <p:txBody>
          <a:bodyPr rtlCol="0" anchor="ctr"/>
          <a:lstStyle/>
          <a:p>
            <a:pPr algn="ctr"/>
          </a:p>
        </p:txBody>
      </p:sp>
      <p:sp>
        <p:nvSpPr>
          <p:cNvPr id="40" name="Freeform 39"/>
          <p:cNvSpPr/>
          <p:nvPr/>
        </p:nvSpPr>
        <p:spPr>
          <a:xfrm>
            <a:off x="2523337" y="5106782"/>
            <a:ext cx="76078" cy="35113"/>
          </a:xfrm>
          <a:custGeom>
            <a:avLst/>
            <a:gdLst/>
            <a:ahLst/>
            <a:cxnLst/>
            <a:rect l="l" t="t" r="r" b="b"/>
            <a:pathLst>
              <a:path w="76078" h="35113">
                <a:moveTo>
                  <a:pt x="76078" y="0"/>
                </a:moveTo>
                <a:lnTo>
                  <a:pt x="75500" y="6098"/>
                </a:lnTo>
                <a:lnTo>
                  <a:pt x="73784" y="12010"/>
                </a:lnTo>
                <a:lnTo>
                  <a:pt x="70982" y="17557"/>
                </a:lnTo>
                <a:lnTo>
                  <a:pt x="67179" y="22570"/>
                </a:lnTo>
                <a:lnTo>
                  <a:pt x="62490" y="26898"/>
                </a:lnTo>
                <a:lnTo>
                  <a:pt x="57059" y="30409"/>
                </a:lnTo>
                <a:lnTo>
                  <a:pt x="51049" y="32996"/>
                </a:lnTo>
                <a:lnTo>
                  <a:pt x="44645" y="34580"/>
                </a:lnTo>
                <a:lnTo>
                  <a:pt x="38039" y="35113"/>
                </a:lnTo>
                <a:lnTo>
                  <a:pt x="31434" y="34580"/>
                </a:lnTo>
                <a:lnTo>
                  <a:pt x="25029" y="32996"/>
                </a:lnTo>
                <a:lnTo>
                  <a:pt x="19020" y="30409"/>
                </a:lnTo>
                <a:lnTo>
                  <a:pt x="13588" y="26898"/>
                </a:lnTo>
                <a:lnTo>
                  <a:pt x="8900" y="22570"/>
                </a:lnTo>
                <a:lnTo>
                  <a:pt x="5096" y="17557"/>
                </a:lnTo>
                <a:lnTo>
                  <a:pt x="2294" y="12010"/>
                </a:lnTo>
                <a:lnTo>
                  <a:pt x="578" y="6098"/>
                </a:lnTo>
                <a:lnTo>
                  <a:pt x="0" y="0"/>
                </a:lnTo>
              </a:path>
            </a:pathLst>
          </a:custGeom>
          <a:noFill/>
          <a:ln w="14288" cap="rnd">
            <a:solidFill>
              <a:srgbClr val="3432C9"/>
            </a:solidFill>
            <a:round/>
          </a:ln>
          <a:effectLst/>
        </p:spPr>
        <p:txBody>
          <a:bodyPr rtlCol="0" anchor="ctr"/>
          <a:lstStyle/>
          <a:p>
            <a:pPr algn="ctr"/>
          </a:p>
        </p:txBody>
      </p:sp>
      <p:sp>
        <p:nvSpPr>
          <p:cNvPr id="41" name="Oval 40"/>
          <p:cNvSpPr/>
          <p:nvPr/>
        </p:nvSpPr>
        <p:spPr>
          <a:xfrm>
            <a:off x="2442869" y="5011684"/>
            <a:ext cx="38039" cy="38039"/>
          </a:xfrm>
          <a:prstGeom prst="ellipse">
            <a:avLst/>
          </a:prstGeom>
          <a:solidFill>
            <a:srgbClr val="FFFFFF"/>
          </a:solidFill>
          <a:ln w="14288" cap="rnd">
            <a:solidFill>
              <a:srgbClr val="3432C9"/>
            </a:solidFill>
            <a:round/>
          </a:ln>
          <a:effectLst/>
        </p:spPr>
        <p:txBody>
          <a:bodyPr rtlCol="0" anchor="ctr"/>
          <a:lstStyle/>
          <a:p/>
        </p:txBody>
      </p:sp>
      <p:sp>
        <p:nvSpPr>
          <p:cNvPr id="42" name="TextBox 41"/>
          <p:cNvSpPr txBox="1"/>
          <p:nvPr/>
        </p:nvSpPr>
        <p:spPr>
          <a:xfrm>
            <a:off x="1410329" y="5511678"/>
            <a:ext cx="2103120" cy="512064"/>
          </a:xfrm>
          <a:prstGeom prst="rect">
            <a:avLst/>
          </a:prstGeom>
          <a:noFill/>
          <a:effectLst/>
        </p:spPr>
        <p:txBody>
          <a:bodyPr wrap="square" lIns="0" rIns="0" tIns="0" bIns="0" anchor="t">
            <a:spAutoFit/>
          </a:bodyPr>
          <a:lstStyle/>
          <a:p>
            <a:pPr algn="ctr">
              <a:lnSpc>
                <a:spcPct val="124000"/>
              </a:lnSpc>
            </a:pPr>
            <a:r>
              <a:rPr sz="900" b="0" i="0">
                <a:solidFill>
                  <a:srgbClr val="3A3C55"/>
                </a:solidFill>
                <a:latin typeface="Montserrat Medium"/>
              </a:rPr>
              <a:t>Redução do envio</a:t>
            </a:r>
          </a:p>
          <a:p>
            <a:pPr algn="ctr">
              <a:lnSpc>
                <a:spcPct val="124000"/>
              </a:lnSpc>
            </a:pPr>
            <a:r>
              <a:rPr sz="900" b="0" i="0">
                <a:solidFill>
                  <a:srgbClr val="3A3C55"/>
                </a:solidFill>
                <a:latin typeface="Montserrat Medium"/>
              </a:rPr>
              <a:t>a aterros</a:t>
            </a:r>
          </a:p>
        </p:txBody>
      </p:sp>
      <p:cxnSp>
        <p:nvCxnSpPr>
          <p:cNvPr id="43" name="Connector 42"/>
          <p:cNvCxnSpPr/>
          <p:nvPr/>
        </p:nvCxnSpPr>
        <p:spPr>
          <a:xfrm>
            <a:off x="4382227" y="4555963"/>
            <a:ext cx="368550" cy="368550"/>
          </a:xfrm>
          <a:prstGeom prst="line">
            <a:avLst/>
          </a:prstGeom>
          <a:ln w="12700" cap="rnd">
            <a:solidFill>
              <a:srgbClr val="DFE2F0"/>
            </a:solidFill>
            <a:prstDash val="sysDash"/>
            <a:round/>
          </a:ln>
          <a:effectLst/>
        </p:spPr>
      </p:cxnSp>
      <p:sp>
        <p:nvSpPr>
          <p:cNvPr id="44" name="Oval 43"/>
          <p:cNvSpPr/>
          <p:nvPr/>
        </p:nvSpPr>
        <p:spPr>
          <a:xfrm>
            <a:off x="4679574" y="4853310"/>
            <a:ext cx="530352" cy="530352"/>
          </a:xfrm>
          <a:prstGeom prst="ellipse">
            <a:avLst/>
          </a:prstGeom>
          <a:solidFill>
            <a:srgbClr val="FFFFFF"/>
          </a:solidFill>
          <a:ln w="15240" cap="rnd">
            <a:solidFill>
              <a:srgbClr val="12A87B"/>
            </a:solidFill>
            <a:round/>
          </a:ln>
          <a:effectLst/>
        </p:spPr>
        <p:txBody>
          <a:bodyPr rtlCol="0" anchor="ctr"/>
          <a:lstStyle/>
          <a:p/>
        </p:txBody>
      </p:sp>
      <p:sp>
        <p:nvSpPr>
          <p:cNvPr id="45" name="Freeform 44"/>
          <p:cNvSpPr/>
          <p:nvPr/>
        </p:nvSpPr>
        <p:spPr>
          <a:xfrm>
            <a:off x="4909674" y="5044702"/>
            <a:ext cx="128610" cy="167419"/>
          </a:xfrm>
          <a:custGeom>
            <a:avLst/>
            <a:gdLst/>
            <a:ahLst/>
            <a:cxnLst/>
            <a:rect l="l" t="t" r="r" b="b"/>
            <a:pathLst>
              <a:path w="128610" h="167419">
                <a:moveTo>
                  <a:pt x="92724" y="0"/>
                </a:moveTo>
                <a:lnTo>
                  <a:pt x="99491" y="5827"/>
                </a:lnTo>
                <a:lnTo>
                  <a:pt x="105672" y="12273"/>
                </a:lnTo>
                <a:lnTo>
                  <a:pt x="111211" y="19278"/>
                </a:lnTo>
                <a:lnTo>
                  <a:pt x="116057" y="26779"/>
                </a:lnTo>
                <a:lnTo>
                  <a:pt x="120167" y="34707"/>
                </a:lnTo>
                <a:lnTo>
                  <a:pt x="123503" y="42991"/>
                </a:lnTo>
                <a:lnTo>
                  <a:pt x="126034" y="51555"/>
                </a:lnTo>
                <a:lnTo>
                  <a:pt x="127738" y="60322"/>
                </a:lnTo>
                <a:lnTo>
                  <a:pt x="128599" y="69211"/>
                </a:lnTo>
                <a:lnTo>
                  <a:pt x="128610" y="78141"/>
                </a:lnTo>
                <a:lnTo>
                  <a:pt x="127769" y="87032"/>
                </a:lnTo>
                <a:lnTo>
                  <a:pt x="126086" y="95802"/>
                </a:lnTo>
                <a:lnTo>
                  <a:pt x="123574" y="104372"/>
                </a:lnTo>
                <a:lnTo>
                  <a:pt x="120258" y="112664"/>
                </a:lnTo>
                <a:lnTo>
                  <a:pt x="116167" y="120602"/>
                </a:lnTo>
                <a:lnTo>
                  <a:pt x="111338" y="128114"/>
                </a:lnTo>
                <a:lnTo>
                  <a:pt x="105815" y="135132"/>
                </a:lnTo>
                <a:lnTo>
                  <a:pt x="99649" y="141592"/>
                </a:lnTo>
                <a:lnTo>
                  <a:pt x="92895" y="147435"/>
                </a:lnTo>
                <a:lnTo>
                  <a:pt x="85616" y="152609"/>
                </a:lnTo>
                <a:lnTo>
                  <a:pt x="77877" y="157065"/>
                </a:lnTo>
                <a:lnTo>
                  <a:pt x="69748" y="160763"/>
                </a:lnTo>
                <a:lnTo>
                  <a:pt x="61304" y="163671"/>
                </a:lnTo>
                <a:lnTo>
                  <a:pt x="52622" y="165761"/>
                </a:lnTo>
                <a:lnTo>
                  <a:pt x="43780" y="167014"/>
                </a:lnTo>
                <a:lnTo>
                  <a:pt x="34859" y="167419"/>
                </a:lnTo>
                <a:lnTo>
                  <a:pt x="25939" y="166972"/>
                </a:lnTo>
                <a:lnTo>
                  <a:pt x="17103" y="165678"/>
                </a:lnTo>
                <a:lnTo>
                  <a:pt x="8431" y="163548"/>
                </a:lnTo>
                <a:lnTo>
                  <a:pt x="0" y="160601"/>
                </a:lnTo>
              </a:path>
            </a:pathLst>
          </a:custGeom>
          <a:noFill/>
          <a:ln w="15875" cap="rnd">
            <a:solidFill>
              <a:srgbClr val="12A87B"/>
            </a:solidFill>
            <a:round/>
          </a:ln>
          <a:effectLst/>
        </p:spPr>
        <p:txBody>
          <a:bodyPr rtlCol="0" anchor="ctr"/>
          <a:lstStyle/>
          <a:p>
            <a:pPr algn="ctr"/>
          </a:p>
        </p:txBody>
      </p:sp>
      <p:sp>
        <p:nvSpPr>
          <p:cNvPr id="46" name="Freeform 45"/>
          <p:cNvSpPr/>
          <p:nvPr/>
        </p:nvSpPr>
        <p:spPr>
          <a:xfrm>
            <a:off x="4909674" y="5196862"/>
            <a:ext cx="54951" cy="49277"/>
          </a:xfrm>
          <a:custGeom>
            <a:avLst/>
            <a:gdLst/>
            <a:ahLst/>
            <a:cxnLst/>
            <a:rect l="l" t="t" r="r" b="b"/>
            <a:pathLst>
              <a:path w="54951" h="49277">
                <a:moveTo>
                  <a:pt x="0" y="8441"/>
                </a:moveTo>
                <a:lnTo>
                  <a:pt x="54951" y="0"/>
                </a:lnTo>
                <a:lnTo>
                  <a:pt x="37727" y="49277"/>
                </a:lnTo>
                <a:close/>
              </a:path>
            </a:pathLst>
          </a:custGeom>
          <a:solidFill>
            <a:srgbClr val="12A87B"/>
          </a:solidFill>
          <a:ln w="9525" cap="rnd">
            <a:solidFill>
              <a:srgbClr val="12A87B"/>
            </a:solidFill>
            <a:round/>
          </a:ln>
          <a:effectLst/>
        </p:spPr>
        <p:txBody>
          <a:bodyPr rtlCol="0" anchor="ctr"/>
          <a:lstStyle/>
          <a:p>
            <a:pPr algn="ctr"/>
          </a:p>
        </p:txBody>
      </p:sp>
      <p:sp>
        <p:nvSpPr>
          <p:cNvPr id="47" name="Freeform 46"/>
          <p:cNvSpPr/>
          <p:nvPr/>
        </p:nvSpPr>
        <p:spPr>
          <a:xfrm>
            <a:off x="4851217" y="5024852"/>
            <a:ext cx="128610" cy="167420"/>
          </a:xfrm>
          <a:custGeom>
            <a:avLst/>
            <a:gdLst/>
            <a:ahLst/>
            <a:cxnLst/>
            <a:rect l="l" t="t" r="r" b="b"/>
            <a:pathLst>
              <a:path w="128610" h="167420">
                <a:moveTo>
                  <a:pt x="35886" y="167420"/>
                </a:moveTo>
                <a:lnTo>
                  <a:pt x="29119" y="161592"/>
                </a:lnTo>
                <a:lnTo>
                  <a:pt x="22938" y="155147"/>
                </a:lnTo>
                <a:lnTo>
                  <a:pt x="17399" y="148141"/>
                </a:lnTo>
                <a:lnTo>
                  <a:pt x="12553" y="140640"/>
                </a:lnTo>
                <a:lnTo>
                  <a:pt x="8443" y="132712"/>
                </a:lnTo>
                <a:lnTo>
                  <a:pt x="5107" y="124428"/>
                </a:lnTo>
                <a:lnTo>
                  <a:pt x="2576" y="115864"/>
                </a:lnTo>
                <a:lnTo>
                  <a:pt x="872" y="107097"/>
                </a:lnTo>
                <a:lnTo>
                  <a:pt x="11" y="98209"/>
                </a:lnTo>
                <a:lnTo>
                  <a:pt x="0" y="89278"/>
                </a:lnTo>
                <a:lnTo>
                  <a:pt x="841" y="80387"/>
                </a:lnTo>
                <a:lnTo>
                  <a:pt x="2524" y="71617"/>
                </a:lnTo>
                <a:lnTo>
                  <a:pt x="5036" y="63047"/>
                </a:lnTo>
                <a:lnTo>
                  <a:pt x="8352" y="54755"/>
                </a:lnTo>
                <a:lnTo>
                  <a:pt x="12444" y="46817"/>
                </a:lnTo>
                <a:lnTo>
                  <a:pt x="17273" y="39305"/>
                </a:lnTo>
                <a:lnTo>
                  <a:pt x="22795" y="32287"/>
                </a:lnTo>
                <a:lnTo>
                  <a:pt x="28961" y="25827"/>
                </a:lnTo>
                <a:lnTo>
                  <a:pt x="35715" y="19984"/>
                </a:lnTo>
                <a:lnTo>
                  <a:pt x="42994" y="14811"/>
                </a:lnTo>
                <a:lnTo>
                  <a:pt x="50733" y="10354"/>
                </a:lnTo>
                <a:lnTo>
                  <a:pt x="58862" y="6656"/>
                </a:lnTo>
                <a:lnTo>
                  <a:pt x="67306" y="3748"/>
                </a:lnTo>
                <a:lnTo>
                  <a:pt x="75988" y="1659"/>
                </a:lnTo>
                <a:lnTo>
                  <a:pt x="84830" y="405"/>
                </a:lnTo>
                <a:lnTo>
                  <a:pt x="93752" y="0"/>
                </a:lnTo>
                <a:lnTo>
                  <a:pt x="102671" y="447"/>
                </a:lnTo>
                <a:lnTo>
                  <a:pt x="111507" y="1741"/>
                </a:lnTo>
                <a:lnTo>
                  <a:pt x="120179" y="3871"/>
                </a:lnTo>
                <a:lnTo>
                  <a:pt x="128610" y="6818"/>
                </a:lnTo>
              </a:path>
            </a:pathLst>
          </a:custGeom>
          <a:noFill/>
          <a:ln w="15875" cap="rnd">
            <a:solidFill>
              <a:srgbClr val="12A87B"/>
            </a:solidFill>
            <a:round/>
          </a:ln>
          <a:effectLst/>
        </p:spPr>
        <p:txBody>
          <a:bodyPr rtlCol="0" anchor="ctr"/>
          <a:lstStyle/>
          <a:p>
            <a:pPr algn="ctr"/>
          </a:p>
        </p:txBody>
      </p:sp>
      <p:sp>
        <p:nvSpPr>
          <p:cNvPr id="48" name="Freeform 47"/>
          <p:cNvSpPr/>
          <p:nvPr/>
        </p:nvSpPr>
        <p:spPr>
          <a:xfrm>
            <a:off x="4924876" y="4990834"/>
            <a:ext cx="54951" cy="49278"/>
          </a:xfrm>
          <a:custGeom>
            <a:avLst/>
            <a:gdLst/>
            <a:ahLst/>
            <a:cxnLst/>
            <a:rect l="l" t="t" r="r" b="b"/>
            <a:pathLst>
              <a:path w="54951" h="49278">
                <a:moveTo>
                  <a:pt x="54951" y="40836"/>
                </a:moveTo>
                <a:lnTo>
                  <a:pt x="0" y="49278"/>
                </a:lnTo>
                <a:lnTo>
                  <a:pt x="17224" y="0"/>
                </a:lnTo>
                <a:close/>
              </a:path>
            </a:pathLst>
          </a:custGeom>
          <a:solidFill>
            <a:srgbClr val="12A87B"/>
          </a:solidFill>
          <a:ln w="9525" cap="rnd">
            <a:solidFill>
              <a:srgbClr val="12A87B"/>
            </a:solidFill>
            <a:round/>
          </a:ln>
          <a:effectLst/>
        </p:spPr>
        <p:txBody>
          <a:bodyPr rtlCol="0" anchor="ctr"/>
          <a:lstStyle/>
          <a:p>
            <a:pPr algn="ctr"/>
          </a:p>
        </p:txBody>
      </p:sp>
      <p:sp>
        <p:nvSpPr>
          <p:cNvPr id="49" name="TextBox 48"/>
          <p:cNvSpPr txBox="1"/>
          <p:nvPr/>
        </p:nvSpPr>
        <p:spPr>
          <a:xfrm>
            <a:off x="3893190" y="5511678"/>
            <a:ext cx="2103120" cy="512064"/>
          </a:xfrm>
          <a:prstGeom prst="rect">
            <a:avLst/>
          </a:prstGeom>
          <a:noFill/>
          <a:effectLst/>
        </p:spPr>
        <p:txBody>
          <a:bodyPr wrap="square" lIns="0" rIns="0" tIns="0" bIns="0" anchor="t">
            <a:spAutoFit/>
          </a:bodyPr>
          <a:lstStyle/>
          <a:p>
            <a:pPr algn="ctr">
              <a:lnSpc>
                <a:spcPct val="124000"/>
              </a:lnSpc>
            </a:pPr>
            <a:r>
              <a:rPr sz="900" b="0" i="0">
                <a:solidFill>
                  <a:srgbClr val="3A3C55"/>
                </a:solidFill>
                <a:latin typeface="Montserrat Medium"/>
              </a:rPr>
              <a:t>Ciclo</a:t>
            </a:r>
          </a:p>
          <a:p>
            <a:pPr algn="ctr">
              <a:lnSpc>
                <a:spcPct val="124000"/>
              </a:lnSpc>
            </a:pPr>
            <a:r>
              <a:rPr sz="900" b="0" i="0">
                <a:solidFill>
                  <a:srgbClr val="3A3C55"/>
                </a:solidFill>
                <a:latin typeface="Montserrat Medium"/>
              </a:rPr>
              <a:t>fechado</a:t>
            </a:r>
          </a:p>
        </p:txBody>
      </p:sp>
      <p:cxnSp>
        <p:nvCxnSpPr>
          <p:cNvPr id="50" name="Connector 49"/>
          <p:cNvCxnSpPr/>
          <p:nvPr/>
        </p:nvCxnSpPr>
        <p:spPr>
          <a:xfrm>
            <a:off x="6446520" y="1883664"/>
            <a:ext cx="0" cy="4023360"/>
          </a:xfrm>
          <a:prstGeom prst="line">
            <a:avLst/>
          </a:prstGeom>
          <a:ln w="12700" cap="rnd">
            <a:solidFill>
              <a:srgbClr val="DFE2F0"/>
            </a:solidFill>
            <a:round/>
          </a:ln>
          <a:effectLst/>
        </p:spPr>
      </p:cxnSp>
      <p:sp>
        <p:nvSpPr>
          <p:cNvPr id="51" name="TextBox 50"/>
          <p:cNvSpPr txBox="1"/>
          <p:nvPr/>
        </p:nvSpPr>
        <p:spPr>
          <a:xfrm>
            <a:off x="6839712" y="1883664"/>
            <a:ext cx="4526280" cy="274320"/>
          </a:xfrm>
          <a:prstGeom prst="rect">
            <a:avLst/>
          </a:prstGeom>
          <a:noFill/>
          <a:effectLst/>
        </p:spPr>
        <p:txBody>
          <a:bodyPr wrap="square" lIns="0" rIns="0" tIns="0" bIns="0" anchor="t">
            <a:spAutoFit/>
          </a:bodyPr>
          <a:lstStyle/>
          <a:p>
            <a:pPr algn="l">
              <a:lnSpc>
                <a:spcPct val="135000"/>
              </a:lnSpc>
            </a:pPr>
            <a:r>
              <a:rPr sz="940" b="0" i="0" spc="160" cap="all">
                <a:solidFill>
                  <a:srgbClr val="3432C9"/>
                </a:solidFill>
                <a:latin typeface="Montserrat SemiBold"/>
              </a:rPr>
              <a:t>Ciclo fechado</a:t>
            </a:r>
          </a:p>
        </p:txBody>
      </p:sp>
      <p:sp>
        <p:nvSpPr>
          <p:cNvPr id="52" name="Rectangle 51"/>
          <p:cNvSpPr/>
          <p:nvPr/>
        </p:nvSpPr>
        <p:spPr>
          <a:xfrm>
            <a:off x="6839712" y="2304288"/>
            <a:ext cx="3749039" cy="658368"/>
          </a:xfrm>
          <a:prstGeom prst="rect">
            <a:avLst/>
          </a:prstGeom>
          <a:solidFill>
            <a:srgbClr val="F4F5FC"/>
          </a:solidFill>
          <a:ln w="12700" cap="rnd">
            <a:noFill/>
            <a:round/>
          </a:ln>
          <a:effectLst/>
        </p:spPr>
        <p:txBody>
          <a:bodyPr rtlCol="0" anchor="ctr"/>
          <a:lstStyle/>
          <a:p/>
        </p:txBody>
      </p:sp>
      <p:sp>
        <p:nvSpPr>
          <p:cNvPr id="53" name="Rectangle 52"/>
          <p:cNvSpPr/>
          <p:nvPr/>
        </p:nvSpPr>
        <p:spPr>
          <a:xfrm>
            <a:off x="6839712" y="2304288"/>
            <a:ext cx="29260" cy="658368"/>
          </a:xfrm>
          <a:prstGeom prst="rect">
            <a:avLst/>
          </a:prstGeom>
          <a:solidFill>
            <a:srgbClr val="3432C9"/>
          </a:solidFill>
          <a:ln w="12700" cap="rnd">
            <a:noFill/>
            <a:round/>
          </a:ln>
          <a:effectLst/>
        </p:spPr>
        <p:txBody>
          <a:bodyPr rtlCol="0" anchor="ctr"/>
          <a:lstStyle/>
          <a:p/>
        </p:txBody>
      </p:sp>
      <p:sp>
        <p:nvSpPr>
          <p:cNvPr id="54" name="Freeform 53"/>
          <p:cNvSpPr/>
          <p:nvPr/>
        </p:nvSpPr>
        <p:spPr>
          <a:xfrm>
            <a:off x="7103059" y="2494483"/>
            <a:ext cx="277978" cy="285293"/>
          </a:xfrm>
          <a:custGeom>
            <a:avLst/>
            <a:gdLst/>
            <a:ahLst/>
            <a:cxnLst/>
            <a:rect l="l" t="t" r="r" b="b"/>
            <a:pathLst>
              <a:path w="277978" h="285293">
                <a:moveTo>
                  <a:pt x="80467" y="0"/>
                </a:moveTo>
                <a:lnTo>
                  <a:pt x="109728" y="29261"/>
                </a:lnTo>
                <a:lnTo>
                  <a:pt x="168250" y="29261"/>
                </a:lnTo>
                <a:lnTo>
                  <a:pt x="197511" y="0"/>
                </a:lnTo>
                <a:lnTo>
                  <a:pt x="277978" y="51207"/>
                </a:lnTo>
                <a:lnTo>
                  <a:pt x="241402" y="117043"/>
                </a:lnTo>
                <a:lnTo>
                  <a:pt x="215799" y="95098"/>
                </a:lnTo>
                <a:lnTo>
                  <a:pt x="215799" y="285293"/>
                </a:lnTo>
                <a:lnTo>
                  <a:pt x="62179" y="285293"/>
                </a:lnTo>
                <a:lnTo>
                  <a:pt x="62179" y="95098"/>
                </a:lnTo>
                <a:lnTo>
                  <a:pt x="36576" y="117043"/>
                </a:lnTo>
                <a:lnTo>
                  <a:pt x="0" y="51207"/>
                </a:lnTo>
                <a:close/>
              </a:path>
            </a:pathLst>
          </a:custGeom>
          <a:noFill/>
          <a:ln w="15875" cap="rnd">
            <a:solidFill>
              <a:srgbClr val="3432C9"/>
            </a:solidFill>
            <a:round/>
          </a:ln>
          <a:effectLst/>
        </p:spPr>
        <p:txBody>
          <a:bodyPr rtlCol="0" anchor="ctr"/>
          <a:lstStyle/>
          <a:p>
            <a:pPr algn="ctr"/>
          </a:p>
        </p:txBody>
      </p:sp>
      <p:sp>
        <p:nvSpPr>
          <p:cNvPr id="55" name="Freeform 54"/>
          <p:cNvSpPr/>
          <p:nvPr/>
        </p:nvSpPr>
        <p:spPr>
          <a:xfrm>
            <a:off x="7212787" y="2523744"/>
            <a:ext cx="58522" cy="25603"/>
          </a:xfrm>
          <a:custGeom>
            <a:avLst/>
            <a:gdLst/>
            <a:ahLst/>
            <a:cxnLst/>
            <a:rect l="l" t="t" r="r" b="b"/>
            <a:pathLst>
              <a:path w="58522" h="25603">
                <a:moveTo>
                  <a:pt x="0" y="0"/>
                </a:moveTo>
                <a:lnTo>
                  <a:pt x="29261" y="25603"/>
                </a:lnTo>
                <a:lnTo>
                  <a:pt x="58522" y="0"/>
                </a:lnTo>
              </a:path>
            </a:pathLst>
          </a:custGeom>
          <a:noFill/>
          <a:ln w="12700" cap="rnd">
            <a:solidFill>
              <a:srgbClr val="3432C9"/>
            </a:solidFill>
            <a:round/>
          </a:ln>
          <a:effectLst/>
        </p:spPr>
        <p:txBody>
          <a:bodyPr rtlCol="0" anchor="ctr"/>
          <a:lstStyle/>
          <a:p>
            <a:pPr algn="ctr"/>
          </a:p>
        </p:txBody>
      </p:sp>
      <p:sp>
        <p:nvSpPr>
          <p:cNvPr id="56" name="TextBox 55"/>
          <p:cNvSpPr txBox="1"/>
          <p:nvPr/>
        </p:nvSpPr>
        <p:spPr>
          <a:xfrm>
            <a:off x="7571232" y="2304288"/>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Resíduo</a:t>
            </a:r>
          </a:p>
        </p:txBody>
      </p:sp>
      <p:sp>
        <p:nvSpPr>
          <p:cNvPr id="57" name="Freeform 56"/>
          <p:cNvSpPr/>
          <p:nvPr/>
        </p:nvSpPr>
        <p:spPr>
          <a:xfrm>
            <a:off x="8714232" y="3008376"/>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58" name="Freeform 57"/>
          <p:cNvSpPr/>
          <p:nvPr/>
        </p:nvSpPr>
        <p:spPr>
          <a:xfrm>
            <a:off x="8682036" y="3158135"/>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59" name="Rectangle 58"/>
          <p:cNvSpPr/>
          <p:nvPr/>
        </p:nvSpPr>
        <p:spPr>
          <a:xfrm>
            <a:off x="6839712" y="3273552"/>
            <a:ext cx="3749039" cy="658368"/>
          </a:xfrm>
          <a:prstGeom prst="rect">
            <a:avLst/>
          </a:prstGeom>
          <a:solidFill>
            <a:srgbClr val="F4F5FC"/>
          </a:solidFill>
          <a:ln w="12700" cap="rnd">
            <a:noFill/>
            <a:round/>
          </a:ln>
          <a:effectLst/>
        </p:spPr>
        <p:txBody>
          <a:bodyPr rtlCol="0" anchor="ctr"/>
          <a:lstStyle/>
          <a:p/>
        </p:txBody>
      </p:sp>
      <p:sp>
        <p:nvSpPr>
          <p:cNvPr id="60" name="Rectangle 59"/>
          <p:cNvSpPr/>
          <p:nvPr/>
        </p:nvSpPr>
        <p:spPr>
          <a:xfrm>
            <a:off x="6839712" y="3273552"/>
            <a:ext cx="29260" cy="658368"/>
          </a:xfrm>
          <a:prstGeom prst="rect">
            <a:avLst/>
          </a:prstGeom>
          <a:solidFill>
            <a:srgbClr val="3432C9"/>
          </a:solidFill>
          <a:ln w="12700" cap="rnd">
            <a:noFill/>
            <a:round/>
          </a:ln>
          <a:effectLst/>
        </p:spPr>
        <p:txBody>
          <a:bodyPr rtlCol="0" anchor="ctr"/>
          <a:lstStyle/>
          <a:p/>
        </p:txBody>
      </p:sp>
      <p:sp>
        <p:nvSpPr>
          <p:cNvPr id="61" name="Freeform 60"/>
          <p:cNvSpPr/>
          <p:nvPr/>
        </p:nvSpPr>
        <p:spPr>
          <a:xfrm>
            <a:off x="7088429" y="3544214"/>
            <a:ext cx="102413" cy="117044"/>
          </a:xfrm>
          <a:custGeom>
            <a:avLst/>
            <a:gdLst/>
            <a:ahLst/>
            <a:cxnLst/>
            <a:rect l="l" t="t" r="r" b="b"/>
            <a:pathLst>
              <a:path w="102413" h="117044">
                <a:moveTo>
                  <a:pt x="0" y="0"/>
                </a:moveTo>
                <a:lnTo>
                  <a:pt x="102413" y="0"/>
                </a:lnTo>
                <a:lnTo>
                  <a:pt x="102413" y="117044"/>
                </a:lnTo>
                <a:lnTo>
                  <a:pt x="0" y="117044"/>
                </a:lnTo>
                <a:close/>
              </a:path>
            </a:pathLst>
          </a:custGeom>
          <a:noFill/>
          <a:ln w="15875" cap="rnd">
            <a:solidFill>
              <a:srgbClr val="3432C9"/>
            </a:solidFill>
            <a:round/>
          </a:ln>
          <a:effectLst/>
        </p:spPr>
        <p:txBody>
          <a:bodyPr rtlCol="0" anchor="ctr"/>
          <a:lstStyle/>
          <a:p>
            <a:pPr algn="ctr"/>
          </a:p>
        </p:txBody>
      </p:sp>
      <p:sp>
        <p:nvSpPr>
          <p:cNvPr id="62" name="Freeform 61"/>
          <p:cNvSpPr/>
          <p:nvPr/>
        </p:nvSpPr>
        <p:spPr>
          <a:xfrm>
            <a:off x="7190842" y="3485693"/>
            <a:ext cx="190195" cy="117043"/>
          </a:xfrm>
          <a:custGeom>
            <a:avLst/>
            <a:gdLst/>
            <a:ahLst/>
            <a:cxnLst/>
            <a:rect l="l" t="t" r="r" b="b"/>
            <a:pathLst>
              <a:path w="190195" h="117043">
                <a:moveTo>
                  <a:pt x="0" y="117043"/>
                </a:moveTo>
                <a:lnTo>
                  <a:pt x="80467" y="52669"/>
                </a:lnTo>
                <a:lnTo>
                  <a:pt x="190195" y="0"/>
                </a:lnTo>
              </a:path>
            </a:pathLst>
          </a:custGeom>
          <a:noFill/>
          <a:ln w="11430" cap="rnd">
            <a:solidFill>
              <a:srgbClr val="3432C9"/>
            </a:solidFill>
            <a:round/>
          </a:ln>
          <a:effectLst/>
        </p:spPr>
        <p:txBody>
          <a:bodyPr rtlCol="0" anchor="ctr"/>
          <a:lstStyle/>
          <a:p>
            <a:pPr algn="ctr"/>
          </a:p>
        </p:txBody>
      </p:sp>
      <p:sp>
        <p:nvSpPr>
          <p:cNvPr id="63" name="Freeform 62"/>
          <p:cNvSpPr/>
          <p:nvPr/>
        </p:nvSpPr>
        <p:spPr>
          <a:xfrm>
            <a:off x="7190842" y="3536899"/>
            <a:ext cx="190195" cy="65837"/>
          </a:xfrm>
          <a:custGeom>
            <a:avLst/>
            <a:gdLst/>
            <a:ahLst/>
            <a:cxnLst/>
            <a:rect l="l" t="t" r="r" b="b"/>
            <a:pathLst>
              <a:path w="190195" h="65837">
                <a:moveTo>
                  <a:pt x="0" y="65837"/>
                </a:moveTo>
                <a:lnTo>
                  <a:pt x="80467" y="29627"/>
                </a:lnTo>
                <a:lnTo>
                  <a:pt x="190195" y="0"/>
                </a:lnTo>
              </a:path>
            </a:pathLst>
          </a:custGeom>
          <a:noFill/>
          <a:ln w="11430" cap="rnd">
            <a:solidFill>
              <a:srgbClr val="3432C9"/>
            </a:solidFill>
            <a:round/>
          </a:ln>
          <a:effectLst/>
        </p:spPr>
        <p:txBody>
          <a:bodyPr rtlCol="0" anchor="ctr"/>
          <a:lstStyle/>
          <a:p>
            <a:pPr algn="ctr"/>
          </a:p>
        </p:txBody>
      </p:sp>
      <p:sp>
        <p:nvSpPr>
          <p:cNvPr id="64" name="Freeform 63"/>
          <p:cNvSpPr/>
          <p:nvPr/>
        </p:nvSpPr>
        <p:spPr>
          <a:xfrm>
            <a:off x="7190842" y="3588106"/>
            <a:ext cx="190195" cy="14630"/>
          </a:xfrm>
          <a:custGeom>
            <a:avLst/>
            <a:gdLst/>
            <a:ahLst/>
            <a:cxnLst/>
            <a:rect l="l" t="t" r="r" b="b"/>
            <a:pathLst>
              <a:path w="190195" h="14630">
                <a:moveTo>
                  <a:pt x="0" y="14630"/>
                </a:moveTo>
                <a:lnTo>
                  <a:pt x="80467" y="6583"/>
                </a:lnTo>
                <a:lnTo>
                  <a:pt x="190195" y="0"/>
                </a:lnTo>
              </a:path>
            </a:pathLst>
          </a:custGeom>
          <a:noFill/>
          <a:ln w="11430" cap="rnd">
            <a:solidFill>
              <a:srgbClr val="3432C9"/>
            </a:solidFill>
            <a:round/>
          </a:ln>
          <a:effectLst/>
        </p:spPr>
        <p:txBody>
          <a:bodyPr rtlCol="0" anchor="ctr"/>
          <a:lstStyle/>
          <a:p>
            <a:pPr algn="ctr"/>
          </a:p>
        </p:txBody>
      </p:sp>
      <p:sp>
        <p:nvSpPr>
          <p:cNvPr id="65" name="Freeform 64"/>
          <p:cNvSpPr/>
          <p:nvPr/>
        </p:nvSpPr>
        <p:spPr>
          <a:xfrm>
            <a:off x="7190842" y="3602736"/>
            <a:ext cx="190195" cy="36576"/>
          </a:xfrm>
          <a:custGeom>
            <a:avLst/>
            <a:gdLst/>
            <a:ahLst/>
            <a:cxnLst/>
            <a:rect l="l" t="t" r="r" b="b"/>
            <a:pathLst>
              <a:path w="190195" h="36576">
                <a:moveTo>
                  <a:pt x="0" y="0"/>
                </a:moveTo>
                <a:lnTo>
                  <a:pt x="80467" y="20117"/>
                </a:lnTo>
                <a:lnTo>
                  <a:pt x="190195" y="36576"/>
                </a:lnTo>
              </a:path>
            </a:pathLst>
          </a:custGeom>
          <a:noFill/>
          <a:ln w="11430" cap="rnd">
            <a:solidFill>
              <a:srgbClr val="3432C9"/>
            </a:solidFill>
            <a:round/>
          </a:ln>
          <a:effectLst/>
        </p:spPr>
        <p:txBody>
          <a:bodyPr rtlCol="0" anchor="ctr"/>
          <a:lstStyle/>
          <a:p>
            <a:pPr algn="ctr"/>
          </a:p>
        </p:txBody>
      </p:sp>
      <p:sp>
        <p:nvSpPr>
          <p:cNvPr id="66" name="Freeform 65"/>
          <p:cNvSpPr/>
          <p:nvPr/>
        </p:nvSpPr>
        <p:spPr>
          <a:xfrm>
            <a:off x="7190842" y="3602736"/>
            <a:ext cx="190195" cy="87782"/>
          </a:xfrm>
          <a:custGeom>
            <a:avLst/>
            <a:gdLst/>
            <a:ahLst/>
            <a:cxnLst/>
            <a:rect l="l" t="t" r="r" b="b"/>
            <a:pathLst>
              <a:path w="190195" h="87782">
                <a:moveTo>
                  <a:pt x="0" y="0"/>
                </a:moveTo>
                <a:lnTo>
                  <a:pt x="80467" y="48280"/>
                </a:lnTo>
                <a:lnTo>
                  <a:pt x="190195" y="87782"/>
                </a:lnTo>
              </a:path>
            </a:pathLst>
          </a:custGeom>
          <a:noFill/>
          <a:ln w="11430" cap="rnd">
            <a:solidFill>
              <a:srgbClr val="3432C9"/>
            </a:solidFill>
            <a:round/>
          </a:ln>
          <a:effectLst/>
        </p:spPr>
        <p:txBody>
          <a:bodyPr rtlCol="0" anchor="ctr"/>
          <a:lstStyle/>
          <a:p>
            <a:pPr algn="ctr"/>
          </a:p>
        </p:txBody>
      </p:sp>
      <p:sp>
        <p:nvSpPr>
          <p:cNvPr id="67" name="Freeform 66"/>
          <p:cNvSpPr/>
          <p:nvPr/>
        </p:nvSpPr>
        <p:spPr>
          <a:xfrm>
            <a:off x="7190842" y="3602736"/>
            <a:ext cx="190195" cy="138989"/>
          </a:xfrm>
          <a:custGeom>
            <a:avLst/>
            <a:gdLst/>
            <a:ahLst/>
            <a:cxnLst/>
            <a:rect l="l" t="t" r="r" b="b"/>
            <a:pathLst>
              <a:path w="190195" h="138989">
                <a:moveTo>
                  <a:pt x="0" y="0"/>
                </a:moveTo>
                <a:lnTo>
                  <a:pt x="80467" y="76444"/>
                </a:lnTo>
                <a:lnTo>
                  <a:pt x="190195" y="138989"/>
                </a:lnTo>
              </a:path>
            </a:pathLst>
          </a:custGeom>
          <a:noFill/>
          <a:ln w="11430" cap="rnd">
            <a:solidFill>
              <a:srgbClr val="3432C9"/>
            </a:solidFill>
            <a:round/>
          </a:ln>
          <a:effectLst/>
        </p:spPr>
        <p:txBody>
          <a:bodyPr rtlCol="0" anchor="ctr"/>
          <a:lstStyle/>
          <a:p>
            <a:pPr algn="ctr"/>
          </a:p>
        </p:txBody>
      </p:sp>
      <p:sp>
        <p:nvSpPr>
          <p:cNvPr id="68" name="TextBox 67"/>
          <p:cNvSpPr txBox="1"/>
          <p:nvPr/>
        </p:nvSpPr>
        <p:spPr>
          <a:xfrm>
            <a:off x="7571232" y="3273552"/>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Recuperação</a:t>
            </a:r>
          </a:p>
        </p:txBody>
      </p:sp>
      <p:sp>
        <p:nvSpPr>
          <p:cNvPr id="69" name="Freeform 68"/>
          <p:cNvSpPr/>
          <p:nvPr/>
        </p:nvSpPr>
        <p:spPr>
          <a:xfrm>
            <a:off x="8714232" y="3977640"/>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70" name="Freeform 69"/>
          <p:cNvSpPr/>
          <p:nvPr/>
        </p:nvSpPr>
        <p:spPr>
          <a:xfrm>
            <a:off x="8682036" y="4127399"/>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71" name="Rectangle 70"/>
          <p:cNvSpPr/>
          <p:nvPr/>
        </p:nvSpPr>
        <p:spPr>
          <a:xfrm>
            <a:off x="6839712" y="4242816"/>
            <a:ext cx="3749039" cy="658368"/>
          </a:xfrm>
          <a:prstGeom prst="rect">
            <a:avLst/>
          </a:prstGeom>
          <a:solidFill>
            <a:srgbClr val="F4F5FC"/>
          </a:solidFill>
          <a:ln w="12700" cap="rnd">
            <a:noFill/>
            <a:round/>
          </a:ln>
          <a:effectLst/>
        </p:spPr>
        <p:txBody>
          <a:bodyPr rtlCol="0" anchor="ctr"/>
          <a:lstStyle/>
          <a:p/>
        </p:txBody>
      </p:sp>
      <p:sp>
        <p:nvSpPr>
          <p:cNvPr id="72" name="Rectangle 71"/>
          <p:cNvSpPr/>
          <p:nvPr/>
        </p:nvSpPr>
        <p:spPr>
          <a:xfrm>
            <a:off x="6839712" y="4242816"/>
            <a:ext cx="29260" cy="658368"/>
          </a:xfrm>
          <a:prstGeom prst="rect">
            <a:avLst/>
          </a:prstGeom>
          <a:solidFill>
            <a:srgbClr val="12A87B"/>
          </a:solidFill>
          <a:ln w="12700" cap="rnd">
            <a:noFill/>
            <a:round/>
          </a:ln>
          <a:effectLst/>
        </p:spPr>
        <p:txBody>
          <a:bodyPr rtlCol="0" anchor="ctr"/>
          <a:lstStyle/>
          <a:p/>
        </p:txBody>
      </p:sp>
      <p:sp>
        <p:nvSpPr>
          <p:cNvPr id="73" name="Freeform 72"/>
          <p:cNvSpPr/>
          <p:nvPr/>
        </p:nvSpPr>
        <p:spPr>
          <a:xfrm>
            <a:off x="7125043" y="4462286"/>
            <a:ext cx="223082" cy="233997"/>
          </a:xfrm>
          <a:custGeom>
            <a:avLst/>
            <a:gdLst/>
            <a:ahLst/>
            <a:cxnLst/>
            <a:rect l="l" t="t" r="r" b="b"/>
            <a:pathLst>
              <a:path w="223082" h="233997">
                <a:moveTo>
                  <a:pt x="184138" y="212905"/>
                </a:moveTo>
                <a:lnTo>
                  <a:pt x="169713" y="221533"/>
                </a:lnTo>
                <a:lnTo>
                  <a:pt x="154200" y="228005"/>
                </a:lnTo>
                <a:lnTo>
                  <a:pt x="137921" y="232188"/>
                </a:lnTo>
                <a:lnTo>
                  <a:pt x="121210" y="233997"/>
                </a:lnTo>
                <a:lnTo>
                  <a:pt x="104412" y="233393"/>
                </a:lnTo>
                <a:lnTo>
                  <a:pt x="87874" y="230389"/>
                </a:lnTo>
                <a:lnTo>
                  <a:pt x="71937" y="225048"/>
                </a:lnTo>
                <a:lnTo>
                  <a:pt x="56929" y="217478"/>
                </a:lnTo>
                <a:lnTo>
                  <a:pt x="43161" y="207837"/>
                </a:lnTo>
                <a:lnTo>
                  <a:pt x="30915" y="196324"/>
                </a:lnTo>
                <a:lnTo>
                  <a:pt x="20445" y="183175"/>
                </a:lnTo>
                <a:lnTo>
                  <a:pt x="11966" y="168661"/>
                </a:lnTo>
                <a:lnTo>
                  <a:pt x="5653" y="153083"/>
                </a:lnTo>
                <a:lnTo>
                  <a:pt x="1637" y="136762"/>
                </a:lnTo>
                <a:lnTo>
                  <a:pt x="0" y="120033"/>
                </a:lnTo>
                <a:lnTo>
                  <a:pt x="777" y="103242"/>
                </a:lnTo>
                <a:lnTo>
                  <a:pt x="3950" y="86736"/>
                </a:lnTo>
                <a:lnTo>
                  <a:pt x="9455" y="70855"/>
                </a:lnTo>
                <a:lnTo>
                  <a:pt x="17178" y="55926"/>
                </a:lnTo>
                <a:lnTo>
                  <a:pt x="26960" y="42257"/>
                </a:lnTo>
                <a:lnTo>
                  <a:pt x="38599" y="30130"/>
                </a:lnTo>
                <a:lnTo>
                  <a:pt x="51854" y="19795"/>
                </a:lnTo>
                <a:lnTo>
                  <a:pt x="66454" y="11465"/>
                </a:lnTo>
                <a:lnTo>
                  <a:pt x="82096" y="5313"/>
                </a:lnTo>
                <a:lnTo>
                  <a:pt x="98458" y="1465"/>
                </a:lnTo>
                <a:lnTo>
                  <a:pt x="115203" y="0"/>
                </a:lnTo>
                <a:lnTo>
                  <a:pt x="131984" y="948"/>
                </a:lnTo>
                <a:lnTo>
                  <a:pt x="148457" y="4291"/>
                </a:lnTo>
                <a:lnTo>
                  <a:pt x="164281" y="9959"/>
                </a:lnTo>
                <a:lnTo>
                  <a:pt x="179130" y="17835"/>
                </a:lnTo>
                <a:lnTo>
                  <a:pt x="192698" y="27756"/>
                </a:lnTo>
                <a:lnTo>
                  <a:pt x="204705" y="39519"/>
                </a:lnTo>
                <a:lnTo>
                  <a:pt x="214903" y="52880"/>
                </a:lnTo>
                <a:lnTo>
                  <a:pt x="223082" y="67565"/>
                </a:lnTo>
              </a:path>
            </a:pathLst>
          </a:custGeom>
          <a:noFill/>
          <a:ln w="15875" cap="rnd">
            <a:solidFill>
              <a:srgbClr val="12A87B"/>
            </a:solidFill>
            <a:round/>
          </a:ln>
          <a:effectLst/>
        </p:spPr>
        <p:txBody>
          <a:bodyPr rtlCol="0" anchor="ctr"/>
          <a:lstStyle/>
          <a:p>
            <a:pPr algn="ctr"/>
          </a:p>
        </p:txBody>
      </p:sp>
      <p:sp>
        <p:nvSpPr>
          <p:cNvPr id="74" name="Freeform 73"/>
          <p:cNvSpPr/>
          <p:nvPr/>
        </p:nvSpPr>
        <p:spPr>
          <a:xfrm>
            <a:off x="7308194" y="4482311"/>
            <a:ext cx="39931" cy="47540"/>
          </a:xfrm>
          <a:custGeom>
            <a:avLst/>
            <a:gdLst/>
            <a:ahLst/>
            <a:cxnLst/>
            <a:rect l="l" t="t" r="r" b="b"/>
            <a:pathLst>
              <a:path w="39931" h="47540">
                <a:moveTo>
                  <a:pt x="39931" y="47540"/>
                </a:moveTo>
                <a:lnTo>
                  <a:pt x="0" y="21725"/>
                </a:lnTo>
                <a:lnTo>
                  <a:pt x="39004" y="0"/>
                </a:lnTo>
                <a:close/>
              </a:path>
            </a:pathLst>
          </a:custGeom>
          <a:solidFill>
            <a:srgbClr val="12A87B"/>
          </a:solidFill>
          <a:ln w="9525" cap="rnd">
            <a:solidFill>
              <a:srgbClr val="12A87B"/>
            </a:solidFill>
            <a:round/>
          </a:ln>
          <a:effectLst/>
        </p:spPr>
        <p:txBody>
          <a:bodyPr rtlCol="0" anchor="ctr"/>
          <a:lstStyle/>
          <a:p>
            <a:pPr algn="ctr"/>
          </a:p>
        </p:txBody>
      </p:sp>
      <p:sp>
        <p:nvSpPr>
          <p:cNvPr id="75" name="Freeform 74"/>
          <p:cNvSpPr/>
          <p:nvPr/>
        </p:nvSpPr>
        <p:spPr>
          <a:xfrm>
            <a:off x="7183526" y="4535424"/>
            <a:ext cx="117044" cy="73152"/>
          </a:xfrm>
          <a:custGeom>
            <a:avLst/>
            <a:gdLst/>
            <a:ahLst/>
            <a:cxnLst/>
            <a:rect l="l" t="t" r="r" b="b"/>
            <a:pathLst>
              <a:path w="117044" h="73152">
                <a:moveTo>
                  <a:pt x="0" y="73152"/>
                </a:moveTo>
                <a:lnTo>
                  <a:pt x="58522" y="0"/>
                </a:lnTo>
                <a:lnTo>
                  <a:pt x="117044" y="73152"/>
                </a:lnTo>
              </a:path>
            </a:pathLst>
          </a:custGeom>
          <a:noFill/>
          <a:ln w="16669" cap="rnd">
            <a:solidFill>
              <a:srgbClr val="12A87B"/>
            </a:solidFill>
            <a:round/>
          </a:ln>
          <a:effectLst/>
        </p:spPr>
        <p:txBody>
          <a:bodyPr rtlCol="0" anchor="ctr"/>
          <a:lstStyle/>
          <a:p>
            <a:pPr algn="ctr"/>
          </a:p>
        </p:txBody>
      </p:sp>
      <p:sp>
        <p:nvSpPr>
          <p:cNvPr id="76" name="Freeform 75"/>
          <p:cNvSpPr/>
          <p:nvPr/>
        </p:nvSpPr>
        <p:spPr>
          <a:xfrm>
            <a:off x="7242048" y="4535424"/>
            <a:ext cx="0" cy="124358"/>
          </a:xfrm>
          <a:custGeom>
            <a:avLst/>
            <a:gdLst/>
            <a:ahLst/>
            <a:cxnLst/>
            <a:rect l="l" t="t" r="r" b="b"/>
            <a:pathLst>
              <a:path w="0" h="124358">
                <a:moveTo>
                  <a:pt x="0" y="0"/>
                </a:moveTo>
                <a:lnTo>
                  <a:pt x="0" y="124358"/>
                </a:lnTo>
              </a:path>
            </a:pathLst>
          </a:custGeom>
          <a:noFill/>
          <a:ln w="16669" cap="rnd">
            <a:solidFill>
              <a:srgbClr val="12A87B"/>
            </a:solidFill>
            <a:round/>
          </a:ln>
          <a:effectLst/>
        </p:spPr>
        <p:txBody>
          <a:bodyPr rtlCol="0" anchor="ctr"/>
          <a:lstStyle/>
          <a:p>
            <a:pPr algn="ctr"/>
          </a:p>
        </p:txBody>
      </p:sp>
      <p:sp>
        <p:nvSpPr>
          <p:cNvPr id="77" name="TextBox 76"/>
          <p:cNvSpPr txBox="1"/>
          <p:nvPr/>
        </p:nvSpPr>
        <p:spPr>
          <a:xfrm>
            <a:off x="7571232" y="4242816"/>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Novo uso</a:t>
            </a:r>
          </a:p>
        </p:txBody>
      </p:sp>
      <p:sp>
        <p:nvSpPr>
          <p:cNvPr id="78" name="Freeform 77"/>
          <p:cNvSpPr/>
          <p:nvPr/>
        </p:nvSpPr>
        <p:spPr>
          <a:xfrm>
            <a:off x="8714232" y="4946904"/>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79" name="Freeform 78"/>
          <p:cNvSpPr/>
          <p:nvPr/>
        </p:nvSpPr>
        <p:spPr>
          <a:xfrm>
            <a:off x="8682036" y="5096663"/>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80" name="Rectangle 79"/>
          <p:cNvSpPr/>
          <p:nvPr/>
        </p:nvSpPr>
        <p:spPr>
          <a:xfrm>
            <a:off x="6839712" y="5212080"/>
            <a:ext cx="3749039" cy="658368"/>
          </a:xfrm>
          <a:prstGeom prst="rect">
            <a:avLst/>
          </a:prstGeom>
          <a:solidFill>
            <a:srgbClr val="F4F5FC"/>
          </a:solidFill>
          <a:ln w="12700" cap="rnd">
            <a:noFill/>
            <a:round/>
          </a:ln>
          <a:effectLst/>
        </p:spPr>
        <p:txBody>
          <a:bodyPr rtlCol="0" anchor="ctr"/>
          <a:lstStyle/>
          <a:p/>
        </p:txBody>
      </p:sp>
      <p:sp>
        <p:nvSpPr>
          <p:cNvPr id="81" name="Rectangle 80"/>
          <p:cNvSpPr/>
          <p:nvPr/>
        </p:nvSpPr>
        <p:spPr>
          <a:xfrm>
            <a:off x="6839712" y="5212080"/>
            <a:ext cx="29260" cy="658368"/>
          </a:xfrm>
          <a:prstGeom prst="rect">
            <a:avLst/>
          </a:prstGeom>
          <a:solidFill>
            <a:srgbClr val="12A87B"/>
          </a:solidFill>
          <a:ln w="12700" cap="rnd">
            <a:noFill/>
            <a:round/>
          </a:ln>
          <a:effectLst/>
        </p:spPr>
        <p:txBody>
          <a:bodyPr rtlCol="0" anchor="ctr"/>
          <a:lstStyle/>
          <a:p/>
        </p:txBody>
      </p:sp>
      <p:sp>
        <p:nvSpPr>
          <p:cNvPr id="82" name="Freeform 81"/>
          <p:cNvSpPr/>
          <p:nvPr/>
        </p:nvSpPr>
        <p:spPr>
          <a:xfrm>
            <a:off x="7198203" y="5449033"/>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12A87B"/>
            </a:solidFill>
            <a:round/>
          </a:ln>
          <a:effectLst/>
        </p:spPr>
        <p:txBody>
          <a:bodyPr rtlCol="0" anchor="ctr"/>
          <a:lstStyle/>
          <a:p>
            <a:pPr algn="ctr"/>
          </a:p>
        </p:txBody>
      </p:sp>
      <p:sp>
        <p:nvSpPr>
          <p:cNvPr id="83" name="Freeform 82"/>
          <p:cNvSpPr/>
          <p:nvPr/>
        </p:nvSpPr>
        <p:spPr>
          <a:xfrm>
            <a:off x="7198203" y="5639233"/>
            <a:ext cx="68689" cy="61597"/>
          </a:xfrm>
          <a:custGeom>
            <a:avLst/>
            <a:gdLst/>
            <a:ahLst/>
            <a:cxnLst/>
            <a:rect l="l" t="t" r="r" b="b"/>
            <a:pathLst>
              <a:path w="68689" h="61597">
                <a:moveTo>
                  <a:pt x="0" y="10552"/>
                </a:moveTo>
                <a:lnTo>
                  <a:pt x="68689" y="0"/>
                </a:lnTo>
                <a:lnTo>
                  <a:pt x="47158" y="61597"/>
                </a:lnTo>
                <a:close/>
              </a:path>
            </a:pathLst>
          </a:custGeom>
          <a:solidFill>
            <a:srgbClr val="12A87B"/>
          </a:solidFill>
          <a:ln w="9525" cap="rnd">
            <a:solidFill>
              <a:srgbClr val="12A87B"/>
            </a:solidFill>
            <a:round/>
          </a:ln>
          <a:effectLst/>
        </p:spPr>
        <p:txBody>
          <a:bodyPr rtlCol="0" anchor="ctr"/>
          <a:lstStyle/>
          <a:p>
            <a:pPr algn="ctr"/>
          </a:p>
        </p:txBody>
      </p:sp>
      <p:sp>
        <p:nvSpPr>
          <p:cNvPr id="84" name="Freeform 83"/>
          <p:cNvSpPr/>
          <p:nvPr/>
        </p:nvSpPr>
        <p:spPr>
          <a:xfrm>
            <a:off x="7125132" y="5424221"/>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12A87B"/>
            </a:solidFill>
            <a:round/>
          </a:ln>
          <a:effectLst/>
        </p:spPr>
        <p:txBody>
          <a:bodyPr rtlCol="0" anchor="ctr"/>
          <a:lstStyle/>
          <a:p>
            <a:pPr algn="ctr"/>
          </a:p>
        </p:txBody>
      </p:sp>
      <p:sp>
        <p:nvSpPr>
          <p:cNvPr id="85" name="Freeform 84"/>
          <p:cNvSpPr/>
          <p:nvPr/>
        </p:nvSpPr>
        <p:spPr>
          <a:xfrm>
            <a:off x="7217204" y="5381698"/>
            <a:ext cx="68689" cy="61597"/>
          </a:xfrm>
          <a:custGeom>
            <a:avLst/>
            <a:gdLst/>
            <a:ahLst/>
            <a:cxnLst/>
            <a:rect l="l" t="t" r="r" b="b"/>
            <a:pathLst>
              <a:path w="68689" h="61597">
                <a:moveTo>
                  <a:pt x="68689" y="51045"/>
                </a:moveTo>
                <a:lnTo>
                  <a:pt x="0" y="61597"/>
                </a:lnTo>
                <a:lnTo>
                  <a:pt x="21531" y="0"/>
                </a:lnTo>
                <a:close/>
              </a:path>
            </a:pathLst>
          </a:custGeom>
          <a:solidFill>
            <a:srgbClr val="12A87B"/>
          </a:solidFill>
          <a:ln w="9525" cap="rnd">
            <a:solidFill>
              <a:srgbClr val="12A87B"/>
            </a:solidFill>
            <a:round/>
          </a:ln>
          <a:effectLst/>
        </p:spPr>
        <p:txBody>
          <a:bodyPr rtlCol="0" anchor="ctr"/>
          <a:lstStyle/>
          <a:p>
            <a:pPr algn="ctr"/>
          </a:p>
        </p:txBody>
      </p:sp>
      <p:sp>
        <p:nvSpPr>
          <p:cNvPr id="86" name="TextBox 85"/>
          <p:cNvSpPr txBox="1"/>
          <p:nvPr/>
        </p:nvSpPr>
        <p:spPr>
          <a:xfrm>
            <a:off x="7571232" y="5212080"/>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Novo ciclo</a:t>
            </a:r>
          </a:p>
        </p:txBody>
      </p:sp>
      <p:sp>
        <p:nvSpPr>
          <p:cNvPr id="87" name="Freeform 86"/>
          <p:cNvSpPr/>
          <p:nvPr/>
        </p:nvSpPr>
        <p:spPr>
          <a:xfrm>
            <a:off x="10680192" y="2633472"/>
            <a:ext cx="384048" cy="2907792"/>
          </a:xfrm>
          <a:custGeom>
            <a:avLst/>
            <a:gdLst/>
            <a:ahLst/>
            <a:cxnLst/>
            <a:rect l="l" t="t" r="r" b="b"/>
            <a:pathLst>
              <a:path w="384048" h="2907792">
                <a:moveTo>
                  <a:pt x="0" y="2907792"/>
                </a:moveTo>
                <a:lnTo>
                  <a:pt x="384048" y="2907792"/>
                </a:lnTo>
                <a:lnTo>
                  <a:pt x="384048" y="0"/>
                </a:lnTo>
                <a:lnTo>
                  <a:pt x="36576" y="0"/>
                </a:lnTo>
              </a:path>
            </a:pathLst>
          </a:custGeom>
          <a:noFill/>
          <a:ln w="14605" cap="rnd">
            <a:solidFill>
              <a:srgbClr val="12A87B"/>
            </a:solidFill>
            <a:round/>
          </a:ln>
          <a:effectLst/>
        </p:spPr>
        <p:txBody>
          <a:bodyPr rtlCol="0" anchor="ctr"/>
          <a:lstStyle/>
          <a:p>
            <a:pPr algn="ctr"/>
          </a:p>
        </p:txBody>
      </p:sp>
      <p:sp>
        <p:nvSpPr>
          <p:cNvPr id="88" name="Freeform 87"/>
          <p:cNvSpPr/>
          <p:nvPr/>
        </p:nvSpPr>
        <p:spPr>
          <a:xfrm>
            <a:off x="10716768" y="2592690"/>
            <a:ext cx="76700" cy="81564"/>
          </a:xfrm>
          <a:custGeom>
            <a:avLst/>
            <a:gdLst/>
            <a:ahLst/>
            <a:cxnLst/>
            <a:rect l="l" t="t" r="r" b="b"/>
            <a:pathLst>
              <a:path w="76700" h="81564">
                <a:moveTo>
                  <a:pt x="0" y="40782"/>
                </a:moveTo>
                <a:lnTo>
                  <a:pt x="76700" y="0"/>
                </a:lnTo>
                <a:lnTo>
                  <a:pt x="76700" y="81564"/>
                </a:lnTo>
                <a:close/>
              </a:path>
            </a:pathLst>
          </a:custGeom>
          <a:solidFill>
            <a:srgbClr val="12A87B"/>
          </a:solidFill>
          <a:ln w="8763" cap="rnd">
            <a:solidFill>
              <a:srgbClr val="12A87B"/>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Impacto social e econômico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Valor compartilhado para a cidade</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14</a:t>
            </a:r>
          </a:p>
        </p:txBody>
      </p:sp>
      <p:sp>
        <p:nvSpPr>
          <p:cNvPr id="9" name="Oval 8"/>
          <p:cNvSpPr/>
          <p:nvPr/>
        </p:nvSpPr>
        <p:spPr>
          <a:xfrm>
            <a:off x="909279" y="2019360"/>
            <a:ext cx="83393" cy="83393"/>
          </a:xfrm>
          <a:prstGeom prst="ellipse">
            <a:avLst/>
          </a:prstGeom>
          <a:noFill/>
          <a:ln w="15875" cap="rnd">
            <a:solidFill>
              <a:srgbClr val="3432C9"/>
            </a:solidFill>
            <a:round/>
          </a:ln>
          <a:effectLst/>
        </p:spPr>
        <p:txBody>
          <a:bodyPr rtlCol="0" anchor="ctr"/>
          <a:lstStyle/>
          <a:p/>
        </p:txBody>
      </p:sp>
      <p:sp>
        <p:nvSpPr>
          <p:cNvPr id="10" name="Freeform 9"/>
          <p:cNvSpPr/>
          <p:nvPr/>
        </p:nvSpPr>
        <p:spPr>
          <a:xfrm>
            <a:off x="858584" y="2172249"/>
            <a:ext cx="184784" cy="74655"/>
          </a:xfrm>
          <a:custGeom>
            <a:avLst/>
            <a:gdLst/>
            <a:ahLst/>
            <a:cxnLst/>
            <a:rect l="l" t="t" r="r" b="b"/>
            <a:pathLst>
              <a:path w="184784" h="74655">
                <a:moveTo>
                  <a:pt x="0" y="74655"/>
                </a:moveTo>
                <a:lnTo>
                  <a:pt x="2806" y="63518"/>
                </a:lnTo>
                <a:lnTo>
                  <a:pt x="7053" y="52813"/>
                </a:lnTo>
                <a:lnTo>
                  <a:pt x="12673" y="42711"/>
                </a:lnTo>
                <a:lnTo>
                  <a:pt x="19576" y="33377"/>
                </a:lnTo>
                <a:lnTo>
                  <a:pt x="27651" y="24958"/>
                </a:lnTo>
                <a:lnTo>
                  <a:pt x="36767" y="17592"/>
                </a:lnTo>
                <a:lnTo>
                  <a:pt x="46778" y="11396"/>
                </a:lnTo>
                <a:lnTo>
                  <a:pt x="57524" y="6471"/>
                </a:lnTo>
                <a:lnTo>
                  <a:pt x="68830" y="2895"/>
                </a:lnTo>
                <a:lnTo>
                  <a:pt x="80515" y="726"/>
                </a:lnTo>
                <a:lnTo>
                  <a:pt x="92392" y="0"/>
                </a:lnTo>
                <a:lnTo>
                  <a:pt x="104269" y="726"/>
                </a:lnTo>
                <a:lnTo>
                  <a:pt x="115954" y="2895"/>
                </a:lnTo>
                <a:lnTo>
                  <a:pt x="127260" y="6471"/>
                </a:lnTo>
                <a:lnTo>
                  <a:pt x="138006" y="11396"/>
                </a:lnTo>
                <a:lnTo>
                  <a:pt x="148017" y="17592"/>
                </a:lnTo>
                <a:lnTo>
                  <a:pt x="157133" y="24958"/>
                </a:lnTo>
                <a:lnTo>
                  <a:pt x="165208" y="33377"/>
                </a:lnTo>
                <a:lnTo>
                  <a:pt x="172111" y="42711"/>
                </a:lnTo>
                <a:lnTo>
                  <a:pt x="177731" y="52813"/>
                </a:lnTo>
                <a:lnTo>
                  <a:pt x="181978" y="63518"/>
                </a:lnTo>
                <a:lnTo>
                  <a:pt x="184784" y="74655"/>
                </a:lnTo>
              </a:path>
            </a:pathLst>
          </a:custGeom>
          <a:noFill/>
          <a:ln w="15875" cap="rnd">
            <a:solidFill>
              <a:srgbClr val="3432C9"/>
            </a:solidFill>
            <a:round/>
          </a:ln>
          <a:effectLst/>
        </p:spPr>
        <p:txBody>
          <a:bodyPr rtlCol="0" anchor="ctr"/>
          <a:lstStyle/>
          <a:p>
            <a:pPr algn="ctr"/>
          </a:p>
        </p:txBody>
      </p:sp>
      <p:sp>
        <p:nvSpPr>
          <p:cNvPr id="11" name="Oval 10"/>
          <p:cNvSpPr/>
          <p:nvPr/>
        </p:nvSpPr>
        <p:spPr>
          <a:xfrm>
            <a:off x="801563" y="2064532"/>
            <a:ext cx="62544" cy="62544"/>
          </a:xfrm>
          <a:prstGeom prst="ellipse">
            <a:avLst/>
          </a:prstGeom>
          <a:noFill/>
          <a:ln w="13494" cap="rnd">
            <a:solidFill>
              <a:srgbClr val="3432C9"/>
            </a:solidFill>
            <a:round/>
          </a:ln>
          <a:effectLst/>
        </p:spPr>
        <p:txBody>
          <a:bodyPr rtlCol="0" anchor="ctr"/>
          <a:lstStyle/>
          <a:p/>
        </p:txBody>
      </p:sp>
      <p:sp>
        <p:nvSpPr>
          <p:cNvPr id="12" name="Freeform 11"/>
          <p:cNvSpPr/>
          <p:nvPr/>
        </p:nvSpPr>
        <p:spPr>
          <a:xfrm>
            <a:off x="775778" y="2213945"/>
            <a:ext cx="114115" cy="46357"/>
          </a:xfrm>
          <a:custGeom>
            <a:avLst/>
            <a:gdLst/>
            <a:ahLst/>
            <a:cxnLst/>
            <a:rect l="l" t="t" r="r" b="b"/>
            <a:pathLst>
              <a:path w="114115" h="46357">
                <a:moveTo>
                  <a:pt x="0" y="46357"/>
                </a:moveTo>
                <a:lnTo>
                  <a:pt x="2818" y="37772"/>
                </a:lnTo>
                <a:lnTo>
                  <a:pt x="6782" y="29711"/>
                </a:lnTo>
                <a:lnTo>
                  <a:pt x="11807" y="22342"/>
                </a:lnTo>
                <a:lnTo>
                  <a:pt x="17788" y="15823"/>
                </a:lnTo>
                <a:lnTo>
                  <a:pt x="24598" y="10290"/>
                </a:lnTo>
                <a:lnTo>
                  <a:pt x="32093" y="5860"/>
                </a:lnTo>
                <a:lnTo>
                  <a:pt x="40116" y="2628"/>
                </a:lnTo>
                <a:lnTo>
                  <a:pt x="48496" y="661"/>
                </a:lnTo>
                <a:lnTo>
                  <a:pt x="57058" y="0"/>
                </a:lnTo>
                <a:lnTo>
                  <a:pt x="65619" y="661"/>
                </a:lnTo>
                <a:lnTo>
                  <a:pt x="73999" y="2628"/>
                </a:lnTo>
                <a:lnTo>
                  <a:pt x="82022" y="5860"/>
                </a:lnTo>
                <a:lnTo>
                  <a:pt x="89517" y="10290"/>
                </a:lnTo>
                <a:lnTo>
                  <a:pt x="96327" y="15823"/>
                </a:lnTo>
                <a:lnTo>
                  <a:pt x="102308" y="22342"/>
                </a:lnTo>
                <a:lnTo>
                  <a:pt x="107333" y="29711"/>
                </a:lnTo>
                <a:lnTo>
                  <a:pt x="111297" y="37772"/>
                </a:lnTo>
                <a:lnTo>
                  <a:pt x="114115" y="46357"/>
                </a:lnTo>
              </a:path>
            </a:pathLst>
          </a:custGeom>
          <a:noFill/>
          <a:ln w="13494" cap="rnd">
            <a:solidFill>
              <a:srgbClr val="3432C9"/>
            </a:solidFill>
            <a:round/>
          </a:ln>
          <a:effectLst/>
        </p:spPr>
        <p:txBody>
          <a:bodyPr rtlCol="0" anchor="ctr"/>
          <a:lstStyle/>
          <a:p>
            <a:pPr algn="ctr"/>
          </a:p>
        </p:txBody>
      </p:sp>
      <p:sp>
        <p:nvSpPr>
          <p:cNvPr id="13" name="Oval 12"/>
          <p:cNvSpPr/>
          <p:nvPr/>
        </p:nvSpPr>
        <p:spPr>
          <a:xfrm>
            <a:off x="1037844" y="2064532"/>
            <a:ext cx="62544" cy="62544"/>
          </a:xfrm>
          <a:prstGeom prst="ellipse">
            <a:avLst/>
          </a:prstGeom>
          <a:noFill/>
          <a:ln w="13494" cap="rnd">
            <a:solidFill>
              <a:srgbClr val="3432C9"/>
            </a:solidFill>
            <a:round/>
          </a:ln>
          <a:effectLst/>
        </p:spPr>
        <p:txBody>
          <a:bodyPr rtlCol="0" anchor="ctr"/>
          <a:lstStyle/>
          <a:p/>
        </p:txBody>
      </p:sp>
      <p:sp>
        <p:nvSpPr>
          <p:cNvPr id="14" name="Freeform 13"/>
          <p:cNvSpPr/>
          <p:nvPr/>
        </p:nvSpPr>
        <p:spPr>
          <a:xfrm>
            <a:off x="1012059" y="2213945"/>
            <a:ext cx="114115" cy="46357"/>
          </a:xfrm>
          <a:custGeom>
            <a:avLst/>
            <a:gdLst/>
            <a:ahLst/>
            <a:cxnLst/>
            <a:rect l="l" t="t" r="r" b="b"/>
            <a:pathLst>
              <a:path w="114115" h="46357">
                <a:moveTo>
                  <a:pt x="0" y="46357"/>
                </a:moveTo>
                <a:lnTo>
                  <a:pt x="2818" y="37772"/>
                </a:lnTo>
                <a:lnTo>
                  <a:pt x="6782" y="29711"/>
                </a:lnTo>
                <a:lnTo>
                  <a:pt x="11807" y="22342"/>
                </a:lnTo>
                <a:lnTo>
                  <a:pt x="17788" y="15823"/>
                </a:lnTo>
                <a:lnTo>
                  <a:pt x="24598" y="10290"/>
                </a:lnTo>
                <a:lnTo>
                  <a:pt x="32093" y="5860"/>
                </a:lnTo>
                <a:lnTo>
                  <a:pt x="40116" y="2628"/>
                </a:lnTo>
                <a:lnTo>
                  <a:pt x="48496" y="661"/>
                </a:lnTo>
                <a:lnTo>
                  <a:pt x="57057" y="0"/>
                </a:lnTo>
                <a:lnTo>
                  <a:pt x="65619" y="661"/>
                </a:lnTo>
                <a:lnTo>
                  <a:pt x="73999" y="2628"/>
                </a:lnTo>
                <a:lnTo>
                  <a:pt x="82022" y="5860"/>
                </a:lnTo>
                <a:lnTo>
                  <a:pt x="89517" y="10290"/>
                </a:lnTo>
                <a:lnTo>
                  <a:pt x="96327" y="15823"/>
                </a:lnTo>
                <a:lnTo>
                  <a:pt x="102308" y="22342"/>
                </a:lnTo>
                <a:lnTo>
                  <a:pt x="107333" y="29711"/>
                </a:lnTo>
                <a:lnTo>
                  <a:pt x="111297" y="37772"/>
                </a:lnTo>
                <a:lnTo>
                  <a:pt x="114115" y="46357"/>
                </a:lnTo>
              </a:path>
            </a:pathLst>
          </a:custGeom>
          <a:noFill/>
          <a:ln w="13494" cap="rnd">
            <a:solidFill>
              <a:srgbClr val="3432C9"/>
            </a:solidFill>
            <a:round/>
          </a:ln>
          <a:effectLst/>
        </p:spPr>
        <p:txBody>
          <a:bodyPr rtlCol="0" anchor="ctr"/>
          <a:lstStyle/>
          <a:p>
            <a:pPr algn="ctr"/>
          </a:p>
        </p:txBody>
      </p:sp>
      <p:sp>
        <p:nvSpPr>
          <p:cNvPr id="15" name="TextBox 14"/>
          <p:cNvSpPr txBox="1"/>
          <p:nvPr/>
        </p:nvSpPr>
        <p:spPr>
          <a:xfrm>
            <a:off x="1289304" y="195681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Capacitação de profissionais</a:t>
            </a:r>
          </a:p>
        </p:txBody>
      </p:sp>
      <p:cxnSp>
        <p:nvCxnSpPr>
          <p:cNvPr id="16" name="Connector 15"/>
          <p:cNvCxnSpPr/>
          <p:nvPr/>
        </p:nvCxnSpPr>
        <p:spPr>
          <a:xfrm>
            <a:off x="777240" y="2505456"/>
            <a:ext cx="5394960" cy="0"/>
          </a:xfrm>
          <a:prstGeom prst="line">
            <a:avLst/>
          </a:prstGeom>
          <a:ln w="12700" cap="rnd">
            <a:solidFill>
              <a:srgbClr val="EDEFF8"/>
            </a:solidFill>
            <a:round/>
          </a:ln>
          <a:effectLst/>
        </p:spPr>
      </p:cxnSp>
      <p:sp>
        <p:nvSpPr>
          <p:cNvPr id="17" name="Freeform 16"/>
          <p:cNvSpPr/>
          <p:nvPr/>
        </p:nvSpPr>
        <p:spPr>
          <a:xfrm>
            <a:off x="818937" y="2730033"/>
            <a:ext cx="264078" cy="271028"/>
          </a:xfrm>
          <a:custGeom>
            <a:avLst/>
            <a:gdLst/>
            <a:ahLst/>
            <a:cxnLst/>
            <a:rect l="l" t="t" r="r" b="b"/>
            <a:pathLst>
              <a:path w="264078" h="271028">
                <a:moveTo>
                  <a:pt x="76443" y="0"/>
                </a:moveTo>
                <a:lnTo>
                  <a:pt x="104241" y="27797"/>
                </a:lnTo>
                <a:lnTo>
                  <a:pt x="159837" y="27797"/>
                </a:lnTo>
                <a:lnTo>
                  <a:pt x="187635" y="0"/>
                </a:lnTo>
                <a:lnTo>
                  <a:pt x="264078" y="48646"/>
                </a:lnTo>
                <a:lnTo>
                  <a:pt x="229331" y="111191"/>
                </a:lnTo>
                <a:lnTo>
                  <a:pt x="205008" y="90342"/>
                </a:lnTo>
                <a:lnTo>
                  <a:pt x="205008" y="271028"/>
                </a:lnTo>
                <a:lnTo>
                  <a:pt x="59070" y="271028"/>
                </a:lnTo>
                <a:lnTo>
                  <a:pt x="59070" y="90342"/>
                </a:lnTo>
                <a:lnTo>
                  <a:pt x="34747" y="111191"/>
                </a:lnTo>
                <a:lnTo>
                  <a:pt x="0" y="48646"/>
                </a:lnTo>
                <a:close/>
              </a:path>
            </a:pathLst>
          </a:custGeom>
          <a:noFill/>
          <a:ln w="15875" cap="rnd">
            <a:solidFill>
              <a:srgbClr val="3432C9"/>
            </a:solidFill>
            <a:round/>
          </a:ln>
          <a:effectLst/>
        </p:spPr>
        <p:txBody>
          <a:bodyPr rtlCol="0" anchor="ctr"/>
          <a:lstStyle/>
          <a:p>
            <a:pPr algn="ctr"/>
          </a:p>
        </p:txBody>
      </p:sp>
      <p:sp>
        <p:nvSpPr>
          <p:cNvPr id="18" name="Freeform 17"/>
          <p:cNvSpPr/>
          <p:nvPr/>
        </p:nvSpPr>
        <p:spPr>
          <a:xfrm>
            <a:off x="923178" y="2757830"/>
            <a:ext cx="55596" cy="24323"/>
          </a:xfrm>
          <a:custGeom>
            <a:avLst/>
            <a:gdLst/>
            <a:ahLst/>
            <a:cxnLst/>
            <a:rect l="l" t="t" r="r" b="b"/>
            <a:pathLst>
              <a:path w="55596" h="24323">
                <a:moveTo>
                  <a:pt x="0" y="0"/>
                </a:moveTo>
                <a:lnTo>
                  <a:pt x="27798" y="24323"/>
                </a:lnTo>
                <a:lnTo>
                  <a:pt x="55596" y="0"/>
                </a:lnTo>
              </a:path>
            </a:pathLst>
          </a:custGeom>
          <a:noFill/>
          <a:ln w="12700" cap="rnd">
            <a:solidFill>
              <a:srgbClr val="3432C9"/>
            </a:solidFill>
            <a:round/>
          </a:ln>
          <a:effectLst/>
        </p:spPr>
        <p:txBody>
          <a:bodyPr rtlCol="0" anchor="ctr"/>
          <a:lstStyle/>
          <a:p>
            <a:pPr algn="ctr"/>
          </a:p>
        </p:txBody>
      </p:sp>
      <p:sp>
        <p:nvSpPr>
          <p:cNvPr id="19" name="TextBox 18"/>
          <p:cNvSpPr txBox="1"/>
          <p:nvPr/>
        </p:nvSpPr>
        <p:spPr>
          <a:xfrm>
            <a:off x="1289304" y="268833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Organização da cadeia têxtil</a:t>
            </a:r>
          </a:p>
        </p:txBody>
      </p:sp>
      <p:cxnSp>
        <p:nvCxnSpPr>
          <p:cNvPr id="20" name="Connector 19"/>
          <p:cNvCxnSpPr/>
          <p:nvPr/>
        </p:nvCxnSpPr>
        <p:spPr>
          <a:xfrm>
            <a:off x="777240" y="3236976"/>
            <a:ext cx="5394960" cy="0"/>
          </a:xfrm>
          <a:prstGeom prst="line">
            <a:avLst/>
          </a:prstGeom>
          <a:ln w="12700" cap="rnd">
            <a:solidFill>
              <a:srgbClr val="EDEFF8"/>
            </a:solidFill>
            <a:round/>
          </a:ln>
          <a:effectLst/>
        </p:spPr>
      </p:cxnSp>
      <p:sp>
        <p:nvSpPr>
          <p:cNvPr id="21" name="Freeform 20"/>
          <p:cNvSpPr/>
          <p:nvPr/>
        </p:nvSpPr>
        <p:spPr>
          <a:xfrm>
            <a:off x="805038" y="3461553"/>
            <a:ext cx="291876" cy="76443"/>
          </a:xfrm>
          <a:custGeom>
            <a:avLst/>
            <a:gdLst/>
            <a:ahLst/>
            <a:cxnLst/>
            <a:rect l="l" t="t" r="r" b="b"/>
            <a:pathLst>
              <a:path w="291876" h="76443">
                <a:moveTo>
                  <a:pt x="0" y="76443"/>
                </a:moveTo>
                <a:lnTo>
                  <a:pt x="145938" y="0"/>
                </a:lnTo>
                <a:lnTo>
                  <a:pt x="291876" y="76443"/>
                </a:lnTo>
              </a:path>
            </a:pathLst>
          </a:custGeom>
          <a:noFill/>
          <a:ln w="15875" cap="rnd">
            <a:solidFill>
              <a:srgbClr val="3432C9"/>
            </a:solidFill>
            <a:round/>
          </a:ln>
          <a:effectLst/>
        </p:spPr>
        <p:txBody>
          <a:bodyPr rtlCol="0" anchor="ctr"/>
          <a:lstStyle/>
          <a:p>
            <a:pPr algn="ctr"/>
          </a:p>
        </p:txBody>
      </p:sp>
      <p:sp>
        <p:nvSpPr>
          <p:cNvPr id="22" name="Freeform 21"/>
          <p:cNvSpPr/>
          <p:nvPr/>
        </p:nvSpPr>
        <p:spPr>
          <a:xfrm>
            <a:off x="818937" y="3537996"/>
            <a:ext cx="264078" cy="0"/>
          </a:xfrm>
          <a:custGeom>
            <a:avLst/>
            <a:gdLst/>
            <a:ahLst/>
            <a:cxnLst/>
            <a:rect l="l" t="t" r="r" b="b"/>
            <a:pathLst>
              <a:path w="264078" h="0">
                <a:moveTo>
                  <a:pt x="0" y="0"/>
                </a:moveTo>
                <a:lnTo>
                  <a:pt x="264078" y="0"/>
                </a:lnTo>
              </a:path>
            </a:pathLst>
          </a:custGeom>
          <a:noFill/>
          <a:ln w="15875" cap="rnd">
            <a:solidFill>
              <a:srgbClr val="3432C9"/>
            </a:solidFill>
            <a:round/>
          </a:ln>
          <a:effectLst/>
        </p:spPr>
        <p:txBody>
          <a:bodyPr rtlCol="0" anchor="ctr"/>
          <a:lstStyle/>
          <a:p>
            <a:pPr algn="ctr"/>
          </a:p>
        </p:txBody>
      </p:sp>
      <p:sp>
        <p:nvSpPr>
          <p:cNvPr id="23" name="Freeform 22"/>
          <p:cNvSpPr/>
          <p:nvPr/>
        </p:nvSpPr>
        <p:spPr>
          <a:xfrm>
            <a:off x="860633"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4" name="Freeform 23"/>
          <p:cNvSpPr/>
          <p:nvPr/>
        </p:nvSpPr>
        <p:spPr>
          <a:xfrm>
            <a:off x="916229"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5" name="Freeform 24"/>
          <p:cNvSpPr/>
          <p:nvPr/>
        </p:nvSpPr>
        <p:spPr>
          <a:xfrm>
            <a:off x="971824"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6" name="Freeform 25"/>
          <p:cNvSpPr/>
          <p:nvPr/>
        </p:nvSpPr>
        <p:spPr>
          <a:xfrm>
            <a:off x="1027420"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7" name="Freeform 26"/>
          <p:cNvSpPr/>
          <p:nvPr/>
        </p:nvSpPr>
        <p:spPr>
          <a:xfrm>
            <a:off x="818937" y="3690884"/>
            <a:ext cx="264078" cy="0"/>
          </a:xfrm>
          <a:custGeom>
            <a:avLst/>
            <a:gdLst/>
            <a:ahLst/>
            <a:cxnLst/>
            <a:rect l="l" t="t" r="r" b="b"/>
            <a:pathLst>
              <a:path w="264078" h="0">
                <a:moveTo>
                  <a:pt x="0" y="0"/>
                </a:moveTo>
                <a:lnTo>
                  <a:pt x="264078"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805038" y="3725631"/>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29" name="TextBox 28"/>
          <p:cNvSpPr txBox="1"/>
          <p:nvPr/>
        </p:nvSpPr>
        <p:spPr>
          <a:xfrm>
            <a:off x="1289304" y="341985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Apoio às políticas públicas ambientais</a:t>
            </a:r>
          </a:p>
        </p:txBody>
      </p:sp>
      <p:cxnSp>
        <p:nvCxnSpPr>
          <p:cNvPr id="30" name="Connector 29"/>
          <p:cNvCxnSpPr/>
          <p:nvPr/>
        </p:nvCxnSpPr>
        <p:spPr>
          <a:xfrm>
            <a:off x="777240" y="3968496"/>
            <a:ext cx="5394960" cy="0"/>
          </a:xfrm>
          <a:prstGeom prst="line">
            <a:avLst/>
          </a:prstGeom>
          <a:ln w="12700" cap="rnd">
            <a:solidFill>
              <a:srgbClr val="EDEFF8"/>
            </a:solidFill>
            <a:round/>
          </a:ln>
          <a:effectLst/>
        </p:spPr>
      </p:cxnSp>
      <p:sp>
        <p:nvSpPr>
          <p:cNvPr id="31" name="Freeform 30"/>
          <p:cNvSpPr/>
          <p:nvPr/>
        </p:nvSpPr>
        <p:spPr>
          <a:xfrm>
            <a:off x="818937" y="4450202"/>
            <a:ext cx="264078" cy="0"/>
          </a:xfrm>
          <a:custGeom>
            <a:avLst/>
            <a:gdLst/>
            <a:ahLst/>
            <a:cxnLst/>
            <a:rect l="l" t="t" r="r" b="b"/>
            <a:pathLst>
              <a:path w="264078" h="0">
                <a:moveTo>
                  <a:pt x="0" y="0"/>
                </a:moveTo>
                <a:lnTo>
                  <a:pt x="264078" y="0"/>
                </a:lnTo>
              </a:path>
            </a:pathLst>
          </a:custGeom>
          <a:noFill/>
          <a:ln w="15875" cap="rnd">
            <a:solidFill>
              <a:srgbClr val="12A87B"/>
            </a:solidFill>
            <a:round/>
          </a:ln>
          <a:effectLst/>
        </p:spPr>
        <p:txBody>
          <a:bodyPr rtlCol="0" anchor="ctr"/>
          <a:lstStyle/>
          <a:p>
            <a:pPr algn="ctr"/>
          </a:p>
        </p:txBody>
      </p:sp>
      <p:sp>
        <p:nvSpPr>
          <p:cNvPr id="32" name="Freeform 31"/>
          <p:cNvSpPr/>
          <p:nvPr/>
        </p:nvSpPr>
        <p:spPr>
          <a:xfrm>
            <a:off x="860633" y="4359859"/>
            <a:ext cx="41697" cy="90343"/>
          </a:xfrm>
          <a:custGeom>
            <a:avLst/>
            <a:gdLst/>
            <a:ahLst/>
            <a:cxnLst/>
            <a:rect l="l" t="t" r="r" b="b"/>
            <a:pathLst>
              <a:path w="41697" h="90343">
                <a:moveTo>
                  <a:pt x="0" y="90343"/>
                </a:moveTo>
                <a:lnTo>
                  <a:pt x="0" y="0"/>
                </a:lnTo>
                <a:lnTo>
                  <a:pt x="41697" y="0"/>
                </a:lnTo>
                <a:lnTo>
                  <a:pt x="41697" y="90343"/>
                </a:lnTo>
              </a:path>
            </a:pathLst>
          </a:custGeom>
          <a:noFill/>
          <a:ln w="13494" cap="rnd">
            <a:solidFill>
              <a:srgbClr val="12A87B"/>
            </a:solidFill>
            <a:round/>
          </a:ln>
          <a:effectLst/>
        </p:spPr>
        <p:txBody>
          <a:bodyPr rtlCol="0" anchor="ctr"/>
          <a:lstStyle/>
          <a:p>
            <a:pPr algn="ctr"/>
          </a:p>
        </p:txBody>
      </p:sp>
      <p:sp>
        <p:nvSpPr>
          <p:cNvPr id="33" name="Freeform 32"/>
          <p:cNvSpPr/>
          <p:nvPr/>
        </p:nvSpPr>
        <p:spPr>
          <a:xfrm>
            <a:off x="930128" y="4297314"/>
            <a:ext cx="41696" cy="152888"/>
          </a:xfrm>
          <a:custGeom>
            <a:avLst/>
            <a:gdLst/>
            <a:ahLst/>
            <a:cxnLst/>
            <a:rect l="l" t="t" r="r" b="b"/>
            <a:pathLst>
              <a:path w="41696" h="152888">
                <a:moveTo>
                  <a:pt x="0" y="152888"/>
                </a:moveTo>
                <a:lnTo>
                  <a:pt x="0" y="0"/>
                </a:lnTo>
                <a:lnTo>
                  <a:pt x="41696" y="0"/>
                </a:lnTo>
                <a:lnTo>
                  <a:pt x="41696" y="152888"/>
                </a:lnTo>
              </a:path>
            </a:pathLst>
          </a:custGeom>
          <a:noFill/>
          <a:ln w="13494" cap="rnd">
            <a:solidFill>
              <a:srgbClr val="12A87B"/>
            </a:solidFill>
            <a:round/>
          </a:ln>
          <a:effectLst/>
        </p:spPr>
        <p:txBody>
          <a:bodyPr rtlCol="0" anchor="ctr"/>
          <a:lstStyle/>
          <a:p>
            <a:pPr algn="ctr"/>
          </a:p>
        </p:txBody>
      </p:sp>
      <p:sp>
        <p:nvSpPr>
          <p:cNvPr id="34" name="Freeform 33"/>
          <p:cNvSpPr/>
          <p:nvPr/>
        </p:nvSpPr>
        <p:spPr>
          <a:xfrm>
            <a:off x="999622" y="4234769"/>
            <a:ext cx="41697" cy="215433"/>
          </a:xfrm>
          <a:custGeom>
            <a:avLst/>
            <a:gdLst/>
            <a:ahLst/>
            <a:cxnLst/>
            <a:rect l="l" t="t" r="r" b="b"/>
            <a:pathLst>
              <a:path w="41697" h="215433">
                <a:moveTo>
                  <a:pt x="0" y="215433"/>
                </a:moveTo>
                <a:lnTo>
                  <a:pt x="0" y="0"/>
                </a:lnTo>
                <a:lnTo>
                  <a:pt x="41697" y="0"/>
                </a:lnTo>
                <a:lnTo>
                  <a:pt x="41697" y="215433"/>
                </a:lnTo>
              </a:path>
            </a:pathLst>
          </a:custGeom>
          <a:noFill/>
          <a:ln w="13494" cap="rnd">
            <a:solidFill>
              <a:srgbClr val="12A87B"/>
            </a:solidFill>
            <a:round/>
          </a:ln>
          <a:effectLst/>
        </p:spPr>
        <p:txBody>
          <a:bodyPr rtlCol="0" anchor="ctr"/>
          <a:lstStyle/>
          <a:p>
            <a:pPr algn="ctr"/>
          </a:p>
        </p:txBody>
      </p:sp>
      <p:sp>
        <p:nvSpPr>
          <p:cNvPr id="35" name="Freeform 34"/>
          <p:cNvSpPr/>
          <p:nvPr/>
        </p:nvSpPr>
        <p:spPr>
          <a:xfrm>
            <a:off x="1055218" y="4255618"/>
            <a:ext cx="27797" cy="27797"/>
          </a:xfrm>
          <a:custGeom>
            <a:avLst/>
            <a:gdLst/>
            <a:ahLst/>
            <a:cxnLst/>
            <a:rect l="l" t="t" r="r" b="b"/>
            <a:pathLst>
              <a:path w="27797" h="27797">
                <a:moveTo>
                  <a:pt x="0" y="0"/>
                </a:moveTo>
                <a:lnTo>
                  <a:pt x="27797" y="0"/>
                </a:lnTo>
                <a:lnTo>
                  <a:pt x="27797" y="27797"/>
                </a:lnTo>
              </a:path>
            </a:pathLst>
          </a:custGeom>
          <a:noFill/>
          <a:ln w="14288" cap="rnd">
            <a:solidFill>
              <a:srgbClr val="12A87B"/>
            </a:solidFill>
            <a:round/>
          </a:ln>
          <a:effectLst/>
        </p:spPr>
        <p:txBody>
          <a:bodyPr rtlCol="0" anchor="ctr"/>
          <a:lstStyle/>
          <a:p>
            <a:pPr algn="ctr"/>
          </a:p>
        </p:txBody>
      </p:sp>
      <p:sp>
        <p:nvSpPr>
          <p:cNvPr id="36" name="Freeform 35"/>
          <p:cNvSpPr/>
          <p:nvPr/>
        </p:nvSpPr>
        <p:spPr>
          <a:xfrm>
            <a:off x="985723" y="4255618"/>
            <a:ext cx="97292" cy="76443"/>
          </a:xfrm>
          <a:custGeom>
            <a:avLst/>
            <a:gdLst/>
            <a:ahLst/>
            <a:cxnLst/>
            <a:rect l="l" t="t" r="r" b="b"/>
            <a:pathLst>
              <a:path w="97292" h="76443">
                <a:moveTo>
                  <a:pt x="0" y="76443"/>
                </a:moveTo>
                <a:lnTo>
                  <a:pt x="97292" y="0"/>
                </a:lnTo>
              </a:path>
            </a:pathLst>
          </a:custGeom>
          <a:noFill/>
          <a:ln w="14288" cap="rnd">
            <a:solidFill>
              <a:srgbClr val="12A87B"/>
            </a:solidFill>
            <a:round/>
          </a:ln>
          <a:effectLst/>
        </p:spPr>
        <p:txBody>
          <a:bodyPr rtlCol="0" anchor="ctr"/>
          <a:lstStyle/>
          <a:p>
            <a:pPr algn="ctr"/>
          </a:p>
        </p:txBody>
      </p:sp>
      <p:sp>
        <p:nvSpPr>
          <p:cNvPr id="37" name="TextBox 36"/>
          <p:cNvSpPr txBox="1"/>
          <p:nvPr/>
        </p:nvSpPr>
        <p:spPr>
          <a:xfrm>
            <a:off x="1289304" y="415137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Desenvolvimento da economia verde</a:t>
            </a:r>
          </a:p>
        </p:txBody>
      </p:sp>
      <p:sp>
        <p:nvSpPr>
          <p:cNvPr id="38" name="Rectangle 37"/>
          <p:cNvSpPr/>
          <p:nvPr/>
        </p:nvSpPr>
        <p:spPr>
          <a:xfrm>
            <a:off x="6446520" y="1938528"/>
            <a:ext cx="4983480" cy="2212848"/>
          </a:xfrm>
          <a:prstGeom prst="rect">
            <a:avLst/>
          </a:prstGeom>
          <a:solidFill>
            <a:srgbClr val="F4F5FC"/>
          </a:solidFill>
          <a:ln w="12700" cap="rnd">
            <a:noFill/>
            <a:round/>
          </a:ln>
          <a:effectLst/>
        </p:spPr>
        <p:txBody>
          <a:bodyPr rtlCol="0" anchor="ctr"/>
          <a:lstStyle/>
          <a:p/>
        </p:txBody>
      </p:sp>
      <p:sp>
        <p:nvSpPr>
          <p:cNvPr id="39" name="Oval 38"/>
          <p:cNvSpPr/>
          <p:nvPr/>
        </p:nvSpPr>
        <p:spPr>
          <a:xfrm>
            <a:off x="6931151" y="2331720"/>
            <a:ext cx="822960" cy="822960"/>
          </a:xfrm>
          <a:prstGeom prst="ellipse">
            <a:avLst/>
          </a:prstGeom>
          <a:solidFill>
            <a:srgbClr val="FFFFFF"/>
          </a:solidFill>
          <a:ln w="12700" cap="rnd">
            <a:noFill/>
            <a:round/>
          </a:ln>
          <a:effectLst/>
        </p:spPr>
        <p:txBody>
          <a:bodyPr rtlCol="0" anchor="ctr"/>
          <a:lstStyle/>
          <a:p/>
        </p:txBody>
      </p:sp>
      <p:sp>
        <p:nvSpPr>
          <p:cNvPr id="40" name="Oval 39"/>
          <p:cNvSpPr/>
          <p:nvPr/>
        </p:nvSpPr>
        <p:spPr>
          <a:xfrm>
            <a:off x="7291279" y="2606259"/>
            <a:ext cx="102705" cy="102705"/>
          </a:xfrm>
          <a:prstGeom prst="ellipse">
            <a:avLst/>
          </a:prstGeom>
          <a:noFill/>
          <a:ln w="15875" cap="rnd">
            <a:solidFill>
              <a:srgbClr val="3432C9"/>
            </a:solidFill>
            <a:round/>
          </a:ln>
          <a:effectLst/>
        </p:spPr>
        <p:txBody>
          <a:bodyPr rtlCol="0" anchor="ctr"/>
          <a:lstStyle/>
          <a:p/>
        </p:txBody>
      </p:sp>
      <p:sp>
        <p:nvSpPr>
          <p:cNvPr id="41" name="Freeform 40"/>
          <p:cNvSpPr/>
          <p:nvPr/>
        </p:nvSpPr>
        <p:spPr>
          <a:xfrm>
            <a:off x="7228844" y="2794553"/>
            <a:ext cx="227576" cy="91943"/>
          </a:xfrm>
          <a:custGeom>
            <a:avLst/>
            <a:gdLst/>
            <a:ahLst/>
            <a:cxnLst/>
            <a:rect l="l" t="t" r="r" b="b"/>
            <a:pathLst>
              <a:path w="227576" h="91943">
                <a:moveTo>
                  <a:pt x="0" y="91943"/>
                </a:moveTo>
                <a:lnTo>
                  <a:pt x="3455" y="78227"/>
                </a:lnTo>
                <a:lnTo>
                  <a:pt x="8686" y="65043"/>
                </a:lnTo>
                <a:lnTo>
                  <a:pt x="15608" y="52603"/>
                </a:lnTo>
                <a:lnTo>
                  <a:pt x="24109" y="41106"/>
                </a:lnTo>
                <a:lnTo>
                  <a:pt x="34054" y="30738"/>
                </a:lnTo>
                <a:lnTo>
                  <a:pt x="45281" y="21666"/>
                </a:lnTo>
                <a:lnTo>
                  <a:pt x="57611" y="14036"/>
                </a:lnTo>
                <a:lnTo>
                  <a:pt x="70845" y="7970"/>
                </a:lnTo>
                <a:lnTo>
                  <a:pt x="84769" y="3566"/>
                </a:lnTo>
                <a:lnTo>
                  <a:pt x="99161" y="895"/>
                </a:lnTo>
                <a:lnTo>
                  <a:pt x="113788" y="0"/>
                </a:lnTo>
                <a:lnTo>
                  <a:pt x="128415" y="895"/>
                </a:lnTo>
                <a:lnTo>
                  <a:pt x="142807" y="3566"/>
                </a:lnTo>
                <a:lnTo>
                  <a:pt x="156731" y="7970"/>
                </a:lnTo>
                <a:lnTo>
                  <a:pt x="169965" y="14036"/>
                </a:lnTo>
                <a:lnTo>
                  <a:pt x="182295" y="21666"/>
                </a:lnTo>
                <a:lnTo>
                  <a:pt x="193522" y="30738"/>
                </a:lnTo>
                <a:lnTo>
                  <a:pt x="203467" y="41106"/>
                </a:lnTo>
                <a:lnTo>
                  <a:pt x="211968" y="52603"/>
                </a:lnTo>
                <a:lnTo>
                  <a:pt x="218890" y="65043"/>
                </a:lnTo>
                <a:lnTo>
                  <a:pt x="224121" y="78227"/>
                </a:lnTo>
                <a:lnTo>
                  <a:pt x="227576" y="91943"/>
                </a:lnTo>
              </a:path>
            </a:pathLst>
          </a:custGeom>
          <a:noFill/>
          <a:ln w="15875" cap="rnd">
            <a:solidFill>
              <a:srgbClr val="3432C9"/>
            </a:solidFill>
            <a:round/>
          </a:ln>
          <a:effectLst/>
        </p:spPr>
        <p:txBody>
          <a:bodyPr rtlCol="0" anchor="ctr"/>
          <a:lstStyle/>
          <a:p>
            <a:pPr algn="ctr"/>
          </a:p>
        </p:txBody>
      </p:sp>
      <p:sp>
        <p:nvSpPr>
          <p:cNvPr id="42" name="Oval 41"/>
          <p:cNvSpPr/>
          <p:nvPr/>
        </p:nvSpPr>
        <p:spPr>
          <a:xfrm>
            <a:off x="7158618" y="2661891"/>
            <a:ext cx="77029" cy="77029"/>
          </a:xfrm>
          <a:prstGeom prst="ellipse">
            <a:avLst/>
          </a:prstGeom>
          <a:noFill/>
          <a:ln w="13494" cap="rnd">
            <a:solidFill>
              <a:srgbClr val="3432C9"/>
            </a:solidFill>
            <a:round/>
          </a:ln>
          <a:effectLst/>
        </p:spPr>
        <p:txBody>
          <a:bodyPr rtlCol="0" anchor="ctr"/>
          <a:lstStyle/>
          <a:p/>
        </p:txBody>
      </p:sp>
      <p:sp>
        <p:nvSpPr>
          <p:cNvPr id="43" name="Freeform 42"/>
          <p:cNvSpPr/>
          <p:nvPr/>
        </p:nvSpPr>
        <p:spPr>
          <a:xfrm>
            <a:off x="7126862" y="2845905"/>
            <a:ext cx="140541" cy="57093"/>
          </a:xfrm>
          <a:custGeom>
            <a:avLst/>
            <a:gdLst/>
            <a:ahLst/>
            <a:cxnLst/>
            <a:rect l="l" t="t" r="r" b="b"/>
            <a:pathLst>
              <a:path w="140541" h="57093">
                <a:moveTo>
                  <a:pt x="0" y="57093"/>
                </a:moveTo>
                <a:lnTo>
                  <a:pt x="3471" y="46520"/>
                </a:lnTo>
                <a:lnTo>
                  <a:pt x="8352" y="36591"/>
                </a:lnTo>
                <a:lnTo>
                  <a:pt x="14541" y="27516"/>
                </a:lnTo>
                <a:lnTo>
                  <a:pt x="21907" y="19487"/>
                </a:lnTo>
                <a:lnTo>
                  <a:pt x="30294" y="12673"/>
                </a:lnTo>
                <a:lnTo>
                  <a:pt x="39525" y="7217"/>
                </a:lnTo>
                <a:lnTo>
                  <a:pt x="49406" y="3236"/>
                </a:lnTo>
                <a:lnTo>
                  <a:pt x="59727" y="814"/>
                </a:lnTo>
                <a:lnTo>
                  <a:pt x="70271" y="0"/>
                </a:lnTo>
                <a:lnTo>
                  <a:pt x="80814" y="814"/>
                </a:lnTo>
                <a:lnTo>
                  <a:pt x="91136" y="3236"/>
                </a:lnTo>
                <a:lnTo>
                  <a:pt x="101016" y="7217"/>
                </a:lnTo>
                <a:lnTo>
                  <a:pt x="110247" y="12673"/>
                </a:lnTo>
                <a:lnTo>
                  <a:pt x="118634" y="19487"/>
                </a:lnTo>
                <a:lnTo>
                  <a:pt x="126000" y="27516"/>
                </a:lnTo>
                <a:lnTo>
                  <a:pt x="132189" y="36591"/>
                </a:lnTo>
                <a:lnTo>
                  <a:pt x="137071" y="46520"/>
                </a:lnTo>
                <a:lnTo>
                  <a:pt x="140541" y="57093"/>
                </a:lnTo>
              </a:path>
            </a:pathLst>
          </a:custGeom>
          <a:noFill/>
          <a:ln w="13494" cap="rnd">
            <a:solidFill>
              <a:srgbClr val="3432C9"/>
            </a:solidFill>
            <a:round/>
          </a:ln>
          <a:effectLst/>
        </p:spPr>
        <p:txBody>
          <a:bodyPr rtlCol="0" anchor="ctr"/>
          <a:lstStyle/>
          <a:p>
            <a:pPr algn="ctr"/>
          </a:p>
        </p:txBody>
      </p:sp>
      <p:sp>
        <p:nvSpPr>
          <p:cNvPr id="44" name="Oval 43"/>
          <p:cNvSpPr/>
          <p:nvPr/>
        </p:nvSpPr>
        <p:spPr>
          <a:xfrm>
            <a:off x="7449616" y="2661891"/>
            <a:ext cx="77029" cy="77029"/>
          </a:xfrm>
          <a:prstGeom prst="ellipse">
            <a:avLst/>
          </a:prstGeom>
          <a:noFill/>
          <a:ln w="13494" cap="rnd">
            <a:solidFill>
              <a:srgbClr val="3432C9"/>
            </a:solidFill>
            <a:round/>
          </a:ln>
          <a:effectLst/>
        </p:spPr>
        <p:txBody>
          <a:bodyPr rtlCol="0" anchor="ctr"/>
          <a:lstStyle/>
          <a:p/>
        </p:txBody>
      </p:sp>
      <p:sp>
        <p:nvSpPr>
          <p:cNvPr id="45" name="Freeform 44"/>
          <p:cNvSpPr/>
          <p:nvPr/>
        </p:nvSpPr>
        <p:spPr>
          <a:xfrm>
            <a:off x="7417861" y="2845905"/>
            <a:ext cx="140541" cy="57093"/>
          </a:xfrm>
          <a:custGeom>
            <a:avLst/>
            <a:gdLst/>
            <a:ahLst/>
            <a:cxnLst/>
            <a:rect l="l" t="t" r="r" b="b"/>
            <a:pathLst>
              <a:path w="140541" h="57093">
                <a:moveTo>
                  <a:pt x="0" y="57093"/>
                </a:moveTo>
                <a:lnTo>
                  <a:pt x="3470" y="46520"/>
                </a:lnTo>
                <a:lnTo>
                  <a:pt x="8352" y="36591"/>
                </a:lnTo>
                <a:lnTo>
                  <a:pt x="14541" y="27516"/>
                </a:lnTo>
                <a:lnTo>
                  <a:pt x="21907" y="19487"/>
                </a:lnTo>
                <a:lnTo>
                  <a:pt x="30294" y="12673"/>
                </a:lnTo>
                <a:lnTo>
                  <a:pt x="39525" y="7217"/>
                </a:lnTo>
                <a:lnTo>
                  <a:pt x="49405" y="3236"/>
                </a:lnTo>
                <a:lnTo>
                  <a:pt x="59727" y="814"/>
                </a:lnTo>
                <a:lnTo>
                  <a:pt x="70270" y="0"/>
                </a:lnTo>
                <a:lnTo>
                  <a:pt x="80814" y="814"/>
                </a:lnTo>
                <a:lnTo>
                  <a:pt x="91135" y="3236"/>
                </a:lnTo>
                <a:lnTo>
                  <a:pt x="101016" y="7217"/>
                </a:lnTo>
                <a:lnTo>
                  <a:pt x="110247" y="12673"/>
                </a:lnTo>
                <a:lnTo>
                  <a:pt x="118634" y="19487"/>
                </a:lnTo>
                <a:lnTo>
                  <a:pt x="126000" y="27516"/>
                </a:lnTo>
                <a:lnTo>
                  <a:pt x="132189" y="36591"/>
                </a:lnTo>
                <a:lnTo>
                  <a:pt x="137070" y="46520"/>
                </a:lnTo>
                <a:lnTo>
                  <a:pt x="140541" y="57093"/>
                </a:lnTo>
              </a:path>
            </a:pathLst>
          </a:custGeom>
          <a:noFill/>
          <a:ln w="13494" cap="rnd">
            <a:solidFill>
              <a:srgbClr val="3432C9"/>
            </a:solidFill>
            <a:round/>
          </a:ln>
          <a:effectLst/>
        </p:spPr>
        <p:txBody>
          <a:bodyPr rtlCol="0" anchor="ctr"/>
          <a:lstStyle/>
          <a:p>
            <a:pPr algn="ctr"/>
          </a:p>
        </p:txBody>
      </p:sp>
      <p:sp>
        <p:nvSpPr>
          <p:cNvPr id="46" name="TextBox 45"/>
          <p:cNvSpPr txBox="1"/>
          <p:nvPr/>
        </p:nvSpPr>
        <p:spPr>
          <a:xfrm>
            <a:off x="6565392"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Pessoas</a:t>
            </a:r>
          </a:p>
        </p:txBody>
      </p:sp>
      <p:sp>
        <p:nvSpPr>
          <p:cNvPr id="47" name="TextBox 46"/>
          <p:cNvSpPr txBox="1"/>
          <p:nvPr/>
        </p:nvSpPr>
        <p:spPr>
          <a:xfrm>
            <a:off x="8001000" y="2578608"/>
            <a:ext cx="292608" cy="365760"/>
          </a:xfrm>
          <a:prstGeom prst="rect">
            <a:avLst/>
          </a:prstGeom>
          <a:noFill/>
          <a:effectLst/>
        </p:spPr>
        <p:txBody>
          <a:bodyPr wrap="square" lIns="0" rIns="0" tIns="0" bIns="0" anchor="t">
            <a:spAutoFit/>
          </a:bodyPr>
          <a:lstStyle/>
          <a:p>
            <a:pPr algn="ctr">
              <a:lnSpc>
                <a:spcPct val="135000"/>
              </a:lnSpc>
            </a:pPr>
            <a:r>
              <a:rPr sz="1900" b="0" i="0">
                <a:solidFill>
                  <a:srgbClr val="9A9DB0"/>
                </a:solidFill>
                <a:latin typeface="Montserrat Light"/>
              </a:rPr>
              <a:t>+</a:t>
            </a:r>
          </a:p>
        </p:txBody>
      </p:sp>
      <p:sp>
        <p:nvSpPr>
          <p:cNvPr id="48" name="Oval 47"/>
          <p:cNvSpPr/>
          <p:nvPr/>
        </p:nvSpPr>
        <p:spPr>
          <a:xfrm>
            <a:off x="8522208" y="2331720"/>
            <a:ext cx="822960" cy="822960"/>
          </a:xfrm>
          <a:prstGeom prst="ellipse">
            <a:avLst/>
          </a:prstGeom>
          <a:solidFill>
            <a:srgbClr val="FFFFFF"/>
          </a:solidFill>
          <a:ln w="12700" cap="rnd">
            <a:noFill/>
            <a:round/>
          </a:ln>
          <a:effectLst/>
        </p:spPr>
        <p:txBody>
          <a:bodyPr rtlCol="0" anchor="ctr"/>
          <a:lstStyle/>
          <a:p/>
        </p:txBody>
      </p:sp>
      <p:sp>
        <p:nvSpPr>
          <p:cNvPr id="49" name="Freeform 48"/>
          <p:cNvSpPr/>
          <p:nvPr/>
        </p:nvSpPr>
        <p:spPr>
          <a:xfrm>
            <a:off x="8827357" y="2590390"/>
            <a:ext cx="212662" cy="305620"/>
          </a:xfrm>
          <a:custGeom>
            <a:avLst/>
            <a:gdLst/>
            <a:ahLst/>
            <a:cxnLst/>
            <a:rect l="l" t="t" r="r" b="b"/>
            <a:pathLst>
              <a:path w="212662" h="305620">
                <a:moveTo>
                  <a:pt x="161949" y="305620"/>
                </a:moveTo>
                <a:lnTo>
                  <a:pt x="147440" y="297589"/>
                </a:lnTo>
                <a:lnTo>
                  <a:pt x="131934" y="289921"/>
                </a:lnTo>
                <a:lnTo>
                  <a:pt x="116302" y="282299"/>
                </a:lnTo>
                <a:lnTo>
                  <a:pt x="100894" y="274595"/>
                </a:lnTo>
                <a:lnTo>
                  <a:pt x="85975" y="266713"/>
                </a:lnTo>
                <a:lnTo>
                  <a:pt x="71769" y="258572"/>
                </a:lnTo>
                <a:lnTo>
                  <a:pt x="58475" y="250099"/>
                </a:lnTo>
                <a:lnTo>
                  <a:pt x="46265" y="241231"/>
                </a:lnTo>
                <a:lnTo>
                  <a:pt x="35289" y="231914"/>
                </a:lnTo>
                <a:lnTo>
                  <a:pt x="25670" y="222104"/>
                </a:lnTo>
                <a:lnTo>
                  <a:pt x="17506" y="211763"/>
                </a:lnTo>
                <a:lnTo>
                  <a:pt x="10868" y="200868"/>
                </a:lnTo>
                <a:lnTo>
                  <a:pt x="5798" y="189401"/>
                </a:lnTo>
                <a:lnTo>
                  <a:pt x="2311" y="177358"/>
                </a:lnTo>
                <a:lnTo>
                  <a:pt x="393" y="164745"/>
                </a:lnTo>
                <a:lnTo>
                  <a:pt x="0" y="151576"/>
                </a:lnTo>
                <a:lnTo>
                  <a:pt x="1062" y="137877"/>
                </a:lnTo>
                <a:lnTo>
                  <a:pt x="3482" y="123685"/>
                </a:lnTo>
                <a:lnTo>
                  <a:pt x="7135" y="109044"/>
                </a:lnTo>
                <a:lnTo>
                  <a:pt x="11872" y="94008"/>
                </a:lnTo>
                <a:lnTo>
                  <a:pt x="17521" y="78640"/>
                </a:lnTo>
                <a:lnTo>
                  <a:pt x="23884" y="63012"/>
                </a:lnTo>
                <a:lnTo>
                  <a:pt x="30736" y="47207"/>
                </a:lnTo>
                <a:lnTo>
                  <a:pt x="37811" y="31320"/>
                </a:lnTo>
                <a:lnTo>
                  <a:pt x="44760" y="15478"/>
                </a:lnTo>
                <a:lnTo>
                  <a:pt x="50713" y="0"/>
                </a:lnTo>
                <a:lnTo>
                  <a:pt x="50713" y="0"/>
                </a:lnTo>
                <a:lnTo>
                  <a:pt x="65222" y="8031"/>
                </a:lnTo>
                <a:lnTo>
                  <a:pt x="80728" y="15699"/>
                </a:lnTo>
                <a:lnTo>
                  <a:pt x="96360" y="23321"/>
                </a:lnTo>
                <a:lnTo>
                  <a:pt x="111768" y="31025"/>
                </a:lnTo>
                <a:lnTo>
                  <a:pt x="126687" y="38907"/>
                </a:lnTo>
                <a:lnTo>
                  <a:pt x="140893" y="47048"/>
                </a:lnTo>
                <a:lnTo>
                  <a:pt x="154187" y="55521"/>
                </a:lnTo>
                <a:lnTo>
                  <a:pt x="166397" y="64389"/>
                </a:lnTo>
                <a:lnTo>
                  <a:pt x="177373" y="73706"/>
                </a:lnTo>
                <a:lnTo>
                  <a:pt x="186992" y="83516"/>
                </a:lnTo>
                <a:lnTo>
                  <a:pt x="195156" y="93857"/>
                </a:lnTo>
                <a:lnTo>
                  <a:pt x="201794" y="104752"/>
                </a:lnTo>
                <a:lnTo>
                  <a:pt x="206864" y="116219"/>
                </a:lnTo>
                <a:lnTo>
                  <a:pt x="210351" y="128262"/>
                </a:lnTo>
                <a:lnTo>
                  <a:pt x="212269" y="140875"/>
                </a:lnTo>
                <a:lnTo>
                  <a:pt x="212662" y="154044"/>
                </a:lnTo>
                <a:lnTo>
                  <a:pt x="211600" y="167743"/>
                </a:lnTo>
                <a:lnTo>
                  <a:pt x="209180" y="181935"/>
                </a:lnTo>
                <a:lnTo>
                  <a:pt x="205527" y="196576"/>
                </a:lnTo>
                <a:lnTo>
                  <a:pt x="200790" y="211612"/>
                </a:lnTo>
                <a:lnTo>
                  <a:pt x="195141" y="226980"/>
                </a:lnTo>
                <a:lnTo>
                  <a:pt x="188778" y="242608"/>
                </a:lnTo>
                <a:lnTo>
                  <a:pt x="181926" y="258413"/>
                </a:lnTo>
                <a:lnTo>
                  <a:pt x="174851" y="274300"/>
                </a:lnTo>
                <a:lnTo>
                  <a:pt x="167902" y="290142"/>
                </a:lnTo>
                <a:lnTo>
                  <a:pt x="161949" y="305620"/>
                </a:lnTo>
                <a:close/>
              </a:path>
            </a:pathLst>
          </a:custGeom>
          <a:noFill/>
          <a:ln w="15875" cap="rnd">
            <a:solidFill>
              <a:srgbClr val="12A87B"/>
            </a:solidFill>
            <a:round/>
          </a:ln>
          <a:effectLst/>
        </p:spPr>
        <p:txBody>
          <a:bodyPr rtlCol="0" anchor="ctr"/>
          <a:lstStyle/>
          <a:p>
            <a:pPr algn="ctr"/>
          </a:p>
        </p:txBody>
      </p:sp>
      <p:sp>
        <p:nvSpPr>
          <p:cNvPr id="50" name="Freeform 49"/>
          <p:cNvSpPr/>
          <p:nvPr/>
        </p:nvSpPr>
        <p:spPr>
          <a:xfrm>
            <a:off x="8878070" y="2590390"/>
            <a:ext cx="111236" cy="305620"/>
          </a:xfrm>
          <a:custGeom>
            <a:avLst/>
            <a:gdLst/>
            <a:ahLst/>
            <a:cxnLst/>
            <a:rect l="l" t="t" r="r" b="b"/>
            <a:pathLst>
              <a:path w="111236" h="305620">
                <a:moveTo>
                  <a:pt x="111236" y="305620"/>
                </a:moveTo>
                <a:lnTo>
                  <a:pt x="0" y="0"/>
                </a:lnTo>
              </a:path>
            </a:pathLst>
          </a:custGeom>
          <a:noFill/>
          <a:ln w="12700" cap="rnd">
            <a:solidFill>
              <a:srgbClr val="12A87B"/>
            </a:solidFill>
            <a:round/>
          </a:ln>
          <a:effectLst/>
        </p:spPr>
        <p:txBody>
          <a:bodyPr rtlCol="0" anchor="ctr"/>
          <a:lstStyle/>
          <a:p>
            <a:pPr algn="ctr"/>
          </a:p>
        </p:txBody>
      </p:sp>
      <p:sp>
        <p:nvSpPr>
          <p:cNvPr id="51" name="Freeform 50"/>
          <p:cNvSpPr/>
          <p:nvPr/>
        </p:nvSpPr>
        <p:spPr>
          <a:xfrm>
            <a:off x="8887966" y="2787530"/>
            <a:ext cx="70194" cy="22906"/>
          </a:xfrm>
          <a:custGeom>
            <a:avLst/>
            <a:gdLst/>
            <a:ahLst/>
            <a:cxnLst/>
            <a:rect l="l" t="t" r="r" b="b"/>
            <a:pathLst>
              <a:path w="70194" h="22906">
                <a:moveTo>
                  <a:pt x="70194" y="22906"/>
                </a:moveTo>
                <a:lnTo>
                  <a:pt x="0" y="0"/>
                </a:lnTo>
              </a:path>
            </a:pathLst>
          </a:custGeom>
          <a:noFill/>
          <a:ln w="9525" cap="rnd">
            <a:solidFill>
              <a:srgbClr val="12A87B"/>
            </a:solidFill>
            <a:round/>
          </a:ln>
          <a:effectLst/>
        </p:spPr>
        <p:txBody>
          <a:bodyPr rtlCol="0" anchor="ctr"/>
          <a:lstStyle/>
          <a:p>
            <a:pPr algn="ctr"/>
          </a:p>
        </p:txBody>
      </p:sp>
      <p:sp>
        <p:nvSpPr>
          <p:cNvPr id="52" name="Freeform 51"/>
          <p:cNvSpPr/>
          <p:nvPr/>
        </p:nvSpPr>
        <p:spPr>
          <a:xfrm>
            <a:off x="8958160" y="2747769"/>
            <a:ext cx="39048" cy="62667"/>
          </a:xfrm>
          <a:custGeom>
            <a:avLst/>
            <a:gdLst/>
            <a:ahLst/>
            <a:cxnLst/>
            <a:rect l="l" t="t" r="r" b="b"/>
            <a:pathLst>
              <a:path w="39048" h="62667">
                <a:moveTo>
                  <a:pt x="0" y="62667"/>
                </a:moveTo>
                <a:lnTo>
                  <a:pt x="39048" y="0"/>
                </a:lnTo>
              </a:path>
            </a:pathLst>
          </a:custGeom>
          <a:noFill/>
          <a:ln w="9525" cap="rnd">
            <a:solidFill>
              <a:srgbClr val="12A87B"/>
            </a:solidFill>
            <a:round/>
          </a:ln>
          <a:effectLst/>
        </p:spPr>
        <p:txBody>
          <a:bodyPr rtlCol="0" anchor="ctr"/>
          <a:lstStyle/>
          <a:p>
            <a:pPr algn="ctr"/>
          </a:p>
        </p:txBody>
      </p:sp>
      <p:sp>
        <p:nvSpPr>
          <p:cNvPr id="53" name="Freeform 52"/>
          <p:cNvSpPr/>
          <p:nvPr/>
        </p:nvSpPr>
        <p:spPr>
          <a:xfrm>
            <a:off x="8848110" y="2732815"/>
            <a:ext cx="87803" cy="16497"/>
          </a:xfrm>
          <a:custGeom>
            <a:avLst/>
            <a:gdLst/>
            <a:ahLst/>
            <a:cxnLst/>
            <a:rect l="l" t="t" r="r" b="b"/>
            <a:pathLst>
              <a:path w="87803" h="16497">
                <a:moveTo>
                  <a:pt x="87803" y="16497"/>
                </a:moveTo>
                <a:lnTo>
                  <a:pt x="0" y="0"/>
                </a:lnTo>
              </a:path>
            </a:pathLst>
          </a:custGeom>
          <a:noFill/>
          <a:ln w="9525" cap="rnd">
            <a:solidFill>
              <a:srgbClr val="12A87B"/>
            </a:solidFill>
            <a:round/>
          </a:ln>
          <a:effectLst/>
        </p:spPr>
        <p:txBody>
          <a:bodyPr rtlCol="0" anchor="ctr"/>
          <a:lstStyle/>
          <a:p>
            <a:pPr algn="ctr"/>
          </a:p>
        </p:txBody>
      </p:sp>
      <p:sp>
        <p:nvSpPr>
          <p:cNvPr id="54" name="Freeform 53"/>
          <p:cNvSpPr/>
          <p:nvPr/>
        </p:nvSpPr>
        <p:spPr>
          <a:xfrm>
            <a:off x="8935913" y="2680236"/>
            <a:ext cx="56656" cy="69076"/>
          </a:xfrm>
          <a:custGeom>
            <a:avLst/>
            <a:gdLst/>
            <a:ahLst/>
            <a:cxnLst/>
            <a:rect l="l" t="t" r="r" b="b"/>
            <a:pathLst>
              <a:path w="56656" h="69076">
                <a:moveTo>
                  <a:pt x="0" y="69076"/>
                </a:moveTo>
                <a:lnTo>
                  <a:pt x="56656" y="0"/>
                </a:lnTo>
              </a:path>
            </a:pathLst>
          </a:custGeom>
          <a:noFill/>
          <a:ln w="9525" cap="rnd">
            <a:solidFill>
              <a:srgbClr val="12A87B"/>
            </a:solidFill>
            <a:round/>
          </a:ln>
          <a:effectLst/>
        </p:spPr>
        <p:txBody>
          <a:bodyPr rtlCol="0" anchor="ctr"/>
          <a:lstStyle/>
          <a:p>
            <a:pPr algn="ctr"/>
          </a:p>
        </p:txBody>
      </p:sp>
      <p:sp>
        <p:nvSpPr>
          <p:cNvPr id="55" name="Freeform 54"/>
          <p:cNvSpPr/>
          <p:nvPr/>
        </p:nvSpPr>
        <p:spPr>
          <a:xfrm>
            <a:off x="8837799" y="2667347"/>
            <a:ext cx="75866" cy="20841"/>
          </a:xfrm>
          <a:custGeom>
            <a:avLst/>
            <a:gdLst/>
            <a:ahLst/>
            <a:cxnLst/>
            <a:rect l="l" t="t" r="r" b="b"/>
            <a:pathLst>
              <a:path w="75866" h="20841">
                <a:moveTo>
                  <a:pt x="75866" y="20841"/>
                </a:moveTo>
                <a:lnTo>
                  <a:pt x="0" y="0"/>
                </a:lnTo>
              </a:path>
            </a:pathLst>
          </a:custGeom>
          <a:noFill/>
          <a:ln w="9525" cap="rnd">
            <a:solidFill>
              <a:srgbClr val="12A87B"/>
            </a:solidFill>
            <a:round/>
          </a:ln>
          <a:effectLst/>
        </p:spPr>
        <p:txBody>
          <a:bodyPr rtlCol="0" anchor="ctr"/>
          <a:lstStyle/>
          <a:p>
            <a:pPr algn="ctr"/>
          </a:p>
        </p:txBody>
      </p:sp>
      <p:sp>
        <p:nvSpPr>
          <p:cNvPr id="56" name="Freeform 55"/>
          <p:cNvSpPr/>
          <p:nvPr/>
        </p:nvSpPr>
        <p:spPr>
          <a:xfrm>
            <a:off x="8913665" y="2623457"/>
            <a:ext cx="44721" cy="64731"/>
          </a:xfrm>
          <a:custGeom>
            <a:avLst/>
            <a:gdLst/>
            <a:ahLst/>
            <a:cxnLst/>
            <a:rect l="l" t="t" r="r" b="b"/>
            <a:pathLst>
              <a:path w="44721" h="64731">
                <a:moveTo>
                  <a:pt x="0" y="64731"/>
                </a:moveTo>
                <a:lnTo>
                  <a:pt x="44721" y="0"/>
                </a:lnTo>
              </a:path>
            </a:pathLst>
          </a:custGeom>
          <a:noFill/>
          <a:ln w="9525" cap="rnd">
            <a:solidFill>
              <a:srgbClr val="12A87B"/>
            </a:solidFill>
            <a:round/>
          </a:ln>
          <a:effectLst/>
        </p:spPr>
        <p:txBody>
          <a:bodyPr rtlCol="0" anchor="ctr"/>
          <a:lstStyle/>
          <a:p>
            <a:pPr algn="ctr"/>
          </a:p>
        </p:txBody>
      </p:sp>
      <p:sp>
        <p:nvSpPr>
          <p:cNvPr id="57" name="TextBox 56"/>
          <p:cNvSpPr txBox="1"/>
          <p:nvPr/>
        </p:nvSpPr>
        <p:spPr>
          <a:xfrm>
            <a:off x="8156448"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Meio Ambiente</a:t>
            </a:r>
          </a:p>
        </p:txBody>
      </p:sp>
      <p:sp>
        <p:nvSpPr>
          <p:cNvPr id="58" name="TextBox 57"/>
          <p:cNvSpPr txBox="1"/>
          <p:nvPr/>
        </p:nvSpPr>
        <p:spPr>
          <a:xfrm>
            <a:off x="9592056" y="2578608"/>
            <a:ext cx="292608" cy="365760"/>
          </a:xfrm>
          <a:prstGeom prst="rect">
            <a:avLst/>
          </a:prstGeom>
          <a:noFill/>
          <a:effectLst/>
        </p:spPr>
        <p:txBody>
          <a:bodyPr wrap="square" lIns="0" rIns="0" tIns="0" bIns="0" anchor="t">
            <a:spAutoFit/>
          </a:bodyPr>
          <a:lstStyle/>
          <a:p>
            <a:pPr algn="ctr">
              <a:lnSpc>
                <a:spcPct val="135000"/>
              </a:lnSpc>
            </a:pPr>
            <a:r>
              <a:rPr sz="1900" b="0" i="0">
                <a:solidFill>
                  <a:srgbClr val="9A9DB0"/>
                </a:solidFill>
                <a:latin typeface="Montserrat Light"/>
              </a:rPr>
              <a:t>+</a:t>
            </a:r>
          </a:p>
        </p:txBody>
      </p:sp>
      <p:sp>
        <p:nvSpPr>
          <p:cNvPr id="59" name="Oval 58"/>
          <p:cNvSpPr/>
          <p:nvPr/>
        </p:nvSpPr>
        <p:spPr>
          <a:xfrm>
            <a:off x="10113264" y="2331720"/>
            <a:ext cx="822960" cy="822960"/>
          </a:xfrm>
          <a:prstGeom prst="ellipse">
            <a:avLst/>
          </a:prstGeom>
          <a:solidFill>
            <a:srgbClr val="FFFFFF"/>
          </a:solidFill>
          <a:ln w="12700" cap="rnd">
            <a:noFill/>
            <a:round/>
          </a:ln>
          <a:effectLst/>
        </p:spPr>
        <p:txBody>
          <a:bodyPr rtlCol="0" anchor="ctr"/>
          <a:lstStyle/>
          <a:p/>
        </p:txBody>
      </p:sp>
      <p:sp>
        <p:nvSpPr>
          <p:cNvPr id="60" name="Freeform 59"/>
          <p:cNvSpPr/>
          <p:nvPr/>
        </p:nvSpPr>
        <p:spPr>
          <a:xfrm>
            <a:off x="10362127" y="2897258"/>
            <a:ext cx="325234" cy="0"/>
          </a:xfrm>
          <a:custGeom>
            <a:avLst/>
            <a:gdLst/>
            <a:ahLst/>
            <a:cxnLst/>
            <a:rect l="l" t="t" r="r" b="b"/>
            <a:pathLst>
              <a:path w="325234" h="0">
                <a:moveTo>
                  <a:pt x="0" y="0"/>
                </a:moveTo>
                <a:lnTo>
                  <a:pt x="325234" y="0"/>
                </a:lnTo>
              </a:path>
            </a:pathLst>
          </a:custGeom>
          <a:noFill/>
          <a:ln w="15875" cap="rnd">
            <a:solidFill>
              <a:srgbClr val="1E86C9"/>
            </a:solidFill>
            <a:round/>
          </a:ln>
          <a:effectLst/>
        </p:spPr>
        <p:txBody>
          <a:bodyPr rtlCol="0" anchor="ctr"/>
          <a:lstStyle/>
          <a:p>
            <a:pPr algn="ctr"/>
          </a:p>
        </p:txBody>
      </p:sp>
      <p:sp>
        <p:nvSpPr>
          <p:cNvPr id="61" name="Freeform 60"/>
          <p:cNvSpPr/>
          <p:nvPr/>
        </p:nvSpPr>
        <p:spPr>
          <a:xfrm>
            <a:off x="10413480" y="2785994"/>
            <a:ext cx="51353" cy="111264"/>
          </a:xfrm>
          <a:custGeom>
            <a:avLst/>
            <a:gdLst/>
            <a:ahLst/>
            <a:cxnLst/>
            <a:rect l="l" t="t" r="r" b="b"/>
            <a:pathLst>
              <a:path w="51353" h="111264">
                <a:moveTo>
                  <a:pt x="0" y="111264"/>
                </a:moveTo>
                <a:lnTo>
                  <a:pt x="0" y="0"/>
                </a:lnTo>
                <a:lnTo>
                  <a:pt x="51353" y="0"/>
                </a:lnTo>
                <a:lnTo>
                  <a:pt x="51353" y="111264"/>
                </a:lnTo>
              </a:path>
            </a:pathLst>
          </a:custGeom>
          <a:noFill/>
          <a:ln w="13494" cap="rnd">
            <a:solidFill>
              <a:srgbClr val="1E86C9"/>
            </a:solidFill>
            <a:round/>
          </a:ln>
          <a:effectLst/>
        </p:spPr>
        <p:txBody>
          <a:bodyPr rtlCol="0" anchor="ctr"/>
          <a:lstStyle/>
          <a:p>
            <a:pPr algn="ctr"/>
          </a:p>
        </p:txBody>
      </p:sp>
      <p:sp>
        <p:nvSpPr>
          <p:cNvPr id="62" name="Freeform 61"/>
          <p:cNvSpPr/>
          <p:nvPr/>
        </p:nvSpPr>
        <p:spPr>
          <a:xfrm>
            <a:off x="10499068" y="2708965"/>
            <a:ext cx="51352" cy="188293"/>
          </a:xfrm>
          <a:custGeom>
            <a:avLst/>
            <a:gdLst/>
            <a:ahLst/>
            <a:cxnLst/>
            <a:rect l="l" t="t" r="r" b="b"/>
            <a:pathLst>
              <a:path w="51352" h="188293">
                <a:moveTo>
                  <a:pt x="0" y="188293"/>
                </a:moveTo>
                <a:lnTo>
                  <a:pt x="0" y="0"/>
                </a:lnTo>
                <a:lnTo>
                  <a:pt x="51352" y="0"/>
                </a:lnTo>
                <a:lnTo>
                  <a:pt x="51352" y="188293"/>
                </a:lnTo>
              </a:path>
            </a:pathLst>
          </a:custGeom>
          <a:noFill/>
          <a:ln w="13494" cap="rnd">
            <a:solidFill>
              <a:srgbClr val="1E86C9"/>
            </a:solidFill>
            <a:round/>
          </a:ln>
          <a:effectLst/>
        </p:spPr>
        <p:txBody>
          <a:bodyPr rtlCol="0" anchor="ctr"/>
          <a:lstStyle/>
          <a:p>
            <a:pPr algn="ctr"/>
          </a:p>
        </p:txBody>
      </p:sp>
      <p:sp>
        <p:nvSpPr>
          <p:cNvPr id="63" name="Freeform 62"/>
          <p:cNvSpPr/>
          <p:nvPr/>
        </p:nvSpPr>
        <p:spPr>
          <a:xfrm>
            <a:off x="10584655" y="2631936"/>
            <a:ext cx="51353" cy="265322"/>
          </a:xfrm>
          <a:custGeom>
            <a:avLst/>
            <a:gdLst/>
            <a:ahLst/>
            <a:cxnLst/>
            <a:rect l="l" t="t" r="r" b="b"/>
            <a:pathLst>
              <a:path w="51353" h="265322">
                <a:moveTo>
                  <a:pt x="0" y="265322"/>
                </a:moveTo>
                <a:lnTo>
                  <a:pt x="0" y="0"/>
                </a:lnTo>
                <a:lnTo>
                  <a:pt x="51353" y="0"/>
                </a:lnTo>
                <a:lnTo>
                  <a:pt x="51353" y="265322"/>
                </a:lnTo>
              </a:path>
            </a:pathLst>
          </a:custGeom>
          <a:noFill/>
          <a:ln w="13494" cap="rnd">
            <a:solidFill>
              <a:srgbClr val="1E86C9"/>
            </a:solidFill>
            <a:round/>
          </a:ln>
          <a:effectLst/>
        </p:spPr>
        <p:txBody>
          <a:bodyPr rtlCol="0" anchor="ctr"/>
          <a:lstStyle/>
          <a:p>
            <a:pPr algn="ctr"/>
          </a:p>
        </p:txBody>
      </p:sp>
      <p:sp>
        <p:nvSpPr>
          <p:cNvPr id="64" name="Freeform 63"/>
          <p:cNvSpPr/>
          <p:nvPr/>
        </p:nvSpPr>
        <p:spPr>
          <a:xfrm>
            <a:off x="10653126" y="2657612"/>
            <a:ext cx="34235" cy="34235"/>
          </a:xfrm>
          <a:custGeom>
            <a:avLst/>
            <a:gdLst/>
            <a:ahLst/>
            <a:cxnLst/>
            <a:rect l="l" t="t" r="r" b="b"/>
            <a:pathLst>
              <a:path w="34235" h="34235">
                <a:moveTo>
                  <a:pt x="0" y="0"/>
                </a:moveTo>
                <a:lnTo>
                  <a:pt x="34235" y="0"/>
                </a:lnTo>
                <a:lnTo>
                  <a:pt x="34235" y="34235"/>
                </a:lnTo>
              </a:path>
            </a:pathLst>
          </a:custGeom>
          <a:noFill/>
          <a:ln w="14288" cap="rnd">
            <a:solidFill>
              <a:srgbClr val="1E86C9"/>
            </a:solidFill>
            <a:round/>
          </a:ln>
          <a:effectLst/>
        </p:spPr>
        <p:txBody>
          <a:bodyPr rtlCol="0" anchor="ctr"/>
          <a:lstStyle/>
          <a:p>
            <a:pPr algn="ctr"/>
          </a:p>
        </p:txBody>
      </p:sp>
      <p:sp>
        <p:nvSpPr>
          <p:cNvPr id="65" name="Freeform 64"/>
          <p:cNvSpPr/>
          <p:nvPr/>
        </p:nvSpPr>
        <p:spPr>
          <a:xfrm>
            <a:off x="10567538" y="2657612"/>
            <a:ext cx="119823" cy="94147"/>
          </a:xfrm>
          <a:custGeom>
            <a:avLst/>
            <a:gdLst/>
            <a:ahLst/>
            <a:cxnLst/>
            <a:rect l="l" t="t" r="r" b="b"/>
            <a:pathLst>
              <a:path w="119823" h="94147">
                <a:moveTo>
                  <a:pt x="0" y="94147"/>
                </a:moveTo>
                <a:lnTo>
                  <a:pt x="119823" y="0"/>
                </a:lnTo>
              </a:path>
            </a:pathLst>
          </a:custGeom>
          <a:noFill/>
          <a:ln w="14288" cap="rnd">
            <a:solidFill>
              <a:srgbClr val="1E86C9"/>
            </a:solidFill>
            <a:round/>
          </a:ln>
          <a:effectLst/>
        </p:spPr>
        <p:txBody>
          <a:bodyPr rtlCol="0" anchor="ctr"/>
          <a:lstStyle/>
          <a:p>
            <a:pPr algn="ctr"/>
          </a:p>
        </p:txBody>
      </p:sp>
      <p:sp>
        <p:nvSpPr>
          <p:cNvPr id="66" name="TextBox 65"/>
          <p:cNvSpPr txBox="1"/>
          <p:nvPr/>
        </p:nvSpPr>
        <p:spPr>
          <a:xfrm>
            <a:off x="9747504"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Economia</a:t>
            </a:r>
          </a:p>
        </p:txBody>
      </p:sp>
      <p:sp>
        <p:nvSpPr>
          <p:cNvPr id="67" name="TextBox 66"/>
          <p:cNvSpPr txBox="1"/>
          <p:nvPr/>
        </p:nvSpPr>
        <p:spPr>
          <a:xfrm>
            <a:off x="6675120" y="3639312"/>
            <a:ext cx="4526280" cy="384048"/>
          </a:xfrm>
          <a:prstGeom prst="rect">
            <a:avLst/>
          </a:prstGeom>
          <a:noFill/>
          <a:effectLst/>
        </p:spPr>
        <p:txBody>
          <a:bodyPr wrap="square" lIns="0" rIns="0" tIns="0" bIns="0" anchor="t">
            <a:spAutoFit/>
          </a:bodyPr>
          <a:lstStyle/>
          <a:p>
            <a:pPr algn="ctr">
              <a:lnSpc>
                <a:spcPct val="126000"/>
              </a:lnSpc>
            </a:pPr>
            <a:r>
              <a:rPr sz="940" b="0" i="0">
                <a:solidFill>
                  <a:srgbClr val="6E7288"/>
                </a:solidFill>
                <a:latin typeface="Montserrat"/>
              </a:rPr>
              <a:t>Valor compartilhado entre a cidade, o meio ambiente e as pessoas.</a:t>
            </a:r>
          </a:p>
        </p:txBody>
      </p:sp>
      <p:sp>
        <p:nvSpPr>
          <p:cNvPr id="68" name="Rectangle 67"/>
          <p:cNvSpPr/>
          <p:nvPr/>
        </p:nvSpPr>
        <p:spPr>
          <a:xfrm>
            <a:off x="777240" y="4645152"/>
            <a:ext cx="10637489" cy="640080"/>
          </a:xfrm>
          <a:prstGeom prst="rect">
            <a:avLst/>
          </a:prstGeom>
          <a:solidFill>
            <a:srgbClr val="F4F5FC"/>
          </a:solidFill>
          <a:ln w="12700" cap="rnd">
            <a:noFill/>
            <a:round/>
          </a:ln>
          <a:effectLst/>
        </p:spPr>
        <p:txBody>
          <a:bodyPr rtlCol="0" anchor="ctr"/>
          <a:lstStyle/>
          <a:p/>
        </p:txBody>
      </p:sp>
      <p:sp>
        <p:nvSpPr>
          <p:cNvPr id="69" name="Rectangle 68"/>
          <p:cNvSpPr/>
          <p:nvPr/>
        </p:nvSpPr>
        <p:spPr>
          <a:xfrm>
            <a:off x="777240" y="4645152"/>
            <a:ext cx="32004" cy="640080"/>
          </a:xfrm>
          <a:prstGeom prst="rect">
            <a:avLst/>
          </a:prstGeom>
          <a:solidFill>
            <a:srgbClr val="3432C9"/>
          </a:solidFill>
          <a:ln w="12700" cap="rnd">
            <a:noFill/>
            <a:round/>
          </a:ln>
          <a:effectLst/>
        </p:spPr>
        <p:txBody>
          <a:bodyPr rtlCol="0" anchor="ctr"/>
          <a:lstStyle/>
          <a:p/>
        </p:txBody>
      </p:sp>
      <p:sp>
        <p:nvSpPr>
          <p:cNvPr id="70" name="Freeform 69"/>
          <p:cNvSpPr/>
          <p:nvPr/>
        </p:nvSpPr>
        <p:spPr>
          <a:xfrm>
            <a:off x="1058875" y="4871923"/>
            <a:ext cx="175565" cy="43891"/>
          </a:xfrm>
          <a:custGeom>
            <a:avLst/>
            <a:gdLst/>
            <a:ahLst/>
            <a:cxnLst/>
            <a:rect l="l" t="t" r="r" b="b"/>
            <a:pathLst>
              <a:path w="175565" h="43891">
                <a:moveTo>
                  <a:pt x="0" y="0"/>
                </a:moveTo>
                <a:lnTo>
                  <a:pt x="175565" y="0"/>
                </a:lnTo>
                <a:lnTo>
                  <a:pt x="175565" y="43891"/>
                </a:lnTo>
                <a:lnTo>
                  <a:pt x="0" y="43891"/>
                </a:lnTo>
                <a:close/>
              </a:path>
            </a:pathLst>
          </a:custGeom>
          <a:noFill/>
          <a:ln w="15875" cap="rnd">
            <a:solidFill>
              <a:srgbClr val="3432C9"/>
            </a:solidFill>
            <a:round/>
          </a:ln>
          <a:effectLst/>
        </p:spPr>
        <p:txBody>
          <a:bodyPr rtlCol="0" anchor="ctr"/>
          <a:lstStyle/>
          <a:p>
            <a:pPr algn="ctr"/>
          </a:p>
        </p:txBody>
      </p:sp>
      <p:sp>
        <p:nvSpPr>
          <p:cNvPr id="71" name="Freeform 70"/>
          <p:cNvSpPr/>
          <p:nvPr/>
        </p:nvSpPr>
        <p:spPr>
          <a:xfrm>
            <a:off x="1234440" y="4915814"/>
            <a:ext cx="0" cy="104242"/>
          </a:xfrm>
          <a:custGeom>
            <a:avLst/>
            <a:gdLst/>
            <a:ahLst/>
            <a:cxnLst/>
            <a:rect l="l" t="t" r="r" b="b"/>
            <a:pathLst>
              <a:path w="0" h="104242">
                <a:moveTo>
                  <a:pt x="0" y="0"/>
                </a:moveTo>
                <a:lnTo>
                  <a:pt x="0" y="104242"/>
                </a:lnTo>
              </a:path>
            </a:pathLst>
          </a:custGeom>
          <a:noFill/>
          <a:ln w="15875" cap="rnd">
            <a:solidFill>
              <a:srgbClr val="3432C9"/>
            </a:solidFill>
            <a:round/>
          </a:ln>
          <a:effectLst/>
        </p:spPr>
        <p:txBody>
          <a:bodyPr rtlCol="0" anchor="ctr"/>
          <a:lstStyle/>
          <a:p>
            <a:pPr algn="ctr"/>
          </a:p>
        </p:txBody>
      </p:sp>
      <p:sp>
        <p:nvSpPr>
          <p:cNvPr id="72" name="Freeform 71"/>
          <p:cNvSpPr/>
          <p:nvPr/>
        </p:nvSpPr>
        <p:spPr>
          <a:xfrm>
            <a:off x="1042416" y="5020056"/>
            <a:ext cx="219456" cy="32918"/>
          </a:xfrm>
          <a:custGeom>
            <a:avLst/>
            <a:gdLst/>
            <a:ahLst/>
            <a:cxnLst/>
            <a:rect l="l" t="t" r="r" b="b"/>
            <a:pathLst>
              <a:path w="219456" h="32918">
                <a:moveTo>
                  <a:pt x="0" y="0"/>
                </a:moveTo>
                <a:lnTo>
                  <a:pt x="219456" y="0"/>
                </a:lnTo>
                <a:lnTo>
                  <a:pt x="219456" y="32918"/>
                </a:lnTo>
                <a:lnTo>
                  <a:pt x="0" y="32918"/>
                </a:lnTo>
                <a:close/>
              </a:path>
            </a:pathLst>
          </a:custGeom>
          <a:noFill/>
          <a:ln w="15875" cap="rnd">
            <a:solidFill>
              <a:srgbClr val="3432C9"/>
            </a:solidFill>
            <a:round/>
          </a:ln>
          <a:effectLst/>
        </p:spPr>
        <p:txBody>
          <a:bodyPr rtlCol="0" anchor="ctr"/>
          <a:lstStyle/>
          <a:p>
            <a:pPr algn="ctr"/>
          </a:p>
        </p:txBody>
      </p:sp>
      <p:sp>
        <p:nvSpPr>
          <p:cNvPr id="73" name="Freeform 72"/>
          <p:cNvSpPr/>
          <p:nvPr/>
        </p:nvSpPr>
        <p:spPr>
          <a:xfrm>
            <a:off x="1064362" y="4915814"/>
            <a:ext cx="38404" cy="38405"/>
          </a:xfrm>
          <a:custGeom>
            <a:avLst/>
            <a:gdLst/>
            <a:ahLst/>
            <a:cxnLst/>
            <a:rect l="l" t="t" r="r" b="b"/>
            <a:pathLst>
              <a:path w="38404" h="38405">
                <a:moveTo>
                  <a:pt x="0" y="0"/>
                </a:moveTo>
                <a:lnTo>
                  <a:pt x="0" y="38405"/>
                </a:lnTo>
                <a:lnTo>
                  <a:pt x="38404" y="38405"/>
                </a:lnTo>
                <a:lnTo>
                  <a:pt x="38404" y="0"/>
                </a:lnTo>
                <a:close/>
              </a:path>
            </a:pathLst>
          </a:custGeom>
          <a:noFill/>
          <a:ln w="14288" cap="rnd">
            <a:solidFill>
              <a:srgbClr val="3432C9"/>
            </a:solidFill>
            <a:round/>
          </a:ln>
          <a:effectLst/>
        </p:spPr>
        <p:txBody>
          <a:bodyPr rtlCol="0" anchor="ctr"/>
          <a:lstStyle/>
          <a:p>
            <a:pPr algn="ctr"/>
          </a:p>
        </p:txBody>
      </p:sp>
      <p:sp>
        <p:nvSpPr>
          <p:cNvPr id="74" name="Freeform 73"/>
          <p:cNvSpPr/>
          <p:nvPr/>
        </p:nvSpPr>
        <p:spPr>
          <a:xfrm>
            <a:off x="1083564" y="4954219"/>
            <a:ext cx="0" cy="43891"/>
          </a:xfrm>
          <a:custGeom>
            <a:avLst/>
            <a:gdLst/>
            <a:ahLst/>
            <a:cxnLst/>
            <a:rect l="l" t="t" r="r" b="b"/>
            <a:pathLst>
              <a:path w="0" h="43891">
                <a:moveTo>
                  <a:pt x="0" y="0"/>
                </a:moveTo>
                <a:lnTo>
                  <a:pt x="0" y="43891"/>
                </a:lnTo>
              </a:path>
            </a:pathLst>
          </a:custGeom>
          <a:noFill/>
          <a:ln w="14288" cap="rnd">
            <a:solidFill>
              <a:srgbClr val="3432C9"/>
            </a:solidFill>
            <a:round/>
          </a:ln>
          <a:effectLst/>
        </p:spPr>
        <p:txBody>
          <a:bodyPr rtlCol="0" anchor="ctr"/>
          <a:lstStyle/>
          <a:p>
            <a:pPr algn="ctr"/>
          </a:p>
        </p:txBody>
      </p:sp>
      <p:sp>
        <p:nvSpPr>
          <p:cNvPr id="75" name="Freeform 74"/>
          <p:cNvSpPr/>
          <p:nvPr/>
        </p:nvSpPr>
        <p:spPr>
          <a:xfrm>
            <a:off x="1053389" y="5003597"/>
            <a:ext cx="142646" cy="0"/>
          </a:xfrm>
          <a:custGeom>
            <a:avLst/>
            <a:gdLst/>
            <a:ahLst/>
            <a:cxnLst/>
            <a:rect l="l" t="t" r="r" b="b"/>
            <a:pathLst>
              <a:path w="142646" h="0">
                <a:moveTo>
                  <a:pt x="0" y="0"/>
                </a:moveTo>
                <a:lnTo>
                  <a:pt x="142646" y="0"/>
                </a:lnTo>
              </a:path>
            </a:pathLst>
          </a:custGeom>
          <a:noFill/>
          <a:ln w="11112" cap="rnd">
            <a:solidFill>
              <a:srgbClr val="3432C9"/>
            </a:solidFill>
            <a:round/>
          </a:ln>
          <a:effectLst/>
        </p:spPr>
        <p:txBody>
          <a:bodyPr rtlCol="0" anchor="ctr"/>
          <a:lstStyle/>
          <a:p>
            <a:pPr algn="ctr"/>
          </a:p>
        </p:txBody>
      </p:sp>
      <p:sp>
        <p:nvSpPr>
          <p:cNvPr id="76" name="TextBox 75"/>
          <p:cNvSpPr txBox="1"/>
          <p:nvPr/>
        </p:nvSpPr>
        <p:spPr>
          <a:xfrm>
            <a:off x="1472184" y="4645152"/>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Coworking para costureiras e espaço de integração para oficinas, workshops e cursos de aperfeiçoamento, voltados a artesãos e costureiras autônomas.</a:t>
            </a:r>
          </a:p>
        </p:txBody>
      </p:sp>
      <p:sp>
        <p:nvSpPr>
          <p:cNvPr id="77" name="Rectangle 76"/>
          <p:cNvSpPr/>
          <p:nvPr/>
        </p:nvSpPr>
        <p:spPr>
          <a:xfrm>
            <a:off x="777240" y="5431536"/>
            <a:ext cx="10637489" cy="585216"/>
          </a:xfrm>
          <a:prstGeom prst="rect">
            <a:avLst/>
          </a:prstGeom>
          <a:solidFill>
            <a:srgbClr val="E7F6F1"/>
          </a:solidFill>
          <a:ln w="12700" cap="rnd">
            <a:noFill/>
            <a:round/>
          </a:ln>
          <a:effectLst/>
        </p:spPr>
        <p:txBody>
          <a:bodyPr rtlCol="0" anchor="ctr"/>
          <a:lstStyle/>
          <a:p/>
        </p:txBody>
      </p:sp>
      <p:sp>
        <p:nvSpPr>
          <p:cNvPr id="78" name="Rectangle 77"/>
          <p:cNvSpPr/>
          <p:nvPr/>
        </p:nvSpPr>
        <p:spPr>
          <a:xfrm>
            <a:off x="777240" y="5431536"/>
            <a:ext cx="32004" cy="585216"/>
          </a:xfrm>
          <a:prstGeom prst="rect">
            <a:avLst/>
          </a:prstGeom>
          <a:solidFill>
            <a:srgbClr val="12A87B"/>
          </a:solidFill>
          <a:ln w="12700" cap="rnd">
            <a:noFill/>
            <a:round/>
          </a:ln>
          <a:effectLst/>
        </p:spPr>
        <p:txBody>
          <a:bodyPr rtlCol="0" anchor="ctr"/>
          <a:lstStyle/>
          <a:p/>
        </p:txBody>
      </p:sp>
      <p:sp>
        <p:nvSpPr>
          <p:cNvPr id="79" name="Freeform 78"/>
          <p:cNvSpPr/>
          <p:nvPr/>
        </p:nvSpPr>
        <p:spPr>
          <a:xfrm>
            <a:off x="1069848" y="5757062"/>
            <a:ext cx="164592" cy="43892"/>
          </a:xfrm>
          <a:custGeom>
            <a:avLst/>
            <a:gdLst/>
            <a:ahLst/>
            <a:cxnLst/>
            <a:rect l="l" t="t" r="r" b="b"/>
            <a:pathLst>
              <a:path w="164592" h="43892">
                <a:moveTo>
                  <a:pt x="0" y="43892"/>
                </a:moveTo>
                <a:lnTo>
                  <a:pt x="704" y="38163"/>
                </a:lnTo>
                <a:lnTo>
                  <a:pt x="2804" y="32532"/>
                </a:lnTo>
                <a:lnTo>
                  <a:pt x="6264" y="27095"/>
                </a:lnTo>
                <a:lnTo>
                  <a:pt x="11026" y="21946"/>
                </a:lnTo>
                <a:lnTo>
                  <a:pt x="17006" y="17172"/>
                </a:lnTo>
                <a:lnTo>
                  <a:pt x="24104" y="12856"/>
                </a:lnTo>
                <a:lnTo>
                  <a:pt x="32197" y="9070"/>
                </a:lnTo>
                <a:lnTo>
                  <a:pt x="41148" y="5881"/>
                </a:lnTo>
                <a:lnTo>
                  <a:pt x="50803" y="3341"/>
                </a:lnTo>
                <a:lnTo>
                  <a:pt x="60996" y="1496"/>
                </a:lnTo>
                <a:lnTo>
                  <a:pt x="71554" y="376"/>
                </a:lnTo>
                <a:lnTo>
                  <a:pt x="82296" y="0"/>
                </a:lnTo>
                <a:lnTo>
                  <a:pt x="93038" y="376"/>
                </a:lnTo>
                <a:lnTo>
                  <a:pt x="103596" y="1496"/>
                </a:lnTo>
                <a:lnTo>
                  <a:pt x="113789" y="3341"/>
                </a:lnTo>
                <a:lnTo>
                  <a:pt x="123444" y="5881"/>
                </a:lnTo>
                <a:lnTo>
                  <a:pt x="132395" y="9070"/>
                </a:lnTo>
                <a:lnTo>
                  <a:pt x="140488" y="12856"/>
                </a:lnTo>
                <a:lnTo>
                  <a:pt x="147586" y="17172"/>
                </a:lnTo>
                <a:lnTo>
                  <a:pt x="153566" y="21946"/>
                </a:lnTo>
                <a:lnTo>
                  <a:pt x="158328" y="27095"/>
                </a:lnTo>
                <a:lnTo>
                  <a:pt x="161788" y="32532"/>
                </a:lnTo>
                <a:lnTo>
                  <a:pt x="163888" y="38163"/>
                </a:lnTo>
                <a:lnTo>
                  <a:pt x="164592" y="43892"/>
                </a:lnTo>
              </a:path>
            </a:pathLst>
          </a:custGeom>
          <a:noFill/>
          <a:ln w="15875" cap="rnd">
            <a:solidFill>
              <a:srgbClr val="12A87B"/>
            </a:solidFill>
            <a:round/>
          </a:ln>
          <a:effectLst/>
        </p:spPr>
        <p:txBody>
          <a:bodyPr rtlCol="0" anchor="ctr"/>
          <a:lstStyle/>
          <a:p>
            <a:pPr algn="ctr"/>
          </a:p>
        </p:txBody>
      </p:sp>
      <p:sp>
        <p:nvSpPr>
          <p:cNvPr id="80" name="Freeform 79"/>
          <p:cNvSpPr/>
          <p:nvPr/>
        </p:nvSpPr>
        <p:spPr>
          <a:xfrm>
            <a:off x="1069848" y="5800954"/>
            <a:ext cx="164592" cy="0"/>
          </a:xfrm>
          <a:custGeom>
            <a:avLst/>
            <a:gdLst/>
            <a:ahLst/>
            <a:cxnLst/>
            <a:rect l="l" t="t" r="r" b="b"/>
            <a:pathLst>
              <a:path w="164592" h="0">
                <a:moveTo>
                  <a:pt x="0" y="0"/>
                </a:moveTo>
                <a:lnTo>
                  <a:pt x="164592" y="0"/>
                </a:lnTo>
              </a:path>
            </a:pathLst>
          </a:custGeom>
          <a:noFill/>
          <a:ln w="15875" cap="rnd">
            <a:solidFill>
              <a:srgbClr val="12A87B"/>
            </a:solidFill>
            <a:round/>
          </a:ln>
          <a:effectLst/>
        </p:spPr>
        <p:txBody>
          <a:bodyPr rtlCol="0" anchor="ctr"/>
          <a:lstStyle/>
          <a:p>
            <a:pPr algn="ctr"/>
          </a:p>
        </p:txBody>
      </p:sp>
      <p:sp>
        <p:nvSpPr>
          <p:cNvPr id="81" name="Freeform 80"/>
          <p:cNvSpPr/>
          <p:nvPr/>
        </p:nvSpPr>
        <p:spPr>
          <a:xfrm>
            <a:off x="1152144" y="5680253"/>
            <a:ext cx="0" cy="76809"/>
          </a:xfrm>
          <a:custGeom>
            <a:avLst/>
            <a:gdLst/>
            <a:ahLst/>
            <a:cxnLst/>
            <a:rect l="l" t="t" r="r" b="b"/>
            <a:pathLst>
              <a:path w="0" h="76809">
                <a:moveTo>
                  <a:pt x="0" y="76809"/>
                </a:moveTo>
                <a:lnTo>
                  <a:pt x="0" y="0"/>
                </a:lnTo>
              </a:path>
            </a:pathLst>
          </a:custGeom>
          <a:noFill/>
          <a:ln w="14288" cap="rnd">
            <a:solidFill>
              <a:srgbClr val="12A87B"/>
            </a:solidFill>
            <a:round/>
          </a:ln>
          <a:effectLst/>
        </p:spPr>
        <p:txBody>
          <a:bodyPr rtlCol="0" anchor="ctr"/>
          <a:lstStyle/>
          <a:p>
            <a:pPr algn="ctr"/>
          </a:p>
        </p:txBody>
      </p:sp>
      <p:sp>
        <p:nvSpPr>
          <p:cNvPr id="82" name="Freeform 81"/>
          <p:cNvSpPr/>
          <p:nvPr/>
        </p:nvSpPr>
        <p:spPr>
          <a:xfrm>
            <a:off x="1108253" y="5669280"/>
            <a:ext cx="43891" cy="43891"/>
          </a:xfrm>
          <a:custGeom>
            <a:avLst/>
            <a:gdLst/>
            <a:ahLst/>
            <a:cxnLst/>
            <a:rect l="l" t="t" r="r" b="b"/>
            <a:pathLst>
              <a:path w="43891" h="43891">
                <a:moveTo>
                  <a:pt x="43891" y="43891"/>
                </a:moveTo>
                <a:lnTo>
                  <a:pt x="30328" y="39502"/>
                </a:lnTo>
                <a:lnTo>
                  <a:pt x="18092" y="35113"/>
                </a:lnTo>
                <a:lnTo>
                  <a:pt x="8382" y="30724"/>
                </a:lnTo>
                <a:lnTo>
                  <a:pt x="2148" y="26335"/>
                </a:lnTo>
                <a:lnTo>
                  <a:pt x="0" y="21946"/>
                </a:lnTo>
                <a:lnTo>
                  <a:pt x="2148" y="17556"/>
                </a:lnTo>
                <a:lnTo>
                  <a:pt x="8382" y="13167"/>
                </a:lnTo>
                <a:lnTo>
                  <a:pt x="18092" y="8778"/>
                </a:lnTo>
                <a:lnTo>
                  <a:pt x="30328" y="4389"/>
                </a:lnTo>
                <a:lnTo>
                  <a:pt x="43891" y="0"/>
                </a:lnTo>
              </a:path>
            </a:pathLst>
          </a:custGeom>
          <a:noFill/>
          <a:ln w="11906" cap="rnd">
            <a:solidFill>
              <a:srgbClr val="12A87B"/>
            </a:solidFill>
            <a:round/>
          </a:ln>
          <a:effectLst/>
        </p:spPr>
        <p:txBody>
          <a:bodyPr rtlCol="0" anchor="ctr"/>
          <a:lstStyle/>
          <a:p>
            <a:pPr algn="ctr"/>
          </a:p>
        </p:txBody>
      </p:sp>
      <p:sp>
        <p:nvSpPr>
          <p:cNvPr id="83" name="Freeform 82"/>
          <p:cNvSpPr/>
          <p:nvPr/>
        </p:nvSpPr>
        <p:spPr>
          <a:xfrm>
            <a:off x="1152144" y="5669280"/>
            <a:ext cx="43891" cy="43891"/>
          </a:xfrm>
          <a:custGeom>
            <a:avLst/>
            <a:gdLst/>
            <a:ahLst/>
            <a:cxnLst/>
            <a:rect l="l" t="t" r="r" b="b"/>
            <a:pathLst>
              <a:path w="43891" h="43891">
                <a:moveTo>
                  <a:pt x="0" y="43891"/>
                </a:moveTo>
                <a:lnTo>
                  <a:pt x="13563" y="39502"/>
                </a:lnTo>
                <a:lnTo>
                  <a:pt x="25799" y="35113"/>
                </a:lnTo>
                <a:lnTo>
                  <a:pt x="35509" y="30724"/>
                </a:lnTo>
                <a:lnTo>
                  <a:pt x="41743" y="26335"/>
                </a:lnTo>
                <a:lnTo>
                  <a:pt x="43891" y="21946"/>
                </a:lnTo>
                <a:lnTo>
                  <a:pt x="41743" y="17556"/>
                </a:lnTo>
                <a:lnTo>
                  <a:pt x="35509" y="13167"/>
                </a:lnTo>
                <a:lnTo>
                  <a:pt x="25799" y="8778"/>
                </a:lnTo>
                <a:lnTo>
                  <a:pt x="13563" y="4389"/>
                </a:lnTo>
                <a:lnTo>
                  <a:pt x="0" y="0"/>
                </a:lnTo>
              </a:path>
            </a:pathLst>
          </a:custGeom>
          <a:noFill/>
          <a:ln w="11906" cap="rnd">
            <a:solidFill>
              <a:srgbClr val="12A87B"/>
            </a:solidFill>
            <a:round/>
          </a:ln>
          <a:effectLst/>
        </p:spPr>
        <p:txBody>
          <a:bodyPr rtlCol="0" anchor="ctr"/>
          <a:lstStyle/>
          <a:p>
            <a:pPr algn="ctr"/>
          </a:p>
        </p:txBody>
      </p:sp>
      <p:sp>
        <p:nvSpPr>
          <p:cNvPr id="84" name="TextBox 83"/>
          <p:cNvSpPr txBox="1"/>
          <p:nvPr/>
        </p:nvSpPr>
        <p:spPr>
          <a:xfrm>
            <a:off x="1472184" y="5431536"/>
            <a:ext cx="9668225" cy="585216"/>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Atividades socioambientais permanentes no espaço.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Programa socioambiental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Geração de renda, capacitação e </a:t>
            </a:r>
            <a:r>
              <a:rPr sz="2550" b="0" i="0">
                <a:solidFill>
                  <a:srgbClr val="14142E"/>
                </a:solidFill>
                <a:latin typeface="Montserrat SemiBold"/>
              </a:rPr>
              <a:t>educação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15</a:t>
            </a:r>
          </a:p>
        </p:txBody>
      </p:sp>
      <p:sp>
        <p:nvSpPr>
          <p:cNvPr id="9" name="Rectangle 8"/>
          <p:cNvSpPr/>
          <p:nvPr/>
        </p:nvSpPr>
        <p:spPr>
          <a:xfrm>
            <a:off x="777240"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956816"/>
            <a:ext cx="2487168" cy="50292"/>
          </a:xfrm>
          <a:prstGeom prst="rect">
            <a:avLst/>
          </a:prstGeom>
          <a:solidFill>
            <a:srgbClr val="3432C9"/>
          </a:solidFill>
          <a:ln w="12700" cap="rnd">
            <a:noFill/>
            <a:round/>
          </a:ln>
          <a:effectLst/>
        </p:spPr>
        <p:txBody>
          <a:bodyPr rtlCol="0" anchor="ctr"/>
          <a:lstStyle/>
          <a:p/>
        </p:txBody>
      </p:sp>
      <p:sp>
        <p:nvSpPr>
          <p:cNvPr id="11" name="Oval 10"/>
          <p:cNvSpPr/>
          <p:nvPr/>
        </p:nvSpPr>
        <p:spPr>
          <a:xfrm>
            <a:off x="1536192" y="2258568"/>
            <a:ext cx="969264" cy="969264"/>
          </a:xfrm>
          <a:prstGeom prst="ellipse">
            <a:avLst/>
          </a:prstGeom>
          <a:solidFill>
            <a:srgbClr val="F4F5FC"/>
          </a:solidFill>
          <a:ln w="12700" cap="rnd">
            <a:noFill/>
            <a:round/>
          </a:ln>
          <a:effectLst/>
        </p:spPr>
        <p:txBody>
          <a:bodyPr rtlCol="0" anchor="ctr"/>
          <a:lstStyle/>
          <a:p/>
        </p:txBody>
      </p:sp>
      <p:sp>
        <p:nvSpPr>
          <p:cNvPr id="12" name="Freeform 11"/>
          <p:cNvSpPr/>
          <p:nvPr/>
        </p:nvSpPr>
        <p:spPr>
          <a:xfrm>
            <a:off x="1849458" y="2571834"/>
            <a:ext cx="322571" cy="80643"/>
          </a:xfrm>
          <a:custGeom>
            <a:avLst/>
            <a:gdLst/>
            <a:ahLst/>
            <a:cxnLst/>
            <a:rect l="l" t="t" r="r" b="b"/>
            <a:pathLst>
              <a:path w="322571" h="80643">
                <a:moveTo>
                  <a:pt x="0" y="0"/>
                </a:moveTo>
                <a:lnTo>
                  <a:pt x="322571" y="0"/>
                </a:lnTo>
                <a:lnTo>
                  <a:pt x="322571" y="80643"/>
                </a:lnTo>
                <a:lnTo>
                  <a:pt x="0" y="80643"/>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2172029" y="2652477"/>
            <a:ext cx="0" cy="191526"/>
          </a:xfrm>
          <a:custGeom>
            <a:avLst/>
            <a:gdLst/>
            <a:ahLst/>
            <a:cxnLst/>
            <a:rect l="l" t="t" r="r" b="b"/>
            <a:pathLst>
              <a:path w="0" h="191526">
                <a:moveTo>
                  <a:pt x="0" y="0"/>
                </a:moveTo>
                <a:lnTo>
                  <a:pt x="0" y="191526"/>
                </a:lnTo>
              </a:path>
            </a:pathLst>
          </a:custGeom>
          <a:noFill/>
          <a:ln w="15875" cap="rnd">
            <a:solidFill>
              <a:srgbClr val="3432C9"/>
            </a:solidFill>
            <a:round/>
          </a:ln>
          <a:effectLst/>
        </p:spPr>
        <p:txBody>
          <a:bodyPr rtlCol="0" anchor="ctr"/>
          <a:lstStyle/>
          <a:p>
            <a:pPr algn="ctr"/>
          </a:p>
        </p:txBody>
      </p:sp>
      <p:sp>
        <p:nvSpPr>
          <p:cNvPr id="14" name="Freeform 13"/>
          <p:cNvSpPr/>
          <p:nvPr/>
        </p:nvSpPr>
        <p:spPr>
          <a:xfrm>
            <a:off x="1819217" y="2844003"/>
            <a:ext cx="403214" cy="60483"/>
          </a:xfrm>
          <a:custGeom>
            <a:avLst/>
            <a:gdLst/>
            <a:ahLst/>
            <a:cxnLst/>
            <a:rect l="l" t="t" r="r" b="b"/>
            <a:pathLst>
              <a:path w="403214" h="60483">
                <a:moveTo>
                  <a:pt x="0" y="0"/>
                </a:moveTo>
                <a:lnTo>
                  <a:pt x="403214" y="0"/>
                </a:lnTo>
                <a:lnTo>
                  <a:pt x="403214" y="60483"/>
                </a:lnTo>
                <a:lnTo>
                  <a:pt x="0" y="60483"/>
                </a:lnTo>
                <a:close/>
              </a:path>
            </a:pathLst>
          </a:custGeom>
          <a:noFill/>
          <a:ln w="15875" cap="rnd">
            <a:solidFill>
              <a:srgbClr val="3432C9"/>
            </a:solidFill>
            <a:round/>
          </a:ln>
          <a:effectLst/>
        </p:spPr>
        <p:txBody>
          <a:bodyPr rtlCol="0" anchor="ctr"/>
          <a:lstStyle/>
          <a:p>
            <a:pPr algn="ctr"/>
          </a:p>
        </p:txBody>
      </p:sp>
      <p:sp>
        <p:nvSpPr>
          <p:cNvPr id="15" name="Freeform 14"/>
          <p:cNvSpPr/>
          <p:nvPr/>
        </p:nvSpPr>
        <p:spPr>
          <a:xfrm>
            <a:off x="1859538" y="2652477"/>
            <a:ext cx="70563" cy="70562"/>
          </a:xfrm>
          <a:custGeom>
            <a:avLst/>
            <a:gdLst/>
            <a:ahLst/>
            <a:cxnLst/>
            <a:rect l="l" t="t" r="r" b="b"/>
            <a:pathLst>
              <a:path w="70563" h="70562">
                <a:moveTo>
                  <a:pt x="0" y="0"/>
                </a:moveTo>
                <a:lnTo>
                  <a:pt x="0" y="70562"/>
                </a:lnTo>
                <a:lnTo>
                  <a:pt x="70563" y="70562"/>
                </a:lnTo>
                <a:lnTo>
                  <a:pt x="70563" y="0"/>
                </a:lnTo>
                <a:close/>
              </a:path>
            </a:pathLst>
          </a:custGeom>
          <a:noFill/>
          <a:ln w="14288" cap="rnd">
            <a:solidFill>
              <a:srgbClr val="3432C9"/>
            </a:solidFill>
            <a:round/>
          </a:ln>
          <a:effectLst/>
        </p:spPr>
        <p:txBody>
          <a:bodyPr rtlCol="0" anchor="ctr"/>
          <a:lstStyle/>
          <a:p>
            <a:pPr algn="ctr"/>
          </a:p>
        </p:txBody>
      </p:sp>
      <p:sp>
        <p:nvSpPr>
          <p:cNvPr id="16" name="Freeform 15"/>
          <p:cNvSpPr/>
          <p:nvPr/>
        </p:nvSpPr>
        <p:spPr>
          <a:xfrm>
            <a:off x="1894820" y="2723039"/>
            <a:ext cx="0" cy="80643"/>
          </a:xfrm>
          <a:custGeom>
            <a:avLst/>
            <a:gdLst/>
            <a:ahLst/>
            <a:cxnLst/>
            <a:rect l="l" t="t" r="r" b="b"/>
            <a:pathLst>
              <a:path w="0" h="80643">
                <a:moveTo>
                  <a:pt x="0" y="0"/>
                </a:moveTo>
                <a:lnTo>
                  <a:pt x="0" y="80643"/>
                </a:lnTo>
              </a:path>
            </a:pathLst>
          </a:custGeom>
          <a:noFill/>
          <a:ln w="14288" cap="rnd">
            <a:solidFill>
              <a:srgbClr val="3432C9"/>
            </a:solidFill>
            <a:round/>
          </a:ln>
          <a:effectLst/>
        </p:spPr>
        <p:txBody>
          <a:bodyPr rtlCol="0" anchor="ctr"/>
          <a:lstStyle/>
          <a:p>
            <a:pPr algn="ctr"/>
          </a:p>
        </p:txBody>
      </p:sp>
      <p:sp>
        <p:nvSpPr>
          <p:cNvPr id="17" name="Freeform 16"/>
          <p:cNvSpPr/>
          <p:nvPr/>
        </p:nvSpPr>
        <p:spPr>
          <a:xfrm>
            <a:off x="1839378" y="2813762"/>
            <a:ext cx="262089" cy="0"/>
          </a:xfrm>
          <a:custGeom>
            <a:avLst/>
            <a:gdLst/>
            <a:ahLst/>
            <a:cxnLst/>
            <a:rect l="l" t="t" r="r" b="b"/>
            <a:pathLst>
              <a:path w="262089" h="0">
                <a:moveTo>
                  <a:pt x="0" y="0"/>
                </a:moveTo>
                <a:lnTo>
                  <a:pt x="262089" y="0"/>
                </a:lnTo>
              </a:path>
            </a:pathLst>
          </a:custGeom>
          <a:noFill/>
          <a:ln w="11112" cap="rnd">
            <a:solidFill>
              <a:srgbClr val="3432C9"/>
            </a:solidFill>
            <a:round/>
          </a:ln>
          <a:effectLst/>
        </p:spPr>
        <p:txBody>
          <a:bodyPr rtlCol="0" anchor="ctr"/>
          <a:lstStyle/>
          <a:p>
            <a:pPr algn="ctr"/>
          </a:p>
        </p:txBody>
      </p:sp>
      <p:sp>
        <p:nvSpPr>
          <p:cNvPr id="18" name="TextBox 17"/>
          <p:cNvSpPr txBox="1"/>
          <p:nvPr/>
        </p:nvSpPr>
        <p:spPr>
          <a:xfrm>
            <a:off x="978408"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Coworking e costura criativa</a:t>
            </a:r>
          </a:p>
        </p:txBody>
      </p:sp>
      <p:sp>
        <p:nvSpPr>
          <p:cNvPr id="19" name="TextBox 18"/>
          <p:cNvSpPr txBox="1"/>
          <p:nvPr/>
        </p:nvSpPr>
        <p:spPr>
          <a:xfrm>
            <a:off x="1014983"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Montserrat"/>
              </a:rPr>
              <a:t>Espaço compartilhado para costureiras e artesãos autônomos.</a:t>
            </a:r>
          </a:p>
        </p:txBody>
      </p:sp>
      <p:sp>
        <p:nvSpPr>
          <p:cNvPr id="20" name="Rectangle 19"/>
          <p:cNvSpPr/>
          <p:nvPr/>
        </p:nvSpPr>
        <p:spPr>
          <a:xfrm>
            <a:off x="3488436"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21" name="Rectangle 20"/>
          <p:cNvSpPr/>
          <p:nvPr/>
        </p:nvSpPr>
        <p:spPr>
          <a:xfrm>
            <a:off x="3488436" y="1956816"/>
            <a:ext cx="2487168" cy="50292"/>
          </a:xfrm>
          <a:prstGeom prst="rect">
            <a:avLst/>
          </a:prstGeom>
          <a:solidFill>
            <a:srgbClr val="3432C9"/>
          </a:solidFill>
          <a:ln w="12700" cap="rnd">
            <a:noFill/>
            <a:round/>
          </a:ln>
          <a:effectLst/>
        </p:spPr>
        <p:txBody>
          <a:bodyPr rtlCol="0" anchor="ctr"/>
          <a:lstStyle/>
          <a:p/>
        </p:txBody>
      </p:sp>
      <p:sp>
        <p:nvSpPr>
          <p:cNvPr id="22" name="Oval 21"/>
          <p:cNvSpPr/>
          <p:nvPr/>
        </p:nvSpPr>
        <p:spPr>
          <a:xfrm>
            <a:off x="4247388" y="2258568"/>
            <a:ext cx="969264" cy="969264"/>
          </a:xfrm>
          <a:prstGeom prst="ellipse">
            <a:avLst/>
          </a:prstGeom>
          <a:solidFill>
            <a:srgbClr val="F4F5FC"/>
          </a:solidFill>
          <a:ln w="12700" cap="rnd">
            <a:noFill/>
            <a:round/>
          </a:ln>
          <a:effectLst/>
        </p:spPr>
        <p:txBody>
          <a:bodyPr rtlCol="0" anchor="ctr"/>
          <a:lstStyle/>
          <a:p/>
        </p:txBody>
      </p:sp>
      <p:sp>
        <p:nvSpPr>
          <p:cNvPr id="23" name="Freeform 22"/>
          <p:cNvSpPr/>
          <p:nvPr/>
        </p:nvSpPr>
        <p:spPr>
          <a:xfrm>
            <a:off x="4550574" y="2551673"/>
            <a:ext cx="362892" cy="221768"/>
          </a:xfrm>
          <a:custGeom>
            <a:avLst/>
            <a:gdLst/>
            <a:ahLst/>
            <a:cxnLst/>
            <a:rect l="l" t="t" r="r" b="b"/>
            <a:pathLst>
              <a:path w="362892" h="221768">
                <a:moveTo>
                  <a:pt x="0" y="0"/>
                </a:moveTo>
                <a:lnTo>
                  <a:pt x="362892" y="0"/>
                </a:lnTo>
                <a:lnTo>
                  <a:pt x="362892" y="221768"/>
                </a:lnTo>
                <a:lnTo>
                  <a:pt x="0" y="221768"/>
                </a:lnTo>
                <a:close/>
              </a:path>
            </a:pathLst>
          </a:custGeom>
          <a:noFill/>
          <a:ln w="15875" cap="rnd">
            <a:solidFill>
              <a:srgbClr val="3432C9"/>
            </a:solidFill>
            <a:round/>
          </a:ln>
          <a:effectLst/>
        </p:spPr>
        <p:txBody>
          <a:bodyPr rtlCol="0" anchor="ctr"/>
          <a:lstStyle/>
          <a:p>
            <a:pPr algn="ctr"/>
          </a:p>
        </p:txBody>
      </p:sp>
      <p:sp>
        <p:nvSpPr>
          <p:cNvPr id="24" name="Freeform 23"/>
          <p:cNvSpPr/>
          <p:nvPr/>
        </p:nvSpPr>
        <p:spPr>
          <a:xfrm>
            <a:off x="4611056" y="2622236"/>
            <a:ext cx="151205" cy="0"/>
          </a:xfrm>
          <a:custGeom>
            <a:avLst/>
            <a:gdLst/>
            <a:ahLst/>
            <a:cxnLst/>
            <a:rect l="l" t="t" r="r" b="b"/>
            <a:pathLst>
              <a:path w="151205" h="0">
                <a:moveTo>
                  <a:pt x="0" y="0"/>
                </a:moveTo>
                <a:lnTo>
                  <a:pt x="151205" y="0"/>
                </a:lnTo>
              </a:path>
            </a:pathLst>
          </a:custGeom>
          <a:noFill/>
          <a:ln w="11112" cap="rnd">
            <a:solidFill>
              <a:srgbClr val="3432C9"/>
            </a:solidFill>
            <a:round/>
          </a:ln>
          <a:effectLst/>
        </p:spPr>
        <p:txBody>
          <a:bodyPr rtlCol="0" anchor="ctr"/>
          <a:lstStyle/>
          <a:p>
            <a:pPr algn="ctr"/>
          </a:p>
        </p:txBody>
      </p:sp>
      <p:sp>
        <p:nvSpPr>
          <p:cNvPr id="25" name="Freeform 24"/>
          <p:cNvSpPr/>
          <p:nvPr/>
        </p:nvSpPr>
        <p:spPr>
          <a:xfrm>
            <a:off x="4611056" y="2682718"/>
            <a:ext cx="231848" cy="0"/>
          </a:xfrm>
          <a:custGeom>
            <a:avLst/>
            <a:gdLst/>
            <a:ahLst/>
            <a:cxnLst/>
            <a:rect l="l" t="t" r="r" b="b"/>
            <a:pathLst>
              <a:path w="231848" h="0">
                <a:moveTo>
                  <a:pt x="0" y="0"/>
                </a:moveTo>
                <a:lnTo>
                  <a:pt x="231848" y="0"/>
                </a:lnTo>
              </a:path>
            </a:pathLst>
          </a:custGeom>
          <a:noFill/>
          <a:ln w="11112" cap="rnd">
            <a:solidFill>
              <a:srgbClr val="3432C9"/>
            </a:solidFill>
            <a:round/>
          </a:ln>
          <a:effectLst/>
        </p:spPr>
        <p:txBody>
          <a:bodyPr rtlCol="0" anchor="ctr"/>
          <a:lstStyle/>
          <a:p>
            <a:pPr algn="ctr"/>
          </a:p>
        </p:txBody>
      </p:sp>
      <p:sp>
        <p:nvSpPr>
          <p:cNvPr id="26" name="Oval 25"/>
          <p:cNvSpPr/>
          <p:nvPr/>
        </p:nvSpPr>
        <p:spPr>
          <a:xfrm>
            <a:off x="4583334"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27" name="Freeform 26"/>
          <p:cNvSpPr/>
          <p:nvPr/>
        </p:nvSpPr>
        <p:spPr>
          <a:xfrm>
            <a:off x="4558152" y="2889365"/>
            <a:ext cx="125968" cy="47462"/>
          </a:xfrm>
          <a:custGeom>
            <a:avLst/>
            <a:gdLst/>
            <a:ahLst/>
            <a:cxnLst/>
            <a:rect l="l" t="t" r="r" b="b"/>
            <a:pathLst>
              <a:path w="125968" h="47462">
                <a:moveTo>
                  <a:pt x="0" y="47462"/>
                </a:moveTo>
                <a:lnTo>
                  <a:pt x="3722" y="37573"/>
                </a:lnTo>
                <a:lnTo>
                  <a:pt x="8986" y="28410"/>
                </a:lnTo>
                <a:lnTo>
                  <a:pt x="15653" y="20213"/>
                </a:lnTo>
                <a:lnTo>
                  <a:pt x="23552" y="13194"/>
                </a:lnTo>
                <a:lnTo>
                  <a:pt x="32476" y="7536"/>
                </a:lnTo>
                <a:lnTo>
                  <a:pt x="42194" y="3386"/>
                </a:lnTo>
                <a:lnTo>
                  <a:pt x="52452" y="852"/>
                </a:lnTo>
                <a:lnTo>
                  <a:pt x="62984" y="0"/>
                </a:lnTo>
                <a:lnTo>
                  <a:pt x="73516" y="852"/>
                </a:lnTo>
                <a:lnTo>
                  <a:pt x="83775" y="3386"/>
                </a:lnTo>
                <a:lnTo>
                  <a:pt x="93492" y="7536"/>
                </a:lnTo>
                <a:lnTo>
                  <a:pt x="102416" y="13194"/>
                </a:lnTo>
                <a:lnTo>
                  <a:pt x="110315" y="20213"/>
                </a:lnTo>
                <a:lnTo>
                  <a:pt x="116983"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28" name="Oval 27"/>
          <p:cNvSpPr/>
          <p:nvPr/>
        </p:nvSpPr>
        <p:spPr>
          <a:xfrm>
            <a:off x="4694218"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29" name="Freeform 28"/>
          <p:cNvSpPr/>
          <p:nvPr/>
        </p:nvSpPr>
        <p:spPr>
          <a:xfrm>
            <a:off x="4669036" y="2889365"/>
            <a:ext cx="125968" cy="47462"/>
          </a:xfrm>
          <a:custGeom>
            <a:avLst/>
            <a:gdLst/>
            <a:ahLst/>
            <a:cxnLst/>
            <a:rect l="l" t="t" r="r" b="b"/>
            <a:pathLst>
              <a:path w="125968" h="47462">
                <a:moveTo>
                  <a:pt x="0" y="47462"/>
                </a:moveTo>
                <a:lnTo>
                  <a:pt x="3722" y="37573"/>
                </a:lnTo>
                <a:lnTo>
                  <a:pt x="8985" y="28410"/>
                </a:lnTo>
                <a:lnTo>
                  <a:pt x="15653" y="20213"/>
                </a:lnTo>
                <a:lnTo>
                  <a:pt x="23552" y="13194"/>
                </a:lnTo>
                <a:lnTo>
                  <a:pt x="32476" y="7536"/>
                </a:lnTo>
                <a:lnTo>
                  <a:pt x="42193" y="3386"/>
                </a:lnTo>
                <a:lnTo>
                  <a:pt x="52452" y="852"/>
                </a:lnTo>
                <a:lnTo>
                  <a:pt x="62984" y="0"/>
                </a:lnTo>
                <a:lnTo>
                  <a:pt x="73516" y="852"/>
                </a:lnTo>
                <a:lnTo>
                  <a:pt x="83775" y="3386"/>
                </a:lnTo>
                <a:lnTo>
                  <a:pt x="93492" y="7536"/>
                </a:lnTo>
                <a:lnTo>
                  <a:pt x="102416" y="13194"/>
                </a:lnTo>
                <a:lnTo>
                  <a:pt x="110315" y="20213"/>
                </a:lnTo>
                <a:lnTo>
                  <a:pt x="116983"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30" name="Oval 29"/>
          <p:cNvSpPr/>
          <p:nvPr/>
        </p:nvSpPr>
        <p:spPr>
          <a:xfrm>
            <a:off x="4805102"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31" name="Freeform 30"/>
          <p:cNvSpPr/>
          <p:nvPr/>
        </p:nvSpPr>
        <p:spPr>
          <a:xfrm>
            <a:off x="4779920" y="2889365"/>
            <a:ext cx="125968" cy="47462"/>
          </a:xfrm>
          <a:custGeom>
            <a:avLst/>
            <a:gdLst/>
            <a:ahLst/>
            <a:cxnLst/>
            <a:rect l="l" t="t" r="r" b="b"/>
            <a:pathLst>
              <a:path w="125968" h="47462">
                <a:moveTo>
                  <a:pt x="0" y="47462"/>
                </a:moveTo>
                <a:lnTo>
                  <a:pt x="3722" y="37573"/>
                </a:lnTo>
                <a:lnTo>
                  <a:pt x="8985" y="28410"/>
                </a:lnTo>
                <a:lnTo>
                  <a:pt x="15653" y="20213"/>
                </a:lnTo>
                <a:lnTo>
                  <a:pt x="23552" y="13194"/>
                </a:lnTo>
                <a:lnTo>
                  <a:pt x="32476" y="7536"/>
                </a:lnTo>
                <a:lnTo>
                  <a:pt x="42193" y="3386"/>
                </a:lnTo>
                <a:lnTo>
                  <a:pt x="52452" y="852"/>
                </a:lnTo>
                <a:lnTo>
                  <a:pt x="62984" y="0"/>
                </a:lnTo>
                <a:lnTo>
                  <a:pt x="73516" y="852"/>
                </a:lnTo>
                <a:lnTo>
                  <a:pt x="83774" y="3386"/>
                </a:lnTo>
                <a:lnTo>
                  <a:pt x="93492" y="7536"/>
                </a:lnTo>
                <a:lnTo>
                  <a:pt x="102416" y="13194"/>
                </a:lnTo>
                <a:lnTo>
                  <a:pt x="110315" y="20213"/>
                </a:lnTo>
                <a:lnTo>
                  <a:pt x="116982"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32" name="TextBox 31"/>
          <p:cNvSpPr txBox="1"/>
          <p:nvPr/>
        </p:nvSpPr>
        <p:spPr>
          <a:xfrm>
            <a:off x="3689604"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Oficinas e workshops</a:t>
            </a:r>
          </a:p>
        </p:txBody>
      </p:sp>
      <p:sp>
        <p:nvSpPr>
          <p:cNvPr id="33" name="TextBox 32"/>
          <p:cNvSpPr txBox="1"/>
          <p:nvPr/>
        </p:nvSpPr>
        <p:spPr>
          <a:xfrm>
            <a:off x="3726180"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Montserrat"/>
              </a:rPr>
              <a:t>Cursos de aperfeiçoamento voltados à cadeia têxtil.</a:t>
            </a:r>
          </a:p>
        </p:txBody>
      </p:sp>
      <p:sp>
        <p:nvSpPr>
          <p:cNvPr id="34" name="Rectangle 33"/>
          <p:cNvSpPr/>
          <p:nvPr/>
        </p:nvSpPr>
        <p:spPr>
          <a:xfrm>
            <a:off x="6199632"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35" name="Rectangle 34"/>
          <p:cNvSpPr/>
          <p:nvPr/>
        </p:nvSpPr>
        <p:spPr>
          <a:xfrm>
            <a:off x="6199632" y="1956816"/>
            <a:ext cx="2487168" cy="50292"/>
          </a:xfrm>
          <a:prstGeom prst="rect">
            <a:avLst/>
          </a:prstGeom>
          <a:solidFill>
            <a:srgbClr val="12A87B"/>
          </a:solidFill>
          <a:ln w="12700" cap="rnd">
            <a:noFill/>
            <a:round/>
          </a:ln>
          <a:effectLst/>
        </p:spPr>
        <p:txBody>
          <a:bodyPr rtlCol="0" anchor="ctr"/>
          <a:lstStyle/>
          <a:p/>
        </p:txBody>
      </p:sp>
      <p:sp>
        <p:nvSpPr>
          <p:cNvPr id="36" name="Oval 35"/>
          <p:cNvSpPr/>
          <p:nvPr/>
        </p:nvSpPr>
        <p:spPr>
          <a:xfrm>
            <a:off x="6958584" y="2258568"/>
            <a:ext cx="969264" cy="969264"/>
          </a:xfrm>
          <a:prstGeom prst="ellipse">
            <a:avLst/>
          </a:prstGeom>
          <a:solidFill>
            <a:srgbClr val="F4F5FC"/>
          </a:solidFill>
          <a:ln w="12700" cap="rnd">
            <a:noFill/>
            <a:round/>
          </a:ln>
          <a:effectLst/>
        </p:spPr>
        <p:txBody>
          <a:bodyPr rtlCol="0" anchor="ctr"/>
          <a:lstStyle/>
          <a:p/>
        </p:txBody>
      </p:sp>
      <p:sp>
        <p:nvSpPr>
          <p:cNvPr id="37" name="Freeform 36"/>
          <p:cNvSpPr/>
          <p:nvPr/>
        </p:nvSpPr>
        <p:spPr>
          <a:xfrm>
            <a:off x="7292011" y="2803682"/>
            <a:ext cx="302410" cy="80643"/>
          </a:xfrm>
          <a:custGeom>
            <a:avLst/>
            <a:gdLst/>
            <a:ahLst/>
            <a:cxnLst/>
            <a:rect l="l" t="t" r="r" b="b"/>
            <a:pathLst>
              <a:path w="302410" h="80643">
                <a:moveTo>
                  <a:pt x="0" y="80643"/>
                </a:moveTo>
                <a:lnTo>
                  <a:pt x="1293" y="70117"/>
                </a:lnTo>
                <a:lnTo>
                  <a:pt x="5152" y="59771"/>
                </a:lnTo>
                <a:lnTo>
                  <a:pt x="11510" y="49782"/>
                </a:lnTo>
                <a:lnTo>
                  <a:pt x="20257" y="40321"/>
                </a:lnTo>
                <a:lnTo>
                  <a:pt x="31246" y="31551"/>
                </a:lnTo>
                <a:lnTo>
                  <a:pt x="44287" y="23620"/>
                </a:lnTo>
                <a:lnTo>
                  <a:pt x="59157" y="16665"/>
                </a:lnTo>
                <a:lnTo>
                  <a:pt x="75602" y="10804"/>
                </a:lnTo>
                <a:lnTo>
                  <a:pt x="93341" y="6139"/>
                </a:lnTo>
                <a:lnTo>
                  <a:pt x="112070" y="2748"/>
                </a:lnTo>
                <a:lnTo>
                  <a:pt x="131469" y="690"/>
                </a:lnTo>
                <a:lnTo>
                  <a:pt x="151205" y="0"/>
                </a:lnTo>
                <a:lnTo>
                  <a:pt x="170941" y="690"/>
                </a:lnTo>
                <a:lnTo>
                  <a:pt x="190340" y="2748"/>
                </a:lnTo>
                <a:lnTo>
                  <a:pt x="209069" y="6139"/>
                </a:lnTo>
                <a:lnTo>
                  <a:pt x="226808" y="10804"/>
                </a:lnTo>
                <a:lnTo>
                  <a:pt x="243253" y="16665"/>
                </a:lnTo>
                <a:lnTo>
                  <a:pt x="258123" y="23620"/>
                </a:lnTo>
                <a:lnTo>
                  <a:pt x="271164" y="31551"/>
                </a:lnTo>
                <a:lnTo>
                  <a:pt x="282153" y="40321"/>
                </a:lnTo>
                <a:lnTo>
                  <a:pt x="290900" y="49782"/>
                </a:lnTo>
                <a:lnTo>
                  <a:pt x="297258" y="59771"/>
                </a:lnTo>
                <a:lnTo>
                  <a:pt x="301117" y="70117"/>
                </a:lnTo>
                <a:lnTo>
                  <a:pt x="302410" y="80643"/>
                </a:lnTo>
              </a:path>
            </a:pathLst>
          </a:custGeom>
          <a:noFill/>
          <a:ln w="15875" cap="rnd">
            <a:solidFill>
              <a:srgbClr val="12A87B"/>
            </a:solidFill>
            <a:round/>
          </a:ln>
          <a:effectLst/>
        </p:spPr>
        <p:txBody>
          <a:bodyPr rtlCol="0" anchor="ctr"/>
          <a:lstStyle/>
          <a:p>
            <a:pPr algn="ctr"/>
          </a:p>
        </p:txBody>
      </p:sp>
      <p:sp>
        <p:nvSpPr>
          <p:cNvPr id="38" name="Freeform 37"/>
          <p:cNvSpPr/>
          <p:nvPr/>
        </p:nvSpPr>
        <p:spPr>
          <a:xfrm>
            <a:off x="7292011" y="2884325"/>
            <a:ext cx="302410" cy="0"/>
          </a:xfrm>
          <a:custGeom>
            <a:avLst/>
            <a:gdLst/>
            <a:ahLst/>
            <a:cxnLst/>
            <a:rect l="l" t="t" r="r" b="b"/>
            <a:pathLst>
              <a:path w="302410" h="0">
                <a:moveTo>
                  <a:pt x="0" y="0"/>
                </a:moveTo>
                <a:lnTo>
                  <a:pt x="302410" y="0"/>
                </a:lnTo>
              </a:path>
            </a:pathLst>
          </a:custGeom>
          <a:noFill/>
          <a:ln w="15875" cap="rnd">
            <a:solidFill>
              <a:srgbClr val="12A87B"/>
            </a:solidFill>
            <a:round/>
          </a:ln>
          <a:effectLst/>
        </p:spPr>
        <p:txBody>
          <a:bodyPr rtlCol="0" anchor="ctr"/>
          <a:lstStyle/>
          <a:p>
            <a:pPr algn="ctr"/>
          </a:p>
        </p:txBody>
      </p:sp>
      <p:sp>
        <p:nvSpPr>
          <p:cNvPr id="39" name="Freeform 38"/>
          <p:cNvSpPr/>
          <p:nvPr/>
        </p:nvSpPr>
        <p:spPr>
          <a:xfrm>
            <a:off x="7443216" y="2662557"/>
            <a:ext cx="0" cy="141125"/>
          </a:xfrm>
          <a:custGeom>
            <a:avLst/>
            <a:gdLst/>
            <a:ahLst/>
            <a:cxnLst/>
            <a:rect l="l" t="t" r="r" b="b"/>
            <a:pathLst>
              <a:path w="0" h="141125">
                <a:moveTo>
                  <a:pt x="0" y="141125"/>
                </a:moveTo>
                <a:lnTo>
                  <a:pt x="0" y="0"/>
                </a:lnTo>
              </a:path>
            </a:pathLst>
          </a:custGeom>
          <a:noFill/>
          <a:ln w="14288" cap="rnd">
            <a:solidFill>
              <a:srgbClr val="12A87B"/>
            </a:solidFill>
            <a:round/>
          </a:ln>
          <a:effectLst/>
        </p:spPr>
        <p:txBody>
          <a:bodyPr rtlCol="0" anchor="ctr"/>
          <a:lstStyle/>
          <a:p>
            <a:pPr algn="ctr"/>
          </a:p>
        </p:txBody>
      </p:sp>
      <p:sp>
        <p:nvSpPr>
          <p:cNvPr id="40" name="Freeform 39"/>
          <p:cNvSpPr/>
          <p:nvPr/>
        </p:nvSpPr>
        <p:spPr>
          <a:xfrm>
            <a:off x="7362573" y="2642397"/>
            <a:ext cx="80643" cy="80642"/>
          </a:xfrm>
          <a:custGeom>
            <a:avLst/>
            <a:gdLst/>
            <a:ahLst/>
            <a:cxnLst/>
            <a:rect l="l" t="t" r="r" b="b"/>
            <a:pathLst>
              <a:path w="80643" h="80642">
                <a:moveTo>
                  <a:pt x="80643" y="80642"/>
                </a:moveTo>
                <a:lnTo>
                  <a:pt x="55723" y="72578"/>
                </a:lnTo>
                <a:lnTo>
                  <a:pt x="33242" y="64514"/>
                </a:lnTo>
                <a:lnTo>
                  <a:pt x="15402" y="56449"/>
                </a:lnTo>
                <a:lnTo>
                  <a:pt x="3947" y="48385"/>
                </a:lnTo>
                <a:lnTo>
                  <a:pt x="0" y="40321"/>
                </a:lnTo>
                <a:lnTo>
                  <a:pt x="3947" y="32257"/>
                </a:lnTo>
                <a:lnTo>
                  <a:pt x="15402" y="24192"/>
                </a:lnTo>
                <a:lnTo>
                  <a:pt x="33242" y="16128"/>
                </a:lnTo>
                <a:lnTo>
                  <a:pt x="55723" y="8064"/>
                </a:lnTo>
                <a:lnTo>
                  <a:pt x="80643" y="0"/>
                </a:lnTo>
              </a:path>
            </a:pathLst>
          </a:custGeom>
          <a:noFill/>
          <a:ln w="11906" cap="rnd">
            <a:solidFill>
              <a:srgbClr val="12A87B"/>
            </a:solidFill>
            <a:round/>
          </a:ln>
          <a:effectLst/>
        </p:spPr>
        <p:txBody>
          <a:bodyPr rtlCol="0" anchor="ctr"/>
          <a:lstStyle/>
          <a:p>
            <a:pPr algn="ctr"/>
          </a:p>
        </p:txBody>
      </p:sp>
      <p:sp>
        <p:nvSpPr>
          <p:cNvPr id="41" name="Freeform 40"/>
          <p:cNvSpPr/>
          <p:nvPr/>
        </p:nvSpPr>
        <p:spPr>
          <a:xfrm>
            <a:off x="7443216" y="2642397"/>
            <a:ext cx="80643" cy="80642"/>
          </a:xfrm>
          <a:custGeom>
            <a:avLst/>
            <a:gdLst/>
            <a:ahLst/>
            <a:cxnLst/>
            <a:rect l="l" t="t" r="r" b="b"/>
            <a:pathLst>
              <a:path w="80643" h="80642">
                <a:moveTo>
                  <a:pt x="0" y="80642"/>
                </a:moveTo>
                <a:lnTo>
                  <a:pt x="24920" y="72578"/>
                </a:lnTo>
                <a:lnTo>
                  <a:pt x="47401" y="64514"/>
                </a:lnTo>
                <a:lnTo>
                  <a:pt x="65241" y="56449"/>
                </a:lnTo>
                <a:lnTo>
                  <a:pt x="76696" y="48385"/>
                </a:lnTo>
                <a:lnTo>
                  <a:pt x="80643" y="40321"/>
                </a:lnTo>
                <a:lnTo>
                  <a:pt x="76696" y="32257"/>
                </a:lnTo>
                <a:lnTo>
                  <a:pt x="65241" y="24192"/>
                </a:lnTo>
                <a:lnTo>
                  <a:pt x="47401" y="16128"/>
                </a:lnTo>
                <a:lnTo>
                  <a:pt x="24920" y="8064"/>
                </a:lnTo>
                <a:lnTo>
                  <a:pt x="0" y="0"/>
                </a:lnTo>
              </a:path>
            </a:pathLst>
          </a:custGeom>
          <a:noFill/>
          <a:ln w="11906" cap="rnd">
            <a:solidFill>
              <a:srgbClr val="12A87B"/>
            </a:solidFill>
            <a:round/>
          </a:ln>
          <a:effectLst/>
        </p:spPr>
        <p:txBody>
          <a:bodyPr rtlCol="0" anchor="ctr"/>
          <a:lstStyle/>
          <a:p>
            <a:pPr algn="ctr"/>
          </a:p>
        </p:txBody>
      </p:sp>
      <p:sp>
        <p:nvSpPr>
          <p:cNvPr id="42" name="TextBox 41"/>
          <p:cNvSpPr txBox="1"/>
          <p:nvPr/>
        </p:nvSpPr>
        <p:spPr>
          <a:xfrm>
            <a:off x="6400800"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Compostagem</a:t>
            </a:r>
          </a:p>
        </p:txBody>
      </p:sp>
      <p:sp>
        <p:nvSpPr>
          <p:cNvPr id="43" name="TextBox 42"/>
          <p:cNvSpPr txBox="1"/>
          <p:nvPr/>
        </p:nvSpPr>
        <p:spPr>
          <a:xfrm>
            <a:off x="6437376"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Montserrat"/>
              </a:rPr>
              <a:t>Curso mantido em caráter permanente no espaço.</a:t>
            </a:r>
          </a:p>
        </p:txBody>
      </p:sp>
      <p:sp>
        <p:nvSpPr>
          <p:cNvPr id="44" name="Rectangle 43"/>
          <p:cNvSpPr/>
          <p:nvPr/>
        </p:nvSpPr>
        <p:spPr>
          <a:xfrm>
            <a:off x="8910828"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45" name="Rectangle 44"/>
          <p:cNvSpPr/>
          <p:nvPr/>
        </p:nvSpPr>
        <p:spPr>
          <a:xfrm>
            <a:off x="8910828" y="1956816"/>
            <a:ext cx="2487168" cy="50292"/>
          </a:xfrm>
          <a:prstGeom prst="rect">
            <a:avLst/>
          </a:prstGeom>
          <a:solidFill>
            <a:srgbClr val="12A87B"/>
          </a:solidFill>
          <a:ln w="12700" cap="rnd">
            <a:noFill/>
            <a:round/>
          </a:ln>
          <a:effectLst/>
        </p:spPr>
        <p:txBody>
          <a:bodyPr rtlCol="0" anchor="ctr"/>
          <a:lstStyle/>
          <a:p/>
        </p:txBody>
      </p:sp>
      <p:sp>
        <p:nvSpPr>
          <p:cNvPr id="46" name="Oval 45"/>
          <p:cNvSpPr/>
          <p:nvPr/>
        </p:nvSpPr>
        <p:spPr>
          <a:xfrm>
            <a:off x="9669780" y="2258568"/>
            <a:ext cx="969264" cy="969264"/>
          </a:xfrm>
          <a:prstGeom prst="ellipse">
            <a:avLst/>
          </a:prstGeom>
          <a:solidFill>
            <a:srgbClr val="F4F5FC"/>
          </a:solidFill>
          <a:ln w="12700" cap="rnd">
            <a:noFill/>
            <a:round/>
          </a:ln>
          <a:effectLst/>
        </p:spPr>
        <p:txBody>
          <a:bodyPr rtlCol="0" anchor="ctr"/>
          <a:lstStyle/>
          <a:p/>
        </p:txBody>
      </p:sp>
      <p:sp>
        <p:nvSpPr>
          <p:cNvPr id="47" name="Freeform 46"/>
          <p:cNvSpPr/>
          <p:nvPr/>
        </p:nvSpPr>
        <p:spPr>
          <a:xfrm>
            <a:off x="9993126" y="2602075"/>
            <a:ext cx="161286" cy="312491"/>
          </a:xfrm>
          <a:custGeom>
            <a:avLst/>
            <a:gdLst/>
            <a:ahLst/>
            <a:cxnLst/>
            <a:rect l="l" t="t" r="r" b="b"/>
            <a:pathLst>
              <a:path w="161286" h="312491">
                <a:moveTo>
                  <a:pt x="161286" y="40322"/>
                </a:moveTo>
                <a:lnTo>
                  <a:pt x="0" y="0"/>
                </a:lnTo>
                <a:lnTo>
                  <a:pt x="0" y="272169"/>
                </a:lnTo>
                <a:lnTo>
                  <a:pt x="161286" y="312491"/>
                </a:lnTo>
                <a:close/>
              </a:path>
            </a:pathLst>
          </a:custGeom>
          <a:noFill/>
          <a:ln w="15875" cap="rnd">
            <a:solidFill>
              <a:srgbClr val="12A87B"/>
            </a:solidFill>
            <a:round/>
          </a:ln>
          <a:effectLst/>
        </p:spPr>
        <p:txBody>
          <a:bodyPr rtlCol="0" anchor="ctr"/>
          <a:lstStyle/>
          <a:p>
            <a:pPr algn="ctr"/>
          </a:p>
        </p:txBody>
      </p:sp>
      <p:sp>
        <p:nvSpPr>
          <p:cNvPr id="48" name="Freeform 47"/>
          <p:cNvSpPr/>
          <p:nvPr/>
        </p:nvSpPr>
        <p:spPr>
          <a:xfrm>
            <a:off x="10154412" y="2602075"/>
            <a:ext cx="161286" cy="312491"/>
          </a:xfrm>
          <a:custGeom>
            <a:avLst/>
            <a:gdLst/>
            <a:ahLst/>
            <a:cxnLst/>
            <a:rect l="l" t="t" r="r" b="b"/>
            <a:pathLst>
              <a:path w="161286" h="312491">
                <a:moveTo>
                  <a:pt x="0" y="40322"/>
                </a:moveTo>
                <a:lnTo>
                  <a:pt x="161286" y="0"/>
                </a:lnTo>
                <a:lnTo>
                  <a:pt x="161286" y="272169"/>
                </a:lnTo>
                <a:lnTo>
                  <a:pt x="0" y="312491"/>
                </a:lnTo>
                <a:close/>
              </a:path>
            </a:pathLst>
          </a:custGeom>
          <a:noFill/>
          <a:ln w="15875" cap="rnd">
            <a:solidFill>
              <a:srgbClr val="12A87B"/>
            </a:solidFill>
            <a:round/>
          </a:ln>
          <a:effectLst/>
        </p:spPr>
        <p:txBody>
          <a:bodyPr rtlCol="0" anchor="ctr"/>
          <a:lstStyle/>
          <a:p>
            <a:pPr algn="ctr"/>
          </a:p>
        </p:txBody>
      </p:sp>
      <p:sp>
        <p:nvSpPr>
          <p:cNvPr id="49" name="Freeform 48"/>
          <p:cNvSpPr/>
          <p:nvPr/>
        </p:nvSpPr>
        <p:spPr>
          <a:xfrm>
            <a:off x="10154412" y="2642397"/>
            <a:ext cx="0" cy="272169"/>
          </a:xfrm>
          <a:custGeom>
            <a:avLst/>
            <a:gdLst/>
            <a:ahLst/>
            <a:cxnLst/>
            <a:rect l="l" t="t" r="r" b="b"/>
            <a:pathLst>
              <a:path w="0" h="272169">
                <a:moveTo>
                  <a:pt x="0" y="0"/>
                </a:moveTo>
                <a:lnTo>
                  <a:pt x="0" y="272169"/>
                </a:lnTo>
              </a:path>
            </a:pathLst>
          </a:custGeom>
          <a:noFill/>
          <a:ln w="12700" cap="rnd">
            <a:solidFill>
              <a:srgbClr val="12A87B"/>
            </a:solidFill>
            <a:round/>
          </a:ln>
          <a:effectLst/>
        </p:spPr>
        <p:txBody>
          <a:bodyPr rtlCol="0" anchor="ctr"/>
          <a:lstStyle/>
          <a:p>
            <a:pPr algn="ctr"/>
          </a:p>
        </p:txBody>
      </p:sp>
      <p:sp>
        <p:nvSpPr>
          <p:cNvPr id="50" name="TextBox 49"/>
          <p:cNvSpPr txBox="1"/>
          <p:nvPr/>
        </p:nvSpPr>
        <p:spPr>
          <a:xfrm>
            <a:off x="9111996"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Educação ambiental</a:t>
            </a:r>
          </a:p>
        </p:txBody>
      </p:sp>
      <p:sp>
        <p:nvSpPr>
          <p:cNvPr id="51" name="TextBox 50"/>
          <p:cNvSpPr txBox="1"/>
          <p:nvPr/>
        </p:nvSpPr>
        <p:spPr>
          <a:xfrm>
            <a:off x="9148572"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Montserrat"/>
              </a:rPr>
              <a:t>Disponível às escolas municipais que desejarem utilizar o espaço.</a:t>
            </a:r>
          </a:p>
        </p:txBody>
      </p:sp>
      <p:sp>
        <p:nvSpPr>
          <p:cNvPr id="52" name="Rectangle 51"/>
          <p:cNvSpPr/>
          <p:nvPr/>
        </p:nvSpPr>
        <p:spPr>
          <a:xfrm>
            <a:off x="777240" y="4590288"/>
            <a:ext cx="10637489" cy="658368"/>
          </a:xfrm>
          <a:prstGeom prst="rect">
            <a:avLst/>
          </a:prstGeom>
          <a:solidFill>
            <a:srgbClr val="E7F6F1"/>
          </a:solidFill>
          <a:ln w="12700" cap="rnd">
            <a:noFill/>
            <a:round/>
          </a:ln>
          <a:effectLst/>
        </p:spPr>
        <p:txBody>
          <a:bodyPr rtlCol="0" anchor="ctr"/>
          <a:lstStyle/>
          <a:p/>
        </p:txBody>
      </p:sp>
      <p:sp>
        <p:nvSpPr>
          <p:cNvPr id="53" name="Rectangle 52"/>
          <p:cNvSpPr/>
          <p:nvPr/>
        </p:nvSpPr>
        <p:spPr>
          <a:xfrm>
            <a:off x="777240" y="4590288"/>
            <a:ext cx="32004" cy="658368"/>
          </a:xfrm>
          <a:prstGeom prst="rect">
            <a:avLst/>
          </a:prstGeom>
          <a:solidFill>
            <a:srgbClr val="12A87B"/>
          </a:solidFill>
          <a:ln w="12700" cap="rnd">
            <a:noFill/>
            <a:round/>
          </a:ln>
          <a:effectLst/>
        </p:spPr>
        <p:txBody>
          <a:bodyPr rtlCol="0" anchor="ctr"/>
          <a:lstStyle/>
          <a:p/>
        </p:txBody>
      </p:sp>
      <p:sp>
        <p:nvSpPr>
          <p:cNvPr id="54" name="Freeform 53"/>
          <p:cNvSpPr/>
          <p:nvPr/>
        </p:nvSpPr>
        <p:spPr>
          <a:xfrm>
            <a:off x="1064362" y="4842662"/>
            <a:ext cx="87782" cy="170079"/>
          </a:xfrm>
          <a:custGeom>
            <a:avLst/>
            <a:gdLst/>
            <a:ahLst/>
            <a:cxnLst/>
            <a:rect l="l" t="t" r="r" b="b"/>
            <a:pathLst>
              <a:path w="87782" h="170079">
                <a:moveTo>
                  <a:pt x="87782" y="21946"/>
                </a:moveTo>
                <a:lnTo>
                  <a:pt x="0" y="0"/>
                </a:lnTo>
                <a:lnTo>
                  <a:pt x="0" y="148133"/>
                </a:lnTo>
                <a:lnTo>
                  <a:pt x="87782" y="170079"/>
                </a:lnTo>
                <a:close/>
              </a:path>
            </a:pathLst>
          </a:custGeom>
          <a:noFill/>
          <a:ln w="15875" cap="rnd">
            <a:solidFill>
              <a:srgbClr val="12A87B"/>
            </a:solidFill>
            <a:round/>
          </a:ln>
          <a:effectLst/>
        </p:spPr>
        <p:txBody>
          <a:bodyPr rtlCol="0" anchor="ctr"/>
          <a:lstStyle/>
          <a:p>
            <a:pPr algn="ctr"/>
          </a:p>
        </p:txBody>
      </p:sp>
      <p:sp>
        <p:nvSpPr>
          <p:cNvPr id="55" name="Freeform 54"/>
          <p:cNvSpPr/>
          <p:nvPr/>
        </p:nvSpPr>
        <p:spPr>
          <a:xfrm>
            <a:off x="1152144" y="4842662"/>
            <a:ext cx="87782" cy="170079"/>
          </a:xfrm>
          <a:custGeom>
            <a:avLst/>
            <a:gdLst/>
            <a:ahLst/>
            <a:cxnLst/>
            <a:rect l="l" t="t" r="r" b="b"/>
            <a:pathLst>
              <a:path w="87782" h="170079">
                <a:moveTo>
                  <a:pt x="0" y="21946"/>
                </a:moveTo>
                <a:lnTo>
                  <a:pt x="87782" y="0"/>
                </a:lnTo>
                <a:lnTo>
                  <a:pt x="87782" y="148133"/>
                </a:lnTo>
                <a:lnTo>
                  <a:pt x="0" y="170079"/>
                </a:lnTo>
                <a:close/>
              </a:path>
            </a:pathLst>
          </a:custGeom>
          <a:noFill/>
          <a:ln w="15875" cap="rnd">
            <a:solidFill>
              <a:srgbClr val="12A87B"/>
            </a:solidFill>
            <a:round/>
          </a:ln>
          <a:effectLst/>
        </p:spPr>
        <p:txBody>
          <a:bodyPr rtlCol="0" anchor="ctr"/>
          <a:lstStyle/>
          <a:p>
            <a:pPr algn="ctr"/>
          </a:p>
        </p:txBody>
      </p:sp>
      <p:sp>
        <p:nvSpPr>
          <p:cNvPr id="56" name="Freeform 55"/>
          <p:cNvSpPr/>
          <p:nvPr/>
        </p:nvSpPr>
        <p:spPr>
          <a:xfrm>
            <a:off x="1152144" y="4864608"/>
            <a:ext cx="0" cy="148133"/>
          </a:xfrm>
          <a:custGeom>
            <a:avLst/>
            <a:gdLst/>
            <a:ahLst/>
            <a:cxnLst/>
            <a:rect l="l" t="t" r="r" b="b"/>
            <a:pathLst>
              <a:path w="0" h="148133">
                <a:moveTo>
                  <a:pt x="0" y="0"/>
                </a:moveTo>
                <a:lnTo>
                  <a:pt x="0" y="148133"/>
                </a:lnTo>
              </a:path>
            </a:pathLst>
          </a:custGeom>
          <a:noFill/>
          <a:ln w="12700" cap="rnd">
            <a:solidFill>
              <a:srgbClr val="12A87B"/>
            </a:solidFill>
            <a:round/>
          </a:ln>
          <a:effectLst/>
        </p:spPr>
        <p:txBody>
          <a:bodyPr rtlCol="0" anchor="ctr"/>
          <a:lstStyle/>
          <a:p>
            <a:pPr algn="ctr"/>
          </a:p>
        </p:txBody>
      </p:sp>
      <p:sp>
        <p:nvSpPr>
          <p:cNvPr id="57" name="TextBox 56"/>
          <p:cNvSpPr txBox="1"/>
          <p:nvPr/>
        </p:nvSpPr>
        <p:spPr>
          <a:xfrm>
            <a:off x="1472184" y="4590288"/>
            <a:ext cx="9668225" cy="658368"/>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Manteremos em caráter permanente um curso de compostagem e educação ambiental no espaço, caso as escolas municipais queiram aproveitá-lo para referidas atividades.</a:t>
            </a:r>
          </a:p>
        </p:txBody>
      </p:sp>
      <p:sp>
        <p:nvSpPr>
          <p:cNvPr id="58" name="Rectangle 57"/>
          <p:cNvSpPr/>
          <p:nvPr/>
        </p:nvSpPr>
        <p:spPr>
          <a:xfrm>
            <a:off x="777240" y="5449824"/>
            <a:ext cx="10637489" cy="603504"/>
          </a:xfrm>
          <a:prstGeom prst="rect">
            <a:avLst/>
          </a:prstGeom>
          <a:solidFill>
            <a:srgbClr val="F4F5FC"/>
          </a:solidFill>
          <a:ln w="12700" cap="rnd">
            <a:noFill/>
            <a:round/>
          </a:ln>
          <a:effectLst/>
        </p:spPr>
        <p:txBody>
          <a:bodyPr rtlCol="0" anchor="ctr"/>
          <a:lstStyle/>
          <a:p/>
        </p:txBody>
      </p:sp>
      <p:sp>
        <p:nvSpPr>
          <p:cNvPr id="59" name="Rectangle 58"/>
          <p:cNvSpPr/>
          <p:nvPr/>
        </p:nvSpPr>
        <p:spPr>
          <a:xfrm>
            <a:off x="777240" y="5449824"/>
            <a:ext cx="32004" cy="603504"/>
          </a:xfrm>
          <a:prstGeom prst="rect">
            <a:avLst/>
          </a:prstGeom>
          <a:solidFill>
            <a:srgbClr val="3432C9"/>
          </a:solidFill>
          <a:ln w="12700" cap="rnd">
            <a:noFill/>
            <a:round/>
          </a:ln>
          <a:effectLst/>
        </p:spPr>
        <p:txBody>
          <a:bodyPr rtlCol="0" anchor="ctr"/>
          <a:lstStyle/>
          <a:p/>
        </p:txBody>
      </p:sp>
      <p:sp>
        <p:nvSpPr>
          <p:cNvPr id="60" name="Oval 59"/>
          <p:cNvSpPr/>
          <p:nvPr/>
        </p:nvSpPr>
        <p:spPr>
          <a:xfrm>
            <a:off x="1119225" y="5663793"/>
            <a:ext cx="65836" cy="65836"/>
          </a:xfrm>
          <a:prstGeom prst="ellipse">
            <a:avLst/>
          </a:prstGeom>
          <a:noFill/>
          <a:ln w="15875" cap="rnd">
            <a:solidFill>
              <a:srgbClr val="3432C9"/>
            </a:solidFill>
            <a:round/>
          </a:ln>
          <a:effectLst/>
        </p:spPr>
        <p:txBody>
          <a:bodyPr rtlCol="0" anchor="ctr"/>
          <a:lstStyle/>
          <a:p/>
        </p:txBody>
      </p:sp>
      <p:sp>
        <p:nvSpPr>
          <p:cNvPr id="61" name="Freeform 60"/>
          <p:cNvSpPr/>
          <p:nvPr/>
        </p:nvSpPr>
        <p:spPr>
          <a:xfrm>
            <a:off x="1079203" y="5784494"/>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3432C9"/>
            </a:solidFill>
            <a:round/>
          </a:ln>
          <a:effectLst/>
        </p:spPr>
        <p:txBody>
          <a:bodyPr rtlCol="0" anchor="ctr"/>
          <a:lstStyle/>
          <a:p>
            <a:pPr algn="ctr"/>
          </a:p>
        </p:txBody>
      </p:sp>
      <p:sp>
        <p:nvSpPr>
          <p:cNvPr id="62" name="Oval 61"/>
          <p:cNvSpPr/>
          <p:nvPr/>
        </p:nvSpPr>
        <p:spPr>
          <a:xfrm>
            <a:off x="1034186" y="5699455"/>
            <a:ext cx="49377" cy="49377"/>
          </a:xfrm>
          <a:prstGeom prst="ellipse">
            <a:avLst/>
          </a:prstGeom>
          <a:noFill/>
          <a:ln w="13494" cap="rnd">
            <a:solidFill>
              <a:srgbClr val="3432C9"/>
            </a:solidFill>
            <a:round/>
          </a:ln>
          <a:effectLst/>
        </p:spPr>
        <p:txBody>
          <a:bodyPr rtlCol="0" anchor="ctr"/>
          <a:lstStyle/>
          <a:p/>
        </p:txBody>
      </p:sp>
      <p:sp>
        <p:nvSpPr>
          <p:cNvPr id="63" name="Freeform 62"/>
          <p:cNvSpPr/>
          <p:nvPr/>
        </p:nvSpPr>
        <p:spPr>
          <a:xfrm>
            <a:off x="1013830" y="5817413"/>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3432C9"/>
            </a:solidFill>
            <a:round/>
          </a:ln>
          <a:effectLst/>
        </p:spPr>
        <p:txBody>
          <a:bodyPr rtlCol="0" anchor="ctr"/>
          <a:lstStyle/>
          <a:p>
            <a:pPr algn="ctr"/>
          </a:p>
        </p:txBody>
      </p:sp>
      <p:sp>
        <p:nvSpPr>
          <p:cNvPr id="64" name="Oval 63"/>
          <p:cNvSpPr/>
          <p:nvPr/>
        </p:nvSpPr>
        <p:spPr>
          <a:xfrm>
            <a:off x="1220724" y="5699455"/>
            <a:ext cx="49377" cy="49377"/>
          </a:xfrm>
          <a:prstGeom prst="ellipse">
            <a:avLst/>
          </a:prstGeom>
          <a:noFill/>
          <a:ln w="13494" cap="rnd">
            <a:solidFill>
              <a:srgbClr val="3432C9"/>
            </a:solidFill>
            <a:round/>
          </a:ln>
          <a:effectLst/>
        </p:spPr>
        <p:txBody>
          <a:bodyPr rtlCol="0" anchor="ctr"/>
          <a:lstStyle/>
          <a:p/>
        </p:txBody>
      </p:sp>
      <p:sp>
        <p:nvSpPr>
          <p:cNvPr id="65" name="Freeform 64"/>
          <p:cNvSpPr/>
          <p:nvPr/>
        </p:nvSpPr>
        <p:spPr>
          <a:xfrm>
            <a:off x="1200367" y="5817413"/>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3432C9"/>
            </a:solidFill>
            <a:round/>
          </a:ln>
          <a:effectLst/>
        </p:spPr>
        <p:txBody>
          <a:bodyPr rtlCol="0" anchor="ctr"/>
          <a:lstStyle/>
          <a:p>
            <a:pPr algn="ctr"/>
          </a:p>
        </p:txBody>
      </p:sp>
      <p:sp>
        <p:nvSpPr>
          <p:cNvPr id="66" name="TextBox 65"/>
          <p:cNvSpPr txBox="1"/>
          <p:nvPr/>
        </p:nvSpPr>
        <p:spPr>
          <a:xfrm>
            <a:off x="1472184" y="5449824"/>
            <a:ext cx="9668225" cy="603504"/>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O espaço poderá integrar o programa Mãos Paulistanas, caso seja de interesse da Prefeitura.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Diferenciais do projeto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De um modelo </a:t>
            </a:r>
            <a:r>
              <a:rPr sz="2550" b="0" i="0">
                <a:solidFill>
                  <a:srgbClr val="6E7288"/>
                </a:solidFill>
                <a:latin typeface="Montserrat SemiBold"/>
              </a:rPr>
              <a:t>linear</a:t>
            </a:r>
            <a:r>
              <a:rPr sz="2550" b="0" i="0">
                <a:solidFill>
                  <a:srgbClr val="14142E"/>
                </a:solidFill>
                <a:latin typeface="Montserrat Light"/>
              </a:rPr>
              <a:t> para um modelo </a:t>
            </a:r>
            <a:r>
              <a:rPr sz="2550" b="0" i="0">
                <a:solidFill>
                  <a:srgbClr val="3432C9"/>
                </a:solidFill>
                <a:latin typeface="Montserrat SemiBold"/>
              </a:rPr>
              <a:t>circular</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16</a:t>
            </a:r>
          </a:p>
        </p:txBody>
      </p:sp>
      <p:sp>
        <p:nvSpPr>
          <p:cNvPr id="9" name="TextBox 8"/>
          <p:cNvSpPr txBox="1"/>
          <p:nvPr/>
        </p:nvSpPr>
        <p:spPr>
          <a:xfrm>
            <a:off x="777240" y="1938528"/>
            <a:ext cx="3977639" cy="310896"/>
          </a:xfrm>
          <a:prstGeom prst="rect">
            <a:avLst/>
          </a:prstGeom>
          <a:noFill/>
          <a:effectLst/>
        </p:spPr>
        <p:txBody>
          <a:bodyPr wrap="square" lIns="0" rIns="0" tIns="0" bIns="0" anchor="t">
            <a:spAutoFit/>
          </a:bodyPr>
          <a:lstStyle/>
          <a:p>
            <a:pPr algn="l">
              <a:lnSpc>
                <a:spcPct val="135000"/>
              </a:lnSpc>
            </a:pPr>
            <a:r>
              <a:rPr sz="1040" b="0" i="0" spc="130" cap="all">
                <a:solidFill>
                  <a:srgbClr val="6E7288"/>
                </a:solidFill>
                <a:latin typeface="Montserrat SemiBold"/>
              </a:rPr>
              <a:t>Modelo Tradicional</a:t>
            </a:r>
          </a:p>
        </p:txBody>
      </p:sp>
      <p:sp>
        <p:nvSpPr>
          <p:cNvPr id="10" name="Rectangle 9"/>
          <p:cNvSpPr/>
          <p:nvPr/>
        </p:nvSpPr>
        <p:spPr>
          <a:xfrm>
            <a:off x="6355080" y="1828800"/>
            <a:ext cx="4937759" cy="530352"/>
          </a:xfrm>
          <a:prstGeom prst="rect">
            <a:avLst/>
          </a:prstGeom>
          <a:solidFill>
            <a:srgbClr val="3432C9"/>
          </a:solidFill>
          <a:ln w="12700" cap="rnd">
            <a:noFill/>
            <a:round/>
          </a:ln>
          <a:effectLst/>
        </p:spPr>
        <p:txBody>
          <a:bodyPr rtlCol="0" anchor="ctr"/>
          <a:lstStyle/>
          <a:p/>
        </p:txBody>
      </p:sp>
      <p:sp>
        <p:nvSpPr>
          <p:cNvPr id="11" name="TextBox 10"/>
          <p:cNvSpPr txBox="1"/>
          <p:nvPr/>
        </p:nvSpPr>
        <p:spPr>
          <a:xfrm>
            <a:off x="6611112" y="1828800"/>
            <a:ext cx="3977639" cy="530352"/>
          </a:xfrm>
          <a:prstGeom prst="rect">
            <a:avLst/>
          </a:prstGeom>
          <a:noFill/>
          <a:effectLst/>
        </p:spPr>
        <p:txBody>
          <a:bodyPr wrap="square" lIns="0" rIns="0" tIns="0" bIns="0" anchor="ctr">
            <a:spAutoFit/>
          </a:bodyPr>
          <a:lstStyle/>
          <a:p>
            <a:pPr algn="l">
              <a:lnSpc>
                <a:spcPct val="135000"/>
              </a:lnSpc>
            </a:pPr>
            <a:r>
              <a:rPr sz="1160" b="0" i="0" spc="130" cap="all">
                <a:solidFill>
                  <a:srgbClr val="FFFFFF"/>
                </a:solidFill>
                <a:latin typeface="Montserrat SemiBold"/>
              </a:rPr>
              <a:t>Bioma Têxtil</a:t>
            </a:r>
          </a:p>
        </p:txBody>
      </p:sp>
      <p:cxnSp>
        <p:nvCxnSpPr>
          <p:cNvPr id="12" name="Connector 11"/>
          <p:cNvCxnSpPr/>
          <p:nvPr/>
        </p:nvCxnSpPr>
        <p:spPr>
          <a:xfrm>
            <a:off x="777240" y="2359152"/>
            <a:ext cx="3977639" cy="0"/>
          </a:xfrm>
          <a:prstGeom prst="line">
            <a:avLst/>
          </a:prstGeom>
          <a:ln w="15240" cap="rnd">
            <a:solidFill>
              <a:srgbClr val="DFE2F0"/>
            </a:solidFill>
            <a:round/>
          </a:ln>
          <a:effectLst/>
        </p:spPr>
      </p:cxnSp>
      <p:sp>
        <p:nvSpPr>
          <p:cNvPr id="13" name="TextBox 12"/>
          <p:cNvSpPr txBox="1"/>
          <p:nvPr/>
        </p:nvSpPr>
        <p:spPr>
          <a:xfrm>
            <a:off x="777240" y="2505456"/>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Descarte</a:t>
            </a:r>
          </a:p>
        </p:txBody>
      </p:sp>
      <p:sp>
        <p:nvSpPr>
          <p:cNvPr id="14" name="Rectangle 13"/>
          <p:cNvSpPr/>
          <p:nvPr/>
        </p:nvSpPr>
        <p:spPr>
          <a:xfrm>
            <a:off x="6355080" y="2505456"/>
            <a:ext cx="4937759" cy="603503"/>
          </a:xfrm>
          <a:prstGeom prst="rect">
            <a:avLst/>
          </a:prstGeom>
          <a:solidFill>
            <a:srgbClr val="F4F5FC"/>
          </a:solidFill>
          <a:ln w="12700" cap="rnd">
            <a:noFill/>
            <a:round/>
          </a:ln>
          <a:effectLst/>
        </p:spPr>
        <p:txBody>
          <a:bodyPr rtlCol="0" anchor="ctr"/>
          <a:lstStyle/>
          <a:p/>
        </p:txBody>
      </p:sp>
      <p:sp>
        <p:nvSpPr>
          <p:cNvPr id="15" name="Rectangle 14"/>
          <p:cNvSpPr/>
          <p:nvPr/>
        </p:nvSpPr>
        <p:spPr>
          <a:xfrm>
            <a:off x="6355080" y="2505456"/>
            <a:ext cx="32004" cy="603503"/>
          </a:xfrm>
          <a:prstGeom prst="rect">
            <a:avLst/>
          </a:prstGeom>
          <a:solidFill>
            <a:srgbClr val="3432C9"/>
          </a:solidFill>
          <a:ln w="12700" cap="rnd">
            <a:noFill/>
            <a:round/>
          </a:ln>
          <a:effectLst/>
        </p:spPr>
        <p:txBody>
          <a:bodyPr rtlCol="0" anchor="ctr"/>
          <a:lstStyle/>
          <a:p/>
        </p:txBody>
      </p:sp>
      <p:sp>
        <p:nvSpPr>
          <p:cNvPr id="16" name="TextBox 15"/>
          <p:cNvSpPr txBox="1"/>
          <p:nvPr/>
        </p:nvSpPr>
        <p:spPr>
          <a:xfrm>
            <a:off x="6611112" y="2505456"/>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Reaproveitamento</a:t>
            </a:r>
          </a:p>
        </p:txBody>
      </p:sp>
      <p:sp>
        <p:nvSpPr>
          <p:cNvPr id="17" name="Freeform 16"/>
          <p:cNvSpPr/>
          <p:nvPr/>
        </p:nvSpPr>
        <p:spPr>
          <a:xfrm>
            <a:off x="5029200" y="2807208"/>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18" name="Freeform 17"/>
          <p:cNvSpPr/>
          <p:nvPr/>
        </p:nvSpPr>
        <p:spPr>
          <a:xfrm>
            <a:off x="6093359" y="2775012"/>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19" name="Connector 18"/>
          <p:cNvCxnSpPr/>
          <p:nvPr/>
        </p:nvCxnSpPr>
        <p:spPr>
          <a:xfrm>
            <a:off x="777240" y="3136392"/>
            <a:ext cx="3977639" cy="0"/>
          </a:xfrm>
          <a:prstGeom prst="line">
            <a:avLst/>
          </a:prstGeom>
          <a:ln w="12700" cap="rnd">
            <a:solidFill>
              <a:srgbClr val="EDEFF8"/>
            </a:solidFill>
            <a:round/>
          </a:ln>
          <a:effectLst/>
        </p:spPr>
      </p:cxnSp>
      <p:sp>
        <p:nvSpPr>
          <p:cNvPr id="20" name="TextBox 19"/>
          <p:cNvSpPr txBox="1"/>
          <p:nvPr/>
        </p:nvSpPr>
        <p:spPr>
          <a:xfrm>
            <a:off x="777240" y="3163824"/>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Aterro</a:t>
            </a:r>
          </a:p>
        </p:txBody>
      </p:sp>
      <p:sp>
        <p:nvSpPr>
          <p:cNvPr id="21" name="Rectangle 20"/>
          <p:cNvSpPr/>
          <p:nvPr/>
        </p:nvSpPr>
        <p:spPr>
          <a:xfrm>
            <a:off x="6355080" y="3163824"/>
            <a:ext cx="4937759" cy="603503"/>
          </a:xfrm>
          <a:prstGeom prst="rect">
            <a:avLst/>
          </a:prstGeom>
          <a:solidFill>
            <a:srgbClr val="EEF0FB"/>
          </a:solidFill>
          <a:ln w="12700" cap="rnd">
            <a:noFill/>
            <a:round/>
          </a:ln>
          <a:effectLst/>
        </p:spPr>
        <p:txBody>
          <a:bodyPr rtlCol="0" anchor="ctr"/>
          <a:lstStyle/>
          <a:p/>
        </p:txBody>
      </p:sp>
      <p:sp>
        <p:nvSpPr>
          <p:cNvPr id="22" name="Rectangle 21"/>
          <p:cNvSpPr/>
          <p:nvPr/>
        </p:nvSpPr>
        <p:spPr>
          <a:xfrm>
            <a:off x="6355080" y="3163824"/>
            <a:ext cx="32004" cy="603503"/>
          </a:xfrm>
          <a:prstGeom prst="rect">
            <a:avLst/>
          </a:prstGeom>
          <a:solidFill>
            <a:srgbClr val="3432C9"/>
          </a:solidFill>
          <a:ln w="12700" cap="rnd">
            <a:noFill/>
            <a:round/>
          </a:ln>
          <a:effectLst/>
        </p:spPr>
        <p:txBody>
          <a:bodyPr rtlCol="0" anchor="ctr"/>
          <a:lstStyle/>
          <a:p/>
        </p:txBody>
      </p:sp>
      <p:sp>
        <p:nvSpPr>
          <p:cNvPr id="23" name="TextBox 22"/>
          <p:cNvSpPr txBox="1"/>
          <p:nvPr/>
        </p:nvSpPr>
        <p:spPr>
          <a:xfrm>
            <a:off x="6611112" y="3163824"/>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Economia Circular</a:t>
            </a:r>
          </a:p>
        </p:txBody>
      </p:sp>
      <p:sp>
        <p:nvSpPr>
          <p:cNvPr id="24" name="Freeform 23"/>
          <p:cNvSpPr/>
          <p:nvPr/>
        </p:nvSpPr>
        <p:spPr>
          <a:xfrm>
            <a:off x="5029200" y="3465576"/>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25" name="Freeform 24"/>
          <p:cNvSpPr/>
          <p:nvPr/>
        </p:nvSpPr>
        <p:spPr>
          <a:xfrm>
            <a:off x="6093359" y="3433380"/>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26" name="Connector 25"/>
          <p:cNvCxnSpPr/>
          <p:nvPr/>
        </p:nvCxnSpPr>
        <p:spPr>
          <a:xfrm>
            <a:off x="777240" y="3794759"/>
            <a:ext cx="3977639" cy="0"/>
          </a:xfrm>
          <a:prstGeom prst="line">
            <a:avLst/>
          </a:prstGeom>
          <a:ln w="12700" cap="rnd">
            <a:solidFill>
              <a:srgbClr val="EDEFF8"/>
            </a:solidFill>
            <a:round/>
          </a:ln>
          <a:effectLst/>
        </p:spPr>
      </p:cxnSp>
      <p:sp>
        <p:nvSpPr>
          <p:cNvPr id="27" name="TextBox 26"/>
          <p:cNvSpPr txBox="1"/>
          <p:nvPr/>
        </p:nvSpPr>
        <p:spPr>
          <a:xfrm>
            <a:off x="777240" y="3822191"/>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Resíduo</a:t>
            </a:r>
          </a:p>
        </p:txBody>
      </p:sp>
      <p:sp>
        <p:nvSpPr>
          <p:cNvPr id="28" name="Rectangle 27"/>
          <p:cNvSpPr/>
          <p:nvPr/>
        </p:nvSpPr>
        <p:spPr>
          <a:xfrm>
            <a:off x="6355080" y="3822191"/>
            <a:ext cx="4937759" cy="603503"/>
          </a:xfrm>
          <a:prstGeom prst="rect">
            <a:avLst/>
          </a:prstGeom>
          <a:solidFill>
            <a:srgbClr val="F4F5FC"/>
          </a:solidFill>
          <a:ln w="12700" cap="rnd">
            <a:noFill/>
            <a:round/>
          </a:ln>
          <a:effectLst/>
        </p:spPr>
        <p:txBody>
          <a:bodyPr rtlCol="0" anchor="ctr"/>
          <a:lstStyle/>
          <a:p/>
        </p:txBody>
      </p:sp>
      <p:sp>
        <p:nvSpPr>
          <p:cNvPr id="29" name="Rectangle 28"/>
          <p:cNvSpPr/>
          <p:nvPr/>
        </p:nvSpPr>
        <p:spPr>
          <a:xfrm>
            <a:off x="6355080" y="3822191"/>
            <a:ext cx="32004" cy="603503"/>
          </a:xfrm>
          <a:prstGeom prst="rect">
            <a:avLst/>
          </a:prstGeom>
          <a:solidFill>
            <a:srgbClr val="3432C9"/>
          </a:solidFill>
          <a:ln w="12700" cap="rnd">
            <a:noFill/>
            <a:round/>
          </a:ln>
          <a:effectLst/>
        </p:spPr>
        <p:txBody>
          <a:bodyPr rtlCol="0" anchor="ctr"/>
          <a:lstStyle/>
          <a:p/>
        </p:txBody>
      </p:sp>
      <p:sp>
        <p:nvSpPr>
          <p:cNvPr id="30" name="TextBox 29"/>
          <p:cNvSpPr txBox="1"/>
          <p:nvPr/>
        </p:nvSpPr>
        <p:spPr>
          <a:xfrm>
            <a:off x="6611112" y="3822191"/>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Recurso</a:t>
            </a:r>
          </a:p>
        </p:txBody>
      </p:sp>
      <p:sp>
        <p:nvSpPr>
          <p:cNvPr id="31" name="Freeform 30"/>
          <p:cNvSpPr/>
          <p:nvPr/>
        </p:nvSpPr>
        <p:spPr>
          <a:xfrm>
            <a:off x="5029200" y="4123944"/>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32" name="Freeform 31"/>
          <p:cNvSpPr/>
          <p:nvPr/>
        </p:nvSpPr>
        <p:spPr>
          <a:xfrm>
            <a:off x="6093359" y="4091748"/>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33" name="Connector 32"/>
          <p:cNvCxnSpPr/>
          <p:nvPr/>
        </p:nvCxnSpPr>
        <p:spPr>
          <a:xfrm>
            <a:off x="777240" y="4453127"/>
            <a:ext cx="3977639" cy="0"/>
          </a:xfrm>
          <a:prstGeom prst="line">
            <a:avLst/>
          </a:prstGeom>
          <a:ln w="12700" cap="rnd">
            <a:solidFill>
              <a:srgbClr val="EDEFF8"/>
            </a:solidFill>
            <a:round/>
          </a:ln>
          <a:effectLst/>
        </p:spPr>
      </p:cxnSp>
      <p:sp>
        <p:nvSpPr>
          <p:cNvPr id="34" name="TextBox 33"/>
          <p:cNvSpPr txBox="1"/>
          <p:nvPr/>
        </p:nvSpPr>
        <p:spPr>
          <a:xfrm>
            <a:off x="777240" y="4480560"/>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Acúmulo</a:t>
            </a:r>
          </a:p>
        </p:txBody>
      </p:sp>
      <p:sp>
        <p:nvSpPr>
          <p:cNvPr id="35" name="Rectangle 34"/>
          <p:cNvSpPr/>
          <p:nvPr/>
        </p:nvSpPr>
        <p:spPr>
          <a:xfrm>
            <a:off x="6355080" y="4480560"/>
            <a:ext cx="4937759" cy="603503"/>
          </a:xfrm>
          <a:prstGeom prst="rect">
            <a:avLst/>
          </a:prstGeom>
          <a:solidFill>
            <a:srgbClr val="EEF0FB"/>
          </a:solidFill>
          <a:ln w="12700" cap="rnd">
            <a:noFill/>
            <a:round/>
          </a:ln>
          <a:effectLst/>
        </p:spPr>
        <p:txBody>
          <a:bodyPr rtlCol="0" anchor="ctr"/>
          <a:lstStyle/>
          <a:p/>
        </p:txBody>
      </p:sp>
      <p:sp>
        <p:nvSpPr>
          <p:cNvPr id="36" name="Rectangle 35"/>
          <p:cNvSpPr/>
          <p:nvPr/>
        </p:nvSpPr>
        <p:spPr>
          <a:xfrm>
            <a:off x="6355080" y="4480560"/>
            <a:ext cx="32004" cy="603503"/>
          </a:xfrm>
          <a:prstGeom prst="rect">
            <a:avLst/>
          </a:prstGeom>
          <a:solidFill>
            <a:srgbClr val="3432C9"/>
          </a:solidFill>
          <a:ln w="12700" cap="rnd">
            <a:noFill/>
            <a:round/>
          </a:ln>
          <a:effectLst/>
        </p:spPr>
        <p:txBody>
          <a:bodyPr rtlCol="0" anchor="ctr"/>
          <a:lstStyle/>
          <a:p/>
        </p:txBody>
      </p:sp>
      <p:sp>
        <p:nvSpPr>
          <p:cNvPr id="37" name="TextBox 36"/>
          <p:cNvSpPr txBox="1"/>
          <p:nvPr/>
        </p:nvSpPr>
        <p:spPr>
          <a:xfrm>
            <a:off x="6611112" y="4480560"/>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Fluxo Rotativo</a:t>
            </a:r>
          </a:p>
        </p:txBody>
      </p:sp>
      <p:sp>
        <p:nvSpPr>
          <p:cNvPr id="38" name="Freeform 37"/>
          <p:cNvSpPr/>
          <p:nvPr/>
        </p:nvSpPr>
        <p:spPr>
          <a:xfrm>
            <a:off x="5029200" y="4782312"/>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39" name="Freeform 38"/>
          <p:cNvSpPr/>
          <p:nvPr/>
        </p:nvSpPr>
        <p:spPr>
          <a:xfrm>
            <a:off x="6093359" y="475011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40" name="Connector 39"/>
          <p:cNvCxnSpPr/>
          <p:nvPr/>
        </p:nvCxnSpPr>
        <p:spPr>
          <a:xfrm>
            <a:off x="777240" y="5111496"/>
            <a:ext cx="3977639" cy="0"/>
          </a:xfrm>
          <a:prstGeom prst="line">
            <a:avLst/>
          </a:prstGeom>
          <a:ln w="12700" cap="rnd">
            <a:solidFill>
              <a:srgbClr val="EDEFF8"/>
            </a:solidFill>
            <a:round/>
          </a:ln>
          <a:effectLst/>
        </p:spPr>
      </p:cxnSp>
      <p:sp>
        <p:nvSpPr>
          <p:cNvPr id="41" name="TextBox 40"/>
          <p:cNvSpPr txBox="1"/>
          <p:nvPr/>
        </p:nvSpPr>
        <p:spPr>
          <a:xfrm>
            <a:off x="777240" y="5138928"/>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Perda de material</a:t>
            </a:r>
          </a:p>
        </p:txBody>
      </p:sp>
      <p:sp>
        <p:nvSpPr>
          <p:cNvPr id="42" name="Rectangle 41"/>
          <p:cNvSpPr/>
          <p:nvPr/>
        </p:nvSpPr>
        <p:spPr>
          <a:xfrm>
            <a:off x="6355080" y="5138928"/>
            <a:ext cx="4937759" cy="603503"/>
          </a:xfrm>
          <a:prstGeom prst="rect">
            <a:avLst/>
          </a:prstGeom>
          <a:solidFill>
            <a:srgbClr val="F4F5FC"/>
          </a:solidFill>
          <a:ln w="12700" cap="rnd">
            <a:noFill/>
            <a:round/>
          </a:ln>
          <a:effectLst/>
        </p:spPr>
        <p:txBody>
          <a:bodyPr rtlCol="0" anchor="ctr"/>
          <a:lstStyle/>
          <a:p/>
        </p:txBody>
      </p:sp>
      <p:sp>
        <p:nvSpPr>
          <p:cNvPr id="43" name="Rectangle 42"/>
          <p:cNvSpPr/>
          <p:nvPr/>
        </p:nvSpPr>
        <p:spPr>
          <a:xfrm>
            <a:off x="6355080" y="5138928"/>
            <a:ext cx="32004" cy="603503"/>
          </a:xfrm>
          <a:prstGeom prst="rect">
            <a:avLst/>
          </a:prstGeom>
          <a:solidFill>
            <a:srgbClr val="3432C9"/>
          </a:solidFill>
          <a:ln w="12700" cap="rnd">
            <a:noFill/>
            <a:round/>
          </a:ln>
          <a:effectLst/>
        </p:spPr>
        <p:txBody>
          <a:bodyPr rtlCol="0" anchor="ctr"/>
          <a:lstStyle/>
          <a:p/>
        </p:txBody>
      </p:sp>
      <p:sp>
        <p:nvSpPr>
          <p:cNvPr id="44" name="TextBox 43"/>
          <p:cNvSpPr txBox="1"/>
          <p:nvPr/>
        </p:nvSpPr>
        <p:spPr>
          <a:xfrm>
            <a:off x="6611112" y="5138928"/>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Valorização</a:t>
            </a:r>
          </a:p>
        </p:txBody>
      </p:sp>
      <p:sp>
        <p:nvSpPr>
          <p:cNvPr id="45" name="Freeform 44"/>
          <p:cNvSpPr/>
          <p:nvPr/>
        </p:nvSpPr>
        <p:spPr>
          <a:xfrm>
            <a:off x="5029200" y="5440680"/>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46" name="Freeform 45"/>
          <p:cNvSpPr/>
          <p:nvPr/>
        </p:nvSpPr>
        <p:spPr>
          <a:xfrm>
            <a:off x="6093359" y="540848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Layout operacional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Visão conceitual do Bioma Têxtil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17</a:t>
            </a:r>
          </a:p>
        </p:txBody>
      </p:sp>
      <p:sp>
        <p:nvSpPr>
          <p:cNvPr id="9" name="TextBox 8"/>
          <p:cNvSpPr txBox="1"/>
          <p:nvPr/>
        </p:nvSpPr>
        <p:spPr>
          <a:xfrm>
            <a:off x="777240" y="1847088"/>
            <a:ext cx="6903720" cy="274320"/>
          </a:xfrm>
          <a:prstGeom prst="rect">
            <a:avLst/>
          </a:prstGeom>
          <a:noFill/>
          <a:effectLst/>
        </p:spPr>
        <p:txBody>
          <a:bodyPr wrap="square" lIns="0" rIns="0" tIns="0" bIns="0" anchor="t">
            <a:spAutoFit/>
          </a:bodyPr>
          <a:lstStyle/>
          <a:p>
            <a:pPr algn="l">
              <a:lnSpc>
                <a:spcPct val="135000"/>
              </a:lnSpc>
            </a:pPr>
            <a:r>
              <a:rPr sz="919" b="0" i="0" spc="150" cap="all">
                <a:solidFill>
                  <a:srgbClr val="3432C9"/>
                </a:solidFill>
                <a:latin typeface="Montserrat SemiBold"/>
              </a:rPr>
              <a:t>Organização proposta</a:t>
            </a:r>
          </a:p>
        </p:txBody>
      </p:sp>
      <p:sp>
        <p:nvSpPr>
          <p:cNvPr id="10" name="Rectangle 9"/>
          <p:cNvSpPr/>
          <p:nvPr/>
        </p:nvSpPr>
        <p:spPr>
          <a:xfrm>
            <a:off x="777240" y="2194560"/>
            <a:ext cx="6903720" cy="2907792"/>
          </a:xfrm>
          <a:prstGeom prst="rect">
            <a:avLst/>
          </a:prstGeom>
          <a:solidFill>
            <a:srgbClr val="F4F5FC"/>
          </a:solidFill>
          <a:ln w="13970" cap="rnd">
            <a:solidFill>
              <a:srgbClr val="3432C9"/>
            </a:solidFill>
            <a:round/>
          </a:ln>
          <a:effectLst/>
        </p:spPr>
        <p:txBody>
          <a:bodyPr rtlCol="0" anchor="ctr"/>
          <a:lstStyle/>
          <a:p/>
        </p:txBody>
      </p:sp>
      <p:sp>
        <p:nvSpPr>
          <p:cNvPr id="11" name="TextBox 10"/>
          <p:cNvSpPr txBox="1"/>
          <p:nvPr/>
        </p:nvSpPr>
        <p:spPr>
          <a:xfrm>
            <a:off x="94183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01</a:t>
            </a:r>
          </a:p>
        </p:txBody>
      </p:sp>
      <p:sp>
        <p:nvSpPr>
          <p:cNvPr id="12" name="TextBox 11"/>
          <p:cNvSpPr txBox="1"/>
          <p:nvPr/>
        </p:nvSpPr>
        <p:spPr>
          <a:xfrm>
            <a:off x="94183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Recebimento</a:t>
            </a:r>
          </a:p>
        </p:txBody>
      </p:sp>
      <p:cxnSp>
        <p:nvCxnSpPr>
          <p:cNvPr id="13" name="Connector 12"/>
          <p:cNvCxnSpPr/>
          <p:nvPr/>
        </p:nvCxnSpPr>
        <p:spPr>
          <a:xfrm>
            <a:off x="2503170" y="2304288"/>
            <a:ext cx="0" cy="1234440"/>
          </a:xfrm>
          <a:prstGeom prst="line">
            <a:avLst/>
          </a:prstGeom>
          <a:ln w="9525" cap="rnd">
            <a:solidFill>
              <a:srgbClr val="3432C9">
                <a:alpha val="35000"/>
              </a:srgbClr>
            </a:solidFill>
            <a:round/>
          </a:ln>
          <a:effectLst/>
        </p:spPr>
      </p:cxnSp>
      <p:sp>
        <p:nvSpPr>
          <p:cNvPr id="14" name="TextBox 13"/>
          <p:cNvSpPr txBox="1"/>
          <p:nvPr/>
        </p:nvSpPr>
        <p:spPr>
          <a:xfrm>
            <a:off x="266776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02</a:t>
            </a:r>
          </a:p>
        </p:txBody>
      </p:sp>
      <p:sp>
        <p:nvSpPr>
          <p:cNvPr id="15" name="TextBox 14"/>
          <p:cNvSpPr txBox="1"/>
          <p:nvPr/>
        </p:nvSpPr>
        <p:spPr>
          <a:xfrm>
            <a:off x="266776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Segregação</a:t>
            </a:r>
          </a:p>
        </p:txBody>
      </p:sp>
      <p:cxnSp>
        <p:nvCxnSpPr>
          <p:cNvPr id="16" name="Connector 15"/>
          <p:cNvCxnSpPr/>
          <p:nvPr/>
        </p:nvCxnSpPr>
        <p:spPr>
          <a:xfrm>
            <a:off x="4229100" y="2304288"/>
            <a:ext cx="0" cy="1234440"/>
          </a:xfrm>
          <a:prstGeom prst="line">
            <a:avLst/>
          </a:prstGeom>
          <a:ln w="9525" cap="rnd">
            <a:solidFill>
              <a:srgbClr val="3432C9">
                <a:alpha val="35000"/>
              </a:srgbClr>
            </a:solidFill>
            <a:round/>
          </a:ln>
          <a:effectLst/>
        </p:spPr>
      </p:cxnSp>
      <p:sp>
        <p:nvSpPr>
          <p:cNvPr id="17" name="TextBox 16"/>
          <p:cNvSpPr txBox="1"/>
          <p:nvPr/>
        </p:nvSpPr>
        <p:spPr>
          <a:xfrm>
            <a:off x="439369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03</a:t>
            </a:r>
          </a:p>
        </p:txBody>
      </p:sp>
      <p:sp>
        <p:nvSpPr>
          <p:cNvPr id="18" name="TextBox 17"/>
          <p:cNvSpPr txBox="1"/>
          <p:nvPr/>
        </p:nvSpPr>
        <p:spPr>
          <a:xfrm>
            <a:off x="439369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Picotagem</a:t>
            </a:r>
          </a:p>
        </p:txBody>
      </p:sp>
      <p:cxnSp>
        <p:nvCxnSpPr>
          <p:cNvPr id="19" name="Connector 18"/>
          <p:cNvCxnSpPr/>
          <p:nvPr/>
        </p:nvCxnSpPr>
        <p:spPr>
          <a:xfrm>
            <a:off x="5955029" y="2304288"/>
            <a:ext cx="0" cy="1234440"/>
          </a:xfrm>
          <a:prstGeom prst="line">
            <a:avLst/>
          </a:prstGeom>
          <a:ln w="9525" cap="rnd">
            <a:solidFill>
              <a:srgbClr val="3432C9">
                <a:alpha val="35000"/>
              </a:srgbClr>
            </a:solidFill>
            <a:round/>
          </a:ln>
          <a:effectLst/>
        </p:spPr>
      </p:cxnSp>
      <p:sp>
        <p:nvSpPr>
          <p:cNvPr id="20" name="TextBox 19"/>
          <p:cNvSpPr txBox="1"/>
          <p:nvPr/>
        </p:nvSpPr>
        <p:spPr>
          <a:xfrm>
            <a:off x="6119621"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04</a:t>
            </a:r>
          </a:p>
        </p:txBody>
      </p:sp>
      <p:sp>
        <p:nvSpPr>
          <p:cNvPr id="21" name="TextBox 20"/>
          <p:cNvSpPr txBox="1"/>
          <p:nvPr/>
        </p:nvSpPr>
        <p:spPr>
          <a:xfrm>
            <a:off x="6119621"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Armazenamento</a:t>
            </a:r>
          </a:p>
        </p:txBody>
      </p:sp>
      <p:cxnSp>
        <p:nvCxnSpPr>
          <p:cNvPr id="22" name="Connector 21"/>
          <p:cNvCxnSpPr/>
          <p:nvPr/>
        </p:nvCxnSpPr>
        <p:spPr>
          <a:xfrm>
            <a:off x="868680" y="3648456"/>
            <a:ext cx="1543050" cy="0"/>
          </a:xfrm>
          <a:prstGeom prst="line">
            <a:avLst/>
          </a:prstGeom>
          <a:ln w="9525" cap="rnd">
            <a:solidFill>
              <a:srgbClr val="3432C9">
                <a:alpha val="35000"/>
              </a:srgbClr>
            </a:solidFill>
            <a:round/>
          </a:ln>
          <a:effectLst/>
        </p:spPr>
      </p:cxnSp>
      <p:sp>
        <p:nvSpPr>
          <p:cNvPr id="23" name="TextBox 22"/>
          <p:cNvSpPr txBox="1"/>
          <p:nvPr/>
        </p:nvSpPr>
        <p:spPr>
          <a:xfrm>
            <a:off x="94183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05</a:t>
            </a:r>
          </a:p>
        </p:txBody>
      </p:sp>
      <p:sp>
        <p:nvSpPr>
          <p:cNvPr id="24" name="TextBox 23"/>
          <p:cNvSpPr txBox="1"/>
          <p:nvPr/>
        </p:nvSpPr>
        <p:spPr>
          <a:xfrm>
            <a:off x="94183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Desfibramento</a:t>
            </a:r>
          </a:p>
        </p:txBody>
      </p:sp>
      <p:cxnSp>
        <p:nvCxnSpPr>
          <p:cNvPr id="25" name="Connector 24"/>
          <p:cNvCxnSpPr/>
          <p:nvPr/>
        </p:nvCxnSpPr>
        <p:spPr>
          <a:xfrm>
            <a:off x="2503170" y="3758184"/>
            <a:ext cx="0" cy="1234440"/>
          </a:xfrm>
          <a:prstGeom prst="line">
            <a:avLst/>
          </a:prstGeom>
          <a:ln w="9525" cap="rnd">
            <a:solidFill>
              <a:srgbClr val="3432C9">
                <a:alpha val="35000"/>
              </a:srgbClr>
            </a:solidFill>
            <a:round/>
          </a:ln>
          <a:effectLst/>
        </p:spPr>
      </p:cxnSp>
      <p:cxnSp>
        <p:nvCxnSpPr>
          <p:cNvPr id="26" name="Connector 25"/>
          <p:cNvCxnSpPr/>
          <p:nvPr/>
        </p:nvCxnSpPr>
        <p:spPr>
          <a:xfrm>
            <a:off x="2594610" y="3648456"/>
            <a:ext cx="1543050" cy="0"/>
          </a:xfrm>
          <a:prstGeom prst="line">
            <a:avLst/>
          </a:prstGeom>
          <a:ln w="9525" cap="rnd">
            <a:solidFill>
              <a:srgbClr val="3432C9">
                <a:alpha val="35000"/>
              </a:srgbClr>
            </a:solidFill>
            <a:round/>
          </a:ln>
          <a:effectLst/>
        </p:spPr>
      </p:cxnSp>
      <p:sp>
        <p:nvSpPr>
          <p:cNvPr id="27" name="TextBox 26"/>
          <p:cNvSpPr txBox="1"/>
          <p:nvPr/>
        </p:nvSpPr>
        <p:spPr>
          <a:xfrm>
            <a:off x="266776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06</a:t>
            </a:r>
          </a:p>
        </p:txBody>
      </p:sp>
      <p:sp>
        <p:nvSpPr>
          <p:cNvPr id="28" name="TextBox 27"/>
          <p:cNvSpPr txBox="1"/>
          <p:nvPr/>
        </p:nvSpPr>
        <p:spPr>
          <a:xfrm>
            <a:off x="266776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Upcycle</a:t>
            </a:r>
          </a:p>
        </p:txBody>
      </p:sp>
      <p:cxnSp>
        <p:nvCxnSpPr>
          <p:cNvPr id="29" name="Connector 28"/>
          <p:cNvCxnSpPr/>
          <p:nvPr/>
        </p:nvCxnSpPr>
        <p:spPr>
          <a:xfrm>
            <a:off x="4229100" y="3758184"/>
            <a:ext cx="0" cy="1234440"/>
          </a:xfrm>
          <a:prstGeom prst="line">
            <a:avLst/>
          </a:prstGeom>
          <a:ln w="9525" cap="rnd">
            <a:solidFill>
              <a:srgbClr val="3432C9">
                <a:alpha val="35000"/>
              </a:srgbClr>
            </a:solidFill>
            <a:round/>
          </a:ln>
          <a:effectLst/>
        </p:spPr>
      </p:cxnSp>
      <p:cxnSp>
        <p:nvCxnSpPr>
          <p:cNvPr id="30" name="Connector 29"/>
          <p:cNvCxnSpPr/>
          <p:nvPr/>
        </p:nvCxnSpPr>
        <p:spPr>
          <a:xfrm>
            <a:off x="4320540" y="3648456"/>
            <a:ext cx="1543050" cy="0"/>
          </a:xfrm>
          <a:prstGeom prst="line">
            <a:avLst/>
          </a:prstGeom>
          <a:ln w="9525" cap="rnd">
            <a:solidFill>
              <a:srgbClr val="3432C9">
                <a:alpha val="35000"/>
              </a:srgbClr>
            </a:solidFill>
            <a:round/>
          </a:ln>
          <a:effectLst/>
        </p:spPr>
      </p:cxnSp>
      <p:sp>
        <p:nvSpPr>
          <p:cNvPr id="31" name="TextBox 30"/>
          <p:cNvSpPr txBox="1"/>
          <p:nvPr/>
        </p:nvSpPr>
        <p:spPr>
          <a:xfrm>
            <a:off x="439369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07</a:t>
            </a:r>
          </a:p>
        </p:txBody>
      </p:sp>
      <p:sp>
        <p:nvSpPr>
          <p:cNvPr id="32" name="TextBox 31"/>
          <p:cNvSpPr txBox="1"/>
          <p:nvPr/>
        </p:nvSpPr>
        <p:spPr>
          <a:xfrm>
            <a:off x="439369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Coworking</a:t>
            </a:r>
          </a:p>
        </p:txBody>
      </p:sp>
      <p:cxnSp>
        <p:nvCxnSpPr>
          <p:cNvPr id="33" name="Connector 32"/>
          <p:cNvCxnSpPr/>
          <p:nvPr/>
        </p:nvCxnSpPr>
        <p:spPr>
          <a:xfrm>
            <a:off x="5955029" y="3758184"/>
            <a:ext cx="0" cy="1234440"/>
          </a:xfrm>
          <a:prstGeom prst="line">
            <a:avLst/>
          </a:prstGeom>
          <a:ln w="9525" cap="rnd">
            <a:solidFill>
              <a:srgbClr val="3432C9">
                <a:alpha val="35000"/>
              </a:srgbClr>
            </a:solidFill>
            <a:round/>
          </a:ln>
          <a:effectLst/>
        </p:spPr>
      </p:cxnSp>
      <p:cxnSp>
        <p:nvCxnSpPr>
          <p:cNvPr id="34" name="Connector 33"/>
          <p:cNvCxnSpPr/>
          <p:nvPr/>
        </p:nvCxnSpPr>
        <p:spPr>
          <a:xfrm>
            <a:off x="6046469" y="3648456"/>
            <a:ext cx="1543050" cy="0"/>
          </a:xfrm>
          <a:prstGeom prst="line">
            <a:avLst/>
          </a:prstGeom>
          <a:ln w="9525" cap="rnd">
            <a:solidFill>
              <a:srgbClr val="3432C9">
                <a:alpha val="35000"/>
              </a:srgbClr>
            </a:solidFill>
            <a:round/>
          </a:ln>
          <a:effectLst/>
        </p:spPr>
      </p:cxnSp>
      <p:sp>
        <p:nvSpPr>
          <p:cNvPr id="35" name="TextBox 34"/>
          <p:cNvSpPr txBox="1"/>
          <p:nvPr/>
        </p:nvSpPr>
        <p:spPr>
          <a:xfrm>
            <a:off x="6119621"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08</a:t>
            </a:r>
          </a:p>
        </p:txBody>
      </p:sp>
      <p:sp>
        <p:nvSpPr>
          <p:cNvPr id="36" name="TextBox 35"/>
          <p:cNvSpPr txBox="1"/>
          <p:nvPr/>
        </p:nvSpPr>
        <p:spPr>
          <a:xfrm>
            <a:off x="6119621"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Expedição</a:t>
            </a:r>
          </a:p>
        </p:txBody>
      </p:sp>
      <p:sp>
        <p:nvSpPr>
          <p:cNvPr id="37" name="Freeform 36"/>
          <p:cNvSpPr/>
          <p:nvPr/>
        </p:nvSpPr>
        <p:spPr>
          <a:xfrm>
            <a:off x="1097280" y="3374136"/>
            <a:ext cx="6263640" cy="0"/>
          </a:xfrm>
          <a:custGeom>
            <a:avLst/>
            <a:gdLst/>
            <a:ahLst/>
            <a:cxnLst/>
            <a:rect l="l" t="t" r="r" b="b"/>
            <a:pathLst>
              <a:path w="6263640" h="0">
                <a:moveTo>
                  <a:pt x="0" y="0"/>
                </a:moveTo>
                <a:lnTo>
                  <a:pt x="6263640" y="0"/>
                </a:lnTo>
              </a:path>
            </a:pathLst>
          </a:custGeom>
          <a:noFill/>
          <a:ln w="12700" cap="rnd">
            <a:solidFill>
              <a:srgbClr val="3432C9"/>
            </a:solidFill>
            <a:round/>
          </a:ln>
          <a:effectLst/>
        </p:spPr>
        <p:txBody>
          <a:bodyPr rtlCol="0" anchor="ctr"/>
          <a:lstStyle/>
          <a:p>
            <a:pPr algn="ctr"/>
          </a:p>
        </p:txBody>
      </p:sp>
      <p:sp>
        <p:nvSpPr>
          <p:cNvPr id="38" name="Freeform 37"/>
          <p:cNvSpPr/>
          <p:nvPr/>
        </p:nvSpPr>
        <p:spPr>
          <a:xfrm>
            <a:off x="7292294" y="3337647"/>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39" name="Freeform 38"/>
          <p:cNvSpPr/>
          <p:nvPr/>
        </p:nvSpPr>
        <p:spPr>
          <a:xfrm>
            <a:off x="1097280" y="4846320"/>
            <a:ext cx="6263640" cy="0"/>
          </a:xfrm>
          <a:custGeom>
            <a:avLst/>
            <a:gdLst/>
            <a:ahLst/>
            <a:cxnLst/>
            <a:rect l="l" t="t" r="r" b="b"/>
            <a:pathLst>
              <a:path w="6263640" h="0">
                <a:moveTo>
                  <a:pt x="0" y="0"/>
                </a:moveTo>
                <a:lnTo>
                  <a:pt x="6263640" y="0"/>
                </a:lnTo>
              </a:path>
            </a:pathLst>
          </a:custGeom>
          <a:noFill/>
          <a:ln w="12700" cap="rnd">
            <a:solidFill>
              <a:srgbClr val="12A87B"/>
            </a:solidFill>
            <a:round/>
          </a:ln>
          <a:effectLst/>
        </p:spPr>
        <p:txBody>
          <a:bodyPr rtlCol="0" anchor="ctr"/>
          <a:lstStyle/>
          <a:p>
            <a:pPr algn="ctr"/>
          </a:p>
        </p:txBody>
      </p:sp>
      <p:sp>
        <p:nvSpPr>
          <p:cNvPr id="40" name="Freeform 39"/>
          <p:cNvSpPr/>
          <p:nvPr/>
        </p:nvSpPr>
        <p:spPr>
          <a:xfrm>
            <a:off x="7292294" y="4809831"/>
            <a:ext cx="68626" cy="72978"/>
          </a:xfrm>
          <a:custGeom>
            <a:avLst/>
            <a:gdLst/>
            <a:ahLst/>
            <a:cxnLst/>
            <a:rect l="l" t="t" r="r" b="b"/>
            <a:pathLst>
              <a:path w="68626" h="72978">
                <a:moveTo>
                  <a:pt x="68626" y="36489"/>
                </a:moveTo>
                <a:lnTo>
                  <a:pt x="0" y="72978"/>
                </a:lnTo>
                <a:lnTo>
                  <a:pt x="0" y="0"/>
                </a:lnTo>
                <a:close/>
              </a:path>
            </a:pathLst>
          </a:custGeom>
          <a:solidFill>
            <a:srgbClr val="12A87B"/>
          </a:solidFill>
          <a:ln w="7620" cap="rnd">
            <a:solidFill>
              <a:srgbClr val="12A87B"/>
            </a:solidFill>
            <a:round/>
          </a:ln>
          <a:effectLst/>
        </p:spPr>
        <p:txBody>
          <a:bodyPr rtlCol="0" anchor="ctr"/>
          <a:lstStyle/>
          <a:p>
            <a:pPr algn="ctr"/>
          </a:p>
        </p:txBody>
      </p:sp>
      <p:sp>
        <p:nvSpPr>
          <p:cNvPr id="41" name="TextBox 40"/>
          <p:cNvSpPr txBox="1"/>
          <p:nvPr/>
        </p:nvSpPr>
        <p:spPr>
          <a:xfrm>
            <a:off x="777240" y="5193792"/>
            <a:ext cx="6903720" cy="274320"/>
          </a:xfrm>
          <a:prstGeom prst="rect">
            <a:avLst/>
          </a:prstGeom>
          <a:noFill/>
          <a:effectLst/>
        </p:spPr>
        <p:txBody>
          <a:bodyPr wrap="square" lIns="0" rIns="0" tIns="0" bIns="0" anchor="t">
            <a:spAutoFit/>
          </a:bodyPr>
          <a:lstStyle/>
          <a:p>
            <a:pPr algn="l">
              <a:lnSpc>
                <a:spcPct val="135000"/>
              </a:lnSpc>
            </a:pPr>
            <a:r>
              <a:rPr sz="840" b="0" i="0">
                <a:solidFill>
                  <a:srgbClr val="9A9DB0"/>
                </a:solidFill>
                <a:latin typeface="Montserrat"/>
              </a:rPr>
              <a:t>Fluxo indicativo das etapas operacionais</a:t>
            </a:r>
          </a:p>
        </p:txBody>
      </p:sp>
      <p:sp>
        <p:nvSpPr>
          <p:cNvPr id="42" name="TextBox 41"/>
          <p:cNvSpPr txBox="1"/>
          <p:nvPr/>
        </p:nvSpPr>
        <p:spPr>
          <a:xfrm>
            <a:off x="7973568" y="1847088"/>
            <a:ext cx="3456432" cy="274320"/>
          </a:xfrm>
          <a:prstGeom prst="rect">
            <a:avLst/>
          </a:prstGeom>
          <a:noFill/>
          <a:effectLst/>
        </p:spPr>
        <p:txBody>
          <a:bodyPr wrap="square" lIns="0" rIns="0" tIns="0" bIns="0" anchor="t">
            <a:spAutoFit/>
          </a:bodyPr>
          <a:lstStyle/>
          <a:p>
            <a:pPr algn="l">
              <a:lnSpc>
                <a:spcPct val="135000"/>
              </a:lnSpc>
            </a:pPr>
            <a:r>
              <a:rPr sz="919" b="0" i="0" spc="150" cap="all">
                <a:solidFill>
                  <a:srgbClr val="6E7288"/>
                </a:solidFill>
                <a:latin typeface="Montserrat SemiBold"/>
              </a:rPr>
              <a:t>Espaço atual</a:t>
            </a:r>
          </a:p>
        </p:txBody>
      </p:sp>
      <p:pic>
        <p:nvPicPr>
          <p:cNvPr id="43" name="Picture 42" descr="eco_area.jpg"/>
          <p:cNvPicPr>
            <a:picLocks noChangeAspect="1"/>
          </p:cNvPicPr>
          <p:nvPr/>
        </p:nvPicPr>
        <p:blipFill>
          <a:blip r:embed="rId3"/>
          <a:srcRect t="25511" b="20873"/>
          <a:stretch>
            <a:fillRect/>
          </a:stretch>
        </p:blipFill>
        <p:spPr>
          <a:xfrm>
            <a:off x="7973568" y="2194560"/>
            <a:ext cx="3456432" cy="1389888"/>
          </a:xfrm>
          <a:prstGeom prst="rect">
            <a:avLst/>
          </a:prstGeom>
          <a:effectLst/>
        </p:spPr>
      </p:pic>
      <p:sp>
        <p:nvSpPr>
          <p:cNvPr id="44" name="Rectangle 43"/>
          <p:cNvSpPr/>
          <p:nvPr/>
        </p:nvSpPr>
        <p:spPr>
          <a:xfrm>
            <a:off x="7973568" y="2194560"/>
            <a:ext cx="3456432" cy="1389888"/>
          </a:xfrm>
          <a:prstGeom prst="rect">
            <a:avLst/>
          </a:prstGeom>
          <a:noFill/>
          <a:ln w="9525" cap="rnd">
            <a:solidFill>
              <a:srgbClr val="DFE2F0"/>
            </a:solidFill>
            <a:round/>
          </a:ln>
          <a:effectLst/>
        </p:spPr>
        <p:txBody>
          <a:bodyPr rtlCol="0" anchor="ctr"/>
          <a:lstStyle/>
          <a:p/>
        </p:txBody>
      </p:sp>
      <p:pic>
        <p:nvPicPr>
          <p:cNvPr id="45" name="Picture 44" descr="eco_fachada.jpg"/>
          <p:cNvPicPr>
            <a:picLocks noChangeAspect="1"/>
          </p:cNvPicPr>
          <p:nvPr/>
        </p:nvPicPr>
        <p:blipFill>
          <a:blip r:embed="rId4"/>
          <a:srcRect t="26903" b="19481"/>
          <a:stretch>
            <a:fillRect/>
          </a:stretch>
        </p:blipFill>
        <p:spPr>
          <a:xfrm>
            <a:off x="7973568" y="3712463"/>
            <a:ext cx="3456432" cy="1389888"/>
          </a:xfrm>
          <a:prstGeom prst="rect">
            <a:avLst/>
          </a:prstGeom>
          <a:effectLst/>
        </p:spPr>
      </p:pic>
      <p:sp>
        <p:nvSpPr>
          <p:cNvPr id="46" name="Rectangle 45"/>
          <p:cNvSpPr/>
          <p:nvPr/>
        </p:nvSpPr>
        <p:spPr>
          <a:xfrm>
            <a:off x="7973568" y="3712463"/>
            <a:ext cx="3456432" cy="1389888"/>
          </a:xfrm>
          <a:prstGeom prst="rect">
            <a:avLst/>
          </a:prstGeom>
          <a:noFill/>
          <a:ln w="9525" cap="rnd">
            <a:solidFill>
              <a:srgbClr val="DFE2F0"/>
            </a:solidFill>
            <a:round/>
          </a:ln>
          <a:effectLst/>
        </p:spPr>
        <p:txBody>
          <a:bodyPr rtlCol="0" anchor="ctr"/>
          <a:lstStyle/>
          <a:p/>
        </p:txBody>
      </p:sp>
      <p:sp>
        <p:nvSpPr>
          <p:cNvPr id="47" name="TextBox 46"/>
          <p:cNvSpPr txBox="1"/>
          <p:nvPr/>
        </p:nvSpPr>
        <p:spPr>
          <a:xfrm>
            <a:off x="7973568" y="5193792"/>
            <a:ext cx="3456432" cy="274320"/>
          </a:xfrm>
          <a:prstGeom prst="rect">
            <a:avLst/>
          </a:prstGeom>
          <a:noFill/>
          <a:effectLst/>
        </p:spPr>
        <p:txBody>
          <a:bodyPr wrap="square" lIns="0" rIns="0" tIns="0" bIns="0" anchor="t">
            <a:spAutoFit/>
          </a:bodyPr>
          <a:lstStyle/>
          <a:p>
            <a:pPr algn="l">
              <a:lnSpc>
                <a:spcPct val="135000"/>
              </a:lnSpc>
            </a:pPr>
            <a:r>
              <a:rPr sz="840" b="0" i="0">
                <a:solidFill>
                  <a:srgbClr val="9A9DB0"/>
                </a:solidFill>
                <a:latin typeface="Montserrat"/>
              </a:rPr>
              <a:t>Áreas existentes do Ecoponto Belezinho</a:t>
            </a:r>
          </a:p>
        </p:txBody>
      </p:sp>
      <p:sp>
        <p:nvSpPr>
          <p:cNvPr id="48" name="Rectangle 47"/>
          <p:cNvSpPr/>
          <p:nvPr/>
        </p:nvSpPr>
        <p:spPr>
          <a:xfrm>
            <a:off x="777240" y="5559552"/>
            <a:ext cx="10637489" cy="475488"/>
          </a:xfrm>
          <a:prstGeom prst="rect">
            <a:avLst/>
          </a:prstGeom>
          <a:solidFill>
            <a:srgbClr val="F4F5FC"/>
          </a:solidFill>
          <a:ln w="12700" cap="rnd">
            <a:noFill/>
            <a:round/>
          </a:ln>
          <a:effectLst/>
        </p:spPr>
        <p:txBody>
          <a:bodyPr rtlCol="0" anchor="ctr"/>
          <a:lstStyle/>
          <a:p/>
        </p:txBody>
      </p:sp>
      <p:sp>
        <p:nvSpPr>
          <p:cNvPr id="49" name="Rectangle 48"/>
          <p:cNvSpPr/>
          <p:nvPr/>
        </p:nvSpPr>
        <p:spPr>
          <a:xfrm>
            <a:off x="777240" y="5559552"/>
            <a:ext cx="32004" cy="475488"/>
          </a:xfrm>
          <a:prstGeom prst="rect">
            <a:avLst/>
          </a:prstGeom>
          <a:solidFill>
            <a:srgbClr val="9A9DB0"/>
          </a:solidFill>
          <a:ln w="12700" cap="rnd">
            <a:noFill/>
            <a:round/>
          </a:ln>
          <a:effectLst/>
        </p:spPr>
        <p:txBody>
          <a:bodyPr rtlCol="0" anchor="ctr"/>
          <a:lstStyle/>
          <a:p/>
        </p:txBody>
      </p:sp>
      <p:sp>
        <p:nvSpPr>
          <p:cNvPr id="50" name="TextBox 49"/>
          <p:cNvSpPr txBox="1"/>
          <p:nvPr/>
        </p:nvSpPr>
        <p:spPr>
          <a:xfrm>
            <a:off x="1014983" y="5559552"/>
            <a:ext cx="10125425" cy="475488"/>
          </a:xfrm>
          <a:prstGeom prst="rect">
            <a:avLst/>
          </a:prstGeom>
          <a:noFill/>
          <a:effectLst/>
        </p:spPr>
        <p:txBody>
          <a:bodyPr wrap="square" lIns="0" rIns="0" tIns="0" bIns="0" anchor="ctr">
            <a:spAutoFit/>
          </a:bodyPr>
          <a:lstStyle/>
          <a:p>
            <a:pPr algn="l">
              <a:lnSpc>
                <a:spcPct val="128000"/>
              </a:lnSpc>
            </a:pPr>
            <a:r>
              <a:rPr sz="860" b="0" i="0">
                <a:solidFill>
                  <a:srgbClr val="6E7288"/>
                </a:solidFill>
                <a:latin typeface="Montserrat"/>
              </a:rPr>
              <a:t>Organização proposta sobre a área existente, sem intervenção estrutural nesta etapa — representação conceitual, sem caráter de projeto executivo ou arquitetônico.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Visão do espaço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Uso previsto das áreas do Ecoponto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18</a:t>
            </a:r>
          </a:p>
        </p:txBody>
      </p:sp>
      <p:pic>
        <p:nvPicPr>
          <p:cNvPr id="9" name="Picture 8" descr="eco_area.jpg"/>
          <p:cNvPicPr>
            <a:picLocks noChangeAspect="1"/>
          </p:cNvPicPr>
          <p:nvPr/>
        </p:nvPicPr>
        <p:blipFill>
          <a:blip r:embed="rId3"/>
          <a:srcRect l="7851" r="7851"/>
          <a:stretch>
            <a:fillRect/>
          </a:stretch>
        </p:blipFill>
        <p:spPr>
          <a:xfrm>
            <a:off x="777240" y="1920240"/>
            <a:ext cx="2487168" cy="2212848"/>
          </a:xfrm>
          <a:prstGeom prst="rect">
            <a:avLst/>
          </a:prstGeom>
          <a:effectLst/>
        </p:spPr>
      </p:pic>
      <p:sp>
        <p:nvSpPr>
          <p:cNvPr id="10" name="Rectangle 9"/>
          <p:cNvSpPr/>
          <p:nvPr/>
        </p:nvSpPr>
        <p:spPr>
          <a:xfrm>
            <a:off x="777240" y="1920240"/>
            <a:ext cx="2487168" cy="2212848"/>
          </a:xfrm>
          <a:prstGeom prst="rect">
            <a:avLst/>
          </a:prstGeom>
          <a:noFill/>
          <a:ln w="9525" cap="rnd">
            <a:solidFill>
              <a:srgbClr val="DFE2F0"/>
            </a:solidFill>
            <a:round/>
          </a:ln>
          <a:effectLst/>
        </p:spPr>
        <p:txBody>
          <a:bodyPr rtlCol="0" anchor="ctr"/>
          <a:lstStyle/>
          <a:p/>
        </p:txBody>
      </p:sp>
      <p:sp>
        <p:nvSpPr>
          <p:cNvPr id="11" name="Rectangle 10"/>
          <p:cNvSpPr/>
          <p:nvPr/>
        </p:nvSpPr>
        <p:spPr>
          <a:xfrm>
            <a:off x="777240" y="4133087"/>
            <a:ext cx="2487168" cy="34747"/>
          </a:xfrm>
          <a:prstGeom prst="rect">
            <a:avLst/>
          </a:prstGeom>
          <a:solidFill>
            <a:srgbClr val="3432C9"/>
          </a:solidFill>
          <a:ln w="12700" cap="rnd">
            <a:noFill/>
            <a:round/>
          </a:ln>
          <a:effectLst/>
        </p:spPr>
        <p:txBody>
          <a:bodyPr rtlCol="0" anchor="ctr"/>
          <a:lstStyle/>
          <a:p/>
        </p:txBody>
      </p:sp>
      <p:sp>
        <p:nvSpPr>
          <p:cNvPr id="12" name="TextBox 11"/>
          <p:cNvSpPr txBox="1"/>
          <p:nvPr/>
        </p:nvSpPr>
        <p:spPr>
          <a:xfrm>
            <a:off x="777240"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Frente das estações de segregação, upcycle e costura criativa</a:t>
            </a:r>
          </a:p>
        </p:txBody>
      </p:sp>
      <p:pic>
        <p:nvPicPr>
          <p:cNvPr id="13" name="Picture 12" descr="eco_galpao.jpg"/>
          <p:cNvPicPr>
            <a:picLocks noChangeAspect="1"/>
          </p:cNvPicPr>
          <p:nvPr/>
        </p:nvPicPr>
        <p:blipFill>
          <a:blip r:embed="rId4"/>
          <a:srcRect t="16636" b="16636"/>
          <a:stretch>
            <a:fillRect/>
          </a:stretch>
        </p:blipFill>
        <p:spPr>
          <a:xfrm>
            <a:off x="3488436" y="1920240"/>
            <a:ext cx="2487168" cy="2212848"/>
          </a:xfrm>
          <a:prstGeom prst="rect">
            <a:avLst/>
          </a:prstGeom>
          <a:effectLst/>
        </p:spPr>
      </p:pic>
      <p:sp>
        <p:nvSpPr>
          <p:cNvPr id="14" name="Rectangle 13"/>
          <p:cNvSpPr/>
          <p:nvPr/>
        </p:nvSpPr>
        <p:spPr>
          <a:xfrm>
            <a:off x="3488436" y="1920240"/>
            <a:ext cx="2487168" cy="2212848"/>
          </a:xfrm>
          <a:prstGeom prst="rect">
            <a:avLst/>
          </a:prstGeom>
          <a:noFill/>
          <a:ln w="9525" cap="rnd">
            <a:solidFill>
              <a:srgbClr val="DFE2F0"/>
            </a:solidFill>
            <a:round/>
          </a:ln>
          <a:effectLst/>
        </p:spPr>
        <p:txBody>
          <a:bodyPr rtlCol="0" anchor="ctr"/>
          <a:lstStyle/>
          <a:p/>
        </p:txBody>
      </p:sp>
      <p:sp>
        <p:nvSpPr>
          <p:cNvPr id="15" name="Rectangle 14"/>
          <p:cNvSpPr/>
          <p:nvPr/>
        </p:nvSpPr>
        <p:spPr>
          <a:xfrm>
            <a:off x="3488436" y="4133087"/>
            <a:ext cx="2487168" cy="34747"/>
          </a:xfrm>
          <a:prstGeom prst="rect">
            <a:avLst/>
          </a:prstGeom>
          <a:solidFill>
            <a:srgbClr val="3432C9"/>
          </a:solidFill>
          <a:ln w="12700" cap="rnd">
            <a:noFill/>
            <a:round/>
          </a:ln>
          <a:effectLst/>
        </p:spPr>
        <p:txBody>
          <a:bodyPr rtlCol="0" anchor="ctr"/>
          <a:lstStyle/>
          <a:p/>
        </p:txBody>
      </p:sp>
      <p:sp>
        <p:nvSpPr>
          <p:cNvPr id="16" name="TextBox 15"/>
          <p:cNvSpPr txBox="1"/>
          <p:nvPr/>
        </p:nvSpPr>
        <p:spPr>
          <a:xfrm>
            <a:off x="3488436"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Salas de coworking e costura criativa</a:t>
            </a:r>
          </a:p>
        </p:txBody>
      </p:sp>
      <p:pic>
        <p:nvPicPr>
          <p:cNvPr id="17" name="Picture 16" descr="eco_vao.jpg"/>
          <p:cNvPicPr>
            <a:picLocks noChangeAspect="1"/>
          </p:cNvPicPr>
          <p:nvPr/>
        </p:nvPicPr>
        <p:blipFill>
          <a:blip r:embed="rId5"/>
          <a:srcRect t="16636" b="16636"/>
          <a:stretch>
            <a:fillRect/>
          </a:stretch>
        </p:blipFill>
        <p:spPr>
          <a:xfrm>
            <a:off x="6199632" y="1920240"/>
            <a:ext cx="2487168" cy="2212848"/>
          </a:xfrm>
          <a:prstGeom prst="rect">
            <a:avLst/>
          </a:prstGeom>
          <a:effectLst/>
        </p:spPr>
      </p:pic>
      <p:sp>
        <p:nvSpPr>
          <p:cNvPr id="18" name="Rectangle 17"/>
          <p:cNvSpPr/>
          <p:nvPr/>
        </p:nvSpPr>
        <p:spPr>
          <a:xfrm>
            <a:off x="6199632" y="1920240"/>
            <a:ext cx="2487168" cy="2212848"/>
          </a:xfrm>
          <a:prstGeom prst="rect">
            <a:avLst/>
          </a:prstGeom>
          <a:noFill/>
          <a:ln w="9525" cap="rnd">
            <a:solidFill>
              <a:srgbClr val="DFE2F0"/>
            </a:solidFill>
            <a:round/>
          </a:ln>
          <a:effectLst/>
        </p:spPr>
        <p:txBody>
          <a:bodyPr rtlCol="0" anchor="ctr"/>
          <a:lstStyle/>
          <a:p/>
        </p:txBody>
      </p:sp>
      <p:sp>
        <p:nvSpPr>
          <p:cNvPr id="19" name="Rectangle 18"/>
          <p:cNvSpPr/>
          <p:nvPr/>
        </p:nvSpPr>
        <p:spPr>
          <a:xfrm>
            <a:off x="6199632" y="4133087"/>
            <a:ext cx="2487168" cy="34747"/>
          </a:xfrm>
          <a:prstGeom prst="rect">
            <a:avLst/>
          </a:prstGeom>
          <a:solidFill>
            <a:srgbClr val="3432C9"/>
          </a:solidFill>
          <a:ln w="12700" cap="rnd">
            <a:noFill/>
            <a:round/>
          </a:ln>
          <a:effectLst/>
        </p:spPr>
        <p:txBody>
          <a:bodyPr rtlCol="0" anchor="ctr"/>
          <a:lstStyle/>
          <a:p/>
        </p:txBody>
      </p:sp>
      <p:sp>
        <p:nvSpPr>
          <p:cNvPr id="20" name="TextBox 19"/>
          <p:cNvSpPr txBox="1"/>
          <p:nvPr/>
        </p:nvSpPr>
        <p:spPr>
          <a:xfrm>
            <a:off x="6199632"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Espaço de segregação e armazenamento</a:t>
            </a:r>
          </a:p>
        </p:txBody>
      </p:sp>
      <p:pic>
        <p:nvPicPr>
          <p:cNvPr id="21" name="Picture 20" descr="eco_fachada.jpg"/>
          <p:cNvPicPr>
            <a:picLocks noChangeAspect="1"/>
          </p:cNvPicPr>
          <p:nvPr/>
        </p:nvPicPr>
        <p:blipFill>
          <a:blip r:embed="rId6"/>
          <a:srcRect l="7851" r="7851"/>
          <a:stretch>
            <a:fillRect/>
          </a:stretch>
        </p:blipFill>
        <p:spPr>
          <a:xfrm>
            <a:off x="8910828" y="1920240"/>
            <a:ext cx="2487168" cy="2212848"/>
          </a:xfrm>
          <a:prstGeom prst="rect">
            <a:avLst/>
          </a:prstGeom>
          <a:effectLst/>
        </p:spPr>
      </p:pic>
      <p:sp>
        <p:nvSpPr>
          <p:cNvPr id="22" name="Rectangle 21"/>
          <p:cNvSpPr/>
          <p:nvPr/>
        </p:nvSpPr>
        <p:spPr>
          <a:xfrm>
            <a:off x="8910828" y="1920240"/>
            <a:ext cx="2487168" cy="2212848"/>
          </a:xfrm>
          <a:prstGeom prst="rect">
            <a:avLst/>
          </a:prstGeom>
          <a:noFill/>
          <a:ln w="9525" cap="rnd">
            <a:solidFill>
              <a:srgbClr val="DFE2F0"/>
            </a:solidFill>
            <a:round/>
          </a:ln>
          <a:effectLst/>
        </p:spPr>
        <p:txBody>
          <a:bodyPr rtlCol="0" anchor="ctr"/>
          <a:lstStyle/>
          <a:p/>
        </p:txBody>
      </p:sp>
      <p:sp>
        <p:nvSpPr>
          <p:cNvPr id="23" name="Rectangle 22"/>
          <p:cNvSpPr/>
          <p:nvPr/>
        </p:nvSpPr>
        <p:spPr>
          <a:xfrm>
            <a:off x="8910828" y="4133087"/>
            <a:ext cx="2487168" cy="34747"/>
          </a:xfrm>
          <a:prstGeom prst="rect">
            <a:avLst/>
          </a:prstGeom>
          <a:solidFill>
            <a:srgbClr val="3432C9"/>
          </a:solidFill>
          <a:ln w="12700" cap="rnd">
            <a:noFill/>
            <a:round/>
          </a:ln>
          <a:effectLst/>
        </p:spPr>
        <p:txBody>
          <a:bodyPr rtlCol="0" anchor="ctr"/>
          <a:lstStyle/>
          <a:p/>
        </p:txBody>
      </p:sp>
      <p:sp>
        <p:nvSpPr>
          <p:cNvPr id="24" name="TextBox 23"/>
          <p:cNvSpPr txBox="1"/>
          <p:nvPr/>
        </p:nvSpPr>
        <p:spPr>
          <a:xfrm>
            <a:off x="8910828"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Atividades socioambientais</a:t>
            </a:r>
          </a:p>
        </p:txBody>
      </p:sp>
      <p:sp>
        <p:nvSpPr>
          <p:cNvPr id="25" name="Rectangle 24"/>
          <p:cNvSpPr/>
          <p:nvPr/>
        </p:nvSpPr>
        <p:spPr>
          <a:xfrm>
            <a:off x="777240" y="5321808"/>
            <a:ext cx="10637489" cy="640080"/>
          </a:xfrm>
          <a:prstGeom prst="rect">
            <a:avLst/>
          </a:prstGeom>
          <a:solidFill>
            <a:srgbClr val="F4F5FC"/>
          </a:solidFill>
          <a:ln w="12700" cap="rnd">
            <a:noFill/>
            <a:round/>
          </a:ln>
          <a:effectLst/>
        </p:spPr>
        <p:txBody>
          <a:bodyPr rtlCol="0" anchor="ctr"/>
          <a:lstStyle/>
          <a:p/>
        </p:txBody>
      </p:sp>
      <p:sp>
        <p:nvSpPr>
          <p:cNvPr id="26" name="Rectangle 25"/>
          <p:cNvSpPr/>
          <p:nvPr/>
        </p:nvSpPr>
        <p:spPr>
          <a:xfrm>
            <a:off x="777240" y="5321808"/>
            <a:ext cx="32004" cy="640080"/>
          </a:xfrm>
          <a:prstGeom prst="rect">
            <a:avLst/>
          </a:prstGeom>
          <a:solidFill>
            <a:srgbClr val="3432C9"/>
          </a:solidFill>
          <a:ln w="12700" cap="rnd">
            <a:noFill/>
            <a:round/>
          </a:ln>
          <a:effectLst/>
        </p:spPr>
        <p:txBody>
          <a:bodyPr rtlCol="0" anchor="ctr"/>
          <a:lstStyle/>
          <a:p/>
        </p:txBody>
      </p:sp>
      <p:sp>
        <p:nvSpPr>
          <p:cNvPr id="27" name="Freeform 26"/>
          <p:cNvSpPr/>
          <p:nvPr/>
        </p:nvSpPr>
        <p:spPr>
          <a:xfrm>
            <a:off x="1031443" y="5641848"/>
            <a:ext cx="65837" cy="0"/>
          </a:xfrm>
          <a:custGeom>
            <a:avLst/>
            <a:gdLst/>
            <a:ahLst/>
            <a:cxnLst/>
            <a:rect l="l" t="t" r="r" b="b"/>
            <a:pathLst>
              <a:path w="65837" h="0">
                <a:moveTo>
                  <a:pt x="0" y="0"/>
                </a:moveTo>
                <a:lnTo>
                  <a:pt x="65837"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1097280" y="5554066"/>
            <a:ext cx="98755" cy="87782"/>
          </a:xfrm>
          <a:custGeom>
            <a:avLst/>
            <a:gdLst/>
            <a:ahLst/>
            <a:cxnLst/>
            <a:rect l="l" t="t" r="r" b="b"/>
            <a:pathLst>
              <a:path w="98755" h="87782">
                <a:moveTo>
                  <a:pt x="0" y="87782"/>
                </a:moveTo>
                <a:lnTo>
                  <a:pt x="0" y="0"/>
                </a:lnTo>
                <a:lnTo>
                  <a:pt x="98755" y="0"/>
                </a:lnTo>
              </a:path>
            </a:pathLst>
          </a:custGeom>
          <a:noFill/>
          <a:ln w="15875" cap="rnd">
            <a:solidFill>
              <a:srgbClr val="3432C9"/>
            </a:solidFill>
            <a:round/>
          </a:ln>
          <a:effectLst/>
        </p:spPr>
        <p:txBody>
          <a:bodyPr rtlCol="0" anchor="ctr"/>
          <a:lstStyle/>
          <a:p>
            <a:pPr algn="ctr"/>
          </a:p>
        </p:txBody>
      </p:sp>
      <p:sp>
        <p:nvSpPr>
          <p:cNvPr id="29" name="Freeform 28"/>
          <p:cNvSpPr/>
          <p:nvPr/>
        </p:nvSpPr>
        <p:spPr>
          <a:xfrm>
            <a:off x="1166970" y="5538611"/>
            <a:ext cx="29065" cy="30909"/>
          </a:xfrm>
          <a:custGeom>
            <a:avLst/>
            <a:gdLst/>
            <a:ahLst/>
            <a:cxnLst/>
            <a:rect l="l" t="t" r="r" b="b"/>
            <a:pathLst>
              <a:path w="29065" h="30909">
                <a:moveTo>
                  <a:pt x="29065" y="15455"/>
                </a:moveTo>
                <a:lnTo>
                  <a:pt x="0" y="3090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0" name="Freeform 29"/>
          <p:cNvSpPr/>
          <p:nvPr/>
        </p:nvSpPr>
        <p:spPr>
          <a:xfrm>
            <a:off x="1097280" y="5641848"/>
            <a:ext cx="98755" cy="0"/>
          </a:xfrm>
          <a:custGeom>
            <a:avLst/>
            <a:gdLst/>
            <a:ahLst/>
            <a:cxnLst/>
            <a:rect l="l" t="t" r="r" b="b"/>
            <a:pathLst>
              <a:path w="98755" h="0">
                <a:moveTo>
                  <a:pt x="0" y="0"/>
                </a:moveTo>
                <a:lnTo>
                  <a:pt x="98755"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1166970" y="5626394"/>
            <a:ext cx="29065" cy="30908"/>
          </a:xfrm>
          <a:custGeom>
            <a:avLst/>
            <a:gdLst/>
            <a:ahLst/>
            <a:cxnLst/>
            <a:rect l="l" t="t" r="r" b="b"/>
            <a:pathLst>
              <a:path w="29065" h="30908">
                <a:moveTo>
                  <a:pt x="29065" y="15454"/>
                </a:moveTo>
                <a:lnTo>
                  <a:pt x="0" y="30908"/>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2" name="Freeform 31"/>
          <p:cNvSpPr/>
          <p:nvPr/>
        </p:nvSpPr>
        <p:spPr>
          <a:xfrm>
            <a:off x="1097280" y="5641848"/>
            <a:ext cx="98755" cy="87782"/>
          </a:xfrm>
          <a:custGeom>
            <a:avLst/>
            <a:gdLst/>
            <a:ahLst/>
            <a:cxnLst/>
            <a:rect l="l" t="t" r="r" b="b"/>
            <a:pathLst>
              <a:path w="98755" h="87782">
                <a:moveTo>
                  <a:pt x="0" y="0"/>
                </a:moveTo>
                <a:lnTo>
                  <a:pt x="0" y="87782"/>
                </a:lnTo>
                <a:lnTo>
                  <a:pt x="98755" y="87782"/>
                </a:lnTo>
              </a:path>
            </a:pathLst>
          </a:custGeom>
          <a:noFill/>
          <a:ln w="15875" cap="rnd">
            <a:solidFill>
              <a:srgbClr val="3432C9"/>
            </a:solidFill>
            <a:round/>
          </a:ln>
          <a:effectLst/>
        </p:spPr>
        <p:txBody>
          <a:bodyPr rtlCol="0" anchor="ctr"/>
          <a:lstStyle/>
          <a:p>
            <a:pPr algn="ctr"/>
          </a:p>
        </p:txBody>
      </p:sp>
      <p:sp>
        <p:nvSpPr>
          <p:cNvPr id="33" name="Freeform 32"/>
          <p:cNvSpPr/>
          <p:nvPr/>
        </p:nvSpPr>
        <p:spPr>
          <a:xfrm>
            <a:off x="1166970" y="5714176"/>
            <a:ext cx="29065" cy="30909"/>
          </a:xfrm>
          <a:custGeom>
            <a:avLst/>
            <a:gdLst/>
            <a:ahLst/>
            <a:cxnLst/>
            <a:rect l="l" t="t" r="r" b="b"/>
            <a:pathLst>
              <a:path w="29065" h="30909">
                <a:moveTo>
                  <a:pt x="29065" y="15454"/>
                </a:moveTo>
                <a:lnTo>
                  <a:pt x="0" y="3090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4" name="TextBox 33"/>
          <p:cNvSpPr txBox="1"/>
          <p:nvPr/>
        </p:nvSpPr>
        <p:spPr>
          <a:xfrm>
            <a:off x="1472184" y="5321808"/>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Atividades de adequação dos materiais coletados, segregação, armazenamento, upcycle e costura criativa distribuídas conforme a vocação de cada área.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Conformidade</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Rastreabilidade e conformidade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19</a:t>
            </a:r>
          </a:p>
        </p:txBody>
      </p:sp>
      <p:sp>
        <p:nvSpPr>
          <p:cNvPr id="9" name="Rectangle 8"/>
          <p:cNvSpPr/>
          <p:nvPr/>
        </p:nvSpPr>
        <p:spPr>
          <a:xfrm>
            <a:off x="777240" y="1938528"/>
            <a:ext cx="2487168" cy="2103120"/>
          </a:xfrm>
          <a:prstGeom prst="rect">
            <a:avLst/>
          </a:prstGeom>
          <a:solidFill>
            <a:srgbClr val="F4F5FC"/>
          </a:solidFill>
          <a:ln w="12700" cap="rnd">
            <a:noFill/>
            <a:round/>
          </a:ln>
          <a:effectLst/>
        </p:spPr>
        <p:txBody>
          <a:bodyPr rtlCol="0" anchor="ctr"/>
          <a:lstStyle/>
          <a:p/>
        </p:txBody>
      </p:sp>
      <p:sp>
        <p:nvSpPr>
          <p:cNvPr id="10" name="Rectangle 9"/>
          <p:cNvSpPr/>
          <p:nvPr/>
        </p:nvSpPr>
        <p:spPr>
          <a:xfrm>
            <a:off x="777240" y="1938528"/>
            <a:ext cx="2487168" cy="50292"/>
          </a:xfrm>
          <a:prstGeom prst="rect">
            <a:avLst/>
          </a:prstGeom>
          <a:solidFill>
            <a:srgbClr val="3432C9"/>
          </a:solidFill>
          <a:ln w="12700" cap="rnd">
            <a:noFill/>
            <a:round/>
          </a:ln>
          <a:effectLst/>
        </p:spPr>
        <p:txBody>
          <a:bodyPr rtlCol="0" anchor="ctr"/>
          <a:lstStyle/>
          <a:p/>
        </p:txBody>
      </p:sp>
      <p:sp>
        <p:nvSpPr>
          <p:cNvPr id="11" name="Freeform 10"/>
          <p:cNvSpPr/>
          <p:nvPr/>
        </p:nvSpPr>
        <p:spPr>
          <a:xfrm>
            <a:off x="1095451" y="2226747"/>
            <a:ext cx="233355" cy="337962"/>
          </a:xfrm>
          <a:custGeom>
            <a:avLst/>
            <a:gdLst/>
            <a:ahLst/>
            <a:cxnLst/>
            <a:rect l="l" t="t" r="r" b="b"/>
            <a:pathLst>
              <a:path w="233355" h="337962">
                <a:moveTo>
                  <a:pt x="0" y="0"/>
                </a:moveTo>
                <a:lnTo>
                  <a:pt x="168981" y="0"/>
                </a:lnTo>
                <a:lnTo>
                  <a:pt x="233355" y="72420"/>
                </a:lnTo>
                <a:lnTo>
                  <a:pt x="233355" y="337962"/>
                </a:lnTo>
                <a:lnTo>
                  <a:pt x="0" y="337962"/>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1264432" y="2226747"/>
            <a:ext cx="64374" cy="72420"/>
          </a:xfrm>
          <a:custGeom>
            <a:avLst/>
            <a:gdLst/>
            <a:ahLst/>
            <a:cxnLst/>
            <a:rect l="l" t="t" r="r" b="b"/>
            <a:pathLst>
              <a:path w="64374" h="72420">
                <a:moveTo>
                  <a:pt x="0" y="0"/>
                </a:moveTo>
                <a:lnTo>
                  <a:pt x="0" y="72420"/>
                </a:lnTo>
                <a:lnTo>
                  <a:pt x="64374" y="72420"/>
                </a:lnTo>
              </a:path>
            </a:pathLst>
          </a:custGeom>
          <a:noFill/>
          <a:ln w="12700" cap="rnd">
            <a:solidFill>
              <a:srgbClr val="3432C9"/>
            </a:solidFill>
            <a:round/>
          </a:ln>
          <a:effectLst/>
        </p:spPr>
        <p:txBody>
          <a:bodyPr rtlCol="0" anchor="ctr"/>
          <a:lstStyle/>
          <a:p>
            <a:pPr algn="ctr"/>
          </a:p>
        </p:txBody>
      </p:sp>
      <p:sp>
        <p:nvSpPr>
          <p:cNvPr id="13" name="Freeform 12"/>
          <p:cNvSpPr/>
          <p:nvPr/>
        </p:nvSpPr>
        <p:spPr>
          <a:xfrm>
            <a:off x="1139708" y="2363541"/>
            <a:ext cx="144841" cy="0"/>
          </a:xfrm>
          <a:custGeom>
            <a:avLst/>
            <a:gdLst/>
            <a:ahLst/>
            <a:cxnLst/>
            <a:rect l="l" t="t" r="r" b="b"/>
            <a:pathLst>
              <a:path w="144841" h="0">
                <a:moveTo>
                  <a:pt x="0" y="0"/>
                </a:moveTo>
                <a:lnTo>
                  <a:pt x="144841" y="0"/>
                </a:lnTo>
              </a:path>
            </a:pathLst>
          </a:custGeom>
          <a:noFill/>
          <a:ln w="11112" cap="rnd">
            <a:solidFill>
              <a:srgbClr val="3432C9"/>
            </a:solidFill>
            <a:round/>
          </a:ln>
          <a:effectLst/>
        </p:spPr>
        <p:txBody>
          <a:bodyPr rtlCol="0" anchor="ctr"/>
          <a:lstStyle/>
          <a:p>
            <a:pPr algn="ctr"/>
          </a:p>
        </p:txBody>
      </p:sp>
      <p:sp>
        <p:nvSpPr>
          <p:cNvPr id="14" name="Freeform 13"/>
          <p:cNvSpPr/>
          <p:nvPr/>
        </p:nvSpPr>
        <p:spPr>
          <a:xfrm>
            <a:off x="1139708" y="2411821"/>
            <a:ext cx="144841" cy="0"/>
          </a:xfrm>
          <a:custGeom>
            <a:avLst/>
            <a:gdLst/>
            <a:ahLst/>
            <a:cxnLst/>
            <a:rect l="l" t="t" r="r" b="b"/>
            <a:pathLst>
              <a:path w="144841" h="0">
                <a:moveTo>
                  <a:pt x="0" y="0"/>
                </a:moveTo>
                <a:lnTo>
                  <a:pt x="144841" y="0"/>
                </a:lnTo>
              </a:path>
            </a:pathLst>
          </a:custGeom>
          <a:noFill/>
          <a:ln w="11112" cap="rnd">
            <a:solidFill>
              <a:srgbClr val="3432C9"/>
            </a:solidFill>
            <a:round/>
          </a:ln>
          <a:effectLst/>
        </p:spPr>
        <p:txBody>
          <a:bodyPr rtlCol="0" anchor="ctr"/>
          <a:lstStyle/>
          <a:p>
            <a:pPr algn="ctr"/>
          </a:p>
        </p:txBody>
      </p:sp>
      <p:sp>
        <p:nvSpPr>
          <p:cNvPr id="15" name="Freeform 14"/>
          <p:cNvSpPr/>
          <p:nvPr/>
        </p:nvSpPr>
        <p:spPr>
          <a:xfrm>
            <a:off x="1147755" y="2444008"/>
            <a:ext cx="132771" cy="80468"/>
          </a:xfrm>
          <a:custGeom>
            <a:avLst/>
            <a:gdLst/>
            <a:ahLst/>
            <a:cxnLst/>
            <a:rect l="l" t="t" r="r" b="b"/>
            <a:pathLst>
              <a:path w="132771" h="80468">
                <a:moveTo>
                  <a:pt x="0" y="40234"/>
                </a:moveTo>
                <a:lnTo>
                  <a:pt x="44257" y="80468"/>
                </a:lnTo>
                <a:lnTo>
                  <a:pt x="132771" y="0"/>
                </a:lnTo>
              </a:path>
            </a:pathLst>
          </a:custGeom>
          <a:noFill/>
          <a:ln w="17462" cap="rnd">
            <a:solidFill>
              <a:srgbClr val="3432C9"/>
            </a:solidFill>
            <a:round/>
          </a:ln>
          <a:effectLst/>
        </p:spPr>
        <p:txBody>
          <a:bodyPr rtlCol="0" anchor="ctr"/>
          <a:lstStyle/>
          <a:p>
            <a:pPr algn="ctr"/>
          </a:p>
        </p:txBody>
      </p:sp>
      <p:sp>
        <p:nvSpPr>
          <p:cNvPr id="16" name="TextBox 15"/>
          <p:cNvSpPr txBox="1"/>
          <p:nvPr/>
        </p:nvSpPr>
        <p:spPr>
          <a:xfrm>
            <a:off x="1014983"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MTR</a:t>
            </a:r>
          </a:p>
        </p:txBody>
      </p:sp>
      <p:sp>
        <p:nvSpPr>
          <p:cNvPr id="17" name="TextBox 16"/>
          <p:cNvSpPr txBox="1"/>
          <p:nvPr/>
        </p:nvSpPr>
        <p:spPr>
          <a:xfrm>
            <a:off x="1014983"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Montserrat"/>
              </a:rPr>
              <a:t>Manifesto de Transporte de Resíduos emitido na coleta.</a:t>
            </a:r>
          </a:p>
        </p:txBody>
      </p:sp>
      <p:sp>
        <p:nvSpPr>
          <p:cNvPr id="18" name="Rectangle 17"/>
          <p:cNvSpPr/>
          <p:nvPr/>
        </p:nvSpPr>
        <p:spPr>
          <a:xfrm>
            <a:off x="3488436" y="1938528"/>
            <a:ext cx="2487168" cy="2103120"/>
          </a:xfrm>
          <a:prstGeom prst="rect">
            <a:avLst/>
          </a:prstGeom>
          <a:solidFill>
            <a:srgbClr val="F4F5FC"/>
          </a:solidFill>
          <a:ln w="12700" cap="rnd">
            <a:noFill/>
            <a:round/>
          </a:ln>
          <a:effectLst/>
        </p:spPr>
        <p:txBody>
          <a:bodyPr rtlCol="0" anchor="ctr"/>
          <a:lstStyle/>
          <a:p/>
        </p:txBody>
      </p:sp>
      <p:sp>
        <p:nvSpPr>
          <p:cNvPr id="19" name="Rectangle 18"/>
          <p:cNvSpPr/>
          <p:nvPr/>
        </p:nvSpPr>
        <p:spPr>
          <a:xfrm>
            <a:off x="3488436" y="1938528"/>
            <a:ext cx="2487168" cy="50292"/>
          </a:xfrm>
          <a:prstGeom prst="rect">
            <a:avLst/>
          </a:prstGeom>
          <a:solidFill>
            <a:srgbClr val="3432C9"/>
          </a:solidFill>
          <a:ln w="12700" cap="rnd">
            <a:noFill/>
            <a:round/>
          </a:ln>
          <a:effectLst/>
        </p:spPr>
        <p:txBody>
          <a:bodyPr rtlCol="0" anchor="ctr"/>
          <a:lstStyle/>
          <a:p/>
        </p:txBody>
      </p:sp>
      <p:sp>
        <p:nvSpPr>
          <p:cNvPr id="20" name="Freeform 19"/>
          <p:cNvSpPr/>
          <p:nvPr/>
        </p:nvSpPr>
        <p:spPr>
          <a:xfrm>
            <a:off x="3790554" y="2226747"/>
            <a:ext cx="273588" cy="337962"/>
          </a:xfrm>
          <a:custGeom>
            <a:avLst/>
            <a:gdLst/>
            <a:ahLst/>
            <a:cxnLst/>
            <a:rect l="l" t="t" r="r" b="b"/>
            <a:pathLst>
              <a:path w="273588" h="337962">
                <a:moveTo>
                  <a:pt x="136794" y="0"/>
                </a:moveTo>
                <a:lnTo>
                  <a:pt x="273588" y="56327"/>
                </a:lnTo>
                <a:lnTo>
                  <a:pt x="273588" y="177028"/>
                </a:lnTo>
                <a:lnTo>
                  <a:pt x="136794" y="337962"/>
                </a:lnTo>
                <a:lnTo>
                  <a:pt x="0" y="177028"/>
                </a:lnTo>
                <a:lnTo>
                  <a:pt x="0" y="56327"/>
                </a:lnTo>
                <a:close/>
              </a:path>
            </a:pathLst>
          </a:custGeom>
          <a:noFill/>
          <a:ln w="15875" cap="rnd">
            <a:solidFill>
              <a:srgbClr val="3432C9"/>
            </a:solidFill>
            <a:round/>
          </a:ln>
          <a:effectLst/>
        </p:spPr>
        <p:txBody>
          <a:bodyPr rtlCol="0" anchor="ctr"/>
          <a:lstStyle/>
          <a:p>
            <a:pPr algn="ctr"/>
          </a:p>
        </p:txBody>
      </p:sp>
      <p:sp>
        <p:nvSpPr>
          <p:cNvPr id="21" name="Freeform 20"/>
          <p:cNvSpPr/>
          <p:nvPr/>
        </p:nvSpPr>
        <p:spPr>
          <a:xfrm>
            <a:off x="3866998" y="2339401"/>
            <a:ext cx="128747" cy="96561"/>
          </a:xfrm>
          <a:custGeom>
            <a:avLst/>
            <a:gdLst/>
            <a:ahLst/>
            <a:cxnLst/>
            <a:rect l="l" t="t" r="r" b="b"/>
            <a:pathLst>
              <a:path w="128747" h="96561">
                <a:moveTo>
                  <a:pt x="0" y="48280"/>
                </a:moveTo>
                <a:lnTo>
                  <a:pt x="44257" y="96561"/>
                </a:lnTo>
                <a:lnTo>
                  <a:pt x="128747" y="0"/>
                </a:lnTo>
              </a:path>
            </a:pathLst>
          </a:custGeom>
          <a:noFill/>
          <a:ln w="17462" cap="rnd">
            <a:solidFill>
              <a:srgbClr val="3432C9"/>
            </a:solidFill>
            <a:round/>
          </a:ln>
          <a:effectLst/>
        </p:spPr>
        <p:txBody>
          <a:bodyPr rtlCol="0" anchor="ctr"/>
          <a:lstStyle/>
          <a:p>
            <a:pPr algn="ctr"/>
          </a:p>
        </p:txBody>
      </p:sp>
      <p:sp>
        <p:nvSpPr>
          <p:cNvPr id="22" name="TextBox 21"/>
          <p:cNvSpPr txBox="1"/>
          <p:nvPr/>
        </p:nvSpPr>
        <p:spPr>
          <a:xfrm>
            <a:off x="3726180"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Atestado de descaracterização</a:t>
            </a:r>
          </a:p>
        </p:txBody>
      </p:sp>
      <p:sp>
        <p:nvSpPr>
          <p:cNvPr id="23" name="TextBox 22"/>
          <p:cNvSpPr txBox="1"/>
          <p:nvPr/>
        </p:nvSpPr>
        <p:spPr>
          <a:xfrm>
            <a:off x="3726180"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Montserrat"/>
              </a:rPr>
              <a:t>Documento emitido ao final do processo.</a:t>
            </a:r>
          </a:p>
        </p:txBody>
      </p:sp>
      <p:sp>
        <p:nvSpPr>
          <p:cNvPr id="24" name="Rectangle 23"/>
          <p:cNvSpPr/>
          <p:nvPr/>
        </p:nvSpPr>
        <p:spPr>
          <a:xfrm>
            <a:off x="6199632" y="1938528"/>
            <a:ext cx="2487168" cy="2103120"/>
          </a:xfrm>
          <a:prstGeom prst="rect">
            <a:avLst/>
          </a:prstGeom>
          <a:solidFill>
            <a:srgbClr val="F4F5FC"/>
          </a:solidFill>
          <a:ln w="12700" cap="rnd">
            <a:noFill/>
            <a:round/>
          </a:ln>
          <a:effectLst/>
        </p:spPr>
        <p:txBody>
          <a:bodyPr rtlCol="0" anchor="ctr"/>
          <a:lstStyle/>
          <a:p/>
        </p:txBody>
      </p:sp>
      <p:sp>
        <p:nvSpPr>
          <p:cNvPr id="25" name="Rectangle 24"/>
          <p:cNvSpPr/>
          <p:nvPr/>
        </p:nvSpPr>
        <p:spPr>
          <a:xfrm>
            <a:off x="6199632" y="1938528"/>
            <a:ext cx="2487168" cy="50292"/>
          </a:xfrm>
          <a:prstGeom prst="rect">
            <a:avLst/>
          </a:prstGeom>
          <a:solidFill>
            <a:srgbClr val="3432C9"/>
          </a:solidFill>
          <a:ln w="12700" cap="rnd">
            <a:noFill/>
            <a:round/>
          </a:ln>
          <a:effectLst/>
        </p:spPr>
        <p:txBody>
          <a:bodyPr rtlCol="0" anchor="ctr"/>
          <a:lstStyle/>
          <a:p/>
        </p:txBody>
      </p:sp>
      <p:sp>
        <p:nvSpPr>
          <p:cNvPr id="26" name="Freeform 25"/>
          <p:cNvSpPr/>
          <p:nvPr/>
        </p:nvSpPr>
        <p:spPr>
          <a:xfrm>
            <a:off x="6517843" y="2266980"/>
            <a:ext cx="241402" cy="297729"/>
          </a:xfrm>
          <a:custGeom>
            <a:avLst/>
            <a:gdLst/>
            <a:ahLst/>
            <a:cxnLst/>
            <a:rect l="l" t="t" r="r" b="b"/>
            <a:pathLst>
              <a:path w="241402" h="297729">
                <a:moveTo>
                  <a:pt x="0" y="0"/>
                </a:moveTo>
                <a:lnTo>
                  <a:pt x="241402" y="0"/>
                </a:lnTo>
                <a:lnTo>
                  <a:pt x="241402" y="297729"/>
                </a:lnTo>
                <a:lnTo>
                  <a:pt x="0" y="297729"/>
                </a:lnTo>
                <a:close/>
              </a:path>
            </a:pathLst>
          </a:custGeom>
          <a:noFill/>
          <a:ln w="15875" cap="rnd">
            <a:solidFill>
              <a:srgbClr val="3432C9"/>
            </a:solidFill>
            <a:round/>
          </a:ln>
          <a:effectLst/>
        </p:spPr>
        <p:txBody>
          <a:bodyPr rtlCol="0" anchor="ctr"/>
          <a:lstStyle/>
          <a:p>
            <a:pPr algn="ctr"/>
          </a:p>
        </p:txBody>
      </p:sp>
      <p:sp>
        <p:nvSpPr>
          <p:cNvPr id="27" name="Freeform 26"/>
          <p:cNvSpPr/>
          <p:nvPr/>
        </p:nvSpPr>
        <p:spPr>
          <a:xfrm>
            <a:off x="6590264" y="2226747"/>
            <a:ext cx="96560" cy="72420"/>
          </a:xfrm>
          <a:custGeom>
            <a:avLst/>
            <a:gdLst/>
            <a:ahLst/>
            <a:cxnLst/>
            <a:rect l="l" t="t" r="r" b="b"/>
            <a:pathLst>
              <a:path w="96560" h="72420">
                <a:moveTo>
                  <a:pt x="0" y="0"/>
                </a:moveTo>
                <a:lnTo>
                  <a:pt x="96560" y="0"/>
                </a:lnTo>
                <a:lnTo>
                  <a:pt x="96560" y="72420"/>
                </a:lnTo>
                <a:lnTo>
                  <a:pt x="0" y="72420"/>
                </a:lnTo>
                <a:close/>
              </a:path>
            </a:pathLst>
          </a:custGeom>
          <a:noFill/>
          <a:ln w="15875" cap="rnd">
            <a:solidFill>
              <a:srgbClr val="3432C9"/>
            </a:solidFill>
            <a:round/>
          </a:ln>
          <a:effectLst/>
        </p:spPr>
        <p:txBody>
          <a:bodyPr rtlCol="0" anchor="ctr"/>
          <a:lstStyle/>
          <a:p>
            <a:pPr algn="ctr"/>
          </a:p>
        </p:txBody>
      </p:sp>
      <p:sp>
        <p:nvSpPr>
          <p:cNvPr id="28" name="Freeform 27"/>
          <p:cNvSpPr/>
          <p:nvPr/>
        </p:nvSpPr>
        <p:spPr>
          <a:xfrm>
            <a:off x="6566124" y="2379635"/>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29" name="Freeform 28"/>
          <p:cNvSpPr/>
          <p:nvPr/>
        </p:nvSpPr>
        <p:spPr>
          <a:xfrm>
            <a:off x="6566124" y="2435962"/>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30" name="Freeform 29"/>
          <p:cNvSpPr/>
          <p:nvPr/>
        </p:nvSpPr>
        <p:spPr>
          <a:xfrm>
            <a:off x="6566124" y="2492289"/>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31" name="TextBox 30"/>
          <p:cNvSpPr txBox="1"/>
          <p:nvPr/>
        </p:nvSpPr>
        <p:spPr>
          <a:xfrm>
            <a:off x="6437376"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Registro do processo</a:t>
            </a:r>
          </a:p>
        </p:txBody>
      </p:sp>
      <p:sp>
        <p:nvSpPr>
          <p:cNvPr id="32" name="TextBox 31"/>
          <p:cNvSpPr txBox="1"/>
          <p:nvPr/>
        </p:nvSpPr>
        <p:spPr>
          <a:xfrm>
            <a:off x="6437376"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Montserrat"/>
              </a:rPr>
              <a:t>Etapas fotografadas e filmadas pela equipe.</a:t>
            </a:r>
          </a:p>
        </p:txBody>
      </p:sp>
      <p:sp>
        <p:nvSpPr>
          <p:cNvPr id="33" name="Rectangle 32"/>
          <p:cNvSpPr/>
          <p:nvPr/>
        </p:nvSpPr>
        <p:spPr>
          <a:xfrm>
            <a:off x="8910828" y="1938528"/>
            <a:ext cx="2487168" cy="2103120"/>
          </a:xfrm>
          <a:prstGeom prst="rect">
            <a:avLst/>
          </a:prstGeom>
          <a:solidFill>
            <a:srgbClr val="F4F5FC"/>
          </a:solidFill>
          <a:ln w="12700" cap="rnd">
            <a:noFill/>
            <a:round/>
          </a:ln>
          <a:effectLst/>
        </p:spPr>
        <p:txBody>
          <a:bodyPr rtlCol="0" anchor="ctr"/>
          <a:lstStyle/>
          <a:p/>
        </p:txBody>
      </p:sp>
      <p:sp>
        <p:nvSpPr>
          <p:cNvPr id="34" name="Rectangle 33"/>
          <p:cNvSpPr/>
          <p:nvPr/>
        </p:nvSpPr>
        <p:spPr>
          <a:xfrm>
            <a:off x="8910828" y="1938528"/>
            <a:ext cx="2487168" cy="50292"/>
          </a:xfrm>
          <a:prstGeom prst="rect">
            <a:avLst/>
          </a:prstGeom>
          <a:solidFill>
            <a:srgbClr val="3432C9"/>
          </a:solidFill>
          <a:ln w="12700" cap="rnd">
            <a:noFill/>
            <a:round/>
          </a:ln>
          <a:effectLst/>
        </p:spPr>
        <p:txBody>
          <a:bodyPr rtlCol="0" anchor="ctr"/>
          <a:lstStyle/>
          <a:p/>
        </p:txBody>
      </p:sp>
      <p:sp>
        <p:nvSpPr>
          <p:cNvPr id="35" name="Freeform 34"/>
          <p:cNvSpPr/>
          <p:nvPr/>
        </p:nvSpPr>
        <p:spPr>
          <a:xfrm>
            <a:off x="9356639" y="2291000"/>
            <a:ext cx="82788" cy="143392"/>
          </a:xfrm>
          <a:custGeom>
            <a:avLst/>
            <a:gdLst/>
            <a:ahLst/>
            <a:cxnLst/>
            <a:rect l="l" t="t" r="r" b="b"/>
            <a:pathLst>
              <a:path w="82788" h="143392">
                <a:moveTo>
                  <a:pt x="0" y="0"/>
                </a:moveTo>
                <a:lnTo>
                  <a:pt x="82788" y="143392"/>
                </a:lnTo>
              </a:path>
            </a:pathLst>
          </a:custGeom>
          <a:noFill/>
          <a:ln w="15875" cap="rnd">
            <a:solidFill>
              <a:srgbClr val="3432C9"/>
            </a:solidFill>
            <a:round/>
          </a:ln>
          <a:effectLst/>
        </p:spPr>
        <p:txBody>
          <a:bodyPr rtlCol="0" anchor="ctr"/>
          <a:lstStyle/>
          <a:p>
            <a:pPr algn="ctr"/>
          </a:p>
        </p:txBody>
      </p:sp>
      <p:sp>
        <p:nvSpPr>
          <p:cNvPr id="36" name="Freeform 35"/>
          <p:cNvSpPr/>
          <p:nvPr/>
        </p:nvSpPr>
        <p:spPr>
          <a:xfrm>
            <a:off x="9401895" y="2390162"/>
            <a:ext cx="37532" cy="44230"/>
          </a:xfrm>
          <a:custGeom>
            <a:avLst/>
            <a:gdLst/>
            <a:ahLst/>
            <a:cxnLst/>
            <a:rect l="l" t="t" r="r" b="b"/>
            <a:pathLst>
              <a:path w="37532" h="44230">
                <a:moveTo>
                  <a:pt x="37532" y="44230"/>
                </a:moveTo>
                <a:lnTo>
                  <a:pt x="0" y="20778"/>
                </a:lnTo>
                <a:lnTo>
                  <a:pt x="35987" y="0"/>
                </a:lnTo>
                <a:close/>
              </a:path>
            </a:pathLst>
          </a:custGeom>
          <a:solidFill>
            <a:srgbClr val="3432C9"/>
          </a:solidFill>
          <a:ln w="9525" cap="rnd">
            <a:solidFill>
              <a:srgbClr val="3432C9"/>
            </a:solidFill>
            <a:round/>
          </a:ln>
          <a:effectLst/>
        </p:spPr>
        <p:txBody>
          <a:bodyPr rtlCol="0" anchor="ctr"/>
          <a:lstStyle/>
          <a:p>
            <a:pPr algn="ctr"/>
          </a:p>
        </p:txBody>
      </p:sp>
      <p:sp>
        <p:nvSpPr>
          <p:cNvPr id="37" name="Freeform 36"/>
          <p:cNvSpPr/>
          <p:nvPr/>
        </p:nvSpPr>
        <p:spPr>
          <a:xfrm>
            <a:off x="9285350" y="2478207"/>
            <a:ext cx="165575" cy="0"/>
          </a:xfrm>
          <a:custGeom>
            <a:avLst/>
            <a:gdLst/>
            <a:ahLst/>
            <a:cxnLst/>
            <a:rect l="l" t="t" r="r" b="b"/>
            <a:pathLst>
              <a:path w="165575" h="0">
                <a:moveTo>
                  <a:pt x="165575" y="0"/>
                </a:moveTo>
                <a:lnTo>
                  <a:pt x="0" y="0"/>
                </a:lnTo>
              </a:path>
            </a:pathLst>
          </a:custGeom>
          <a:noFill/>
          <a:ln w="15875" cap="rnd">
            <a:solidFill>
              <a:srgbClr val="3432C9"/>
            </a:solidFill>
            <a:round/>
          </a:ln>
          <a:effectLst/>
        </p:spPr>
        <p:txBody>
          <a:bodyPr rtlCol="0" anchor="ctr"/>
          <a:lstStyle/>
          <a:p>
            <a:pPr algn="ctr"/>
          </a:p>
        </p:txBody>
      </p:sp>
      <p:sp>
        <p:nvSpPr>
          <p:cNvPr id="38" name="Freeform 37"/>
          <p:cNvSpPr/>
          <p:nvPr/>
        </p:nvSpPr>
        <p:spPr>
          <a:xfrm>
            <a:off x="9285350" y="2457429"/>
            <a:ext cx="39076" cy="41555"/>
          </a:xfrm>
          <a:custGeom>
            <a:avLst/>
            <a:gdLst/>
            <a:ahLst/>
            <a:cxnLst/>
            <a:rect l="l" t="t" r="r" b="b"/>
            <a:pathLst>
              <a:path w="39076" h="41555">
                <a:moveTo>
                  <a:pt x="0" y="20778"/>
                </a:moveTo>
                <a:lnTo>
                  <a:pt x="39076" y="0"/>
                </a:lnTo>
                <a:lnTo>
                  <a:pt x="39076" y="41555"/>
                </a:lnTo>
                <a:close/>
              </a:path>
            </a:pathLst>
          </a:custGeom>
          <a:solidFill>
            <a:srgbClr val="3432C9"/>
          </a:solidFill>
          <a:ln w="9525" cap="rnd">
            <a:solidFill>
              <a:srgbClr val="3432C9"/>
            </a:solidFill>
            <a:round/>
          </a:ln>
          <a:effectLst/>
        </p:spPr>
        <p:txBody>
          <a:bodyPr rtlCol="0" anchor="ctr"/>
          <a:lstStyle/>
          <a:p>
            <a:pPr algn="ctr"/>
          </a:p>
        </p:txBody>
      </p:sp>
      <p:sp>
        <p:nvSpPr>
          <p:cNvPr id="39" name="Freeform 38"/>
          <p:cNvSpPr/>
          <p:nvPr/>
        </p:nvSpPr>
        <p:spPr>
          <a:xfrm>
            <a:off x="9241656" y="2322865"/>
            <a:ext cx="82788" cy="143393"/>
          </a:xfrm>
          <a:custGeom>
            <a:avLst/>
            <a:gdLst/>
            <a:ahLst/>
            <a:cxnLst/>
            <a:rect l="l" t="t" r="r" b="b"/>
            <a:pathLst>
              <a:path w="82788" h="143393">
                <a:moveTo>
                  <a:pt x="0" y="143393"/>
                </a:moveTo>
                <a:lnTo>
                  <a:pt x="82788" y="0"/>
                </a:lnTo>
              </a:path>
            </a:pathLst>
          </a:custGeom>
          <a:noFill/>
          <a:ln w="15875" cap="rnd">
            <a:solidFill>
              <a:srgbClr val="3432C9"/>
            </a:solidFill>
            <a:round/>
          </a:ln>
          <a:effectLst/>
        </p:spPr>
        <p:txBody>
          <a:bodyPr rtlCol="0" anchor="ctr"/>
          <a:lstStyle/>
          <a:p>
            <a:pPr algn="ctr"/>
          </a:p>
        </p:txBody>
      </p:sp>
      <p:sp>
        <p:nvSpPr>
          <p:cNvPr id="40" name="Freeform 39"/>
          <p:cNvSpPr/>
          <p:nvPr/>
        </p:nvSpPr>
        <p:spPr>
          <a:xfrm>
            <a:off x="9286912" y="2322865"/>
            <a:ext cx="37532" cy="44230"/>
          </a:xfrm>
          <a:custGeom>
            <a:avLst/>
            <a:gdLst/>
            <a:ahLst/>
            <a:cxnLst/>
            <a:rect l="l" t="t" r="r" b="b"/>
            <a:pathLst>
              <a:path w="37532" h="44230">
                <a:moveTo>
                  <a:pt x="37532" y="0"/>
                </a:moveTo>
                <a:lnTo>
                  <a:pt x="35987" y="44230"/>
                </a:lnTo>
                <a:lnTo>
                  <a:pt x="0" y="23453"/>
                </a:lnTo>
                <a:close/>
              </a:path>
            </a:pathLst>
          </a:custGeom>
          <a:solidFill>
            <a:srgbClr val="3432C9"/>
          </a:solidFill>
          <a:ln w="9525" cap="rnd">
            <a:solidFill>
              <a:srgbClr val="3432C9"/>
            </a:solidFill>
            <a:round/>
          </a:ln>
          <a:effectLst/>
        </p:spPr>
        <p:txBody>
          <a:bodyPr rtlCol="0" anchor="ctr"/>
          <a:lstStyle/>
          <a:p>
            <a:pPr algn="ctr"/>
          </a:p>
        </p:txBody>
      </p:sp>
      <p:sp>
        <p:nvSpPr>
          <p:cNvPr id="41" name="TextBox 40"/>
          <p:cNvSpPr txBox="1"/>
          <p:nvPr/>
        </p:nvSpPr>
        <p:spPr>
          <a:xfrm>
            <a:off x="9148572"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Destinação comprovada</a:t>
            </a:r>
          </a:p>
        </p:txBody>
      </p:sp>
      <p:sp>
        <p:nvSpPr>
          <p:cNvPr id="42" name="TextBox 41"/>
          <p:cNvSpPr txBox="1"/>
          <p:nvPr/>
        </p:nvSpPr>
        <p:spPr>
          <a:xfrm>
            <a:off x="9148572"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Montserrat"/>
              </a:rPr>
              <a:t>Documentação ambiental do destino final.</a:t>
            </a:r>
          </a:p>
        </p:txBody>
      </p:sp>
      <p:cxnSp>
        <p:nvCxnSpPr>
          <p:cNvPr id="43" name="Connector 42"/>
          <p:cNvCxnSpPr/>
          <p:nvPr/>
        </p:nvCxnSpPr>
        <p:spPr>
          <a:xfrm>
            <a:off x="777240" y="4553712"/>
            <a:ext cx="10637489" cy="0"/>
          </a:xfrm>
          <a:prstGeom prst="line">
            <a:avLst/>
          </a:prstGeom>
          <a:ln w="12700" cap="rnd">
            <a:solidFill>
              <a:srgbClr val="DFE2F0"/>
            </a:solidFill>
            <a:round/>
          </a:ln>
          <a:effectLst/>
        </p:spPr>
      </p:cxnSp>
      <p:sp>
        <p:nvSpPr>
          <p:cNvPr id="44" name="Freeform 43"/>
          <p:cNvSpPr/>
          <p:nvPr/>
        </p:nvSpPr>
        <p:spPr>
          <a:xfrm>
            <a:off x="838688" y="4885822"/>
            <a:ext cx="368686" cy="296997"/>
          </a:xfrm>
          <a:custGeom>
            <a:avLst/>
            <a:gdLst/>
            <a:ahLst/>
            <a:cxnLst/>
            <a:rect l="l" t="t" r="r" b="b"/>
            <a:pathLst>
              <a:path w="368686" h="296997">
                <a:moveTo>
                  <a:pt x="0" y="296997"/>
                </a:moveTo>
                <a:lnTo>
                  <a:pt x="122895" y="296997"/>
                </a:lnTo>
                <a:lnTo>
                  <a:pt x="122895" y="122895"/>
                </a:lnTo>
                <a:lnTo>
                  <a:pt x="266273" y="122895"/>
                </a:lnTo>
                <a:lnTo>
                  <a:pt x="266273" y="0"/>
                </a:lnTo>
                <a:lnTo>
                  <a:pt x="368686" y="0"/>
                </a:lnTo>
              </a:path>
            </a:pathLst>
          </a:custGeom>
          <a:noFill/>
          <a:ln w="15875" cap="rnd">
            <a:solidFill>
              <a:srgbClr val="3432C9"/>
            </a:solidFill>
            <a:round/>
          </a:ln>
          <a:effectLst/>
        </p:spPr>
        <p:txBody>
          <a:bodyPr rtlCol="0" anchor="ctr"/>
          <a:lstStyle/>
          <a:p>
            <a:pPr algn="ctr"/>
          </a:p>
        </p:txBody>
      </p:sp>
      <p:sp>
        <p:nvSpPr>
          <p:cNvPr id="45" name="Freeform 44"/>
          <p:cNvSpPr/>
          <p:nvPr/>
        </p:nvSpPr>
        <p:spPr>
          <a:xfrm>
            <a:off x="1189563" y="4854570"/>
            <a:ext cx="58776" cy="62504"/>
          </a:xfrm>
          <a:custGeom>
            <a:avLst/>
            <a:gdLst/>
            <a:ahLst/>
            <a:cxnLst/>
            <a:rect l="l" t="t" r="r" b="b"/>
            <a:pathLst>
              <a:path w="58776" h="62504">
                <a:moveTo>
                  <a:pt x="58776" y="31252"/>
                </a:moveTo>
                <a:lnTo>
                  <a:pt x="0" y="6250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46" name="Oval 45"/>
          <p:cNvSpPr/>
          <p:nvPr/>
        </p:nvSpPr>
        <p:spPr>
          <a:xfrm>
            <a:off x="802843" y="5146974"/>
            <a:ext cx="71688" cy="71688"/>
          </a:xfrm>
          <a:prstGeom prst="ellipse">
            <a:avLst/>
          </a:prstGeom>
          <a:solidFill>
            <a:srgbClr val="FFFFFF"/>
          </a:solidFill>
          <a:ln w="15875" cap="rnd">
            <a:solidFill>
              <a:srgbClr val="3432C9"/>
            </a:solidFill>
            <a:round/>
          </a:ln>
          <a:effectLst/>
        </p:spPr>
        <p:txBody>
          <a:bodyPr rtlCol="0" anchor="ctr"/>
          <a:lstStyle/>
          <a:p/>
        </p:txBody>
      </p:sp>
      <p:sp>
        <p:nvSpPr>
          <p:cNvPr id="47" name="TextBox 46"/>
          <p:cNvSpPr txBox="1"/>
          <p:nvPr/>
        </p:nvSpPr>
        <p:spPr>
          <a:xfrm>
            <a:off x="1508760" y="4754880"/>
            <a:ext cx="8778240" cy="640080"/>
          </a:xfrm>
          <a:prstGeom prst="rect">
            <a:avLst/>
          </a:prstGeom>
          <a:noFill/>
          <a:effectLst/>
        </p:spPr>
        <p:txBody>
          <a:bodyPr wrap="square" lIns="0" rIns="0" tIns="0" bIns="0" anchor="t">
            <a:spAutoFit/>
          </a:bodyPr>
          <a:lstStyle/>
          <a:p>
            <a:pPr algn="l">
              <a:lnSpc>
                <a:spcPct val="114000"/>
              </a:lnSpc>
            </a:pPr>
            <a:r>
              <a:rPr sz="1800" b="0" i="0">
                <a:solidFill>
                  <a:srgbClr val="14142E"/>
                </a:solidFill>
                <a:latin typeface="Montserrat Light"/>
              </a:rPr>
              <a:t>Rastreabilidade completa: da coleta à destinação final</a:t>
            </a:r>
          </a:p>
        </p:txBody>
      </p:sp>
      <p:sp>
        <p:nvSpPr>
          <p:cNvPr id="48" name="TextBox 47"/>
          <p:cNvSpPr txBox="1"/>
          <p:nvPr/>
        </p:nvSpPr>
        <p:spPr>
          <a:xfrm>
            <a:off x="1508760" y="5193792"/>
            <a:ext cx="8778240" cy="274320"/>
          </a:xfrm>
          <a:prstGeom prst="rect">
            <a:avLst/>
          </a:prstGeom>
          <a:noFill/>
          <a:effectLst/>
        </p:spPr>
        <p:txBody>
          <a:bodyPr wrap="square" lIns="0" rIns="0" tIns="0" bIns="0" anchor="t">
            <a:spAutoFit/>
          </a:bodyPr>
          <a:lstStyle/>
          <a:p>
            <a:pPr algn="l">
              <a:lnSpc>
                <a:spcPct val="135000"/>
              </a:lnSpc>
            </a:pPr>
            <a:r>
              <a:rPr sz="960" b="0" i="0">
                <a:solidFill>
                  <a:srgbClr val="6E7288"/>
                </a:solidFill>
                <a:latin typeface="Montserrat"/>
              </a:rPr>
              <a:t>Respaldo legal e transparência para o poder público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Montserrat SemiBold"/>
              </a:rPr>
              <a:t>Implantação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Montserrat Light"/>
              </a:rPr>
              <a:t>Próximos Passos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Montserrat"/>
              </a:rPr>
              <a:t>Bioma Têxtil  ·  Ecoponto Belezinho    |    20</a:t>
            </a:r>
          </a:p>
        </p:txBody>
      </p:sp>
      <p:cxnSp>
        <p:nvCxnSpPr>
          <p:cNvPr id="9" name="Connector 8"/>
          <p:cNvCxnSpPr/>
          <p:nvPr/>
        </p:nvCxnSpPr>
        <p:spPr>
          <a:xfrm>
            <a:off x="1737360" y="3017520"/>
            <a:ext cx="8717249" cy="0"/>
          </a:xfrm>
          <a:prstGeom prst="line">
            <a:avLst/>
          </a:prstGeom>
          <a:ln w="15240" cap="rnd">
            <a:solidFill>
              <a:srgbClr val="DFE2F0"/>
            </a:solidFill>
            <a:round/>
          </a:ln>
          <a:effectLst/>
        </p:spPr>
      </p:cxnSp>
      <p:sp>
        <p:nvSpPr>
          <p:cNvPr id="10" name="Oval 9"/>
          <p:cNvSpPr/>
          <p:nvPr/>
        </p:nvSpPr>
        <p:spPr>
          <a:xfrm>
            <a:off x="1453895"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11" name="Oval 10"/>
          <p:cNvSpPr/>
          <p:nvPr/>
        </p:nvSpPr>
        <p:spPr>
          <a:xfrm>
            <a:off x="1536192" y="2816351"/>
            <a:ext cx="402336" cy="402336"/>
          </a:xfrm>
          <a:prstGeom prst="ellipse">
            <a:avLst/>
          </a:prstGeom>
          <a:solidFill>
            <a:srgbClr val="3432C9"/>
          </a:solidFill>
          <a:ln w="12700" cap="rnd">
            <a:noFill/>
            <a:round/>
          </a:ln>
          <a:effectLst/>
        </p:spPr>
        <p:txBody>
          <a:bodyPr rtlCol="0" anchor="ctr"/>
          <a:lstStyle/>
          <a:p/>
        </p:txBody>
      </p:sp>
      <p:sp>
        <p:nvSpPr>
          <p:cNvPr id="12" name="TextBox 11"/>
          <p:cNvSpPr txBox="1"/>
          <p:nvPr/>
        </p:nvSpPr>
        <p:spPr>
          <a:xfrm>
            <a:off x="1371600"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01</a:t>
            </a:r>
          </a:p>
        </p:txBody>
      </p:sp>
      <p:sp>
        <p:nvSpPr>
          <p:cNvPr id="13" name="Freeform 12"/>
          <p:cNvSpPr/>
          <p:nvPr/>
        </p:nvSpPr>
        <p:spPr>
          <a:xfrm>
            <a:off x="1576060" y="2094342"/>
            <a:ext cx="322600" cy="84490"/>
          </a:xfrm>
          <a:custGeom>
            <a:avLst/>
            <a:gdLst/>
            <a:ahLst/>
            <a:cxnLst/>
            <a:rect l="l" t="t" r="r" b="b"/>
            <a:pathLst>
              <a:path w="322600" h="84490">
                <a:moveTo>
                  <a:pt x="0" y="84490"/>
                </a:moveTo>
                <a:lnTo>
                  <a:pt x="161300" y="0"/>
                </a:lnTo>
                <a:lnTo>
                  <a:pt x="322600" y="84490"/>
                </a:lnTo>
              </a:path>
            </a:pathLst>
          </a:custGeom>
          <a:noFill/>
          <a:ln w="15875" cap="rnd">
            <a:solidFill>
              <a:srgbClr val="3432C9"/>
            </a:solidFill>
            <a:round/>
          </a:ln>
          <a:effectLst/>
        </p:spPr>
        <p:txBody>
          <a:bodyPr rtlCol="0" anchor="ctr"/>
          <a:lstStyle/>
          <a:p>
            <a:pPr algn="ctr"/>
          </a:p>
        </p:txBody>
      </p:sp>
      <p:sp>
        <p:nvSpPr>
          <p:cNvPr id="14" name="Freeform 13"/>
          <p:cNvSpPr/>
          <p:nvPr/>
        </p:nvSpPr>
        <p:spPr>
          <a:xfrm>
            <a:off x="1591422" y="2178832"/>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15" name="Freeform 14"/>
          <p:cNvSpPr/>
          <p:nvPr/>
        </p:nvSpPr>
        <p:spPr>
          <a:xfrm>
            <a:off x="1637508"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6" name="Freeform 15"/>
          <p:cNvSpPr/>
          <p:nvPr/>
        </p:nvSpPr>
        <p:spPr>
          <a:xfrm>
            <a:off x="1698955"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7" name="Freeform 16"/>
          <p:cNvSpPr/>
          <p:nvPr/>
        </p:nvSpPr>
        <p:spPr>
          <a:xfrm>
            <a:off x="1760403"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8" name="Freeform 17"/>
          <p:cNvSpPr/>
          <p:nvPr/>
        </p:nvSpPr>
        <p:spPr>
          <a:xfrm>
            <a:off x="1821851"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9" name="Freeform 18"/>
          <p:cNvSpPr/>
          <p:nvPr/>
        </p:nvSpPr>
        <p:spPr>
          <a:xfrm>
            <a:off x="1591422" y="2347813"/>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20" name="Freeform 19"/>
          <p:cNvSpPr/>
          <p:nvPr/>
        </p:nvSpPr>
        <p:spPr>
          <a:xfrm>
            <a:off x="1576060" y="2386218"/>
            <a:ext cx="322600" cy="0"/>
          </a:xfrm>
          <a:custGeom>
            <a:avLst/>
            <a:gdLst/>
            <a:ahLst/>
            <a:cxnLst/>
            <a:rect l="l" t="t" r="r" b="b"/>
            <a:pathLst>
              <a:path w="322600" h="0">
                <a:moveTo>
                  <a:pt x="0" y="0"/>
                </a:moveTo>
                <a:lnTo>
                  <a:pt x="322600" y="0"/>
                </a:lnTo>
              </a:path>
            </a:pathLst>
          </a:custGeom>
          <a:noFill/>
          <a:ln w="15875" cap="rnd">
            <a:solidFill>
              <a:srgbClr val="3432C9"/>
            </a:solidFill>
            <a:round/>
          </a:ln>
          <a:effectLst/>
        </p:spPr>
        <p:txBody>
          <a:bodyPr rtlCol="0" anchor="ctr"/>
          <a:lstStyle/>
          <a:p>
            <a:pPr algn="ctr"/>
          </a:p>
        </p:txBody>
      </p:sp>
      <p:sp>
        <p:nvSpPr>
          <p:cNvPr id="21" name="TextBox 20"/>
          <p:cNvSpPr txBox="1"/>
          <p:nvPr/>
        </p:nvSpPr>
        <p:spPr>
          <a:xfrm>
            <a:off x="640080"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Assunção da área</a:t>
            </a:r>
          </a:p>
        </p:txBody>
      </p:sp>
      <p:sp>
        <p:nvSpPr>
          <p:cNvPr id="22" name="Freeform 21"/>
          <p:cNvSpPr/>
          <p:nvPr/>
        </p:nvSpPr>
        <p:spPr>
          <a:xfrm>
            <a:off x="2121408"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23" name="Freeform 22"/>
          <p:cNvSpPr/>
          <p:nvPr/>
        </p:nvSpPr>
        <p:spPr>
          <a:xfrm>
            <a:off x="2766464" y="2985324"/>
            <a:ext cx="60552" cy="64392"/>
          </a:xfrm>
          <a:custGeom>
            <a:avLst/>
            <a:gdLst/>
            <a:ahLst/>
            <a:cxnLst/>
            <a:rect l="l" t="t" r="r" b="b"/>
            <a:pathLst>
              <a:path w="60552" h="64392">
                <a:moveTo>
                  <a:pt x="60552"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24" name="Oval 23"/>
          <p:cNvSpPr/>
          <p:nvPr/>
        </p:nvSpPr>
        <p:spPr>
          <a:xfrm>
            <a:off x="3633208"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25" name="Oval 24"/>
          <p:cNvSpPr/>
          <p:nvPr/>
        </p:nvSpPr>
        <p:spPr>
          <a:xfrm>
            <a:off x="3715504" y="2816351"/>
            <a:ext cx="402336" cy="402336"/>
          </a:xfrm>
          <a:prstGeom prst="ellipse">
            <a:avLst/>
          </a:prstGeom>
          <a:solidFill>
            <a:srgbClr val="3432C9"/>
          </a:solidFill>
          <a:ln w="12700" cap="rnd">
            <a:noFill/>
            <a:round/>
          </a:ln>
          <a:effectLst/>
        </p:spPr>
        <p:txBody>
          <a:bodyPr rtlCol="0" anchor="ctr"/>
          <a:lstStyle/>
          <a:p/>
        </p:txBody>
      </p:sp>
      <p:sp>
        <p:nvSpPr>
          <p:cNvPr id="26" name="TextBox 25"/>
          <p:cNvSpPr txBox="1"/>
          <p:nvPr/>
        </p:nvSpPr>
        <p:spPr>
          <a:xfrm>
            <a:off x="3550912"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02</a:t>
            </a:r>
          </a:p>
        </p:txBody>
      </p:sp>
      <p:sp>
        <p:nvSpPr>
          <p:cNvPr id="27" name="Oval 26"/>
          <p:cNvSpPr/>
          <p:nvPr/>
        </p:nvSpPr>
        <p:spPr>
          <a:xfrm>
            <a:off x="3828341" y="2151948"/>
            <a:ext cx="176662" cy="176662"/>
          </a:xfrm>
          <a:prstGeom prst="ellipse">
            <a:avLst/>
          </a:prstGeom>
          <a:noFill/>
          <a:ln w="15875" cap="rnd">
            <a:solidFill>
              <a:srgbClr val="3432C9"/>
            </a:solidFill>
            <a:round/>
          </a:ln>
          <a:effectLst/>
        </p:spPr>
        <p:txBody>
          <a:bodyPr rtlCol="0" anchor="ctr"/>
          <a:lstStyle/>
          <a:p/>
        </p:txBody>
      </p:sp>
      <p:sp>
        <p:nvSpPr>
          <p:cNvPr id="28" name="Oval 27"/>
          <p:cNvSpPr/>
          <p:nvPr/>
        </p:nvSpPr>
        <p:spPr>
          <a:xfrm>
            <a:off x="3882108" y="2205715"/>
            <a:ext cx="69128" cy="69128"/>
          </a:xfrm>
          <a:prstGeom prst="ellipse">
            <a:avLst/>
          </a:prstGeom>
          <a:noFill/>
          <a:ln w="15875" cap="rnd">
            <a:solidFill>
              <a:srgbClr val="3432C9"/>
            </a:solidFill>
            <a:round/>
          </a:ln>
          <a:effectLst/>
        </p:spPr>
        <p:txBody>
          <a:bodyPr rtlCol="0" anchor="ctr"/>
          <a:lstStyle/>
          <a:p/>
        </p:txBody>
      </p:sp>
      <p:sp>
        <p:nvSpPr>
          <p:cNvPr id="29" name="Freeform 28"/>
          <p:cNvSpPr/>
          <p:nvPr/>
        </p:nvSpPr>
        <p:spPr>
          <a:xfrm>
            <a:off x="4012684" y="2240280"/>
            <a:ext cx="34565" cy="0"/>
          </a:xfrm>
          <a:custGeom>
            <a:avLst/>
            <a:gdLst/>
            <a:ahLst/>
            <a:cxnLst/>
            <a:rect l="l" t="t" r="r" b="b"/>
            <a:pathLst>
              <a:path w="34565" h="0">
                <a:moveTo>
                  <a:pt x="0" y="0"/>
                </a:moveTo>
                <a:lnTo>
                  <a:pt x="34565" y="0"/>
                </a:lnTo>
              </a:path>
            </a:pathLst>
          </a:custGeom>
          <a:noFill/>
          <a:ln w="14288" cap="rnd">
            <a:solidFill>
              <a:srgbClr val="3432C9"/>
            </a:solidFill>
            <a:round/>
          </a:ln>
          <a:effectLst/>
        </p:spPr>
        <p:txBody>
          <a:bodyPr rtlCol="0" anchor="ctr"/>
          <a:lstStyle/>
          <a:p>
            <a:pPr algn="ctr"/>
          </a:p>
        </p:txBody>
      </p:sp>
      <p:sp>
        <p:nvSpPr>
          <p:cNvPr id="30" name="Freeform 29"/>
          <p:cNvSpPr/>
          <p:nvPr/>
        </p:nvSpPr>
        <p:spPr>
          <a:xfrm>
            <a:off x="3984563" y="2308171"/>
            <a:ext cx="24441" cy="24440"/>
          </a:xfrm>
          <a:custGeom>
            <a:avLst/>
            <a:gdLst/>
            <a:ahLst/>
            <a:cxnLst/>
            <a:rect l="l" t="t" r="r" b="b"/>
            <a:pathLst>
              <a:path w="24441" h="24440">
                <a:moveTo>
                  <a:pt x="0" y="0"/>
                </a:moveTo>
                <a:lnTo>
                  <a:pt x="24441" y="2444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3916672" y="2336292"/>
            <a:ext cx="0" cy="34564"/>
          </a:xfrm>
          <a:custGeom>
            <a:avLst/>
            <a:gdLst/>
            <a:ahLst/>
            <a:cxnLst/>
            <a:rect l="l" t="t" r="r" b="b"/>
            <a:pathLst>
              <a:path w="0" h="34564">
                <a:moveTo>
                  <a:pt x="0" y="0"/>
                </a:moveTo>
                <a:lnTo>
                  <a:pt x="0" y="34564"/>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3824341" y="2308171"/>
            <a:ext cx="24441" cy="24440"/>
          </a:xfrm>
          <a:custGeom>
            <a:avLst/>
            <a:gdLst/>
            <a:ahLst/>
            <a:cxnLst/>
            <a:rect l="l" t="t" r="r" b="b"/>
            <a:pathLst>
              <a:path w="24441" h="24440">
                <a:moveTo>
                  <a:pt x="24441" y="0"/>
                </a:moveTo>
                <a:lnTo>
                  <a:pt x="0" y="24440"/>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3786096" y="2240280"/>
            <a:ext cx="34564" cy="0"/>
          </a:xfrm>
          <a:custGeom>
            <a:avLst/>
            <a:gdLst/>
            <a:ahLst/>
            <a:cxnLst/>
            <a:rect l="l" t="t" r="r" b="b"/>
            <a:pathLst>
              <a:path w="34564" h="0">
                <a:moveTo>
                  <a:pt x="34564" y="0"/>
                </a:moveTo>
                <a:lnTo>
                  <a:pt x="0" y="0"/>
                </a:lnTo>
              </a:path>
            </a:pathLst>
          </a:custGeom>
          <a:noFill/>
          <a:ln w="14288" cap="rnd">
            <a:solidFill>
              <a:srgbClr val="3432C9"/>
            </a:solidFill>
            <a:round/>
          </a:ln>
          <a:effectLst/>
        </p:spPr>
        <p:txBody>
          <a:bodyPr rtlCol="0" anchor="ctr"/>
          <a:lstStyle/>
          <a:p>
            <a:pPr algn="ctr"/>
          </a:p>
        </p:txBody>
      </p:sp>
      <p:sp>
        <p:nvSpPr>
          <p:cNvPr id="34" name="Freeform 33"/>
          <p:cNvSpPr/>
          <p:nvPr/>
        </p:nvSpPr>
        <p:spPr>
          <a:xfrm>
            <a:off x="3824341" y="2147949"/>
            <a:ext cx="24441" cy="24440"/>
          </a:xfrm>
          <a:custGeom>
            <a:avLst/>
            <a:gdLst/>
            <a:ahLst/>
            <a:cxnLst/>
            <a:rect l="l" t="t" r="r" b="b"/>
            <a:pathLst>
              <a:path w="24441" h="24440">
                <a:moveTo>
                  <a:pt x="24441" y="24440"/>
                </a:moveTo>
                <a:lnTo>
                  <a:pt x="0" y="0"/>
                </a:lnTo>
              </a:path>
            </a:pathLst>
          </a:custGeom>
          <a:noFill/>
          <a:ln w="14288" cap="rnd">
            <a:solidFill>
              <a:srgbClr val="3432C9"/>
            </a:solidFill>
            <a:round/>
          </a:ln>
          <a:effectLst/>
        </p:spPr>
        <p:txBody>
          <a:bodyPr rtlCol="0" anchor="ctr"/>
          <a:lstStyle/>
          <a:p>
            <a:pPr algn="ctr"/>
          </a:p>
        </p:txBody>
      </p:sp>
      <p:sp>
        <p:nvSpPr>
          <p:cNvPr id="35" name="Freeform 34"/>
          <p:cNvSpPr/>
          <p:nvPr/>
        </p:nvSpPr>
        <p:spPr>
          <a:xfrm>
            <a:off x="3916672" y="2109704"/>
            <a:ext cx="0" cy="34564"/>
          </a:xfrm>
          <a:custGeom>
            <a:avLst/>
            <a:gdLst/>
            <a:ahLst/>
            <a:cxnLst/>
            <a:rect l="l" t="t" r="r" b="b"/>
            <a:pathLst>
              <a:path w="0" h="34564">
                <a:moveTo>
                  <a:pt x="0" y="34564"/>
                </a:moveTo>
                <a:lnTo>
                  <a:pt x="0" y="0"/>
                </a:lnTo>
              </a:path>
            </a:pathLst>
          </a:custGeom>
          <a:noFill/>
          <a:ln w="14288" cap="rnd">
            <a:solidFill>
              <a:srgbClr val="3432C9"/>
            </a:solidFill>
            <a:round/>
          </a:ln>
          <a:effectLst/>
        </p:spPr>
        <p:txBody>
          <a:bodyPr rtlCol="0" anchor="ctr"/>
          <a:lstStyle/>
          <a:p>
            <a:pPr algn="ctr"/>
          </a:p>
        </p:txBody>
      </p:sp>
      <p:sp>
        <p:nvSpPr>
          <p:cNvPr id="36" name="Freeform 35"/>
          <p:cNvSpPr/>
          <p:nvPr/>
        </p:nvSpPr>
        <p:spPr>
          <a:xfrm>
            <a:off x="3984563" y="2147949"/>
            <a:ext cx="24441" cy="24440"/>
          </a:xfrm>
          <a:custGeom>
            <a:avLst/>
            <a:gdLst/>
            <a:ahLst/>
            <a:cxnLst/>
            <a:rect l="l" t="t" r="r" b="b"/>
            <a:pathLst>
              <a:path w="24441" h="24440">
                <a:moveTo>
                  <a:pt x="0" y="24440"/>
                </a:moveTo>
                <a:lnTo>
                  <a:pt x="24441" y="0"/>
                </a:lnTo>
              </a:path>
            </a:pathLst>
          </a:custGeom>
          <a:noFill/>
          <a:ln w="14288" cap="rnd">
            <a:solidFill>
              <a:srgbClr val="3432C9"/>
            </a:solidFill>
            <a:round/>
          </a:ln>
          <a:effectLst/>
        </p:spPr>
        <p:txBody>
          <a:bodyPr rtlCol="0" anchor="ctr"/>
          <a:lstStyle/>
          <a:p>
            <a:pPr algn="ctr"/>
          </a:p>
        </p:txBody>
      </p:sp>
      <p:sp>
        <p:nvSpPr>
          <p:cNvPr id="37" name="TextBox 36"/>
          <p:cNvSpPr txBox="1"/>
          <p:nvPr/>
        </p:nvSpPr>
        <p:spPr>
          <a:xfrm>
            <a:off x="2819392"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Adequação do espaço</a:t>
            </a:r>
          </a:p>
        </p:txBody>
      </p:sp>
      <p:sp>
        <p:nvSpPr>
          <p:cNvPr id="38" name="Freeform 37"/>
          <p:cNvSpPr/>
          <p:nvPr/>
        </p:nvSpPr>
        <p:spPr>
          <a:xfrm>
            <a:off x="4300720" y="3017520"/>
            <a:ext cx="705609" cy="0"/>
          </a:xfrm>
          <a:custGeom>
            <a:avLst/>
            <a:gdLst/>
            <a:ahLst/>
            <a:cxnLst/>
            <a:rect l="l" t="t" r="r" b="b"/>
            <a:pathLst>
              <a:path w="705609" h="0">
                <a:moveTo>
                  <a:pt x="0" y="0"/>
                </a:moveTo>
                <a:lnTo>
                  <a:pt x="705609" y="0"/>
                </a:lnTo>
              </a:path>
            </a:pathLst>
          </a:custGeom>
          <a:noFill/>
          <a:ln w="12700" cap="rnd">
            <a:solidFill>
              <a:srgbClr val="9A9DB0"/>
            </a:solidFill>
            <a:round/>
          </a:ln>
          <a:effectLst/>
        </p:spPr>
        <p:txBody>
          <a:bodyPr rtlCol="0" anchor="ctr"/>
          <a:lstStyle/>
          <a:p>
            <a:pPr algn="ctr"/>
          </a:p>
        </p:txBody>
      </p:sp>
      <p:sp>
        <p:nvSpPr>
          <p:cNvPr id="39" name="Freeform 38"/>
          <p:cNvSpPr/>
          <p:nvPr/>
        </p:nvSpPr>
        <p:spPr>
          <a:xfrm>
            <a:off x="4945776" y="298532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40" name="Oval 39"/>
          <p:cNvSpPr/>
          <p:nvPr/>
        </p:nvSpPr>
        <p:spPr>
          <a:xfrm>
            <a:off x="5812520"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41" name="Oval 40"/>
          <p:cNvSpPr/>
          <p:nvPr/>
        </p:nvSpPr>
        <p:spPr>
          <a:xfrm>
            <a:off x="5894816" y="2816351"/>
            <a:ext cx="402336" cy="402336"/>
          </a:xfrm>
          <a:prstGeom prst="ellipse">
            <a:avLst/>
          </a:prstGeom>
          <a:solidFill>
            <a:srgbClr val="3432C9"/>
          </a:solidFill>
          <a:ln w="12700" cap="rnd">
            <a:noFill/>
            <a:round/>
          </a:ln>
          <a:effectLst/>
        </p:spPr>
        <p:txBody>
          <a:bodyPr rtlCol="0" anchor="ctr"/>
          <a:lstStyle/>
          <a:p/>
        </p:txBody>
      </p:sp>
      <p:sp>
        <p:nvSpPr>
          <p:cNvPr id="42" name="TextBox 41"/>
          <p:cNvSpPr txBox="1"/>
          <p:nvPr/>
        </p:nvSpPr>
        <p:spPr>
          <a:xfrm>
            <a:off x="5730224"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03</a:t>
            </a:r>
          </a:p>
        </p:txBody>
      </p:sp>
      <p:sp>
        <p:nvSpPr>
          <p:cNvPr id="43" name="Freeform 42"/>
          <p:cNvSpPr/>
          <p:nvPr/>
        </p:nvSpPr>
        <p:spPr>
          <a:xfrm>
            <a:off x="5942366" y="2240280"/>
            <a:ext cx="130576" cy="115214"/>
          </a:xfrm>
          <a:custGeom>
            <a:avLst/>
            <a:gdLst/>
            <a:ahLst/>
            <a:cxnLst/>
            <a:rect l="l" t="t" r="r" b="b"/>
            <a:pathLst>
              <a:path w="130576" h="115214">
                <a:moveTo>
                  <a:pt x="0" y="0"/>
                </a:moveTo>
                <a:lnTo>
                  <a:pt x="130576" y="0"/>
                </a:lnTo>
                <a:lnTo>
                  <a:pt x="130576" y="115214"/>
                </a:lnTo>
                <a:lnTo>
                  <a:pt x="0" y="115214"/>
                </a:lnTo>
                <a:close/>
              </a:path>
            </a:pathLst>
          </a:custGeom>
          <a:noFill/>
          <a:ln w="15875" cap="rnd">
            <a:solidFill>
              <a:srgbClr val="3432C9"/>
            </a:solidFill>
            <a:round/>
          </a:ln>
          <a:effectLst/>
        </p:spPr>
        <p:txBody>
          <a:bodyPr rtlCol="0" anchor="ctr"/>
          <a:lstStyle/>
          <a:p>
            <a:pPr algn="ctr"/>
          </a:p>
        </p:txBody>
      </p:sp>
      <p:sp>
        <p:nvSpPr>
          <p:cNvPr id="44" name="Freeform 43"/>
          <p:cNvSpPr/>
          <p:nvPr/>
        </p:nvSpPr>
        <p:spPr>
          <a:xfrm>
            <a:off x="6088304" y="2240280"/>
            <a:ext cx="130576" cy="115214"/>
          </a:xfrm>
          <a:custGeom>
            <a:avLst/>
            <a:gdLst/>
            <a:ahLst/>
            <a:cxnLst/>
            <a:rect l="l" t="t" r="r" b="b"/>
            <a:pathLst>
              <a:path w="130576" h="115214">
                <a:moveTo>
                  <a:pt x="0" y="0"/>
                </a:moveTo>
                <a:lnTo>
                  <a:pt x="130576" y="0"/>
                </a:lnTo>
                <a:lnTo>
                  <a:pt x="130576" y="115214"/>
                </a:lnTo>
                <a:lnTo>
                  <a:pt x="0" y="115214"/>
                </a:lnTo>
                <a:close/>
              </a:path>
            </a:pathLst>
          </a:custGeom>
          <a:noFill/>
          <a:ln w="15875" cap="rnd">
            <a:solidFill>
              <a:srgbClr val="3432C9"/>
            </a:solidFill>
            <a:round/>
          </a:ln>
          <a:effectLst/>
        </p:spPr>
        <p:txBody>
          <a:bodyPr rtlCol="0" anchor="ctr"/>
          <a:lstStyle/>
          <a:p>
            <a:pPr algn="ctr"/>
          </a:p>
        </p:txBody>
      </p:sp>
      <p:sp>
        <p:nvSpPr>
          <p:cNvPr id="45" name="Freeform 44"/>
          <p:cNvSpPr/>
          <p:nvPr/>
        </p:nvSpPr>
        <p:spPr>
          <a:xfrm>
            <a:off x="6015335" y="2117385"/>
            <a:ext cx="130576" cy="107533"/>
          </a:xfrm>
          <a:custGeom>
            <a:avLst/>
            <a:gdLst/>
            <a:ahLst/>
            <a:cxnLst/>
            <a:rect l="l" t="t" r="r" b="b"/>
            <a:pathLst>
              <a:path w="130576" h="107533">
                <a:moveTo>
                  <a:pt x="0" y="0"/>
                </a:moveTo>
                <a:lnTo>
                  <a:pt x="130576" y="0"/>
                </a:lnTo>
                <a:lnTo>
                  <a:pt x="130576" y="107533"/>
                </a:lnTo>
                <a:lnTo>
                  <a:pt x="0" y="107533"/>
                </a:lnTo>
                <a:close/>
              </a:path>
            </a:pathLst>
          </a:custGeom>
          <a:noFill/>
          <a:ln w="15875" cap="rnd">
            <a:solidFill>
              <a:srgbClr val="3432C9"/>
            </a:solidFill>
            <a:round/>
          </a:ln>
          <a:effectLst/>
        </p:spPr>
        <p:txBody>
          <a:bodyPr rtlCol="0" anchor="ctr"/>
          <a:lstStyle/>
          <a:p>
            <a:pPr algn="ctr"/>
          </a:p>
        </p:txBody>
      </p:sp>
      <p:sp>
        <p:nvSpPr>
          <p:cNvPr id="46" name="Freeform 45"/>
          <p:cNvSpPr/>
          <p:nvPr/>
        </p:nvSpPr>
        <p:spPr>
          <a:xfrm>
            <a:off x="6007654" y="2240280"/>
            <a:ext cx="0" cy="115214"/>
          </a:xfrm>
          <a:custGeom>
            <a:avLst/>
            <a:gdLst/>
            <a:ahLst/>
            <a:cxnLst/>
            <a:rect l="l" t="t" r="r" b="b"/>
            <a:pathLst>
              <a:path w="0" h="115214">
                <a:moveTo>
                  <a:pt x="0" y="0"/>
                </a:moveTo>
                <a:lnTo>
                  <a:pt x="0" y="115214"/>
                </a:lnTo>
              </a:path>
            </a:pathLst>
          </a:custGeom>
          <a:noFill/>
          <a:ln w="11112" cap="rnd">
            <a:solidFill>
              <a:srgbClr val="3432C9"/>
            </a:solidFill>
            <a:round/>
          </a:ln>
          <a:effectLst/>
        </p:spPr>
        <p:txBody>
          <a:bodyPr rtlCol="0" anchor="ctr"/>
          <a:lstStyle/>
          <a:p>
            <a:pPr algn="ctr"/>
          </a:p>
        </p:txBody>
      </p:sp>
      <p:sp>
        <p:nvSpPr>
          <p:cNvPr id="47" name="Freeform 46"/>
          <p:cNvSpPr/>
          <p:nvPr/>
        </p:nvSpPr>
        <p:spPr>
          <a:xfrm>
            <a:off x="6153592" y="2240280"/>
            <a:ext cx="0" cy="115214"/>
          </a:xfrm>
          <a:custGeom>
            <a:avLst/>
            <a:gdLst/>
            <a:ahLst/>
            <a:cxnLst/>
            <a:rect l="l" t="t" r="r" b="b"/>
            <a:pathLst>
              <a:path w="0" h="115214">
                <a:moveTo>
                  <a:pt x="0" y="0"/>
                </a:moveTo>
                <a:lnTo>
                  <a:pt x="0" y="115214"/>
                </a:lnTo>
              </a:path>
            </a:pathLst>
          </a:custGeom>
          <a:noFill/>
          <a:ln w="11112" cap="rnd">
            <a:solidFill>
              <a:srgbClr val="3432C9"/>
            </a:solidFill>
            <a:round/>
          </a:ln>
          <a:effectLst/>
        </p:spPr>
        <p:txBody>
          <a:bodyPr rtlCol="0" anchor="ctr"/>
          <a:lstStyle/>
          <a:p>
            <a:pPr algn="ctr"/>
          </a:p>
        </p:txBody>
      </p:sp>
      <p:sp>
        <p:nvSpPr>
          <p:cNvPr id="48" name="Freeform 47"/>
          <p:cNvSpPr/>
          <p:nvPr/>
        </p:nvSpPr>
        <p:spPr>
          <a:xfrm>
            <a:off x="6080623" y="2117385"/>
            <a:ext cx="0" cy="107533"/>
          </a:xfrm>
          <a:custGeom>
            <a:avLst/>
            <a:gdLst/>
            <a:ahLst/>
            <a:cxnLst/>
            <a:rect l="l" t="t" r="r" b="b"/>
            <a:pathLst>
              <a:path w="0" h="107533">
                <a:moveTo>
                  <a:pt x="0" y="0"/>
                </a:moveTo>
                <a:lnTo>
                  <a:pt x="0" y="107533"/>
                </a:lnTo>
              </a:path>
            </a:pathLst>
          </a:custGeom>
          <a:noFill/>
          <a:ln w="11112" cap="rnd">
            <a:solidFill>
              <a:srgbClr val="3432C9"/>
            </a:solidFill>
            <a:round/>
          </a:ln>
          <a:effectLst/>
        </p:spPr>
        <p:txBody>
          <a:bodyPr rtlCol="0" anchor="ctr"/>
          <a:lstStyle/>
          <a:p>
            <a:pPr algn="ctr"/>
          </a:p>
        </p:txBody>
      </p:sp>
      <p:sp>
        <p:nvSpPr>
          <p:cNvPr id="49" name="TextBox 48"/>
          <p:cNvSpPr txBox="1"/>
          <p:nvPr/>
        </p:nvSpPr>
        <p:spPr>
          <a:xfrm>
            <a:off x="4998704"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Implantação operacional</a:t>
            </a:r>
          </a:p>
        </p:txBody>
      </p:sp>
      <p:sp>
        <p:nvSpPr>
          <p:cNvPr id="50" name="Freeform 49"/>
          <p:cNvSpPr/>
          <p:nvPr/>
        </p:nvSpPr>
        <p:spPr>
          <a:xfrm>
            <a:off x="6480033"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51" name="Freeform 50"/>
          <p:cNvSpPr/>
          <p:nvPr/>
        </p:nvSpPr>
        <p:spPr>
          <a:xfrm>
            <a:off x="7125088" y="298532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52" name="Oval 51"/>
          <p:cNvSpPr/>
          <p:nvPr/>
        </p:nvSpPr>
        <p:spPr>
          <a:xfrm>
            <a:off x="7991833"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53" name="Oval 52"/>
          <p:cNvSpPr/>
          <p:nvPr/>
        </p:nvSpPr>
        <p:spPr>
          <a:xfrm>
            <a:off x="8074129" y="2816351"/>
            <a:ext cx="402336" cy="402336"/>
          </a:xfrm>
          <a:prstGeom prst="ellipse">
            <a:avLst/>
          </a:prstGeom>
          <a:solidFill>
            <a:srgbClr val="3432C9"/>
          </a:solidFill>
          <a:ln w="12700" cap="rnd">
            <a:noFill/>
            <a:round/>
          </a:ln>
          <a:effectLst/>
        </p:spPr>
        <p:txBody>
          <a:bodyPr rtlCol="0" anchor="ctr"/>
          <a:lstStyle/>
          <a:p/>
        </p:txBody>
      </p:sp>
      <p:sp>
        <p:nvSpPr>
          <p:cNvPr id="54" name="TextBox 53"/>
          <p:cNvSpPr txBox="1"/>
          <p:nvPr/>
        </p:nvSpPr>
        <p:spPr>
          <a:xfrm>
            <a:off x="7909537"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04</a:t>
            </a:r>
          </a:p>
        </p:txBody>
      </p:sp>
      <p:sp>
        <p:nvSpPr>
          <p:cNvPr id="55" name="Freeform 54"/>
          <p:cNvSpPr/>
          <p:nvPr/>
        </p:nvSpPr>
        <p:spPr>
          <a:xfrm>
            <a:off x="8281883" y="2140312"/>
            <a:ext cx="79024" cy="136875"/>
          </a:xfrm>
          <a:custGeom>
            <a:avLst/>
            <a:gdLst/>
            <a:ahLst/>
            <a:cxnLst/>
            <a:rect l="l" t="t" r="r" b="b"/>
            <a:pathLst>
              <a:path w="79024" h="136875">
                <a:moveTo>
                  <a:pt x="0" y="0"/>
                </a:moveTo>
                <a:lnTo>
                  <a:pt x="79024" y="136875"/>
                </a:lnTo>
              </a:path>
            </a:pathLst>
          </a:custGeom>
          <a:noFill/>
          <a:ln w="15875" cap="rnd">
            <a:solidFill>
              <a:srgbClr val="3432C9"/>
            </a:solidFill>
            <a:round/>
          </a:ln>
          <a:effectLst/>
        </p:spPr>
        <p:txBody>
          <a:bodyPr rtlCol="0" anchor="ctr"/>
          <a:lstStyle/>
          <a:p>
            <a:pPr algn="ctr"/>
          </a:p>
        </p:txBody>
      </p:sp>
      <p:sp>
        <p:nvSpPr>
          <p:cNvPr id="56" name="Freeform 55"/>
          <p:cNvSpPr/>
          <p:nvPr/>
        </p:nvSpPr>
        <p:spPr>
          <a:xfrm>
            <a:off x="8325081" y="2234967"/>
            <a:ext cx="35826" cy="42220"/>
          </a:xfrm>
          <a:custGeom>
            <a:avLst/>
            <a:gdLst/>
            <a:ahLst/>
            <a:cxnLst/>
            <a:rect l="l" t="t" r="r" b="b"/>
            <a:pathLst>
              <a:path w="35826" h="42220">
                <a:moveTo>
                  <a:pt x="35826" y="42220"/>
                </a:moveTo>
                <a:lnTo>
                  <a:pt x="0" y="19833"/>
                </a:lnTo>
                <a:lnTo>
                  <a:pt x="34352" y="0"/>
                </a:lnTo>
                <a:close/>
              </a:path>
            </a:pathLst>
          </a:custGeom>
          <a:solidFill>
            <a:srgbClr val="3432C9"/>
          </a:solidFill>
          <a:ln w="9525" cap="rnd">
            <a:solidFill>
              <a:srgbClr val="3432C9"/>
            </a:solidFill>
            <a:round/>
          </a:ln>
          <a:effectLst/>
        </p:spPr>
        <p:txBody>
          <a:bodyPr rtlCol="0" anchor="ctr"/>
          <a:lstStyle/>
          <a:p>
            <a:pPr algn="ctr"/>
          </a:p>
        </p:txBody>
      </p:sp>
      <p:sp>
        <p:nvSpPr>
          <p:cNvPr id="57" name="Freeform 56"/>
          <p:cNvSpPr/>
          <p:nvPr/>
        </p:nvSpPr>
        <p:spPr>
          <a:xfrm>
            <a:off x="8213834" y="2319010"/>
            <a:ext cx="158049" cy="0"/>
          </a:xfrm>
          <a:custGeom>
            <a:avLst/>
            <a:gdLst/>
            <a:ahLst/>
            <a:cxnLst/>
            <a:rect l="l" t="t" r="r" b="b"/>
            <a:pathLst>
              <a:path w="158049" h="0">
                <a:moveTo>
                  <a:pt x="158049" y="0"/>
                </a:moveTo>
                <a:lnTo>
                  <a:pt x="0" y="0"/>
                </a:lnTo>
              </a:path>
            </a:pathLst>
          </a:custGeom>
          <a:noFill/>
          <a:ln w="15875" cap="rnd">
            <a:solidFill>
              <a:srgbClr val="3432C9"/>
            </a:solidFill>
            <a:round/>
          </a:ln>
          <a:effectLst/>
        </p:spPr>
        <p:txBody>
          <a:bodyPr rtlCol="0" anchor="ctr"/>
          <a:lstStyle/>
          <a:p>
            <a:pPr algn="ctr"/>
          </a:p>
        </p:txBody>
      </p:sp>
      <p:sp>
        <p:nvSpPr>
          <p:cNvPr id="58" name="Freeform 57"/>
          <p:cNvSpPr/>
          <p:nvPr/>
        </p:nvSpPr>
        <p:spPr>
          <a:xfrm>
            <a:off x="8213834" y="2299177"/>
            <a:ext cx="37300" cy="39666"/>
          </a:xfrm>
          <a:custGeom>
            <a:avLst/>
            <a:gdLst/>
            <a:ahLst/>
            <a:cxnLst/>
            <a:rect l="l" t="t" r="r" b="b"/>
            <a:pathLst>
              <a:path w="37300" h="39666">
                <a:moveTo>
                  <a:pt x="0" y="19833"/>
                </a:moveTo>
                <a:lnTo>
                  <a:pt x="37300" y="0"/>
                </a:lnTo>
                <a:lnTo>
                  <a:pt x="37300" y="39666"/>
                </a:lnTo>
                <a:close/>
              </a:path>
            </a:pathLst>
          </a:custGeom>
          <a:solidFill>
            <a:srgbClr val="3432C9"/>
          </a:solidFill>
          <a:ln w="9525" cap="rnd">
            <a:solidFill>
              <a:srgbClr val="3432C9"/>
            </a:solidFill>
            <a:round/>
          </a:ln>
          <a:effectLst/>
        </p:spPr>
        <p:txBody>
          <a:bodyPr rtlCol="0" anchor="ctr"/>
          <a:lstStyle/>
          <a:p>
            <a:pPr algn="ctr"/>
          </a:p>
        </p:txBody>
      </p:sp>
      <p:sp>
        <p:nvSpPr>
          <p:cNvPr id="59" name="Freeform 58"/>
          <p:cNvSpPr/>
          <p:nvPr/>
        </p:nvSpPr>
        <p:spPr>
          <a:xfrm>
            <a:off x="8172126" y="2170729"/>
            <a:ext cx="79025" cy="136875"/>
          </a:xfrm>
          <a:custGeom>
            <a:avLst/>
            <a:gdLst/>
            <a:ahLst/>
            <a:cxnLst/>
            <a:rect l="l" t="t" r="r" b="b"/>
            <a:pathLst>
              <a:path w="79025" h="136875">
                <a:moveTo>
                  <a:pt x="0" y="136875"/>
                </a:moveTo>
                <a:lnTo>
                  <a:pt x="79025" y="0"/>
                </a:lnTo>
              </a:path>
            </a:pathLst>
          </a:custGeom>
          <a:noFill/>
          <a:ln w="15875" cap="rnd">
            <a:solidFill>
              <a:srgbClr val="3432C9"/>
            </a:solidFill>
            <a:round/>
          </a:ln>
          <a:effectLst/>
        </p:spPr>
        <p:txBody>
          <a:bodyPr rtlCol="0" anchor="ctr"/>
          <a:lstStyle/>
          <a:p>
            <a:pPr algn="ctr"/>
          </a:p>
        </p:txBody>
      </p:sp>
      <p:sp>
        <p:nvSpPr>
          <p:cNvPr id="60" name="Freeform 59"/>
          <p:cNvSpPr/>
          <p:nvPr/>
        </p:nvSpPr>
        <p:spPr>
          <a:xfrm>
            <a:off x="8215325" y="2170729"/>
            <a:ext cx="35826" cy="42219"/>
          </a:xfrm>
          <a:custGeom>
            <a:avLst/>
            <a:gdLst/>
            <a:ahLst/>
            <a:cxnLst/>
            <a:rect l="l" t="t" r="r" b="b"/>
            <a:pathLst>
              <a:path w="35826" h="42219">
                <a:moveTo>
                  <a:pt x="35826" y="0"/>
                </a:moveTo>
                <a:lnTo>
                  <a:pt x="34351" y="42219"/>
                </a:lnTo>
                <a:lnTo>
                  <a:pt x="0" y="22386"/>
                </a:lnTo>
                <a:close/>
              </a:path>
            </a:pathLst>
          </a:custGeom>
          <a:solidFill>
            <a:srgbClr val="3432C9"/>
          </a:solidFill>
          <a:ln w="9525" cap="rnd">
            <a:solidFill>
              <a:srgbClr val="3432C9"/>
            </a:solidFill>
            <a:round/>
          </a:ln>
          <a:effectLst/>
        </p:spPr>
        <p:txBody>
          <a:bodyPr rtlCol="0" anchor="ctr"/>
          <a:lstStyle/>
          <a:p>
            <a:pPr algn="ctr"/>
          </a:p>
        </p:txBody>
      </p:sp>
      <p:sp>
        <p:nvSpPr>
          <p:cNvPr id="61" name="TextBox 60"/>
          <p:cNvSpPr txBox="1"/>
          <p:nvPr/>
        </p:nvSpPr>
        <p:spPr>
          <a:xfrm>
            <a:off x="7178017"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Início das operações</a:t>
            </a:r>
          </a:p>
        </p:txBody>
      </p:sp>
      <p:sp>
        <p:nvSpPr>
          <p:cNvPr id="62" name="Freeform 61"/>
          <p:cNvSpPr/>
          <p:nvPr/>
        </p:nvSpPr>
        <p:spPr>
          <a:xfrm>
            <a:off x="8659345"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63" name="Freeform 62"/>
          <p:cNvSpPr/>
          <p:nvPr/>
        </p:nvSpPr>
        <p:spPr>
          <a:xfrm>
            <a:off x="9304401" y="2985324"/>
            <a:ext cx="60552" cy="64392"/>
          </a:xfrm>
          <a:custGeom>
            <a:avLst/>
            <a:gdLst/>
            <a:ahLst/>
            <a:cxnLst/>
            <a:rect l="l" t="t" r="r" b="b"/>
            <a:pathLst>
              <a:path w="60552" h="64392">
                <a:moveTo>
                  <a:pt x="60552"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64" name="Oval 63"/>
          <p:cNvSpPr/>
          <p:nvPr/>
        </p:nvSpPr>
        <p:spPr>
          <a:xfrm>
            <a:off x="10171145" y="2734056"/>
            <a:ext cx="566928" cy="566928"/>
          </a:xfrm>
          <a:prstGeom prst="ellipse">
            <a:avLst/>
          </a:prstGeom>
          <a:solidFill>
            <a:srgbClr val="FFFFFF"/>
          </a:solidFill>
          <a:ln w="16510" cap="rnd">
            <a:solidFill>
              <a:srgbClr val="12A87B"/>
            </a:solidFill>
            <a:round/>
          </a:ln>
          <a:effectLst/>
        </p:spPr>
        <p:txBody>
          <a:bodyPr rtlCol="0" anchor="ctr"/>
          <a:lstStyle/>
          <a:p/>
        </p:txBody>
      </p:sp>
      <p:sp>
        <p:nvSpPr>
          <p:cNvPr id="65" name="Oval 64"/>
          <p:cNvSpPr/>
          <p:nvPr/>
        </p:nvSpPr>
        <p:spPr>
          <a:xfrm>
            <a:off x="10253441" y="2816351"/>
            <a:ext cx="402336" cy="402336"/>
          </a:xfrm>
          <a:prstGeom prst="ellipse">
            <a:avLst/>
          </a:prstGeom>
          <a:solidFill>
            <a:srgbClr val="12A87B"/>
          </a:solidFill>
          <a:ln w="12700" cap="rnd">
            <a:noFill/>
            <a:round/>
          </a:ln>
          <a:effectLst/>
        </p:spPr>
        <p:txBody>
          <a:bodyPr rtlCol="0" anchor="ctr"/>
          <a:lstStyle/>
          <a:p/>
        </p:txBody>
      </p:sp>
      <p:sp>
        <p:nvSpPr>
          <p:cNvPr id="66" name="TextBox 65"/>
          <p:cNvSpPr txBox="1"/>
          <p:nvPr/>
        </p:nvSpPr>
        <p:spPr>
          <a:xfrm>
            <a:off x="10088849"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05</a:t>
            </a:r>
          </a:p>
        </p:txBody>
      </p:sp>
      <p:sp>
        <p:nvSpPr>
          <p:cNvPr id="67" name="Freeform 66"/>
          <p:cNvSpPr/>
          <p:nvPr/>
        </p:nvSpPr>
        <p:spPr>
          <a:xfrm>
            <a:off x="10359184" y="2103143"/>
            <a:ext cx="190851" cy="274274"/>
          </a:xfrm>
          <a:custGeom>
            <a:avLst/>
            <a:gdLst/>
            <a:ahLst/>
            <a:cxnLst/>
            <a:rect l="l" t="t" r="r" b="b"/>
            <a:pathLst>
              <a:path w="190851" h="274274">
                <a:moveTo>
                  <a:pt x="145339" y="274274"/>
                </a:moveTo>
                <a:lnTo>
                  <a:pt x="132318" y="267067"/>
                </a:lnTo>
                <a:lnTo>
                  <a:pt x="118403" y="260185"/>
                </a:lnTo>
                <a:lnTo>
                  <a:pt x="104374" y="253345"/>
                </a:lnTo>
                <a:lnTo>
                  <a:pt x="90546" y="246431"/>
                </a:lnTo>
                <a:lnTo>
                  <a:pt x="77157" y="239358"/>
                </a:lnTo>
                <a:lnTo>
                  <a:pt x="64408" y="232052"/>
                </a:lnTo>
                <a:lnTo>
                  <a:pt x="52478" y="224448"/>
                </a:lnTo>
                <a:lnTo>
                  <a:pt x="41520" y="216489"/>
                </a:lnTo>
                <a:lnTo>
                  <a:pt x="31670" y="208128"/>
                </a:lnTo>
                <a:lnTo>
                  <a:pt x="23038" y="199324"/>
                </a:lnTo>
                <a:lnTo>
                  <a:pt x="15711" y="190044"/>
                </a:lnTo>
                <a:lnTo>
                  <a:pt x="9754" y="180266"/>
                </a:lnTo>
                <a:lnTo>
                  <a:pt x="5204" y="169975"/>
                </a:lnTo>
                <a:lnTo>
                  <a:pt x="2074" y="159168"/>
                </a:lnTo>
                <a:lnTo>
                  <a:pt x="353" y="147848"/>
                </a:lnTo>
                <a:lnTo>
                  <a:pt x="0" y="136029"/>
                </a:lnTo>
                <a:lnTo>
                  <a:pt x="954" y="123736"/>
                </a:lnTo>
                <a:lnTo>
                  <a:pt x="3125" y="110999"/>
                </a:lnTo>
                <a:lnTo>
                  <a:pt x="6403" y="97860"/>
                </a:lnTo>
                <a:lnTo>
                  <a:pt x="10655" y="84366"/>
                </a:lnTo>
                <a:lnTo>
                  <a:pt x="15725" y="70574"/>
                </a:lnTo>
                <a:lnTo>
                  <a:pt x="21435" y="56549"/>
                </a:lnTo>
                <a:lnTo>
                  <a:pt x="27584" y="42365"/>
                </a:lnTo>
                <a:lnTo>
                  <a:pt x="33933" y="28107"/>
                </a:lnTo>
                <a:lnTo>
                  <a:pt x="40170" y="13891"/>
                </a:lnTo>
                <a:lnTo>
                  <a:pt x="45512" y="0"/>
                </a:lnTo>
                <a:lnTo>
                  <a:pt x="45512" y="0"/>
                </a:lnTo>
                <a:lnTo>
                  <a:pt x="58533" y="7207"/>
                </a:lnTo>
                <a:lnTo>
                  <a:pt x="72448" y="14089"/>
                </a:lnTo>
                <a:lnTo>
                  <a:pt x="86477" y="20929"/>
                </a:lnTo>
                <a:lnTo>
                  <a:pt x="100305" y="27843"/>
                </a:lnTo>
                <a:lnTo>
                  <a:pt x="113694" y="34916"/>
                </a:lnTo>
                <a:lnTo>
                  <a:pt x="126443" y="42222"/>
                </a:lnTo>
                <a:lnTo>
                  <a:pt x="138373" y="49826"/>
                </a:lnTo>
                <a:lnTo>
                  <a:pt x="149331" y="57785"/>
                </a:lnTo>
                <a:lnTo>
                  <a:pt x="159181" y="66146"/>
                </a:lnTo>
                <a:lnTo>
                  <a:pt x="167814" y="74950"/>
                </a:lnTo>
                <a:lnTo>
                  <a:pt x="175140" y="84230"/>
                </a:lnTo>
                <a:lnTo>
                  <a:pt x="181098" y="94008"/>
                </a:lnTo>
                <a:lnTo>
                  <a:pt x="185647" y="104299"/>
                </a:lnTo>
                <a:lnTo>
                  <a:pt x="188777" y="115106"/>
                </a:lnTo>
                <a:lnTo>
                  <a:pt x="190498" y="126426"/>
                </a:lnTo>
                <a:lnTo>
                  <a:pt x="190851" y="138245"/>
                </a:lnTo>
                <a:lnTo>
                  <a:pt x="189897" y="150538"/>
                </a:lnTo>
                <a:lnTo>
                  <a:pt x="187726" y="163275"/>
                </a:lnTo>
                <a:lnTo>
                  <a:pt x="184448" y="176414"/>
                </a:lnTo>
                <a:lnTo>
                  <a:pt x="180196" y="189908"/>
                </a:lnTo>
                <a:lnTo>
                  <a:pt x="175126" y="203700"/>
                </a:lnTo>
                <a:lnTo>
                  <a:pt x="169416" y="217725"/>
                </a:lnTo>
                <a:lnTo>
                  <a:pt x="163267" y="231909"/>
                </a:lnTo>
                <a:lnTo>
                  <a:pt x="156918" y="246167"/>
                </a:lnTo>
                <a:lnTo>
                  <a:pt x="150681" y="260383"/>
                </a:lnTo>
                <a:lnTo>
                  <a:pt x="145339" y="274274"/>
                </a:lnTo>
                <a:close/>
              </a:path>
            </a:pathLst>
          </a:custGeom>
          <a:noFill/>
          <a:ln w="15875" cap="rnd">
            <a:solidFill>
              <a:srgbClr val="12A87B"/>
            </a:solidFill>
            <a:round/>
          </a:ln>
          <a:effectLst/>
        </p:spPr>
        <p:txBody>
          <a:bodyPr rtlCol="0" anchor="ctr"/>
          <a:lstStyle/>
          <a:p>
            <a:pPr algn="ctr"/>
          </a:p>
        </p:txBody>
      </p:sp>
      <p:sp>
        <p:nvSpPr>
          <p:cNvPr id="68" name="Freeform 67"/>
          <p:cNvSpPr/>
          <p:nvPr/>
        </p:nvSpPr>
        <p:spPr>
          <a:xfrm>
            <a:off x="10404696" y="2103143"/>
            <a:ext cx="99827" cy="274274"/>
          </a:xfrm>
          <a:custGeom>
            <a:avLst/>
            <a:gdLst/>
            <a:ahLst/>
            <a:cxnLst/>
            <a:rect l="l" t="t" r="r" b="b"/>
            <a:pathLst>
              <a:path w="99827" h="274274">
                <a:moveTo>
                  <a:pt x="99827" y="274274"/>
                </a:moveTo>
                <a:lnTo>
                  <a:pt x="0" y="0"/>
                </a:lnTo>
              </a:path>
            </a:pathLst>
          </a:custGeom>
          <a:noFill/>
          <a:ln w="12700" cap="rnd">
            <a:solidFill>
              <a:srgbClr val="12A87B"/>
            </a:solidFill>
            <a:round/>
          </a:ln>
          <a:effectLst/>
        </p:spPr>
        <p:txBody>
          <a:bodyPr rtlCol="0" anchor="ctr"/>
          <a:lstStyle/>
          <a:p>
            <a:pPr algn="ctr"/>
          </a:p>
        </p:txBody>
      </p:sp>
      <p:sp>
        <p:nvSpPr>
          <p:cNvPr id="69" name="Freeform 68"/>
          <p:cNvSpPr/>
          <p:nvPr/>
        </p:nvSpPr>
        <p:spPr>
          <a:xfrm>
            <a:off x="10413577" y="2280063"/>
            <a:ext cx="62995" cy="20557"/>
          </a:xfrm>
          <a:custGeom>
            <a:avLst/>
            <a:gdLst/>
            <a:ahLst/>
            <a:cxnLst/>
            <a:rect l="l" t="t" r="r" b="b"/>
            <a:pathLst>
              <a:path w="62995" h="20557">
                <a:moveTo>
                  <a:pt x="62995" y="20557"/>
                </a:moveTo>
                <a:lnTo>
                  <a:pt x="0" y="0"/>
                </a:lnTo>
              </a:path>
            </a:pathLst>
          </a:custGeom>
          <a:noFill/>
          <a:ln w="9525" cap="rnd">
            <a:solidFill>
              <a:srgbClr val="12A87B"/>
            </a:solidFill>
            <a:round/>
          </a:ln>
          <a:effectLst/>
        </p:spPr>
        <p:txBody>
          <a:bodyPr rtlCol="0" anchor="ctr"/>
          <a:lstStyle/>
          <a:p>
            <a:pPr algn="ctr"/>
          </a:p>
        </p:txBody>
      </p:sp>
      <p:sp>
        <p:nvSpPr>
          <p:cNvPr id="70" name="Freeform 69"/>
          <p:cNvSpPr/>
          <p:nvPr/>
        </p:nvSpPr>
        <p:spPr>
          <a:xfrm>
            <a:off x="10476572" y="2244380"/>
            <a:ext cx="35043" cy="56240"/>
          </a:xfrm>
          <a:custGeom>
            <a:avLst/>
            <a:gdLst/>
            <a:ahLst/>
            <a:cxnLst/>
            <a:rect l="l" t="t" r="r" b="b"/>
            <a:pathLst>
              <a:path w="35043" h="56240">
                <a:moveTo>
                  <a:pt x="0" y="56240"/>
                </a:moveTo>
                <a:lnTo>
                  <a:pt x="35043" y="0"/>
                </a:lnTo>
              </a:path>
            </a:pathLst>
          </a:custGeom>
          <a:noFill/>
          <a:ln w="9525" cap="rnd">
            <a:solidFill>
              <a:srgbClr val="12A87B"/>
            </a:solidFill>
            <a:round/>
          </a:ln>
          <a:effectLst/>
        </p:spPr>
        <p:txBody>
          <a:bodyPr rtlCol="0" anchor="ctr"/>
          <a:lstStyle/>
          <a:p>
            <a:pPr algn="ctr"/>
          </a:p>
        </p:txBody>
      </p:sp>
      <p:sp>
        <p:nvSpPr>
          <p:cNvPr id="71" name="Freeform 70"/>
          <p:cNvSpPr/>
          <p:nvPr/>
        </p:nvSpPr>
        <p:spPr>
          <a:xfrm>
            <a:off x="10377809" y="2230960"/>
            <a:ext cx="78797" cy="14805"/>
          </a:xfrm>
          <a:custGeom>
            <a:avLst/>
            <a:gdLst/>
            <a:ahLst/>
            <a:cxnLst/>
            <a:rect l="l" t="t" r="r" b="b"/>
            <a:pathLst>
              <a:path w="78797" h="14805">
                <a:moveTo>
                  <a:pt x="78797" y="14805"/>
                </a:moveTo>
                <a:lnTo>
                  <a:pt x="0" y="0"/>
                </a:lnTo>
              </a:path>
            </a:pathLst>
          </a:custGeom>
          <a:noFill/>
          <a:ln w="9525" cap="rnd">
            <a:solidFill>
              <a:srgbClr val="12A87B"/>
            </a:solidFill>
            <a:round/>
          </a:ln>
          <a:effectLst/>
        </p:spPr>
        <p:txBody>
          <a:bodyPr rtlCol="0" anchor="ctr"/>
          <a:lstStyle/>
          <a:p>
            <a:pPr algn="ctr"/>
          </a:p>
        </p:txBody>
      </p:sp>
      <p:sp>
        <p:nvSpPr>
          <p:cNvPr id="72" name="Freeform 71"/>
          <p:cNvSpPr/>
          <p:nvPr/>
        </p:nvSpPr>
        <p:spPr>
          <a:xfrm>
            <a:off x="10456606" y="2183774"/>
            <a:ext cx="50845" cy="61991"/>
          </a:xfrm>
          <a:custGeom>
            <a:avLst/>
            <a:gdLst/>
            <a:ahLst/>
            <a:cxnLst/>
            <a:rect l="l" t="t" r="r" b="b"/>
            <a:pathLst>
              <a:path w="50845" h="61991">
                <a:moveTo>
                  <a:pt x="0" y="61991"/>
                </a:moveTo>
                <a:lnTo>
                  <a:pt x="50845" y="0"/>
                </a:lnTo>
              </a:path>
            </a:pathLst>
          </a:custGeom>
          <a:noFill/>
          <a:ln w="9525" cap="rnd">
            <a:solidFill>
              <a:srgbClr val="12A87B"/>
            </a:solidFill>
            <a:round/>
          </a:ln>
          <a:effectLst/>
        </p:spPr>
        <p:txBody>
          <a:bodyPr rtlCol="0" anchor="ctr"/>
          <a:lstStyle/>
          <a:p>
            <a:pPr algn="ctr"/>
          </a:p>
        </p:txBody>
      </p:sp>
      <p:sp>
        <p:nvSpPr>
          <p:cNvPr id="73" name="Freeform 72"/>
          <p:cNvSpPr/>
          <p:nvPr/>
        </p:nvSpPr>
        <p:spPr>
          <a:xfrm>
            <a:off x="10368555" y="2172207"/>
            <a:ext cx="68086" cy="18704"/>
          </a:xfrm>
          <a:custGeom>
            <a:avLst/>
            <a:gdLst/>
            <a:ahLst/>
            <a:cxnLst/>
            <a:rect l="l" t="t" r="r" b="b"/>
            <a:pathLst>
              <a:path w="68086" h="18704">
                <a:moveTo>
                  <a:pt x="68086" y="18704"/>
                </a:moveTo>
                <a:lnTo>
                  <a:pt x="0" y="0"/>
                </a:lnTo>
              </a:path>
            </a:pathLst>
          </a:custGeom>
          <a:noFill/>
          <a:ln w="9525" cap="rnd">
            <a:solidFill>
              <a:srgbClr val="12A87B"/>
            </a:solidFill>
            <a:round/>
          </a:ln>
          <a:effectLst/>
        </p:spPr>
        <p:txBody>
          <a:bodyPr rtlCol="0" anchor="ctr"/>
          <a:lstStyle/>
          <a:p>
            <a:pPr algn="ctr"/>
          </a:p>
        </p:txBody>
      </p:sp>
      <p:sp>
        <p:nvSpPr>
          <p:cNvPr id="74" name="Freeform 73"/>
          <p:cNvSpPr/>
          <p:nvPr/>
        </p:nvSpPr>
        <p:spPr>
          <a:xfrm>
            <a:off x="10436641" y="2132818"/>
            <a:ext cx="40133" cy="58093"/>
          </a:xfrm>
          <a:custGeom>
            <a:avLst/>
            <a:gdLst/>
            <a:ahLst/>
            <a:cxnLst/>
            <a:rect l="l" t="t" r="r" b="b"/>
            <a:pathLst>
              <a:path w="40133" h="58093">
                <a:moveTo>
                  <a:pt x="0" y="58093"/>
                </a:moveTo>
                <a:lnTo>
                  <a:pt x="40133" y="0"/>
                </a:lnTo>
              </a:path>
            </a:pathLst>
          </a:custGeom>
          <a:noFill/>
          <a:ln w="9525" cap="rnd">
            <a:solidFill>
              <a:srgbClr val="12A87B"/>
            </a:solidFill>
            <a:round/>
          </a:ln>
          <a:effectLst/>
        </p:spPr>
        <p:txBody>
          <a:bodyPr rtlCol="0" anchor="ctr"/>
          <a:lstStyle/>
          <a:p>
            <a:pPr algn="ctr"/>
          </a:p>
        </p:txBody>
      </p:sp>
      <p:sp>
        <p:nvSpPr>
          <p:cNvPr id="75" name="TextBox 74"/>
          <p:cNvSpPr txBox="1"/>
          <p:nvPr/>
        </p:nvSpPr>
        <p:spPr>
          <a:xfrm>
            <a:off x="9357329"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Consolidação como Bioma Sustentável</a:t>
            </a:r>
          </a:p>
        </p:txBody>
      </p:sp>
      <p:sp>
        <p:nvSpPr>
          <p:cNvPr id="76" name="Rectangle 75"/>
          <p:cNvSpPr/>
          <p:nvPr/>
        </p:nvSpPr>
        <p:spPr>
          <a:xfrm>
            <a:off x="777240" y="4846320"/>
            <a:ext cx="10637489" cy="640080"/>
          </a:xfrm>
          <a:prstGeom prst="rect">
            <a:avLst/>
          </a:prstGeom>
          <a:solidFill>
            <a:srgbClr val="F4F5FC"/>
          </a:solidFill>
          <a:ln w="12700" cap="rnd">
            <a:noFill/>
            <a:round/>
          </a:ln>
          <a:effectLst/>
        </p:spPr>
        <p:txBody>
          <a:bodyPr rtlCol="0" anchor="ctr"/>
          <a:lstStyle/>
          <a:p/>
        </p:txBody>
      </p:sp>
      <p:sp>
        <p:nvSpPr>
          <p:cNvPr id="77" name="Rectangle 76"/>
          <p:cNvSpPr/>
          <p:nvPr/>
        </p:nvSpPr>
        <p:spPr>
          <a:xfrm>
            <a:off x="777240" y="4846320"/>
            <a:ext cx="32004" cy="640080"/>
          </a:xfrm>
          <a:prstGeom prst="rect">
            <a:avLst/>
          </a:prstGeom>
          <a:solidFill>
            <a:srgbClr val="3432C9"/>
          </a:solidFill>
          <a:ln w="12700" cap="rnd">
            <a:noFill/>
            <a:round/>
          </a:ln>
          <a:effectLst/>
        </p:spPr>
        <p:txBody>
          <a:bodyPr rtlCol="0" anchor="ctr"/>
          <a:lstStyle/>
          <a:p/>
        </p:txBody>
      </p:sp>
      <p:sp>
        <p:nvSpPr>
          <p:cNvPr id="78" name="Freeform 77"/>
          <p:cNvSpPr/>
          <p:nvPr/>
        </p:nvSpPr>
        <p:spPr>
          <a:xfrm>
            <a:off x="1069848" y="5078578"/>
            <a:ext cx="164592" cy="202996"/>
          </a:xfrm>
          <a:custGeom>
            <a:avLst/>
            <a:gdLst/>
            <a:ahLst/>
            <a:cxnLst/>
            <a:rect l="l" t="t" r="r" b="b"/>
            <a:pathLst>
              <a:path w="164592" h="202996">
                <a:moveTo>
                  <a:pt x="0" y="0"/>
                </a:moveTo>
                <a:lnTo>
                  <a:pt x="164592" y="0"/>
                </a:lnTo>
                <a:lnTo>
                  <a:pt x="164592" y="202996"/>
                </a:lnTo>
                <a:lnTo>
                  <a:pt x="0" y="202996"/>
                </a:lnTo>
                <a:close/>
              </a:path>
            </a:pathLst>
          </a:custGeom>
          <a:noFill/>
          <a:ln w="15875" cap="rnd">
            <a:solidFill>
              <a:srgbClr val="3432C9"/>
            </a:solidFill>
            <a:round/>
          </a:ln>
          <a:effectLst/>
        </p:spPr>
        <p:txBody>
          <a:bodyPr rtlCol="0" anchor="ctr"/>
          <a:lstStyle/>
          <a:p>
            <a:pPr algn="ctr"/>
          </a:p>
        </p:txBody>
      </p:sp>
      <p:sp>
        <p:nvSpPr>
          <p:cNvPr id="79" name="Freeform 78"/>
          <p:cNvSpPr/>
          <p:nvPr/>
        </p:nvSpPr>
        <p:spPr>
          <a:xfrm>
            <a:off x="1119226" y="5051146"/>
            <a:ext cx="65836" cy="49377"/>
          </a:xfrm>
          <a:custGeom>
            <a:avLst/>
            <a:gdLst/>
            <a:ahLst/>
            <a:cxnLst/>
            <a:rect l="l" t="t" r="r" b="b"/>
            <a:pathLst>
              <a:path w="65836" h="49377">
                <a:moveTo>
                  <a:pt x="0" y="0"/>
                </a:moveTo>
                <a:lnTo>
                  <a:pt x="65836" y="0"/>
                </a:lnTo>
                <a:lnTo>
                  <a:pt x="65836" y="49377"/>
                </a:lnTo>
                <a:lnTo>
                  <a:pt x="0" y="49377"/>
                </a:lnTo>
                <a:close/>
              </a:path>
            </a:pathLst>
          </a:custGeom>
          <a:noFill/>
          <a:ln w="15875" cap="rnd">
            <a:solidFill>
              <a:srgbClr val="3432C9"/>
            </a:solidFill>
            <a:round/>
          </a:ln>
          <a:effectLst/>
        </p:spPr>
        <p:txBody>
          <a:bodyPr rtlCol="0" anchor="ctr"/>
          <a:lstStyle/>
          <a:p>
            <a:pPr algn="ctr"/>
          </a:p>
        </p:txBody>
      </p:sp>
      <p:sp>
        <p:nvSpPr>
          <p:cNvPr id="80" name="Freeform 79"/>
          <p:cNvSpPr/>
          <p:nvPr/>
        </p:nvSpPr>
        <p:spPr>
          <a:xfrm>
            <a:off x="1102766" y="5155387"/>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1" name="Freeform 80"/>
          <p:cNvSpPr/>
          <p:nvPr/>
        </p:nvSpPr>
        <p:spPr>
          <a:xfrm>
            <a:off x="1102766" y="5193792"/>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2" name="Freeform 81"/>
          <p:cNvSpPr/>
          <p:nvPr/>
        </p:nvSpPr>
        <p:spPr>
          <a:xfrm>
            <a:off x="1102766" y="5232197"/>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3" name="TextBox 82"/>
          <p:cNvSpPr txBox="1"/>
          <p:nvPr/>
        </p:nvSpPr>
        <p:spPr>
          <a:xfrm>
            <a:off x="1472184" y="4846320"/>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Montserrat"/>
              </a:rPr>
              <a:t>Sequência de etapas sem definição de prazos nesta fase — o cronograma será estabelecido em alinhamento com a Prefeitura de São Paulo.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flip="none" rotWithShape="1">
            <a:gsLst>
              <a:gs pos="0">
                <a:srgbClr val="17165D"/>
              </a:gs>
              <a:gs pos="52000">
                <a:srgbClr val="24238E"/>
              </a:gs>
              <a:gs pos="100000">
                <a:srgbClr val="3432C9"/>
              </a:gs>
            </a:gsLst>
            <a:lin ang="2100000" scaled="0"/>
          </a:gradFill>
          <a:ln w="12700" cap="rnd">
            <a:noFill/>
            <a:round/>
          </a:ln>
          <a:effectLst/>
        </p:spPr>
        <p:txBody>
          <a:bodyPr rtlCol="0" anchor="ctr"/>
          <a:lstStyle/>
          <a:p/>
        </p:txBody>
      </p:sp>
      <p:cxnSp>
        <p:nvCxnSpPr>
          <p:cNvPr id="3" name="Connector 2"/>
          <p:cNvCxnSpPr/>
          <p:nvPr/>
        </p:nvCxnSpPr>
        <p:spPr>
          <a:xfrm flipV="1">
            <a:off x="-6858000" y="0"/>
            <a:ext cx="6858000" cy="6858000"/>
          </a:xfrm>
          <a:prstGeom prst="line">
            <a:avLst/>
          </a:prstGeom>
          <a:ln w="6350" cap="rnd">
            <a:solidFill>
              <a:srgbClr val="FFFFFF">
                <a:alpha val="5500"/>
              </a:srgbClr>
            </a:solidFill>
            <a:round/>
          </a:ln>
          <a:effectLst/>
        </p:spPr>
      </p:cxnSp>
      <p:cxnSp>
        <p:nvCxnSpPr>
          <p:cNvPr id="4" name="Connector 3"/>
          <p:cNvCxnSpPr/>
          <p:nvPr/>
        </p:nvCxnSpPr>
        <p:spPr>
          <a:xfrm flipV="1">
            <a:off x="-6437376" y="0"/>
            <a:ext cx="6857999" cy="6858000"/>
          </a:xfrm>
          <a:prstGeom prst="line">
            <a:avLst/>
          </a:prstGeom>
          <a:ln w="6350" cap="rnd">
            <a:solidFill>
              <a:srgbClr val="FFFFFF">
                <a:alpha val="5500"/>
              </a:srgbClr>
            </a:solidFill>
            <a:round/>
          </a:ln>
          <a:effectLst/>
        </p:spPr>
      </p:cxnSp>
      <p:cxnSp>
        <p:nvCxnSpPr>
          <p:cNvPr id="5" name="Connector 4"/>
          <p:cNvCxnSpPr/>
          <p:nvPr/>
        </p:nvCxnSpPr>
        <p:spPr>
          <a:xfrm flipV="1">
            <a:off x="-6016752" y="0"/>
            <a:ext cx="6857999" cy="6858000"/>
          </a:xfrm>
          <a:prstGeom prst="line">
            <a:avLst/>
          </a:prstGeom>
          <a:ln w="6350" cap="rnd">
            <a:solidFill>
              <a:srgbClr val="FFFFFF">
                <a:alpha val="5500"/>
              </a:srgbClr>
            </a:solidFill>
            <a:round/>
          </a:ln>
          <a:effectLst/>
        </p:spPr>
      </p:cxnSp>
      <p:cxnSp>
        <p:nvCxnSpPr>
          <p:cNvPr id="6" name="Connector 5"/>
          <p:cNvCxnSpPr/>
          <p:nvPr/>
        </p:nvCxnSpPr>
        <p:spPr>
          <a:xfrm flipV="1">
            <a:off x="-5596128" y="0"/>
            <a:ext cx="6858000" cy="6858000"/>
          </a:xfrm>
          <a:prstGeom prst="line">
            <a:avLst/>
          </a:prstGeom>
          <a:ln w="6350" cap="rnd">
            <a:solidFill>
              <a:srgbClr val="FFFFFF">
                <a:alpha val="5500"/>
              </a:srgbClr>
            </a:solidFill>
            <a:round/>
          </a:ln>
          <a:effectLst/>
        </p:spPr>
      </p:cxnSp>
      <p:cxnSp>
        <p:nvCxnSpPr>
          <p:cNvPr id="7" name="Connector 6"/>
          <p:cNvCxnSpPr/>
          <p:nvPr/>
        </p:nvCxnSpPr>
        <p:spPr>
          <a:xfrm flipV="1">
            <a:off x="-5175504" y="0"/>
            <a:ext cx="6857999" cy="6858000"/>
          </a:xfrm>
          <a:prstGeom prst="line">
            <a:avLst/>
          </a:prstGeom>
          <a:ln w="6350" cap="rnd">
            <a:solidFill>
              <a:srgbClr val="FFFFFF">
                <a:alpha val="5500"/>
              </a:srgbClr>
            </a:solidFill>
            <a:round/>
          </a:ln>
          <a:effectLst/>
        </p:spPr>
      </p:cxnSp>
      <p:cxnSp>
        <p:nvCxnSpPr>
          <p:cNvPr id="8" name="Connector 7"/>
          <p:cNvCxnSpPr/>
          <p:nvPr/>
        </p:nvCxnSpPr>
        <p:spPr>
          <a:xfrm flipV="1">
            <a:off x="-4754879" y="0"/>
            <a:ext cx="6857999" cy="6858000"/>
          </a:xfrm>
          <a:prstGeom prst="line">
            <a:avLst/>
          </a:prstGeom>
          <a:ln w="6350" cap="rnd">
            <a:solidFill>
              <a:srgbClr val="FFFFFF">
                <a:alpha val="5500"/>
              </a:srgbClr>
            </a:solidFill>
            <a:round/>
          </a:ln>
          <a:effectLst/>
        </p:spPr>
      </p:cxnSp>
      <p:cxnSp>
        <p:nvCxnSpPr>
          <p:cNvPr id="9" name="Connector 8"/>
          <p:cNvCxnSpPr/>
          <p:nvPr/>
        </p:nvCxnSpPr>
        <p:spPr>
          <a:xfrm flipV="1">
            <a:off x="-4334256" y="0"/>
            <a:ext cx="6858000" cy="6858000"/>
          </a:xfrm>
          <a:prstGeom prst="line">
            <a:avLst/>
          </a:prstGeom>
          <a:ln w="6350" cap="rnd">
            <a:solidFill>
              <a:srgbClr val="FFFFFF">
                <a:alpha val="5500"/>
              </a:srgbClr>
            </a:solidFill>
            <a:round/>
          </a:ln>
          <a:effectLst/>
        </p:spPr>
      </p:cxnSp>
      <p:cxnSp>
        <p:nvCxnSpPr>
          <p:cNvPr id="10" name="Connector 9"/>
          <p:cNvCxnSpPr/>
          <p:nvPr/>
        </p:nvCxnSpPr>
        <p:spPr>
          <a:xfrm flipV="1">
            <a:off x="-3913631" y="0"/>
            <a:ext cx="6857999" cy="6858000"/>
          </a:xfrm>
          <a:prstGeom prst="line">
            <a:avLst/>
          </a:prstGeom>
          <a:ln w="6350" cap="rnd">
            <a:solidFill>
              <a:srgbClr val="FFFFFF">
                <a:alpha val="5500"/>
              </a:srgbClr>
            </a:solidFill>
            <a:round/>
          </a:ln>
          <a:effectLst/>
        </p:spPr>
      </p:cxnSp>
      <p:cxnSp>
        <p:nvCxnSpPr>
          <p:cNvPr id="11" name="Connector 10"/>
          <p:cNvCxnSpPr/>
          <p:nvPr/>
        </p:nvCxnSpPr>
        <p:spPr>
          <a:xfrm flipV="1">
            <a:off x="-3493008" y="0"/>
            <a:ext cx="6858000" cy="6858000"/>
          </a:xfrm>
          <a:prstGeom prst="line">
            <a:avLst/>
          </a:prstGeom>
          <a:ln w="6350" cap="rnd">
            <a:solidFill>
              <a:srgbClr val="FFFFFF">
                <a:alpha val="5500"/>
              </a:srgbClr>
            </a:solidFill>
            <a:round/>
          </a:ln>
          <a:effectLst/>
        </p:spPr>
      </p:cxnSp>
      <p:cxnSp>
        <p:nvCxnSpPr>
          <p:cNvPr id="12" name="Connector 11"/>
          <p:cNvCxnSpPr/>
          <p:nvPr/>
        </p:nvCxnSpPr>
        <p:spPr>
          <a:xfrm flipV="1">
            <a:off x="-3072383" y="0"/>
            <a:ext cx="6857999" cy="6858000"/>
          </a:xfrm>
          <a:prstGeom prst="line">
            <a:avLst/>
          </a:prstGeom>
          <a:ln w="6350" cap="rnd">
            <a:solidFill>
              <a:srgbClr val="FFFFFF">
                <a:alpha val="5500"/>
              </a:srgbClr>
            </a:solidFill>
            <a:round/>
          </a:ln>
          <a:effectLst/>
        </p:spPr>
      </p:cxnSp>
      <p:cxnSp>
        <p:nvCxnSpPr>
          <p:cNvPr id="13" name="Connector 12"/>
          <p:cNvCxnSpPr/>
          <p:nvPr/>
        </p:nvCxnSpPr>
        <p:spPr>
          <a:xfrm flipV="1">
            <a:off x="-2651759" y="0"/>
            <a:ext cx="6857999" cy="6858000"/>
          </a:xfrm>
          <a:prstGeom prst="line">
            <a:avLst/>
          </a:prstGeom>
          <a:ln w="6350" cap="rnd">
            <a:solidFill>
              <a:srgbClr val="FFFFFF">
                <a:alpha val="5500"/>
              </a:srgbClr>
            </a:solidFill>
            <a:round/>
          </a:ln>
          <a:effectLst/>
        </p:spPr>
      </p:cxnSp>
      <p:cxnSp>
        <p:nvCxnSpPr>
          <p:cNvPr id="14" name="Connector 13"/>
          <p:cNvCxnSpPr/>
          <p:nvPr/>
        </p:nvCxnSpPr>
        <p:spPr>
          <a:xfrm flipV="1">
            <a:off x="-2231135" y="0"/>
            <a:ext cx="6857999" cy="6858000"/>
          </a:xfrm>
          <a:prstGeom prst="line">
            <a:avLst/>
          </a:prstGeom>
          <a:ln w="6350" cap="rnd">
            <a:solidFill>
              <a:srgbClr val="FFFFFF">
                <a:alpha val="5500"/>
              </a:srgbClr>
            </a:solidFill>
            <a:round/>
          </a:ln>
          <a:effectLst/>
        </p:spPr>
      </p:cxnSp>
      <p:cxnSp>
        <p:nvCxnSpPr>
          <p:cNvPr id="15" name="Connector 14"/>
          <p:cNvCxnSpPr/>
          <p:nvPr/>
        </p:nvCxnSpPr>
        <p:spPr>
          <a:xfrm flipV="1">
            <a:off x="-1810511" y="0"/>
            <a:ext cx="6857999" cy="6858000"/>
          </a:xfrm>
          <a:prstGeom prst="line">
            <a:avLst/>
          </a:prstGeom>
          <a:ln w="6350" cap="rnd">
            <a:solidFill>
              <a:srgbClr val="FFFFFF">
                <a:alpha val="5500"/>
              </a:srgbClr>
            </a:solidFill>
            <a:round/>
          </a:ln>
          <a:effectLst/>
        </p:spPr>
      </p:cxnSp>
      <p:cxnSp>
        <p:nvCxnSpPr>
          <p:cNvPr id="16" name="Connector 15"/>
          <p:cNvCxnSpPr/>
          <p:nvPr/>
        </p:nvCxnSpPr>
        <p:spPr>
          <a:xfrm flipV="1">
            <a:off x="-1389887" y="0"/>
            <a:ext cx="6857999" cy="6858000"/>
          </a:xfrm>
          <a:prstGeom prst="line">
            <a:avLst/>
          </a:prstGeom>
          <a:ln w="6350" cap="rnd">
            <a:solidFill>
              <a:srgbClr val="FFFFFF">
                <a:alpha val="5500"/>
              </a:srgbClr>
            </a:solidFill>
            <a:round/>
          </a:ln>
          <a:effectLst/>
        </p:spPr>
      </p:cxnSp>
      <p:cxnSp>
        <p:nvCxnSpPr>
          <p:cNvPr id="17" name="Connector 16"/>
          <p:cNvCxnSpPr/>
          <p:nvPr/>
        </p:nvCxnSpPr>
        <p:spPr>
          <a:xfrm flipV="1">
            <a:off x="-969263" y="0"/>
            <a:ext cx="6857999" cy="6858000"/>
          </a:xfrm>
          <a:prstGeom prst="line">
            <a:avLst/>
          </a:prstGeom>
          <a:ln w="6350" cap="rnd">
            <a:solidFill>
              <a:srgbClr val="FFFFFF">
                <a:alpha val="5500"/>
              </a:srgbClr>
            </a:solidFill>
            <a:round/>
          </a:ln>
          <a:effectLst/>
        </p:spPr>
      </p:cxnSp>
      <p:cxnSp>
        <p:nvCxnSpPr>
          <p:cNvPr id="18" name="Connector 17"/>
          <p:cNvCxnSpPr/>
          <p:nvPr/>
        </p:nvCxnSpPr>
        <p:spPr>
          <a:xfrm flipV="1">
            <a:off x="-548639" y="0"/>
            <a:ext cx="6857999" cy="6858000"/>
          </a:xfrm>
          <a:prstGeom prst="line">
            <a:avLst/>
          </a:prstGeom>
          <a:ln w="6350" cap="rnd">
            <a:solidFill>
              <a:srgbClr val="FFFFFF">
                <a:alpha val="5500"/>
              </a:srgbClr>
            </a:solidFill>
            <a:round/>
          </a:ln>
          <a:effectLst/>
        </p:spPr>
      </p:cxnSp>
      <p:cxnSp>
        <p:nvCxnSpPr>
          <p:cNvPr id="19" name="Connector 18"/>
          <p:cNvCxnSpPr/>
          <p:nvPr/>
        </p:nvCxnSpPr>
        <p:spPr>
          <a:xfrm flipV="1">
            <a:off x="-128015" y="0"/>
            <a:ext cx="6857999" cy="6858000"/>
          </a:xfrm>
          <a:prstGeom prst="line">
            <a:avLst/>
          </a:prstGeom>
          <a:ln w="6350" cap="rnd">
            <a:solidFill>
              <a:srgbClr val="FFFFFF">
                <a:alpha val="5500"/>
              </a:srgbClr>
            </a:solidFill>
            <a:round/>
          </a:ln>
          <a:effectLst/>
        </p:spPr>
      </p:cxnSp>
      <p:cxnSp>
        <p:nvCxnSpPr>
          <p:cNvPr id="20" name="Connector 19"/>
          <p:cNvCxnSpPr/>
          <p:nvPr/>
        </p:nvCxnSpPr>
        <p:spPr>
          <a:xfrm flipV="1">
            <a:off x="292608" y="0"/>
            <a:ext cx="6858000" cy="6858000"/>
          </a:xfrm>
          <a:prstGeom prst="line">
            <a:avLst/>
          </a:prstGeom>
          <a:ln w="6350" cap="rnd">
            <a:solidFill>
              <a:srgbClr val="FFFFFF">
                <a:alpha val="5500"/>
              </a:srgbClr>
            </a:solidFill>
            <a:round/>
          </a:ln>
          <a:effectLst/>
        </p:spPr>
      </p:cxnSp>
      <p:cxnSp>
        <p:nvCxnSpPr>
          <p:cNvPr id="21" name="Connector 20"/>
          <p:cNvCxnSpPr/>
          <p:nvPr/>
        </p:nvCxnSpPr>
        <p:spPr>
          <a:xfrm flipV="1">
            <a:off x="713232" y="0"/>
            <a:ext cx="6858000" cy="6858000"/>
          </a:xfrm>
          <a:prstGeom prst="line">
            <a:avLst/>
          </a:prstGeom>
          <a:ln w="6350" cap="rnd">
            <a:solidFill>
              <a:srgbClr val="FFFFFF">
                <a:alpha val="5500"/>
              </a:srgbClr>
            </a:solidFill>
            <a:round/>
          </a:ln>
          <a:effectLst/>
        </p:spPr>
      </p:cxnSp>
      <p:cxnSp>
        <p:nvCxnSpPr>
          <p:cNvPr id="22" name="Connector 21"/>
          <p:cNvCxnSpPr/>
          <p:nvPr/>
        </p:nvCxnSpPr>
        <p:spPr>
          <a:xfrm flipV="1">
            <a:off x="1133856" y="0"/>
            <a:ext cx="6858000" cy="6858000"/>
          </a:xfrm>
          <a:prstGeom prst="line">
            <a:avLst/>
          </a:prstGeom>
          <a:ln w="6350" cap="rnd">
            <a:solidFill>
              <a:srgbClr val="FFFFFF">
                <a:alpha val="5500"/>
              </a:srgbClr>
            </a:solidFill>
            <a:round/>
          </a:ln>
          <a:effectLst/>
        </p:spPr>
      </p:cxnSp>
      <p:cxnSp>
        <p:nvCxnSpPr>
          <p:cNvPr id="23" name="Connector 22"/>
          <p:cNvCxnSpPr/>
          <p:nvPr/>
        </p:nvCxnSpPr>
        <p:spPr>
          <a:xfrm flipV="1">
            <a:off x="1554480" y="0"/>
            <a:ext cx="6858000" cy="6858000"/>
          </a:xfrm>
          <a:prstGeom prst="line">
            <a:avLst/>
          </a:prstGeom>
          <a:ln w="6350" cap="rnd">
            <a:solidFill>
              <a:srgbClr val="FFFFFF">
                <a:alpha val="5500"/>
              </a:srgbClr>
            </a:solidFill>
            <a:round/>
          </a:ln>
          <a:effectLst/>
        </p:spPr>
      </p:cxnSp>
      <p:cxnSp>
        <p:nvCxnSpPr>
          <p:cNvPr id="24" name="Connector 23"/>
          <p:cNvCxnSpPr/>
          <p:nvPr/>
        </p:nvCxnSpPr>
        <p:spPr>
          <a:xfrm flipV="1">
            <a:off x="1975104" y="0"/>
            <a:ext cx="6858000" cy="6858000"/>
          </a:xfrm>
          <a:prstGeom prst="line">
            <a:avLst/>
          </a:prstGeom>
          <a:ln w="6350" cap="rnd">
            <a:solidFill>
              <a:srgbClr val="FFFFFF">
                <a:alpha val="5500"/>
              </a:srgbClr>
            </a:solidFill>
            <a:round/>
          </a:ln>
          <a:effectLst/>
        </p:spPr>
      </p:cxnSp>
      <p:cxnSp>
        <p:nvCxnSpPr>
          <p:cNvPr id="25" name="Connector 24"/>
          <p:cNvCxnSpPr/>
          <p:nvPr/>
        </p:nvCxnSpPr>
        <p:spPr>
          <a:xfrm flipV="1">
            <a:off x="2395728" y="0"/>
            <a:ext cx="6858000" cy="6858000"/>
          </a:xfrm>
          <a:prstGeom prst="line">
            <a:avLst/>
          </a:prstGeom>
          <a:ln w="6350" cap="rnd">
            <a:solidFill>
              <a:srgbClr val="FFFFFF">
                <a:alpha val="5500"/>
              </a:srgbClr>
            </a:solidFill>
            <a:round/>
          </a:ln>
          <a:effectLst/>
        </p:spPr>
      </p:cxnSp>
      <p:cxnSp>
        <p:nvCxnSpPr>
          <p:cNvPr id="26" name="Connector 25"/>
          <p:cNvCxnSpPr/>
          <p:nvPr/>
        </p:nvCxnSpPr>
        <p:spPr>
          <a:xfrm flipV="1">
            <a:off x="2816352" y="0"/>
            <a:ext cx="6858000" cy="6858000"/>
          </a:xfrm>
          <a:prstGeom prst="line">
            <a:avLst/>
          </a:prstGeom>
          <a:ln w="6350" cap="rnd">
            <a:solidFill>
              <a:srgbClr val="FFFFFF">
                <a:alpha val="5500"/>
              </a:srgbClr>
            </a:solidFill>
            <a:round/>
          </a:ln>
          <a:effectLst/>
        </p:spPr>
      </p:cxnSp>
      <p:cxnSp>
        <p:nvCxnSpPr>
          <p:cNvPr id="27" name="Connector 26"/>
          <p:cNvCxnSpPr/>
          <p:nvPr/>
        </p:nvCxnSpPr>
        <p:spPr>
          <a:xfrm flipV="1">
            <a:off x="3236976" y="0"/>
            <a:ext cx="6858000" cy="6858000"/>
          </a:xfrm>
          <a:prstGeom prst="line">
            <a:avLst/>
          </a:prstGeom>
          <a:ln w="6350" cap="rnd">
            <a:solidFill>
              <a:srgbClr val="FFFFFF">
                <a:alpha val="5500"/>
              </a:srgbClr>
            </a:solidFill>
            <a:round/>
          </a:ln>
          <a:effectLst/>
        </p:spPr>
      </p:cxnSp>
      <p:cxnSp>
        <p:nvCxnSpPr>
          <p:cNvPr id="28" name="Connector 27"/>
          <p:cNvCxnSpPr/>
          <p:nvPr/>
        </p:nvCxnSpPr>
        <p:spPr>
          <a:xfrm flipV="1">
            <a:off x="3657600" y="0"/>
            <a:ext cx="6858000" cy="6858000"/>
          </a:xfrm>
          <a:prstGeom prst="line">
            <a:avLst/>
          </a:prstGeom>
          <a:ln w="6350" cap="rnd">
            <a:solidFill>
              <a:srgbClr val="FFFFFF">
                <a:alpha val="5500"/>
              </a:srgbClr>
            </a:solidFill>
            <a:round/>
          </a:ln>
          <a:effectLst/>
        </p:spPr>
      </p:cxnSp>
      <p:cxnSp>
        <p:nvCxnSpPr>
          <p:cNvPr id="29" name="Connector 28"/>
          <p:cNvCxnSpPr/>
          <p:nvPr/>
        </p:nvCxnSpPr>
        <p:spPr>
          <a:xfrm flipV="1">
            <a:off x="4078224" y="0"/>
            <a:ext cx="6858000" cy="6858000"/>
          </a:xfrm>
          <a:prstGeom prst="line">
            <a:avLst/>
          </a:prstGeom>
          <a:ln w="6350" cap="rnd">
            <a:solidFill>
              <a:srgbClr val="FFFFFF">
                <a:alpha val="5500"/>
              </a:srgbClr>
            </a:solidFill>
            <a:round/>
          </a:ln>
          <a:effectLst/>
        </p:spPr>
      </p:cxnSp>
      <p:cxnSp>
        <p:nvCxnSpPr>
          <p:cNvPr id="30" name="Connector 29"/>
          <p:cNvCxnSpPr/>
          <p:nvPr/>
        </p:nvCxnSpPr>
        <p:spPr>
          <a:xfrm flipV="1">
            <a:off x="4498848" y="0"/>
            <a:ext cx="6858000" cy="6858000"/>
          </a:xfrm>
          <a:prstGeom prst="line">
            <a:avLst/>
          </a:prstGeom>
          <a:ln w="6350" cap="rnd">
            <a:solidFill>
              <a:srgbClr val="FFFFFF">
                <a:alpha val="5500"/>
              </a:srgbClr>
            </a:solidFill>
            <a:round/>
          </a:ln>
          <a:effectLst/>
        </p:spPr>
      </p:cxnSp>
      <p:cxnSp>
        <p:nvCxnSpPr>
          <p:cNvPr id="31" name="Connector 30"/>
          <p:cNvCxnSpPr/>
          <p:nvPr/>
        </p:nvCxnSpPr>
        <p:spPr>
          <a:xfrm flipV="1">
            <a:off x="4919472" y="0"/>
            <a:ext cx="6858000" cy="6858000"/>
          </a:xfrm>
          <a:prstGeom prst="line">
            <a:avLst/>
          </a:prstGeom>
          <a:ln w="6350" cap="rnd">
            <a:solidFill>
              <a:srgbClr val="FFFFFF">
                <a:alpha val="5500"/>
              </a:srgbClr>
            </a:solidFill>
            <a:round/>
          </a:ln>
          <a:effectLst/>
        </p:spPr>
      </p:cxnSp>
      <p:cxnSp>
        <p:nvCxnSpPr>
          <p:cNvPr id="32" name="Connector 31"/>
          <p:cNvCxnSpPr/>
          <p:nvPr/>
        </p:nvCxnSpPr>
        <p:spPr>
          <a:xfrm flipV="1">
            <a:off x="5340096" y="0"/>
            <a:ext cx="6858000" cy="6858000"/>
          </a:xfrm>
          <a:prstGeom prst="line">
            <a:avLst/>
          </a:prstGeom>
          <a:ln w="6350" cap="rnd">
            <a:solidFill>
              <a:srgbClr val="FFFFFF">
                <a:alpha val="5500"/>
              </a:srgbClr>
            </a:solidFill>
            <a:round/>
          </a:ln>
          <a:effectLst/>
        </p:spPr>
      </p:cxnSp>
      <p:cxnSp>
        <p:nvCxnSpPr>
          <p:cNvPr id="33" name="Connector 32"/>
          <p:cNvCxnSpPr/>
          <p:nvPr/>
        </p:nvCxnSpPr>
        <p:spPr>
          <a:xfrm flipV="1">
            <a:off x="5760720" y="0"/>
            <a:ext cx="6858000" cy="6858000"/>
          </a:xfrm>
          <a:prstGeom prst="line">
            <a:avLst/>
          </a:prstGeom>
          <a:ln w="6350" cap="rnd">
            <a:solidFill>
              <a:srgbClr val="FFFFFF">
                <a:alpha val="5500"/>
              </a:srgbClr>
            </a:solidFill>
            <a:round/>
          </a:ln>
          <a:effectLst/>
        </p:spPr>
      </p:cxnSp>
      <p:cxnSp>
        <p:nvCxnSpPr>
          <p:cNvPr id="34" name="Connector 33"/>
          <p:cNvCxnSpPr/>
          <p:nvPr/>
        </p:nvCxnSpPr>
        <p:spPr>
          <a:xfrm flipV="1">
            <a:off x="6181344" y="0"/>
            <a:ext cx="6858000" cy="6858000"/>
          </a:xfrm>
          <a:prstGeom prst="line">
            <a:avLst/>
          </a:prstGeom>
          <a:ln w="6350" cap="rnd">
            <a:solidFill>
              <a:srgbClr val="FFFFFF">
                <a:alpha val="5500"/>
              </a:srgbClr>
            </a:solidFill>
            <a:round/>
          </a:ln>
          <a:effectLst/>
        </p:spPr>
      </p:cxnSp>
      <p:cxnSp>
        <p:nvCxnSpPr>
          <p:cNvPr id="35" name="Connector 34"/>
          <p:cNvCxnSpPr/>
          <p:nvPr/>
        </p:nvCxnSpPr>
        <p:spPr>
          <a:xfrm flipV="1">
            <a:off x="6601968" y="0"/>
            <a:ext cx="6858000" cy="6858000"/>
          </a:xfrm>
          <a:prstGeom prst="line">
            <a:avLst/>
          </a:prstGeom>
          <a:ln w="6350" cap="rnd">
            <a:solidFill>
              <a:srgbClr val="FFFFFF">
                <a:alpha val="5500"/>
              </a:srgbClr>
            </a:solidFill>
            <a:round/>
          </a:ln>
          <a:effectLst/>
        </p:spPr>
      </p:cxnSp>
      <p:cxnSp>
        <p:nvCxnSpPr>
          <p:cNvPr id="36" name="Connector 35"/>
          <p:cNvCxnSpPr/>
          <p:nvPr/>
        </p:nvCxnSpPr>
        <p:spPr>
          <a:xfrm flipV="1">
            <a:off x="7022592" y="0"/>
            <a:ext cx="6858000" cy="6858000"/>
          </a:xfrm>
          <a:prstGeom prst="line">
            <a:avLst/>
          </a:prstGeom>
          <a:ln w="6350" cap="rnd">
            <a:solidFill>
              <a:srgbClr val="FFFFFF">
                <a:alpha val="5500"/>
              </a:srgbClr>
            </a:solidFill>
            <a:round/>
          </a:ln>
          <a:effectLst/>
        </p:spPr>
      </p:cxnSp>
      <p:cxnSp>
        <p:nvCxnSpPr>
          <p:cNvPr id="37" name="Connector 36"/>
          <p:cNvCxnSpPr/>
          <p:nvPr/>
        </p:nvCxnSpPr>
        <p:spPr>
          <a:xfrm flipV="1">
            <a:off x="7443216" y="0"/>
            <a:ext cx="6858000" cy="6858000"/>
          </a:xfrm>
          <a:prstGeom prst="line">
            <a:avLst/>
          </a:prstGeom>
          <a:ln w="6350" cap="rnd">
            <a:solidFill>
              <a:srgbClr val="FFFFFF">
                <a:alpha val="5500"/>
              </a:srgbClr>
            </a:solidFill>
            <a:round/>
          </a:ln>
          <a:effectLst/>
        </p:spPr>
      </p:cxnSp>
      <p:cxnSp>
        <p:nvCxnSpPr>
          <p:cNvPr id="38" name="Connector 37"/>
          <p:cNvCxnSpPr/>
          <p:nvPr/>
        </p:nvCxnSpPr>
        <p:spPr>
          <a:xfrm flipV="1">
            <a:off x="7863840" y="0"/>
            <a:ext cx="6858000" cy="6858000"/>
          </a:xfrm>
          <a:prstGeom prst="line">
            <a:avLst/>
          </a:prstGeom>
          <a:ln w="6350" cap="rnd">
            <a:solidFill>
              <a:srgbClr val="FFFFFF">
                <a:alpha val="5500"/>
              </a:srgbClr>
            </a:solidFill>
            <a:round/>
          </a:ln>
          <a:effectLst/>
        </p:spPr>
      </p:cxnSp>
      <p:cxnSp>
        <p:nvCxnSpPr>
          <p:cNvPr id="39" name="Connector 38"/>
          <p:cNvCxnSpPr/>
          <p:nvPr/>
        </p:nvCxnSpPr>
        <p:spPr>
          <a:xfrm flipV="1">
            <a:off x="8284464" y="0"/>
            <a:ext cx="6858000" cy="6858000"/>
          </a:xfrm>
          <a:prstGeom prst="line">
            <a:avLst/>
          </a:prstGeom>
          <a:ln w="6350" cap="rnd">
            <a:solidFill>
              <a:srgbClr val="FFFFFF">
                <a:alpha val="5500"/>
              </a:srgbClr>
            </a:solidFill>
            <a:round/>
          </a:ln>
          <a:effectLst/>
        </p:spPr>
      </p:cxnSp>
      <p:cxnSp>
        <p:nvCxnSpPr>
          <p:cNvPr id="40" name="Connector 39"/>
          <p:cNvCxnSpPr/>
          <p:nvPr/>
        </p:nvCxnSpPr>
        <p:spPr>
          <a:xfrm flipV="1">
            <a:off x="8705088" y="0"/>
            <a:ext cx="6858000" cy="6858000"/>
          </a:xfrm>
          <a:prstGeom prst="line">
            <a:avLst/>
          </a:prstGeom>
          <a:ln w="6350" cap="rnd">
            <a:solidFill>
              <a:srgbClr val="FFFFFF">
                <a:alpha val="5500"/>
              </a:srgbClr>
            </a:solidFill>
            <a:round/>
          </a:ln>
          <a:effectLst/>
        </p:spPr>
      </p:cxnSp>
      <p:cxnSp>
        <p:nvCxnSpPr>
          <p:cNvPr id="41" name="Connector 40"/>
          <p:cNvCxnSpPr/>
          <p:nvPr/>
        </p:nvCxnSpPr>
        <p:spPr>
          <a:xfrm flipV="1">
            <a:off x="9125712" y="0"/>
            <a:ext cx="6858000" cy="6858000"/>
          </a:xfrm>
          <a:prstGeom prst="line">
            <a:avLst/>
          </a:prstGeom>
          <a:ln w="6350" cap="rnd">
            <a:solidFill>
              <a:srgbClr val="FFFFFF">
                <a:alpha val="5500"/>
              </a:srgbClr>
            </a:solidFill>
            <a:round/>
          </a:ln>
          <a:effectLst/>
        </p:spPr>
      </p:cxnSp>
      <p:cxnSp>
        <p:nvCxnSpPr>
          <p:cNvPr id="42" name="Connector 41"/>
          <p:cNvCxnSpPr/>
          <p:nvPr/>
        </p:nvCxnSpPr>
        <p:spPr>
          <a:xfrm flipV="1">
            <a:off x="9546336" y="0"/>
            <a:ext cx="6858000" cy="6858000"/>
          </a:xfrm>
          <a:prstGeom prst="line">
            <a:avLst/>
          </a:prstGeom>
          <a:ln w="6350" cap="rnd">
            <a:solidFill>
              <a:srgbClr val="FFFFFF">
                <a:alpha val="5500"/>
              </a:srgbClr>
            </a:solidFill>
            <a:round/>
          </a:ln>
          <a:effectLst/>
        </p:spPr>
      </p:cxnSp>
      <p:cxnSp>
        <p:nvCxnSpPr>
          <p:cNvPr id="43" name="Connector 42"/>
          <p:cNvCxnSpPr/>
          <p:nvPr/>
        </p:nvCxnSpPr>
        <p:spPr>
          <a:xfrm flipV="1">
            <a:off x="9966960" y="0"/>
            <a:ext cx="6858000" cy="6858000"/>
          </a:xfrm>
          <a:prstGeom prst="line">
            <a:avLst/>
          </a:prstGeom>
          <a:ln w="6350" cap="rnd">
            <a:solidFill>
              <a:srgbClr val="FFFFFF">
                <a:alpha val="5500"/>
              </a:srgbClr>
            </a:solidFill>
            <a:round/>
          </a:ln>
          <a:effectLst/>
        </p:spPr>
      </p:cxnSp>
      <p:cxnSp>
        <p:nvCxnSpPr>
          <p:cNvPr id="44" name="Connector 43"/>
          <p:cNvCxnSpPr/>
          <p:nvPr/>
        </p:nvCxnSpPr>
        <p:spPr>
          <a:xfrm flipV="1">
            <a:off x="10387584" y="0"/>
            <a:ext cx="6858000" cy="6858000"/>
          </a:xfrm>
          <a:prstGeom prst="line">
            <a:avLst/>
          </a:prstGeom>
          <a:ln w="6350" cap="rnd">
            <a:solidFill>
              <a:srgbClr val="FFFFFF">
                <a:alpha val="5500"/>
              </a:srgbClr>
            </a:solidFill>
            <a:round/>
          </a:ln>
          <a:effectLst/>
        </p:spPr>
      </p:cxnSp>
      <p:cxnSp>
        <p:nvCxnSpPr>
          <p:cNvPr id="45" name="Connector 44"/>
          <p:cNvCxnSpPr/>
          <p:nvPr/>
        </p:nvCxnSpPr>
        <p:spPr>
          <a:xfrm flipV="1">
            <a:off x="10808208" y="0"/>
            <a:ext cx="6858000" cy="6858000"/>
          </a:xfrm>
          <a:prstGeom prst="line">
            <a:avLst/>
          </a:prstGeom>
          <a:ln w="6350" cap="rnd">
            <a:solidFill>
              <a:srgbClr val="FFFFFF">
                <a:alpha val="5500"/>
              </a:srgbClr>
            </a:solidFill>
            <a:round/>
          </a:ln>
          <a:effectLst/>
        </p:spPr>
      </p:cxnSp>
      <p:cxnSp>
        <p:nvCxnSpPr>
          <p:cNvPr id="46" name="Connector 45"/>
          <p:cNvCxnSpPr/>
          <p:nvPr/>
        </p:nvCxnSpPr>
        <p:spPr>
          <a:xfrm flipV="1">
            <a:off x="11228832" y="0"/>
            <a:ext cx="6858000" cy="6858000"/>
          </a:xfrm>
          <a:prstGeom prst="line">
            <a:avLst/>
          </a:prstGeom>
          <a:ln w="6350" cap="rnd">
            <a:solidFill>
              <a:srgbClr val="FFFFFF">
                <a:alpha val="5500"/>
              </a:srgbClr>
            </a:solidFill>
            <a:round/>
          </a:ln>
          <a:effectLst/>
        </p:spPr>
      </p:cxnSp>
      <p:cxnSp>
        <p:nvCxnSpPr>
          <p:cNvPr id="47" name="Connector 46"/>
          <p:cNvCxnSpPr/>
          <p:nvPr/>
        </p:nvCxnSpPr>
        <p:spPr>
          <a:xfrm flipV="1">
            <a:off x="11649456" y="0"/>
            <a:ext cx="6858000" cy="6858000"/>
          </a:xfrm>
          <a:prstGeom prst="line">
            <a:avLst/>
          </a:prstGeom>
          <a:ln w="6350" cap="rnd">
            <a:solidFill>
              <a:srgbClr val="FFFFFF">
                <a:alpha val="5500"/>
              </a:srgbClr>
            </a:solidFill>
            <a:round/>
          </a:ln>
          <a:effectLst/>
        </p:spPr>
      </p:cxnSp>
      <p:cxnSp>
        <p:nvCxnSpPr>
          <p:cNvPr id="48" name="Connector 47"/>
          <p:cNvCxnSpPr/>
          <p:nvPr/>
        </p:nvCxnSpPr>
        <p:spPr>
          <a:xfrm flipV="1">
            <a:off x="12070080" y="0"/>
            <a:ext cx="6858000" cy="6858000"/>
          </a:xfrm>
          <a:prstGeom prst="line">
            <a:avLst/>
          </a:prstGeom>
          <a:ln w="6350" cap="rnd">
            <a:solidFill>
              <a:srgbClr val="FFFFFF">
                <a:alpha val="5500"/>
              </a:srgbClr>
            </a:solidFill>
            <a:round/>
          </a:ln>
          <a:effectLst/>
        </p:spPr>
      </p:cxnSp>
      <p:cxnSp>
        <p:nvCxnSpPr>
          <p:cNvPr id="49" name="Connector 48"/>
          <p:cNvCxnSpPr/>
          <p:nvPr/>
        </p:nvCxnSpPr>
        <p:spPr>
          <a:xfrm flipV="1">
            <a:off x="12490704" y="0"/>
            <a:ext cx="6858000" cy="6858000"/>
          </a:xfrm>
          <a:prstGeom prst="line">
            <a:avLst/>
          </a:prstGeom>
          <a:ln w="6350" cap="rnd">
            <a:solidFill>
              <a:srgbClr val="FFFFFF">
                <a:alpha val="5500"/>
              </a:srgbClr>
            </a:solidFill>
            <a:round/>
          </a:ln>
          <a:effectLst/>
        </p:spPr>
      </p:cxnSp>
      <p:sp>
        <p:nvSpPr>
          <p:cNvPr id="50" name="Rectangle 49"/>
          <p:cNvSpPr/>
          <p:nvPr/>
        </p:nvSpPr>
        <p:spPr>
          <a:xfrm>
            <a:off x="5120627" y="0"/>
            <a:ext cx="7071342" cy="6858000"/>
          </a:xfrm>
          <a:prstGeom prst="rect">
            <a:avLst/>
          </a:prstGeom>
          <a:gradFill flip="none" rotWithShape="1">
            <a:gsLst>
              <a:gs pos="0">
                <a:srgbClr val="3432C9">
                  <a:alpha val="0"/>
                </a:srgbClr>
              </a:gs>
              <a:gs pos="100000">
                <a:srgbClr val="3432C9">
                  <a:alpha val="32000"/>
                </a:srgbClr>
              </a:gs>
            </a:gsLst>
            <a:lin ang="0" scaled="0"/>
          </a:gradFill>
          <a:ln w="12700" cap="rnd">
            <a:noFill/>
            <a:round/>
          </a:ln>
          <a:effectLst/>
        </p:spPr>
        <p:txBody>
          <a:bodyPr rtlCol="0" anchor="ctr"/>
          <a:lstStyle/>
          <a:p/>
        </p:txBody>
      </p:sp>
      <p:pic>
        <p:nvPicPr>
          <p:cNvPr id="51" name="Picture 50" descr="duo_corredor_tall.jpg"/>
          <p:cNvPicPr>
            <a:picLocks noChangeAspect="1"/>
          </p:cNvPicPr>
          <p:nvPr/>
        </p:nvPicPr>
        <p:blipFill>
          <a:blip r:embed="rId2"/>
          <a:srcRect l="5500" r="5500"/>
          <a:stretch>
            <a:fillRect/>
          </a:stretch>
        </p:blipFill>
        <p:spPr>
          <a:xfrm>
            <a:off x="8122889" y="0"/>
            <a:ext cx="4069080" cy="6858000"/>
          </a:xfrm>
          <a:prstGeom prst="rect">
            <a:avLst/>
          </a:prstGeom>
          <a:effectLst/>
        </p:spPr>
      </p:pic>
      <p:sp>
        <p:nvSpPr>
          <p:cNvPr id="52" name="Rectangle 51"/>
          <p:cNvSpPr/>
          <p:nvPr/>
        </p:nvSpPr>
        <p:spPr>
          <a:xfrm>
            <a:off x="8122889" y="0"/>
            <a:ext cx="4069080" cy="6858000"/>
          </a:xfrm>
          <a:prstGeom prst="rect">
            <a:avLst/>
          </a:prstGeom>
          <a:gradFill flip="none" rotWithShape="1">
            <a:gsLst>
              <a:gs pos="0">
                <a:srgbClr val="17165D">
                  <a:alpha val="95000"/>
                </a:srgbClr>
              </a:gs>
              <a:gs pos="60000">
                <a:srgbClr val="17165D">
                  <a:alpha val="55000"/>
                </a:srgbClr>
              </a:gs>
              <a:gs pos="100000">
                <a:srgbClr val="17165D">
                  <a:alpha val="32000"/>
                </a:srgbClr>
              </a:gs>
            </a:gsLst>
            <a:lin ang="0" scaled="0"/>
          </a:gradFill>
          <a:ln w="12700" cap="rnd">
            <a:noFill/>
            <a:round/>
          </a:ln>
          <a:effectLst/>
        </p:spPr>
        <p:txBody>
          <a:bodyPr rtlCol="0" anchor="ctr"/>
          <a:lstStyle/>
          <a:p/>
        </p:txBody>
      </p:sp>
      <p:cxnSp>
        <p:nvCxnSpPr>
          <p:cNvPr id="53" name="Connector 52"/>
          <p:cNvCxnSpPr/>
          <p:nvPr/>
        </p:nvCxnSpPr>
        <p:spPr>
          <a:xfrm>
            <a:off x="8122889" y="0"/>
            <a:ext cx="0" cy="6858000"/>
          </a:xfrm>
          <a:prstGeom prst="line">
            <a:avLst/>
          </a:prstGeom>
          <a:ln w="9525" cap="rnd">
            <a:solidFill>
              <a:srgbClr val="FFFFFF">
                <a:alpha val="18000"/>
              </a:srgbClr>
            </a:solidFill>
            <a:round/>
          </a:ln>
          <a:effectLst/>
        </p:spPr>
      </p:cxnSp>
      <p:sp>
        <p:nvSpPr>
          <p:cNvPr id="54" name="Freeform 53"/>
          <p:cNvSpPr/>
          <p:nvPr/>
        </p:nvSpPr>
        <p:spPr>
          <a:xfrm>
            <a:off x="0" y="5376672"/>
            <a:ext cx="12191970" cy="438912"/>
          </a:xfrm>
          <a:custGeom>
            <a:avLst/>
            <a:gdLst/>
            <a:ahLst/>
            <a:cxnLst/>
            <a:rect l="l" t="t" r="r" b="b"/>
            <a:pathLst>
              <a:path w="12191970" h="438912">
                <a:moveTo>
                  <a:pt x="0" y="109728"/>
                </a:moveTo>
                <a:lnTo>
                  <a:pt x="487679" y="109728"/>
                </a:lnTo>
                <a:lnTo>
                  <a:pt x="487679" y="310896"/>
                </a:lnTo>
                <a:lnTo>
                  <a:pt x="1097277" y="310896"/>
                </a:lnTo>
                <a:lnTo>
                  <a:pt x="1097277" y="201168"/>
                </a:lnTo>
                <a:lnTo>
                  <a:pt x="1584956" y="201168"/>
                </a:lnTo>
                <a:lnTo>
                  <a:pt x="1584956" y="402336"/>
                </a:lnTo>
                <a:lnTo>
                  <a:pt x="2072635" y="402336"/>
                </a:lnTo>
                <a:lnTo>
                  <a:pt x="2072635" y="146304"/>
                </a:lnTo>
                <a:lnTo>
                  <a:pt x="2438394" y="146304"/>
                </a:lnTo>
                <a:lnTo>
                  <a:pt x="2438394" y="54864"/>
                </a:lnTo>
                <a:lnTo>
                  <a:pt x="2804153" y="54864"/>
                </a:lnTo>
                <a:lnTo>
                  <a:pt x="2804153" y="146304"/>
                </a:lnTo>
                <a:lnTo>
                  <a:pt x="3291832" y="146304"/>
                </a:lnTo>
                <a:lnTo>
                  <a:pt x="3291832" y="347472"/>
                </a:lnTo>
                <a:lnTo>
                  <a:pt x="3901430" y="347472"/>
                </a:lnTo>
                <a:lnTo>
                  <a:pt x="3901430" y="237744"/>
                </a:lnTo>
                <a:lnTo>
                  <a:pt x="4389109" y="237744"/>
                </a:lnTo>
                <a:lnTo>
                  <a:pt x="4389109" y="438912"/>
                </a:lnTo>
                <a:lnTo>
                  <a:pt x="4998708" y="438912"/>
                </a:lnTo>
                <a:lnTo>
                  <a:pt x="4998708" y="182880"/>
                </a:lnTo>
                <a:lnTo>
                  <a:pt x="5486386" y="182880"/>
                </a:lnTo>
                <a:lnTo>
                  <a:pt x="5486386" y="292608"/>
                </a:lnTo>
                <a:lnTo>
                  <a:pt x="6095985" y="292608"/>
                </a:lnTo>
                <a:lnTo>
                  <a:pt x="6095985" y="91440"/>
                </a:lnTo>
                <a:lnTo>
                  <a:pt x="6461744" y="91440"/>
                </a:lnTo>
                <a:lnTo>
                  <a:pt x="6461744" y="0"/>
                </a:lnTo>
                <a:lnTo>
                  <a:pt x="6827503" y="0"/>
                </a:lnTo>
                <a:lnTo>
                  <a:pt x="6827503" y="91440"/>
                </a:lnTo>
                <a:lnTo>
                  <a:pt x="7315182" y="91440"/>
                </a:lnTo>
                <a:lnTo>
                  <a:pt x="7315182" y="365760"/>
                </a:lnTo>
                <a:lnTo>
                  <a:pt x="7924780" y="365760"/>
                </a:lnTo>
                <a:lnTo>
                  <a:pt x="7924780" y="219456"/>
                </a:lnTo>
                <a:lnTo>
                  <a:pt x="8412459" y="219456"/>
                </a:lnTo>
                <a:lnTo>
                  <a:pt x="8412459" y="420624"/>
                </a:lnTo>
                <a:lnTo>
                  <a:pt x="9022057" y="420624"/>
                </a:lnTo>
                <a:lnTo>
                  <a:pt x="9022057" y="164592"/>
                </a:lnTo>
                <a:lnTo>
                  <a:pt x="9509736" y="164592"/>
                </a:lnTo>
                <a:lnTo>
                  <a:pt x="9509736" y="329184"/>
                </a:lnTo>
                <a:lnTo>
                  <a:pt x="10119335" y="329184"/>
                </a:lnTo>
                <a:lnTo>
                  <a:pt x="10119335" y="256032"/>
                </a:lnTo>
                <a:lnTo>
                  <a:pt x="10607013" y="256032"/>
                </a:lnTo>
                <a:lnTo>
                  <a:pt x="10607013" y="384048"/>
                </a:lnTo>
                <a:lnTo>
                  <a:pt x="11216612" y="384048"/>
                </a:lnTo>
                <a:lnTo>
                  <a:pt x="11216612" y="128016"/>
                </a:lnTo>
                <a:lnTo>
                  <a:pt x="11704291" y="128016"/>
                </a:lnTo>
                <a:lnTo>
                  <a:pt x="11704291" y="274320"/>
                </a:lnTo>
                <a:lnTo>
                  <a:pt x="12191970" y="274320"/>
                </a:lnTo>
              </a:path>
            </a:pathLst>
          </a:custGeom>
          <a:noFill/>
          <a:ln w="11430" cap="rnd">
            <a:solidFill>
              <a:srgbClr val="FFFFFF">
                <a:alpha val="11000"/>
              </a:srgbClr>
            </a:solidFill>
            <a:round/>
          </a:ln>
          <a:effectLst/>
        </p:spPr>
        <p:txBody>
          <a:bodyPr rtlCol="0" anchor="ctr"/>
          <a:lstStyle/>
          <a:p>
            <a:pPr algn="ctr"/>
          </a:p>
        </p:txBody>
      </p:sp>
      <p:sp>
        <p:nvSpPr>
          <p:cNvPr id="55" name="Freeform 54"/>
          <p:cNvSpPr/>
          <p:nvPr/>
        </p:nvSpPr>
        <p:spPr>
          <a:xfrm>
            <a:off x="10804631" y="935875"/>
            <a:ext cx="281333" cy="366230"/>
          </a:xfrm>
          <a:custGeom>
            <a:avLst/>
            <a:gdLst/>
            <a:ahLst/>
            <a:cxnLst/>
            <a:rect l="l" t="t" r="r" b="b"/>
            <a:pathLst>
              <a:path w="281333" h="366230">
                <a:moveTo>
                  <a:pt x="202832" y="0"/>
                </a:moveTo>
                <a:lnTo>
                  <a:pt x="217635" y="12748"/>
                </a:lnTo>
                <a:lnTo>
                  <a:pt x="231156" y="26848"/>
                </a:lnTo>
                <a:lnTo>
                  <a:pt x="243273" y="42171"/>
                </a:lnTo>
                <a:lnTo>
                  <a:pt x="253874" y="58580"/>
                </a:lnTo>
                <a:lnTo>
                  <a:pt x="262864" y="75923"/>
                </a:lnTo>
                <a:lnTo>
                  <a:pt x="270161" y="94045"/>
                </a:lnTo>
                <a:lnTo>
                  <a:pt x="275699" y="112779"/>
                </a:lnTo>
                <a:lnTo>
                  <a:pt x="279426" y="131955"/>
                </a:lnTo>
                <a:lnTo>
                  <a:pt x="281310" y="151399"/>
                </a:lnTo>
                <a:lnTo>
                  <a:pt x="281333" y="170935"/>
                </a:lnTo>
                <a:lnTo>
                  <a:pt x="279494" y="190383"/>
                </a:lnTo>
                <a:lnTo>
                  <a:pt x="275811" y="209568"/>
                </a:lnTo>
                <a:lnTo>
                  <a:pt x="270318" y="228315"/>
                </a:lnTo>
                <a:lnTo>
                  <a:pt x="263063" y="246453"/>
                </a:lnTo>
                <a:lnTo>
                  <a:pt x="254113" y="263818"/>
                </a:lnTo>
                <a:lnTo>
                  <a:pt x="243550" y="280251"/>
                </a:lnTo>
                <a:lnTo>
                  <a:pt x="231469" y="295603"/>
                </a:lnTo>
                <a:lnTo>
                  <a:pt x="217981" y="309734"/>
                </a:lnTo>
                <a:lnTo>
                  <a:pt x="203207" y="322516"/>
                </a:lnTo>
                <a:lnTo>
                  <a:pt x="187284" y="333832"/>
                </a:lnTo>
                <a:lnTo>
                  <a:pt x="170354" y="343580"/>
                </a:lnTo>
                <a:lnTo>
                  <a:pt x="152573" y="351671"/>
                </a:lnTo>
                <a:lnTo>
                  <a:pt x="134102" y="358031"/>
                </a:lnTo>
                <a:lnTo>
                  <a:pt x="115109" y="362603"/>
                </a:lnTo>
                <a:lnTo>
                  <a:pt x="95768" y="365344"/>
                </a:lnTo>
                <a:lnTo>
                  <a:pt x="76252" y="366230"/>
                </a:lnTo>
                <a:lnTo>
                  <a:pt x="56742" y="365253"/>
                </a:lnTo>
                <a:lnTo>
                  <a:pt x="37413" y="362422"/>
                </a:lnTo>
                <a:lnTo>
                  <a:pt x="18441" y="357762"/>
                </a:lnTo>
                <a:lnTo>
                  <a:pt x="0" y="351316"/>
                </a:lnTo>
              </a:path>
            </a:pathLst>
          </a:custGeom>
          <a:noFill/>
          <a:ln w="15875" cap="rnd">
            <a:solidFill>
              <a:srgbClr val="FFFFFF"/>
            </a:solidFill>
            <a:round/>
          </a:ln>
          <a:effectLst/>
        </p:spPr>
        <p:txBody>
          <a:bodyPr rtlCol="0" anchor="ctr"/>
          <a:lstStyle/>
          <a:p>
            <a:pPr algn="ctr"/>
          </a:p>
        </p:txBody>
      </p:sp>
      <p:sp>
        <p:nvSpPr>
          <p:cNvPr id="56" name="Freeform 55"/>
          <p:cNvSpPr/>
          <p:nvPr/>
        </p:nvSpPr>
        <p:spPr>
          <a:xfrm>
            <a:off x="10804631" y="1268725"/>
            <a:ext cx="120205" cy="107795"/>
          </a:xfrm>
          <a:custGeom>
            <a:avLst/>
            <a:gdLst/>
            <a:ahLst/>
            <a:cxnLst/>
            <a:rect l="l" t="t" r="r" b="b"/>
            <a:pathLst>
              <a:path w="120205" h="107795">
                <a:moveTo>
                  <a:pt x="0" y="18466"/>
                </a:moveTo>
                <a:lnTo>
                  <a:pt x="120205" y="0"/>
                </a:lnTo>
                <a:lnTo>
                  <a:pt x="82526" y="107795"/>
                </a:lnTo>
                <a:close/>
              </a:path>
            </a:pathLst>
          </a:custGeom>
          <a:solidFill>
            <a:srgbClr val="FFFFFF"/>
          </a:solidFill>
          <a:ln w="9525" cap="rnd">
            <a:solidFill>
              <a:srgbClr val="FFFFFF"/>
            </a:solidFill>
            <a:round/>
          </a:ln>
          <a:effectLst/>
        </p:spPr>
        <p:txBody>
          <a:bodyPr rtlCol="0" anchor="ctr"/>
          <a:lstStyle/>
          <a:p>
            <a:pPr algn="ctr"/>
          </a:p>
        </p:txBody>
      </p:sp>
      <p:sp>
        <p:nvSpPr>
          <p:cNvPr id="57" name="Freeform 56"/>
          <p:cNvSpPr/>
          <p:nvPr/>
        </p:nvSpPr>
        <p:spPr>
          <a:xfrm>
            <a:off x="10676756" y="892455"/>
            <a:ext cx="281333" cy="366230"/>
          </a:xfrm>
          <a:custGeom>
            <a:avLst/>
            <a:gdLst/>
            <a:ahLst/>
            <a:cxnLst/>
            <a:rect l="l" t="t" r="r" b="b"/>
            <a:pathLst>
              <a:path w="281333" h="366230">
                <a:moveTo>
                  <a:pt x="78501" y="366230"/>
                </a:moveTo>
                <a:lnTo>
                  <a:pt x="63698" y="353482"/>
                </a:lnTo>
                <a:lnTo>
                  <a:pt x="50177" y="339382"/>
                </a:lnTo>
                <a:lnTo>
                  <a:pt x="38060" y="324059"/>
                </a:lnTo>
                <a:lnTo>
                  <a:pt x="27459" y="307650"/>
                </a:lnTo>
                <a:lnTo>
                  <a:pt x="18469" y="290307"/>
                </a:lnTo>
                <a:lnTo>
                  <a:pt x="11172" y="272185"/>
                </a:lnTo>
                <a:lnTo>
                  <a:pt x="5634" y="253451"/>
                </a:lnTo>
                <a:lnTo>
                  <a:pt x="1907" y="234275"/>
                </a:lnTo>
                <a:lnTo>
                  <a:pt x="23" y="214831"/>
                </a:lnTo>
                <a:lnTo>
                  <a:pt x="0" y="195295"/>
                </a:lnTo>
                <a:lnTo>
                  <a:pt x="1839" y="175847"/>
                </a:lnTo>
                <a:lnTo>
                  <a:pt x="5522" y="156662"/>
                </a:lnTo>
                <a:lnTo>
                  <a:pt x="11015" y="137915"/>
                </a:lnTo>
                <a:lnTo>
                  <a:pt x="18270" y="119777"/>
                </a:lnTo>
                <a:lnTo>
                  <a:pt x="27220" y="102412"/>
                </a:lnTo>
                <a:lnTo>
                  <a:pt x="37783" y="85979"/>
                </a:lnTo>
                <a:lnTo>
                  <a:pt x="49864" y="70627"/>
                </a:lnTo>
                <a:lnTo>
                  <a:pt x="63352" y="56496"/>
                </a:lnTo>
                <a:lnTo>
                  <a:pt x="78126" y="43714"/>
                </a:lnTo>
                <a:lnTo>
                  <a:pt x="94049" y="32398"/>
                </a:lnTo>
                <a:lnTo>
                  <a:pt x="110979" y="22650"/>
                </a:lnTo>
                <a:lnTo>
                  <a:pt x="128760" y="14559"/>
                </a:lnTo>
                <a:lnTo>
                  <a:pt x="147231" y="8199"/>
                </a:lnTo>
                <a:lnTo>
                  <a:pt x="166224" y="3627"/>
                </a:lnTo>
                <a:lnTo>
                  <a:pt x="185565" y="886"/>
                </a:lnTo>
                <a:lnTo>
                  <a:pt x="205081" y="0"/>
                </a:lnTo>
                <a:lnTo>
                  <a:pt x="224591" y="977"/>
                </a:lnTo>
                <a:lnTo>
                  <a:pt x="243920" y="3808"/>
                </a:lnTo>
                <a:lnTo>
                  <a:pt x="262892" y="8468"/>
                </a:lnTo>
                <a:lnTo>
                  <a:pt x="281333" y="14914"/>
                </a:lnTo>
              </a:path>
            </a:pathLst>
          </a:custGeom>
          <a:noFill/>
          <a:ln w="15875" cap="rnd">
            <a:solidFill>
              <a:srgbClr val="FFFFFF"/>
            </a:solidFill>
            <a:round/>
          </a:ln>
          <a:effectLst/>
        </p:spPr>
        <p:txBody>
          <a:bodyPr rtlCol="0" anchor="ctr"/>
          <a:lstStyle/>
          <a:p>
            <a:pPr algn="ctr"/>
          </a:p>
        </p:txBody>
      </p:sp>
      <p:sp>
        <p:nvSpPr>
          <p:cNvPr id="58" name="Freeform 57"/>
          <p:cNvSpPr/>
          <p:nvPr/>
        </p:nvSpPr>
        <p:spPr>
          <a:xfrm>
            <a:off x="10837884" y="818040"/>
            <a:ext cx="120205" cy="107795"/>
          </a:xfrm>
          <a:custGeom>
            <a:avLst/>
            <a:gdLst/>
            <a:ahLst/>
            <a:cxnLst/>
            <a:rect l="l" t="t" r="r" b="b"/>
            <a:pathLst>
              <a:path w="120205" h="107795">
                <a:moveTo>
                  <a:pt x="120205" y="89329"/>
                </a:moveTo>
                <a:lnTo>
                  <a:pt x="0" y="107795"/>
                </a:lnTo>
                <a:lnTo>
                  <a:pt x="37679" y="0"/>
                </a:lnTo>
                <a:close/>
              </a:path>
            </a:pathLst>
          </a:custGeom>
          <a:solidFill>
            <a:srgbClr val="FFFFFF"/>
          </a:solidFill>
          <a:ln w="9525" cap="rnd">
            <a:solidFill>
              <a:srgbClr val="FFFFFF"/>
            </a:solidFill>
            <a:round/>
          </a:ln>
          <a:effectLst/>
        </p:spPr>
        <p:txBody>
          <a:bodyPr rtlCol="0" anchor="ctr"/>
          <a:lstStyle/>
          <a:p>
            <a:pPr algn="ctr"/>
          </a:p>
        </p:txBody>
      </p:sp>
      <p:cxnSp>
        <p:nvCxnSpPr>
          <p:cNvPr id="59" name="Connector 58"/>
          <p:cNvCxnSpPr/>
          <p:nvPr/>
        </p:nvCxnSpPr>
        <p:spPr>
          <a:xfrm>
            <a:off x="777240" y="1254556"/>
            <a:ext cx="274320" cy="0"/>
          </a:xfrm>
          <a:prstGeom prst="line">
            <a:avLst/>
          </a:prstGeom>
          <a:ln w="20320" cap="rnd">
            <a:solidFill>
              <a:srgbClr val="FFFFFF"/>
            </a:solidFill>
            <a:round/>
          </a:ln>
          <a:effectLst/>
        </p:spPr>
      </p:cxnSp>
      <p:sp>
        <p:nvSpPr>
          <p:cNvPr id="60" name="TextBox 59"/>
          <p:cNvSpPr txBox="1"/>
          <p:nvPr/>
        </p:nvSpPr>
        <p:spPr>
          <a:xfrm>
            <a:off x="1197863" y="1165860"/>
            <a:ext cx="7315200" cy="182880"/>
          </a:xfrm>
          <a:prstGeom prst="rect">
            <a:avLst/>
          </a:prstGeom>
          <a:noFill/>
          <a:effectLst/>
        </p:spPr>
        <p:txBody>
          <a:bodyPr wrap="square" lIns="0" rIns="0" tIns="0" bIns="0" anchor="t">
            <a:spAutoFit/>
          </a:bodyPr>
          <a:lstStyle/>
          <a:p>
            <a:pPr algn="l">
              <a:lnSpc>
                <a:spcPct val="100000"/>
              </a:lnSpc>
            </a:pPr>
            <a:r>
              <a:rPr sz="860" b="0" i="0" spc="190" cap="all">
                <a:solidFill>
                  <a:srgbClr val="FFFFFF"/>
                </a:solidFill>
                <a:latin typeface="Montserrat SemiBold"/>
              </a:rPr>
              <a:t>Nunes &amp; Lucato  ·  Prefeitura de São Paulo</a:t>
            </a:r>
          </a:p>
        </p:txBody>
      </p:sp>
      <p:sp>
        <p:nvSpPr>
          <p:cNvPr id="61" name="TextBox 60"/>
          <p:cNvSpPr txBox="1"/>
          <p:nvPr/>
        </p:nvSpPr>
        <p:spPr>
          <a:xfrm>
            <a:off x="777240" y="1627632"/>
            <a:ext cx="6812280" cy="2743200"/>
          </a:xfrm>
          <a:prstGeom prst="rect">
            <a:avLst/>
          </a:prstGeom>
          <a:noFill/>
          <a:effectLst/>
        </p:spPr>
        <p:txBody>
          <a:bodyPr wrap="square" lIns="0" rIns="0" tIns="0" bIns="0" anchor="t">
            <a:spAutoFit/>
          </a:bodyPr>
          <a:lstStyle/>
          <a:p>
            <a:pPr algn="l">
              <a:lnSpc>
                <a:spcPct val="146000"/>
              </a:lnSpc>
            </a:pPr>
            <a:r>
              <a:rPr sz="1700" b="0" i="0">
                <a:solidFill>
                  <a:srgbClr val="FFFFFF"/>
                </a:solidFill>
                <a:latin typeface="Montserrat Light"/>
              </a:rPr>
              <a:t>O Primeiro Bioma Sustentável de Reciclagem Têxtil da Capital representa uma oportunidade de </a:t>
            </a:r>
            <a:r>
              <a:rPr sz="1700" b="0" i="0">
                <a:solidFill>
                  <a:srgbClr val="FFFFFF"/>
                </a:solidFill>
                <a:latin typeface="Montserrat SemiBold"/>
              </a:rPr>
              <a:t>transformar resíduos em desenvolvimento</a:t>
            </a:r>
            <a:r>
              <a:rPr sz="1700" b="0" i="0">
                <a:solidFill>
                  <a:srgbClr val="FFFFFF"/>
                </a:solidFill>
                <a:latin typeface="Montserrat Light"/>
              </a:rPr>
              <a:t>, fortalecendo as políticas públicas ambientais e posicionando São Paulo como </a:t>
            </a:r>
            <a:r>
              <a:rPr sz="1700" b="0" i="0">
                <a:solidFill>
                  <a:srgbClr val="FFFFFF"/>
                </a:solidFill>
                <a:latin typeface="Montserrat SemiBold"/>
              </a:rPr>
              <a:t>referência nacional em economia circular</a:t>
            </a:r>
            <a:r>
              <a:rPr sz="1700" b="0" i="0">
                <a:solidFill>
                  <a:srgbClr val="FFFFFF"/>
                </a:solidFill>
                <a:latin typeface="Montserrat Light"/>
              </a:rPr>
              <a:t>.</a:t>
            </a:r>
          </a:p>
        </p:txBody>
      </p:sp>
      <p:cxnSp>
        <p:nvCxnSpPr>
          <p:cNvPr id="62" name="Connector 61"/>
          <p:cNvCxnSpPr/>
          <p:nvPr/>
        </p:nvCxnSpPr>
        <p:spPr>
          <a:xfrm>
            <a:off x="777240" y="4224528"/>
            <a:ext cx="960120" cy="0"/>
          </a:xfrm>
          <a:prstGeom prst="line">
            <a:avLst/>
          </a:prstGeom>
          <a:ln w="22860" cap="rnd">
            <a:solidFill>
              <a:srgbClr val="FFFFFF">
                <a:alpha val="75000"/>
              </a:srgbClr>
            </a:solidFill>
            <a:round/>
          </a:ln>
          <a:effectLst/>
        </p:spPr>
      </p:cxnSp>
      <p:pic>
        <p:nvPicPr>
          <p:cNvPr id="63" name="Picture 62" descr="logo_white.png"/>
          <p:cNvPicPr>
            <a:picLocks noChangeAspect="1"/>
          </p:cNvPicPr>
          <p:nvPr/>
        </p:nvPicPr>
        <p:blipFill>
          <a:blip r:embed="rId3"/>
          <a:stretch>
            <a:fillRect/>
          </a:stretch>
        </p:blipFill>
        <p:spPr>
          <a:xfrm>
            <a:off x="777240" y="4498848"/>
            <a:ext cx="2044798" cy="420624"/>
          </a:xfrm>
          <a:prstGeom prst="rect">
            <a:avLst/>
          </a:prstGeom>
        </p:spPr>
      </p:pic>
      <p:sp>
        <p:nvSpPr>
          <p:cNvPr id="64" name="TextBox 63"/>
          <p:cNvSpPr txBox="1"/>
          <p:nvPr/>
        </p:nvSpPr>
        <p:spPr>
          <a:xfrm>
            <a:off x="777240" y="5230368"/>
            <a:ext cx="6035040" cy="457200"/>
          </a:xfrm>
          <a:prstGeom prst="rect">
            <a:avLst/>
          </a:prstGeom>
          <a:noFill/>
          <a:effectLst/>
        </p:spPr>
        <p:txBody>
          <a:bodyPr wrap="square" lIns="0" rIns="0" tIns="0" bIns="0" anchor="t">
            <a:spAutoFit/>
          </a:bodyPr>
          <a:lstStyle/>
          <a:p>
            <a:pPr algn="l">
              <a:lnSpc>
                <a:spcPct val="120000"/>
              </a:lnSpc>
            </a:pPr>
            <a:r>
              <a:rPr sz="1600" b="0" i="0">
                <a:solidFill>
                  <a:srgbClr val="FFFFFF"/>
                </a:solidFill>
                <a:latin typeface="Montserrat Light"/>
              </a:rPr>
              <a:t>“Transformando resíduos em valor.”</a:t>
            </a:r>
          </a:p>
        </p:txBody>
      </p:sp>
      <p:cxnSp>
        <p:nvCxnSpPr>
          <p:cNvPr id="65" name="Connector 64"/>
          <p:cNvCxnSpPr/>
          <p:nvPr/>
        </p:nvCxnSpPr>
        <p:spPr>
          <a:xfrm>
            <a:off x="777240" y="6199632"/>
            <a:ext cx="10637489" cy="0"/>
          </a:xfrm>
          <a:prstGeom prst="line">
            <a:avLst/>
          </a:prstGeom>
          <a:ln w="9525" cap="rnd">
            <a:solidFill>
              <a:srgbClr val="FFFFFF">
                <a:alpha val="22000"/>
              </a:srgbClr>
            </a:solidFill>
            <a:round/>
          </a:ln>
          <a:effectLst/>
        </p:spPr>
      </p:cxnSp>
      <p:pic>
        <p:nvPicPr>
          <p:cNvPr id="66" name="Picture 65" descr="logo_white.png"/>
          <p:cNvPicPr>
            <a:picLocks noChangeAspect="1"/>
          </p:cNvPicPr>
          <p:nvPr/>
        </p:nvPicPr>
        <p:blipFill>
          <a:blip r:embed="rId3"/>
          <a:stretch>
            <a:fillRect/>
          </a:stretch>
        </p:blipFill>
        <p:spPr>
          <a:xfrm>
            <a:off x="777240" y="6345936"/>
            <a:ext cx="1133529" cy="233172"/>
          </a:xfrm>
          <a:prstGeom prst="rect">
            <a:avLst/>
          </a:prstGeom>
        </p:spPr>
      </p:pic>
      <p:sp>
        <p:nvSpPr>
          <p:cNvPr id="67" name="TextBox 66"/>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FFFFFF"/>
                </a:solidFill>
                <a:latin typeface="Montserrat"/>
              </a:rPr>
              <a:t>Bioma Têxtil  ·  Ecoponto Belezinho    |    21</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